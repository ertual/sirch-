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1d0cf8c0be40a0" /><Relationship Type="http://schemas.openxmlformats.org/officeDocument/2006/relationships/extended-properties" Target="/docProps/app.xml" Id="R9bdba8a47c914ea1" /><Relationship Type="http://schemas.openxmlformats.org/officeDocument/2006/relationships/officeDocument" Target="/ppt/presentation.xml" Id="R5cfa23998b4847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b034003b974d97"/>
  </p:sldMasterIdLst>
  <p:notesMasterIdLst>
    <p:notesMasterId xmlns:r="http://schemas.openxmlformats.org/officeDocument/2006/relationships" r:id="Rdaf067fd2370435b"/>
  </p:notesMasterIdLst>
  <p:sldIdLst>
    <p:sldId xmlns:r="http://schemas.openxmlformats.org/officeDocument/2006/relationships" id="256" r:id="Re1d8cb8ea2174ca8"/>
    <p:sldId xmlns:r="http://schemas.openxmlformats.org/officeDocument/2006/relationships" id="257" r:id="R89d7169cf9524d1b"/>
    <p:sldId xmlns:r="http://schemas.openxmlformats.org/officeDocument/2006/relationships" id="258" r:id="R7ec7915804d946ed"/>
    <p:sldId xmlns:r="http://schemas.openxmlformats.org/officeDocument/2006/relationships" id="259" r:id="R12cf21d67bf243f5"/>
    <p:sldId xmlns:r="http://schemas.openxmlformats.org/officeDocument/2006/relationships" id="260" r:id="R3a6290ea649c486f"/>
    <p:sldId xmlns:r="http://schemas.openxmlformats.org/officeDocument/2006/relationships" id="261" r:id="Rb12dc320ccc44208"/>
    <p:sldId xmlns:r="http://schemas.openxmlformats.org/officeDocument/2006/relationships" id="262" r:id="R88226abaa6884f25"/>
    <p:sldId xmlns:r="http://schemas.openxmlformats.org/officeDocument/2006/relationships" id="263" r:id="Rdcb3fb871df741f2"/>
    <p:sldId xmlns:r="http://schemas.openxmlformats.org/officeDocument/2006/relationships" id="264" r:id="R40f52c59546d48fa"/>
    <p:sldId xmlns:r="http://schemas.openxmlformats.org/officeDocument/2006/relationships" id="265" r:id="R20cdfe6817f7427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0dcfe81812435b" /><Relationship Type="http://schemas.openxmlformats.org/officeDocument/2006/relationships/slideMaster" Target="/ppt/slideMasters/slideMaster1.xml" Id="Rbeb034003b974d97" /><Relationship Type="http://schemas.openxmlformats.org/officeDocument/2006/relationships/notesMaster" Target="/ppt/notesMasters/notesMaster1.xml" Id="Rdaf067fd2370435b" /><Relationship Type="http://schemas.openxmlformats.org/officeDocument/2006/relationships/presProps" Target="/ppt/presProps.xml" Id="Rd00518b70b134a05" /><Relationship Type="http://schemas.openxmlformats.org/officeDocument/2006/relationships/tableStyles" Target="/ppt/tableStyles.xml" Id="Rb026b8c3ddc54b8f" /><Relationship Type="http://schemas.openxmlformats.org/officeDocument/2006/relationships/slide" Target="/ppt/slides/slide1.xml" Id="Re1d8cb8ea2174ca8" /><Relationship Type="http://schemas.openxmlformats.org/officeDocument/2006/relationships/slide" Target="/ppt/slides/slide2.xml" Id="R89d7169cf9524d1b" /><Relationship Type="http://schemas.openxmlformats.org/officeDocument/2006/relationships/slide" Target="/ppt/slides/slide3.xml" Id="R7ec7915804d946ed" /><Relationship Type="http://schemas.openxmlformats.org/officeDocument/2006/relationships/slide" Target="/ppt/slides/slide4.xml" Id="R12cf21d67bf243f5" /><Relationship Type="http://schemas.openxmlformats.org/officeDocument/2006/relationships/slide" Target="/ppt/slides/slide5.xml" Id="R3a6290ea649c486f" /><Relationship Type="http://schemas.openxmlformats.org/officeDocument/2006/relationships/slide" Target="/ppt/slides/slide6.xml" Id="Rb12dc320ccc44208" /><Relationship Type="http://schemas.openxmlformats.org/officeDocument/2006/relationships/slide" Target="/ppt/slides/slide7.xml" Id="R88226abaa6884f25" /><Relationship Type="http://schemas.openxmlformats.org/officeDocument/2006/relationships/slide" Target="/ppt/slides/slide8.xml" Id="Rdcb3fb871df741f2" /><Relationship Type="http://schemas.openxmlformats.org/officeDocument/2006/relationships/slide" Target="/ppt/slides/slide9.xml" Id="R40f52c59546d48fa" /><Relationship Type="http://schemas.openxmlformats.org/officeDocument/2006/relationships/slide" Target="/ppt/slides/slide10.xml" Id="R20cdfe6817f742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4e804b728e4f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860d3807ff4d07" /><Relationship Type="http://schemas.openxmlformats.org/officeDocument/2006/relationships/notesMaster" Target="/ppt/notesMasters/notesMaster1.xml" Id="Ra4b6749e26a841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cc616f725948ce" /><Relationship Type="http://schemas.openxmlformats.org/officeDocument/2006/relationships/notesMaster" Target="/ppt/notesMasters/notesMaster1.xml" Id="R0049f7b9c77c41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4ffbe649bf4793" /><Relationship Type="http://schemas.openxmlformats.org/officeDocument/2006/relationships/notesMaster" Target="/ppt/notesMasters/notesMaster1.xml" Id="R519a7454dc5540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f0881c105e45c9" /><Relationship Type="http://schemas.openxmlformats.org/officeDocument/2006/relationships/notesMaster" Target="/ppt/notesMasters/notesMaster1.xml" Id="R2f08333a9bf447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aec336017934cd2" /><Relationship Type="http://schemas.openxmlformats.org/officeDocument/2006/relationships/notesMaster" Target="/ppt/notesMasters/notesMaster1.xml" Id="Rf895ffe2bb434c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0a9a83cb7f4e68" /><Relationship Type="http://schemas.openxmlformats.org/officeDocument/2006/relationships/notesMaster" Target="/ppt/notesMasters/notesMaster1.xml" Id="R9595eff3b28846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7b5eeb86ef4bf4" /><Relationship Type="http://schemas.openxmlformats.org/officeDocument/2006/relationships/notesMaster" Target="/ppt/notesMasters/notesMaster1.xml" Id="R89ceaec17cec4c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68288e2ffc844fe" /><Relationship Type="http://schemas.openxmlformats.org/officeDocument/2006/relationships/notesMaster" Target="/ppt/notesMasters/notesMaster1.xml" Id="R737e7dd9dd594cb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af372505d44bf1" /><Relationship Type="http://schemas.openxmlformats.org/officeDocument/2006/relationships/notesMaster" Target="/ppt/notesMasters/notesMaster1.xml" Id="R72eb298a32e94b1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465555783c4805" /><Relationship Type="http://schemas.openxmlformats.org/officeDocument/2006/relationships/notesMaster" Target="/ppt/notesMasters/notesMaster1.xml" Id="Rb1693a17ead14f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d23c18a8064a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fd60becabe4dc8" /><Relationship Type="http://schemas.openxmlformats.org/officeDocument/2006/relationships/slideLayout" Target="/ppt/slideLayouts/slideLayout1.xml" Id="R473f3e211dd241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3f3e211dd241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9b2953d58e4057" /><Relationship Type="http://schemas.openxmlformats.org/officeDocument/2006/relationships/notesSlide" Target="/ppt/notesSlides/notesSlide1.xml" Id="R49a804e5737141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914b85f4514318" /><Relationship Type="http://schemas.openxmlformats.org/officeDocument/2006/relationships/image" Target="/ppt/media/image.jpeg" Id="R871a7d31f71f404a" /><Relationship Type="http://schemas.openxmlformats.org/officeDocument/2006/relationships/notesSlide" Target="/ppt/notesSlides/notesSlide2.xml" Id="Rac589c49b52c48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d9724c0ad84554" /><Relationship Type="http://schemas.openxmlformats.org/officeDocument/2006/relationships/image" Target="/ppt/media/image.png" Id="Rfbf140f25ae14ffe" /><Relationship Type="http://schemas.openxmlformats.org/officeDocument/2006/relationships/notesSlide" Target="/ppt/notesSlides/notesSlide3.xml" Id="Rcd345bfda01343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234ee7b6af4add" /><Relationship Type="http://schemas.openxmlformats.org/officeDocument/2006/relationships/notesSlide" Target="/ppt/notesSlides/notesSlide4.xml" Id="R220c2be91f4d46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6263199bd4b90" /><Relationship Type="http://schemas.openxmlformats.org/officeDocument/2006/relationships/image" Target="/ppt/media/image2.png" Id="R8d1833e543484c94" /><Relationship Type="http://schemas.openxmlformats.org/officeDocument/2006/relationships/chart" Target="/ppt/slides/charts/chart1.xml" Id="Rd5a7ff77a341414c" /><Relationship Type="http://schemas.openxmlformats.org/officeDocument/2006/relationships/notesSlide" Target="/ppt/notesSlides/notesSlide5.xml" Id="Raf54ed0e13dd42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f8c47c29e4fe3" /><Relationship Type="http://schemas.openxmlformats.org/officeDocument/2006/relationships/image" Target="/ppt/media/image3.png" Id="R5cafcc45d66d4e53" /><Relationship Type="http://schemas.openxmlformats.org/officeDocument/2006/relationships/notesSlide" Target="/ppt/notesSlides/notesSlide6.xml" Id="Ra3e7e69ffc3047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4cd8b589594609" /><Relationship Type="http://schemas.openxmlformats.org/officeDocument/2006/relationships/image" Target="/ppt/media/image2.jpeg" Id="R69e5660f02f94f4d" /><Relationship Type="http://schemas.openxmlformats.org/officeDocument/2006/relationships/notesSlide" Target="/ppt/notesSlides/notesSlide7.xml" Id="R19c2646540154c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b4bdfb387c4e7f" /><Relationship Type="http://schemas.openxmlformats.org/officeDocument/2006/relationships/notesSlide" Target="/ppt/notesSlides/notesSlide8.xml" Id="R739d2c734162428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c6b328d0854343" /><Relationship Type="http://schemas.openxmlformats.org/officeDocument/2006/relationships/image" Target="/ppt/media/image4.png" Id="R292b939035c84bde" /><Relationship Type="http://schemas.openxmlformats.org/officeDocument/2006/relationships/notesSlide" Target="/ppt/notesSlides/notesSlide9.xml" Id="Re746b6abaca0484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536f9b0ce44cae" /><Relationship Type="http://schemas.openxmlformats.org/officeDocument/2006/relationships/notesSlide" Target="/ppt/notesSlides/notesSlide10.xml" Id="Rc64eefcff59c4052" /></Relationships>
</file>

<file path=ppt/slides/charts/chart1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102033"/>
                </a:solidFill>
              </a:rPr>
              <a:t>Split final 70/15/15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102033"/>
              </a:solidFill>
            </a:defRPr>
          </a:pPr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Vidéos</c:v>
          </c:tx>
          <c:spPr>
            <a:solidFill xmlns:a="http://schemas.openxmlformats.org/drawingml/2006/main">
              <a:srgbClr val="5C7180"/>
            </a:solidFill>
          </c:spPr>
          <c:dPt>
            <c:idx val="1"/>
            <c:spPr>
              <a:solidFill xmlns:a="http://schemas.openxmlformats.org/drawingml/2006/main">
                <a:srgbClr val="F5A15D"/>
              </a:solidFill>
            </c:spPr>
          </c:dPt>
          <c:dPt>
            <c:idx val="2"/>
            <c:spPr>
              <a:solidFill xmlns:a="http://schemas.openxmlformats.org/drawingml/2006/main">
                <a:srgbClr val="2A9D8F"/>
              </a:solidFill>
            </c:spPr>
          </c:dPt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train</c:v>
              </c:pt>
              <c:pt idx="1">
                <c:v>val</c:v>
              </c:pt>
              <c:pt idx="2">
                <c:v>test</c:v>
              </c:pt>
            </c:strLit>
          </c:cat>
          <c:val>
            <c:numLit>
              <c:formatCode>General</c:formatCode>
              <c:ptCount val="3"/>
              <c:pt idx="0">
                <c:v>2793</c:v>
              </c:pt>
              <c:pt idx="1">
                <c:v>599</c:v>
              </c:pt>
              <c:pt idx="2">
                <c:v>599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020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02033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>
                    <a:solidFill>
                      <a:srgbClr val="102033"/>
                    </a:solidFill>
                  </a:rPr>
                  <a:t>Nombre de vidéos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102033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102033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F386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0F49ED-4E85-4D97-9BFE-D1D01147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90650"/>
            <a:ext cx="1219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500" b="1" i="0">
                <a:solidFill>
                  <a:srgbClr val="FFFFFF"/>
                </a:solidFill>
              </a:defRPr>
            </a:pPr>
            <a:r>
              <a:rPr sz="4500" b="1" i="0">
                <a:solidFill>
                  <a:srgbClr val="FFFFFF"/>
                </a:solidFill>
              </a:rPr>
              <a:t>SIRCH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DAF79B-E7CD-4862-9772-5C3B9217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241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FFFFFF"/>
                </a:solidFill>
              </a:defRPr>
            </a:pPr>
            <a:r>
              <a:rPr sz="1800" b="0" i="0">
                <a:solidFill>
                  <a:srgbClr val="FFFFFF"/>
                </a:solidFill>
              </a:rPr>
              <a:t>Système Intelligent de Reconnaissance de Comportements Humains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9865C5-72E9-45C6-B239-897837B1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14650"/>
            <a:ext cx="491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449"/>
          </a:solidFill>
          <a:ln xmlns:a="http://schemas.openxmlformats.org/drawingml/2006/main" w="0">
            <a:solidFill>
              <a:srgbClr val="1E844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B53FE4-0C71-4552-ABD0-2A4DA07D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76600"/>
            <a:ext cx="7391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Détection automatique de violence en temps réel</a:t>
            </a:r>
          </a:p>
          <a:p xmlns:a="http://schemas.openxmlformats.org/drawingml/2006/main">
            <a:pPr algn="ctr"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par EfficientNetB0 + LSTM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9B2B90-EA32-4807-83D4-B753836D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62500"/>
            <a:ext cx="6477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B497A"/>
          </a:solidFill>
          <a:ln xmlns:a="http://schemas.openxmlformats.org/drawingml/2006/main" w="9525">
            <a:solidFill>
              <a:srgbClr val="5D7AA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BE057E-EA7C-4672-9F6C-E0AD0333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95850"/>
            <a:ext cx="590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FFFFFF"/>
                </a:solidFill>
              </a:defRPr>
            </a:pPr>
            <a:r>
              <a:rPr sz="1125" b="0" i="0">
                <a:solidFill>
                  <a:srgbClr val="FFFFFF"/>
                </a:solidFill>
              </a:rPr>
              <a:t>Tracy Alipade Benzanza</a:t>
            </a:r>
          </a:p>
          <a:p xmlns:a="http://schemas.openxmlformats.org/drawingml/2006/main">
            <a:pPr algn="ctr">
              <a:defRPr sz="1125" b="0" i="0">
                <a:solidFill>
                  <a:srgbClr val="FFFFFF"/>
                </a:solidFill>
              </a:defRPr>
            </a:pPr>
            <a:r>
              <a:rPr sz="1125" b="0" i="0">
                <a:solidFill>
                  <a:srgbClr val="FFFFFF"/>
                </a:solidFill>
              </a:rPr>
              <a:t>Directeur : Prof. Antoine Bagula</a:t>
            </a:r>
          </a:p>
          <a:p xmlns:a="http://schemas.openxmlformats.org/drawingml/2006/main">
            <a:pPr algn="ctr">
              <a:defRPr sz="1125" b="0" i="0">
                <a:solidFill>
                  <a:srgbClr val="FFFFFF"/>
                </a:solidFill>
              </a:defRPr>
            </a:pPr>
            <a:r>
              <a:rPr sz="1125" b="0" i="0">
                <a:solidFill>
                  <a:srgbClr val="FFFFFF"/>
                </a:solidFill>
              </a:rPr>
              <a:t>Codirecteur : Assistant Landry Mbale</a:t>
            </a:r>
          </a:p>
          <a:p xmlns:a="http://schemas.openxmlformats.org/drawingml/2006/main">
            <a:pPr algn="ctr">
              <a:defRPr sz="1125" b="0" i="0">
                <a:solidFill>
                  <a:srgbClr val="FFFFFF"/>
                </a:solidFill>
              </a:defRPr>
            </a:pPr>
            <a:r>
              <a:rPr sz="1125" b="0" i="0">
                <a:solidFill>
                  <a:srgbClr val="FFFFFF"/>
                </a:solidFill>
              </a:rPr>
              <a:t>Université Nouveaux Horizons, Faculté des Sciences Informatiques</a:t>
            </a:r>
          </a:p>
          <a:p xmlns:a="http://schemas.openxmlformats.org/drawingml/2006/main">
            <a:pPr algn="ctr">
              <a:defRPr sz="1125" b="0" i="0">
                <a:solidFill>
                  <a:srgbClr val="FFFFFF"/>
                </a:solidFill>
              </a:defRPr>
            </a:pPr>
            <a:r>
              <a:rPr sz="1125" b="0" i="0">
                <a:solidFill>
                  <a:srgbClr val="FFFFFF"/>
                </a:solidFill>
              </a:rPr>
              <a:t>Lubumbashi, RDC. Année académique 2025 à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17D994-845C-4425-9652-476C6F9D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Titre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35FCEE-232E-42A5-B7F6-377D6E69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3055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FFFFFF"/>
                </a:solidFill>
              </a:defRPr>
            </a:pPr>
            <a:r>
              <a:rPr sz="900" b="0" i="0">
                <a:solidFill>
                  <a:srgbClr val="FFFFFF"/>
                </a:solidFill>
              </a:rPr>
              <a:t>1 / 10</a:t>
            </a:r>
          </a:p>
        </p:txBody>
      </p:sp>
    </p:spTree>
    <p:extLst>
      <p:ext uri="{BB962C8B-B14F-4D97-AF65-F5344CB8AC3E}">
        <p14:creationId xmlns:p14="http://schemas.microsoft.com/office/powerpoint/2010/main" val="7337965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C17CB2-C85C-4376-8ED1-320F4B6D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F3864"/>
                </a:solidFill>
              </a:defRPr>
            </a:pPr>
            <a:r>
              <a:rPr sz="2700" b="1" i="0">
                <a:solidFill>
                  <a:srgbClr val="1F3864"/>
                </a:solidFill>
              </a:rPr>
              <a:t>Un drame réel, un problème réel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88C1B2-37DA-4905-95D7-8AE9C3FD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1028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449"/>
          </a:solidFill>
          <a:ln xmlns:a="http://schemas.openxmlformats.org/drawingml/2006/main" w="0">
            <a:solidFill>
              <a:srgbClr val="1E844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01FD5D-0AE5-4F16-8D59-3F82BF7E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C677A"/>
                </a:solidFill>
              </a:defRPr>
            </a:pPr>
            <a:r>
              <a:rPr sz="825" b="0" i="0">
                <a:solidFill>
                  <a:srgbClr val="5C677A"/>
                </a:solidFill>
              </a:rPr>
              <a:t>Contexte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5B2C8E-88ED-4A86-AB10-C56C30AA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2103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C677A"/>
                </a:solidFill>
              </a:defRPr>
            </a:pPr>
            <a:r>
              <a:rPr sz="900" b="0" i="0">
                <a:solidFill>
                  <a:srgbClr val="5C677A"/>
                </a:solidFill>
              </a:rPr>
              <a:t>2 / 10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1a7d31f71f404a"/>
          <a:srcRect xmlns:a="http://schemas.openxmlformats.org/drawingml/2006/main" l="0" t="10256" r="0" b="102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562100"/>
            <a:ext cx="4953000" cy="2952750"/>
          </a:xfrm>
          <a:prstGeom xmlns:a="http://schemas.openxmlformats.org/drawingml/2006/main" prst="roundRect">
            <a:avLst>
              <a:gd name="adj" fmla="val 258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091D7F-AC86-4EF0-86BB-9A5AF1EE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62100"/>
            <a:ext cx="5191125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AD2846-207E-426D-85B2-81DE6DD9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66900"/>
            <a:ext cx="4476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F3864"/>
                </a:solidFill>
              </a:defRPr>
            </a:pPr>
            <a:r>
              <a:rPr sz="1950" b="1" i="0">
                <a:solidFill>
                  <a:srgbClr val="1F3864"/>
                </a:solidFill>
              </a:rPr>
              <a:t>46 % des ménages de Lubumbashi</a:t>
            </a:r>
          </a:p>
          <a:p xmlns:a="http://schemas.openxmlformats.org/drawingml/2006/main">
            <a:pPr algn="l">
              <a:defRPr sz="1950" b="1" i="0">
                <a:solidFill>
                  <a:srgbClr val="1F3864"/>
                </a:solidFill>
              </a:defRPr>
            </a:pPr>
            <a:r>
              <a:rPr sz="1950" b="1" i="0">
                <a:solidFill>
                  <a:srgbClr val="1F3864"/>
                </a:solidFill>
              </a:rPr>
              <a:t>se déclarent en insécurité</a:t>
            </a:r>
          </a:p>
          <a:p xmlns:a="http://schemas.openxmlformats.org/drawingml/2006/main">
            <a:pPr algn="l">
              <a:defRPr sz="1950" b="1" i="0">
                <a:solidFill>
                  <a:srgbClr val="1F3864"/>
                </a:solidFill>
              </a:defRPr>
            </a:pPr>
            <a:r>
              <a:rPr sz="1950" b="1" i="0">
                <a:solidFill>
                  <a:srgbClr val="1F3864"/>
                </a:solidFill>
              </a:rPr>
              <a:t>selon INS, 2023.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48E562-B316-4529-BB78-EE190DCD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4325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02033"/>
                </a:solidFill>
              </a:defRPr>
            </a:pPr>
            <a:r>
              <a:rPr sz="1800" b="0" i="0">
                <a:solidFill>
                  <a:srgbClr val="102033"/>
                </a:solidFill>
              </a:rPr>
              <a:t>Des caméras existent depuis 2016.</a:t>
            </a:r>
          </a:p>
          <a:p xmlns:a="http://schemas.openxmlformats.org/drawingml/2006/main">
            <a:pPr algn="l">
              <a:defRPr sz="1800" b="0" i="0">
                <a:solidFill>
                  <a:srgbClr val="102033"/>
                </a:solidFill>
              </a:defRPr>
            </a:pPr>
            <a:r>
              <a:rPr sz="1800" b="0" i="0">
                <a:solidFill>
                  <a:srgbClr val="102033"/>
                </a:solidFill>
              </a:rPr>
              <a:t>Mais l’œil humain se fatigue.</a:t>
            </a:r>
          </a:p>
          <a:p xmlns:a="http://schemas.openxmlformats.org/drawingml/2006/main">
            <a:pPr algn="l">
              <a:defRPr sz="1800" b="0" i="0">
                <a:solidFill>
                  <a:srgbClr val="102033"/>
                </a:solidFill>
              </a:defRPr>
            </a:pPr>
            <a:r>
              <a:rPr sz="1800" b="0" i="0">
                <a:solidFill>
                  <a:srgbClr val="102033"/>
                </a:solidFill>
              </a:rPr>
              <a:t>La réaction reste souvent tardive.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EE744B-A8FB-4789-96C7-B525B1AC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10150"/>
            <a:ext cx="10382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6E4F0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88301A-073A-48E6-BB5D-B3B82137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8160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F3864"/>
                </a:solidFill>
              </a:defRPr>
            </a:pPr>
            <a:r>
              <a:rPr sz="1875" b="1" i="0">
                <a:solidFill>
                  <a:srgbClr val="1F3864"/>
                </a:solidFill>
              </a:rPr>
              <a:t>Et si la machine pouvait voir à la place de l’homme, en temps réel ?</a:t>
            </a:r>
          </a:p>
        </p:txBody>
      </p:sp>
    </p:spTree>
    <p:extLst>
      <p:ext uri="{BB962C8B-B14F-4D97-AF65-F5344CB8AC3E}">
        <p14:creationId xmlns:p14="http://schemas.microsoft.com/office/powerpoint/2010/main" val="12748182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66E139-809E-460F-923C-39851E52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F3864"/>
                </a:solidFill>
              </a:defRPr>
            </a:pPr>
            <a:r>
              <a:rPr sz="2700" b="1" i="0">
                <a:solidFill>
                  <a:srgbClr val="1F3864"/>
                </a:solidFill>
              </a:rPr>
              <a:t>Ce qui existe déjà, et ses limites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26F19B-0FC0-417A-AB26-55ADDEDD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1028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449"/>
          </a:solidFill>
          <a:ln xmlns:a="http://schemas.openxmlformats.org/drawingml/2006/main" w="0">
            <a:solidFill>
              <a:srgbClr val="1E844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79B47A-4FF2-4AA3-807E-DC299FFC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C677A"/>
                </a:solidFill>
              </a:defRPr>
            </a:pPr>
            <a:r>
              <a:rPr sz="825" b="0" i="0">
                <a:solidFill>
                  <a:srgbClr val="5C677A"/>
                </a:solidFill>
              </a:rPr>
              <a:t>État de l’art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0C66A4-B4EC-4681-BAD4-C21AB516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2103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C677A"/>
                </a:solidFill>
              </a:defRPr>
            </a:pPr>
            <a:r>
              <a:rPr sz="900" b="0" i="0">
                <a:solidFill>
                  <a:srgbClr val="5C677A"/>
                </a:solidFill>
              </a:rPr>
              <a:t>3 / 10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f140f25ae14ffe"/>
          <a:stretch xmlns:a="http://schemas.openxmlformats.org/drawingml/2006/main"/>
        </p:blipFill>
        <p:spPr>
          <a:xfrm xmlns:a="http://schemas.openxmlformats.org/drawingml/2006/main">
            <a:off x="8572500" y="1988530"/>
            <a:ext cx="2952750" cy="1414090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61EB6D-9AA4-463F-A509-D1F569D3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B58BD8-B1C8-43AA-AD53-3D63EF63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0497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Approche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8C38FC-52DC-45CB-81C2-4D357BD1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61925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78C575-118A-41AE-BE0E-395F3F41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70497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Force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F72286-3891-40FA-9B74-772EE4F1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61925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A3F8E4-AFC7-4542-8366-D88445EB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0497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Limite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0E59ED-2CEF-44BD-853B-3B025A95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05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4C2304-9B2B-4BC4-A6DA-89E41DD7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9077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Optical flow classique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ADDFEB-ABCE-43A8-B8FF-2E31B084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30505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BF650B-96FE-4396-AEF4-CA8BC938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39077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Rapide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F1DA97-213A-41FF-B270-D01586A0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30505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B07562-AD67-41DD-BA59-EE7F80A78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39077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Peu précis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25CFEB-77AA-4356-AE35-0C4F0F3D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9085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0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32AA6E-0221-4FFE-A9C6-AC762D87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7657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CNN 3D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820C4B-2FD2-46B9-BB44-1E5EE444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99085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0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E650F1-F9B4-4594-99F1-7AEE97C7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07657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Très précis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F7AA77-0184-4A2F-AD35-A9FAEB3B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99085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0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280630-0B6F-4F55-901D-61CB956C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7657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Trop lourd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84591C-BDC0-4FFA-B414-52051175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7665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2A6F0A-092E-4416-A93F-05EF1512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6237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CNN + LSTM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AAC7BA-66D6-467F-AFEB-8B943CC3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67665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CF0EE0-BE07-4C90-AF93-89556481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76237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Léger et précis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05C11E-67F0-4FB4-B5F4-B5461EC7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67665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1100FF-262E-4326-9DF5-C1E76EF2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76237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Un seul jeu de données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D7F2F7-BC92-413F-95A3-29BA82FE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101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449"/>
          </a:solidFill>
          <a:ln xmlns:a="http://schemas.openxmlformats.org/drawingml/2006/main" w="0">
            <a:solidFill>
              <a:srgbClr val="1E844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6F35C6-3029-4B40-BF7D-B6F7205D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867275"/>
            <a:ext cx="8743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E8449"/>
                </a:solidFill>
              </a:defRPr>
            </a:pPr>
            <a:r>
              <a:rPr sz="1650" b="1" i="0">
                <a:solidFill>
                  <a:srgbClr val="1E8449"/>
                </a:solidFill>
              </a:rPr>
              <a:t>SIRCH part de cette base et va plus loin : sur deux jeux de données.</a:t>
            </a:r>
          </a:p>
        </p:txBody>
      </p:sp>
    </p:spTree>
    <p:extLst>
      <p:ext uri="{BB962C8B-B14F-4D97-AF65-F5344CB8AC3E}">
        <p14:creationId xmlns:p14="http://schemas.microsoft.com/office/powerpoint/2010/main" val="198245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0A7604-938B-4DD7-A6E6-147CF788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F3864"/>
                </a:solidFill>
              </a:defRPr>
            </a:pPr>
            <a:r>
              <a:rPr sz="2700" b="1" i="0">
                <a:solidFill>
                  <a:srgbClr val="1F3864"/>
                </a:solidFill>
              </a:rPr>
              <a:t>SIRCH : voir et se souvenir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679F0-4498-458F-8553-93E6D1EB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1028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449"/>
          </a:solidFill>
          <a:ln xmlns:a="http://schemas.openxmlformats.org/drawingml/2006/main" w="0">
            <a:solidFill>
              <a:srgbClr val="1E844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24C282-038C-4EE4-9548-605F9C88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C677A"/>
                </a:solidFill>
              </a:defRPr>
            </a:pPr>
            <a:r>
              <a:rPr sz="825" b="0" i="0">
                <a:solidFill>
                  <a:srgbClr val="5C677A"/>
                </a:solidFill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991EFE-5788-4B58-A4EC-0EFC63EE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2103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C677A"/>
                </a:solidFill>
              </a:defRPr>
            </a:pPr>
            <a:r>
              <a:rPr sz="900" b="0" i="0">
                <a:solidFill>
                  <a:srgbClr val="5C677A"/>
                </a:solidFill>
              </a:rPr>
              <a:t>4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ACEAA8-C439-42A7-A79C-1820B081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F3864"/>
          </a:solidFill>
          <a:ln xmlns:a="http://schemas.openxmlformats.org/drawingml/2006/main" w="9525">
            <a:solidFill>
              <a:srgbClr val="1F386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Caméra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AE46DC-5384-4382-B74E-5EBCE921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85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E8449"/>
                </a:solidFill>
              </a:defRPr>
            </a:pPr>
            <a:r>
              <a:rPr sz="2100" b="1" i="0">
                <a:solidFill>
                  <a:srgbClr val="1E8449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E443E5-96B2-452E-9C0F-FD517294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75260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F3864"/>
          </a:solidFill>
          <a:ln xmlns:a="http://schemas.openxmlformats.org/drawingml/2006/main" w="9525">
            <a:solidFill>
              <a:srgbClr val="1F386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Prétraitement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9129A5-927E-4855-AAAF-6684DC46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85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E8449"/>
                </a:solidFill>
              </a:defRPr>
            </a:pPr>
            <a:r>
              <a:rPr sz="2100" b="1" i="0">
                <a:solidFill>
                  <a:srgbClr val="1E8449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E8FD8B-F7F8-4643-8501-F9AB85C9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75260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F3864"/>
          </a:solidFill>
          <a:ln xmlns:a="http://schemas.openxmlformats.org/drawingml/2006/main" w="9525">
            <a:solidFill>
              <a:srgbClr val="1F386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EfficientNetB0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E26E88-F2C7-4560-9361-5C5EDF8D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85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E8449"/>
                </a:solidFill>
              </a:defRPr>
            </a:pPr>
            <a:r>
              <a:rPr sz="2100" b="1" i="0">
                <a:solidFill>
                  <a:srgbClr val="1E8449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B5E0E6-6D82-4C82-BF93-341CDDA3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75260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F3864"/>
          </a:solidFill>
          <a:ln xmlns:a="http://schemas.openxmlformats.org/drawingml/2006/main" w="9525">
            <a:solidFill>
              <a:srgbClr val="1F386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LSTM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3428F0-0011-4420-A5D9-73B46640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885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E8449"/>
                </a:solidFill>
              </a:defRPr>
            </a:pPr>
            <a:r>
              <a:rPr sz="2100" b="1" i="0">
                <a:solidFill>
                  <a:srgbClr val="1E8449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B4E60F-077B-4561-AF5D-647B5421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75260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F3864"/>
          </a:solidFill>
          <a:ln xmlns:a="http://schemas.openxmlformats.org/drawingml/2006/main" w="9525">
            <a:solidFill>
              <a:srgbClr val="1F386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Décision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21BBD7-8518-4E53-B0E4-984FF337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85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E8449"/>
                </a:solidFill>
              </a:defRPr>
            </a:pPr>
            <a:r>
              <a:rPr sz="2100" b="1" i="0">
                <a:solidFill>
                  <a:srgbClr val="1E8449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E3E440-82DF-492F-8688-AE0DEDD7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5260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F3864"/>
          </a:solidFill>
          <a:ln xmlns:a="http://schemas.openxmlformats.org/drawingml/2006/main" w="9525">
            <a:solidFill>
              <a:srgbClr val="1F386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Alerte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871646-5DB0-49B0-9579-2FC2DAAA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885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E8449"/>
                </a:solidFill>
              </a:defRPr>
            </a:pPr>
            <a:r>
              <a:rPr sz="2100" b="1" i="0">
                <a:solidFill>
                  <a:srgbClr val="1E8449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80D82B-38DB-4A17-BFFE-5741A750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75260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F3864"/>
          </a:solidFill>
          <a:ln xmlns:a="http://schemas.openxmlformats.org/drawingml/2006/main" w="9525">
            <a:solidFill>
              <a:srgbClr val="1F386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E9C05E-4150-4DD0-BAAD-B4208F90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33750"/>
            <a:ext cx="4476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6E4F0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125868-9860-43EB-90D9-17E52758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81400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F3864"/>
                </a:solidFill>
              </a:defRPr>
            </a:pPr>
            <a:r>
              <a:rPr sz="1725" b="1" i="0">
                <a:solidFill>
                  <a:srgbClr val="1F3864"/>
                </a:solidFill>
              </a:rPr>
              <a:t>EfficientNetB0 = l’œil</a:t>
            </a:r>
          </a:p>
          <a:p xmlns:a="http://schemas.openxmlformats.org/drawingml/2006/main">
            <a:pPr algn="l">
              <a:defRPr sz="1725" b="1" i="0">
                <a:solidFill>
                  <a:srgbClr val="1F3864"/>
                </a:solidFill>
              </a:defRPr>
            </a:pPr>
            <a:r>
              <a:rPr sz="1725" b="1" i="0">
                <a:solidFill>
                  <a:srgbClr val="1F3864"/>
                </a:solidFill>
              </a:rPr>
              <a:t>Analyse chaque image. Modèle léger : 21 Mo.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E44326-832E-46FD-8DD9-4A2930A7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4476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6E4F0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355B88-9CE7-4FB4-8124-EB380B66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81400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F3864"/>
                </a:solidFill>
              </a:defRPr>
            </a:pPr>
            <a:r>
              <a:rPr sz="1725" b="1" i="0">
                <a:solidFill>
                  <a:srgbClr val="1F3864"/>
                </a:solidFill>
              </a:rPr>
              <a:t>LSTM = la mémoire</a:t>
            </a:r>
          </a:p>
          <a:p xmlns:a="http://schemas.openxmlformats.org/drawingml/2006/main">
            <a:pPr algn="l">
              <a:defRPr sz="1725" b="1" i="0">
                <a:solidFill>
                  <a:srgbClr val="1F3864"/>
                </a:solidFill>
              </a:defRPr>
            </a:pPr>
            <a:r>
              <a:rPr sz="1725" b="1" i="0">
                <a:solidFill>
                  <a:srgbClr val="1F3864"/>
                </a:solidFill>
              </a:rPr>
              <a:t>Analyse le mouvement sur 20 images.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A02FA1-B647-43EC-89EB-C015CB6F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43500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449"/>
          </a:solidFill>
          <a:ln xmlns:a="http://schemas.openxmlformats.org/drawingml/2006/main" w="0">
            <a:solidFill>
              <a:srgbClr val="1E844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F1642C-C835-4E1F-89C7-2C62C088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200650"/>
            <a:ext cx="6267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E8449"/>
                </a:solidFill>
              </a:defRPr>
            </a:pPr>
            <a:r>
              <a:rPr sz="1650" b="1" i="0">
                <a:solidFill>
                  <a:srgbClr val="1E8449"/>
                </a:solidFill>
              </a:rPr>
              <a:t>Aucun serveur cloud requis : tout fonctionne localement.</a:t>
            </a:r>
          </a:p>
        </p:txBody>
      </p:sp>
    </p:spTree>
    <p:extLst>
      <p:ext uri="{BB962C8B-B14F-4D97-AF65-F5344CB8AC3E}">
        <p14:creationId xmlns:p14="http://schemas.microsoft.com/office/powerpoint/2010/main" val="21451062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8236A7-3902-4A79-94F4-89954E18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F3864"/>
                </a:solidFill>
              </a:defRPr>
            </a:pPr>
            <a:r>
              <a:rPr sz="2700" b="1" i="0">
                <a:solidFill>
                  <a:srgbClr val="1F3864"/>
                </a:solidFill>
              </a:rPr>
              <a:t>3 991 vidéos, deux mondes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A8402D-79FD-4DE2-A588-6B2A22CB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1028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449"/>
          </a:solidFill>
          <a:ln xmlns:a="http://schemas.openxmlformats.org/drawingml/2006/main" w="0">
            <a:solidFill>
              <a:srgbClr val="1E844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0CC499-43E7-4760-BF14-3F6072C5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C677A"/>
                </a:solidFill>
              </a:defRPr>
            </a:pPr>
            <a:r>
              <a:rPr sz="825" b="0" i="0">
                <a:solidFill>
                  <a:srgbClr val="5C677A"/>
                </a:solidFill>
              </a:rPr>
              <a:t>Données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956CD8-9444-40B0-990D-66DAABF5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2103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C677A"/>
                </a:solidFill>
              </a:defRPr>
            </a:pPr>
            <a:r>
              <a:rPr sz="900" b="0" i="0">
                <a:solidFill>
                  <a:srgbClr val="5C677A"/>
                </a:solidFill>
              </a:rPr>
              <a:t>5 / 10</a:t>
            </a:r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1833e543484c94"/>
          <a:stretch xmlns:a="http://schemas.openxmlformats.org/drawingml/2006/main"/>
        </p:blipFill>
        <p:spPr>
          <a:xfrm xmlns:a="http://schemas.openxmlformats.org/drawingml/2006/main">
            <a:off x="552450" y="1221821"/>
            <a:ext cx="5191125" cy="2757009"/>
          </a:xfrm>
          <a:prstGeom xmlns:a="http://schemas.openxmlformats.org/drawingml/2006/main" prst="roundRect">
            <a:avLst>
              <a:gd name="adj" fmla="val 2759"/>
            </a:avLst>
          </a:prstGeom>
        </p:spPr>
      </p:pic>
      <p:graphicFrame>
        <p:nvGraphicFramePr>
          <p:cNvPr id="57" name="Chart"/>
          <p:cNvGraphicFramePr/>
          <p:nvPr/>
        </p:nvGraphicFramePr>
        <p:xfrm>
          <a:off xmlns:a="http://schemas.openxmlformats.org/drawingml/2006/main" x="6477000" y="1219200"/>
          <a:ext xmlns:a="http://schemas.openxmlformats.org/drawingml/2006/main" cx="5191125" cy="2762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5a7ff77a341414c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F3181C-BE2A-4A3D-B0AA-752F68EA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7335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02033"/>
                </a:solidFill>
              </a:defRPr>
            </a:pPr>
            <a:r>
              <a:rPr sz="900" b="1" i="0">
                <a:solidFill>
                  <a:srgbClr val="102033"/>
                </a:solidFill>
              </a:rPr>
              <a:t>2793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3B5EBE-562F-45F5-B200-9AFD9F65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575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02033"/>
                </a:solidFill>
              </a:defRPr>
            </a:pPr>
            <a:r>
              <a:rPr sz="900" b="1" i="0">
                <a:solidFill>
                  <a:srgbClr val="102033"/>
                </a:solidFill>
              </a:rPr>
              <a:t>599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AEFAAE-476D-4885-845D-A99F1728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2575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02033"/>
                </a:solidFill>
              </a:defRPr>
            </a:pPr>
            <a:r>
              <a:rPr sz="900" b="1" i="0">
                <a:solidFill>
                  <a:srgbClr val="102033"/>
                </a:solidFill>
              </a:rPr>
              <a:t>599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208112-A2A9-46A5-B056-75B28204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33875"/>
            <a:ext cx="1095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0B4BCA-9061-4BC2-8160-4C947DAC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9600"/>
            <a:ext cx="90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Source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3D01C9-DB6A-47C7-8B03-F0488049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4333875"/>
            <a:ext cx="1000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89CD98-1C0F-4C1F-8BCB-C3532C0E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419600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796AC2-384F-4180-80AC-819F5879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333875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F7D916-6A29-49CC-8CAB-94BE8DC5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41960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Violence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56FDA7-CDE1-48A1-AC01-3951C459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333875"/>
            <a:ext cx="1285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5C9233-9EA1-4C2E-AB60-EFCD3AA3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419600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Non violence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93EC63-C242-4149-AAC9-D52AAE6E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333875"/>
            <a:ext cx="1190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6FFD69-9C48-4351-A4F5-34672BD5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419600"/>
            <a:ext cx="100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Style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36BFF0-E5AD-4BD1-A94C-90F2FF4B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52975"/>
            <a:ext cx="1095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F9204A-3EE6-4426-B754-872D9AE4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90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RLVS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AC4CE1-5676-4F63-AEFC-0E3158EE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4752975"/>
            <a:ext cx="1000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295645-7604-4DAB-8B38-4A2EB38D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838700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2 000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484CEC-7EBD-40E2-84AA-EF19B3FC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52975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381AA0-A4C2-4FFA-9286-7EE5BD4B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83870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1 000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8D3B35-68AC-40B1-98A2-46DD52E5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752975"/>
            <a:ext cx="1285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C5F0DC-B756-4AF6-ACD4-3B820AE2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838700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1 000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5AA05E-8188-47D4-8EF5-2C2562B9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752975"/>
            <a:ext cx="1190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BC2343-0C4A-41C7-9B42-5D5DD046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838700"/>
            <a:ext cx="100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Contrôlé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653257-8957-4231-947D-241AAE17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72075"/>
            <a:ext cx="1095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0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8CC519-14C4-4CFB-9265-358006DA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57800"/>
            <a:ext cx="90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RWF 2000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E04C02-E947-42DB-A751-72D2259B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5172075"/>
            <a:ext cx="1000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0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9ACC52-3426-4D68-98E4-06B24B56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257800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1 991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83024D-79B4-42DC-AE67-A6777268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172075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0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F7BD00-9EF3-443E-837A-18B67615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25780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991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564B62-F358-4A9C-B2D3-71A52A64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172075"/>
            <a:ext cx="1285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0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B4AA83-3629-4224-848C-7E3C7AF5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257800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1 000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DF199DB-78E8-4E8E-B8FC-CC23A2B5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72075"/>
            <a:ext cx="1190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0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DC2240-F85C-4E93-A559-EFCBCAAD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257800"/>
            <a:ext cx="100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CCTV réel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7BE202-0435-4B1E-A285-C380ED34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91175"/>
            <a:ext cx="1095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EFAA5F8-4FA0-4504-9D99-925F0A1F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76900"/>
            <a:ext cx="90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TOTAL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C5AC4B9-F0D6-4AD7-8CA8-10E73E94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5591175"/>
            <a:ext cx="1000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2096539-1E68-4CF5-9830-071B4993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676900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3 991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BBE62C3-B776-41F9-B450-1DC9F600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591175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E14150C-5637-432B-BC99-1505F5BF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67690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1 991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3209937-F58E-4B46-9E62-97F45A7B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591175"/>
            <a:ext cx="1285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B587682-B7BD-4093-B18A-22FE3D58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676900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2 000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202D277-E3B8-44F9-AFE2-9FD15C5D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591175"/>
            <a:ext cx="1190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1886A17-FC14-4492-BB7D-461EC744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676900"/>
            <a:ext cx="100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Équilibré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2CF90D4-2C4A-4FA4-B297-DABD8959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524375"/>
            <a:ext cx="452437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7E2DF"/>
          </a:solidFill>
          <a:ln xmlns:a="http://schemas.openxmlformats.org/drawingml/2006/main" w="19050">
            <a:solidFill>
              <a:srgbClr val="C0504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AD9763C-2868-42A4-A98B-A4DCCD74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86300"/>
            <a:ext cx="404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C0504D"/>
                </a:solidFill>
              </a:defRPr>
            </a:pPr>
            <a:r>
              <a:rPr sz="1425" b="1" i="0">
                <a:solidFill>
                  <a:srgbClr val="C0504D"/>
                </a:solidFill>
              </a:rPr>
              <a:t>Entraîné sur une seule source : 54 % sur l’autre.</a:t>
            </a:r>
          </a:p>
          <a:p xmlns:a="http://schemas.openxmlformats.org/drawingml/2006/main">
            <a:pPr algn="ctr">
              <a:defRPr sz="1425" b="1" i="0">
                <a:solidFill>
                  <a:srgbClr val="C0504D"/>
                </a:solidFill>
              </a:defRPr>
            </a:pPr>
            <a:r>
              <a:rPr sz="1425" b="1" i="0">
                <a:solidFill>
                  <a:srgbClr val="C0504D"/>
                </a:solidFill>
              </a:rPr>
              <a:t>La combinaison des deux datasets était une nécessité.</a:t>
            </a:r>
          </a:p>
        </p:txBody>
      </p:sp>
    </p:spTree>
    <p:extLst>
      <p:ext uri="{BB962C8B-B14F-4D97-AF65-F5344CB8AC3E}">
        <p14:creationId xmlns:p14="http://schemas.microsoft.com/office/powerpoint/2010/main" val="19377543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46CD38-3E5C-4B02-A338-12BCED8B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F3864"/>
                </a:solidFill>
              </a:defRPr>
            </a:pPr>
            <a:r>
              <a:rPr sz="2700" b="1" i="0">
                <a:solidFill>
                  <a:srgbClr val="1F3864"/>
                </a:solidFill>
              </a:rPr>
              <a:t>SIRCH dépasse la référence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19A57C-F556-481C-A9A0-4852CB6B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1028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449"/>
          </a:solidFill>
          <a:ln xmlns:a="http://schemas.openxmlformats.org/drawingml/2006/main" w="0">
            <a:solidFill>
              <a:srgbClr val="1E844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DD560B-22E8-4073-8503-90CEA440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C677A"/>
                </a:solidFill>
              </a:defRPr>
            </a:pPr>
            <a:r>
              <a:rPr sz="825" b="0" i="0">
                <a:solidFill>
                  <a:srgbClr val="5C677A"/>
                </a:solidFill>
              </a:rPr>
              <a:t>Résultats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71EE47-6750-481B-9F1E-D51426CA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2103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C677A"/>
                </a:solidFill>
              </a:defRPr>
            </a:pPr>
            <a:r>
              <a:rPr sz="900" b="0" i="0">
                <a:solidFill>
                  <a:srgbClr val="5C677A"/>
                </a:solidFill>
              </a:rPr>
              <a:t>6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BE4673-2125-4AD9-8457-19588642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619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770255-4070-406A-908B-AB797EE4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9725"/>
            <a:ext cx="1428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Métrique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33AF34-E900-4419-A929-BB333381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524000"/>
            <a:ext cx="1809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1D3F7D-518B-477E-91AD-A2163BF5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609725"/>
            <a:ext cx="1619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Abdullah 2023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D2E287-1C16-4372-813A-FB5FD824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524000"/>
            <a:ext cx="1809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E1694E-65D4-40E4-8812-A6C8F20B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609725"/>
            <a:ext cx="1619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SIRCH base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A59E26-8BDC-4D72-82DE-FD534329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524000"/>
            <a:ext cx="1809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30F21-4955-4FD0-A6AD-E6FAE89C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09725"/>
            <a:ext cx="1619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SIRCH augmenté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6462AB-70DE-4A2F-B723-E5F1659D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43125"/>
            <a:ext cx="1619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AD995C-1741-4A7A-8698-F3169D96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28850"/>
            <a:ext cx="1428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Exactitude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A6DD2B-5412-45FC-8E0D-8757EADA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143125"/>
            <a:ext cx="1809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0075EC-EF34-4EA1-939A-BEEB077F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228850"/>
            <a:ext cx="1619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86,38 %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172E77-74A6-4535-955C-D49BF7B5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143125"/>
            <a:ext cx="1809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648EF0-ED93-4582-86C4-18AC523A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228850"/>
            <a:ext cx="1619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86,81 %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1D5D2A-AF50-4E3F-A950-29C7196B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143125"/>
            <a:ext cx="1809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51FC43-138E-4D3C-B0C8-987473BA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228850"/>
            <a:ext cx="1619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91,99 %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82FEEF-55A7-44F1-B027-E14CDF45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0"/>
            <a:ext cx="1619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0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63B55C-A87D-4E37-B4A1-64F41F81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47975"/>
            <a:ext cx="1428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F1 score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3CCE93-B879-4F0B-96C2-A3E7484A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62250"/>
            <a:ext cx="1809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0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B4741A-3A15-42B8-9610-A7D68AC2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847975"/>
            <a:ext cx="1619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86,39 %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01842C-3094-44BC-9332-09C619DD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762250"/>
            <a:ext cx="1809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0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E1B7E8-DCC4-4A48-B427-F34B531C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847975"/>
            <a:ext cx="1619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87,56 %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A972C2-4F55-4337-826E-9E324101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62250"/>
            <a:ext cx="1809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0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4AE0A3-2E15-4282-8938-7531F70B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47975"/>
            <a:ext cx="1619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92,31 %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A3E227-289D-419A-B62D-A264714C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81375"/>
            <a:ext cx="1619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2D05FF-B07A-4D08-BA20-7D35059C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67100"/>
            <a:ext cx="1428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ROC AUC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5E7E65-1C26-432B-987C-EEADE757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381375"/>
            <a:ext cx="1809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413283-AE50-42AA-8AA3-797396DF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467100"/>
            <a:ext cx="1619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92F9CE-731C-4C43-A542-7D1385AA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381375"/>
            <a:ext cx="1809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066693-9BBA-444F-8871-E8A9D4CD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467100"/>
            <a:ext cx="1619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0,9446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173FC7-6F38-4081-82EB-310D4D63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381375"/>
            <a:ext cx="1809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F59E9E-6C98-4AE6-96D6-F4149420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67100"/>
            <a:ext cx="1619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02033"/>
                </a:solidFill>
              </a:defRPr>
            </a:pPr>
            <a:r>
              <a:rPr sz="1275" b="0" i="0">
                <a:solidFill>
                  <a:srgbClr val="102033"/>
                </a:solidFill>
              </a:rPr>
              <a:t>0,9767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FA5DB14-03F2-4E9F-AEAC-EB4D917F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862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1E8449"/>
                </a:solidFill>
              </a:defRPr>
            </a:pPr>
            <a:r>
              <a:rPr sz="3300" b="1" i="0">
                <a:solidFill>
                  <a:srgbClr val="1E8449"/>
                </a:solidFill>
              </a:rPr>
              <a:t>+1,17 point de F1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BFFEE0-C7B1-4506-A10B-E45E114B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577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02033"/>
                </a:solidFill>
              </a:defRPr>
            </a:pPr>
            <a:r>
              <a:rPr sz="1650" b="0" i="0">
                <a:solidFill>
                  <a:srgbClr val="102033"/>
                </a:solidFill>
              </a:rPr>
              <a:t>sur la référence directe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C035D22-BE07-4E4F-B57E-F5D232A6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38750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F3864"/>
                </a:solidFill>
              </a:defRPr>
            </a:pPr>
            <a:r>
              <a:rPr sz="1650" b="1" i="0">
                <a:solidFill>
                  <a:srgbClr val="1F3864"/>
                </a:solidFill>
              </a:rPr>
              <a:t>Validation statistique : McNemar p = 0,0001</a:t>
            </a:r>
          </a:p>
        </p:txBody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afcc45d66d4e53"/>
          <a:stretch xmlns:a="http://schemas.openxmlformats.org/drawingml/2006/main"/>
        </p:blipFill>
        <p:spPr>
          <a:xfrm xmlns:a="http://schemas.openxmlformats.org/drawingml/2006/main">
            <a:off x="8029575" y="1809750"/>
            <a:ext cx="3619500" cy="2714625"/>
          </a:xfrm>
          <a:prstGeom xmlns:a="http://schemas.openxmlformats.org/drawingml/2006/main" prst="roundRect">
            <a:avLst>
              <a:gd name="adj" fmla="val 2807"/>
            </a:avLst>
          </a:prstGeom>
        </p:spPr>
      </p:pic>
    </p:spTree>
    <p:extLst>
      <p:ext uri="{BB962C8B-B14F-4D97-AF65-F5344CB8AC3E}">
        <p14:creationId xmlns:p14="http://schemas.microsoft.com/office/powerpoint/2010/main" val="5201421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5AB96E-2E64-4E9B-B3EC-AAD2BE4D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F3864"/>
                </a:solidFill>
              </a:defRPr>
            </a:pPr>
            <a:r>
              <a:rPr sz="2700" b="1" i="0">
                <a:solidFill>
                  <a:srgbClr val="1F3864"/>
                </a:solidFill>
              </a:rPr>
              <a:t>Ce que SIRCH ne maîtrise pas encore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31866C-2E71-479C-B3E4-7E590998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1028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449"/>
          </a:solidFill>
          <a:ln xmlns:a="http://schemas.openxmlformats.org/drawingml/2006/main" w="0">
            <a:solidFill>
              <a:srgbClr val="1E844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C92A13-D8B9-4F31-A900-E6447FD6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C677A"/>
                </a:solidFill>
              </a:defRPr>
            </a:pPr>
            <a:r>
              <a:rPr sz="825" b="0" i="0">
                <a:solidFill>
                  <a:srgbClr val="5C677A"/>
                </a:solidFill>
              </a:rPr>
              <a:t>Limites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019B88-4297-4635-88EB-A2FED368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2103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C677A"/>
                </a:solidFill>
              </a:defRPr>
            </a:pPr>
            <a:r>
              <a:rPr sz="900" b="0" i="0">
                <a:solidFill>
                  <a:srgbClr val="5C677A"/>
                </a:solidFill>
              </a:rPr>
              <a:t>7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D8BC13-7C9F-4E30-94DA-9F839600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6191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7E2DF"/>
          </a:solidFill>
          <a:ln xmlns:a="http://schemas.openxmlformats.org/drawingml/2006/main" w="19050">
            <a:solidFill>
              <a:srgbClr val="C050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CE23FA-2F2D-47BA-9B5D-C689C605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430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C0504D"/>
                </a:solidFill>
              </a:defRPr>
            </a:pPr>
            <a:r>
              <a:rPr sz="2250" b="1" i="0">
                <a:solidFill>
                  <a:srgbClr val="C0504D"/>
                </a:solidFill>
              </a:rPr>
              <a:t>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E3B6F1-1ABC-46DB-8FE6-B51B02038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7716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C0504D"/>
                </a:solidFill>
              </a:defRPr>
            </a:pPr>
            <a:r>
              <a:rPr sz="1725" b="1" i="0">
                <a:solidFill>
                  <a:srgbClr val="C0504D"/>
                </a:solidFill>
              </a:rPr>
              <a:t>Faux positifs sport et danse : 46,67 %.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BEECF8-E476-42EB-969D-8DCB7DFC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6191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7E2DF"/>
          </a:solidFill>
          <a:ln xmlns:a="http://schemas.openxmlformats.org/drawingml/2006/main" w="19050">
            <a:solidFill>
              <a:srgbClr val="C050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A00764-BF1F-48BA-BB18-1C11E25B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9082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C0504D"/>
                </a:solidFill>
              </a:defRPr>
            </a:pPr>
            <a:r>
              <a:rPr sz="2250" b="1" i="0">
                <a:solidFill>
                  <a:srgbClr val="C0504D"/>
                </a:solidFill>
              </a:rPr>
              <a:t>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C741CC-9594-4D56-8594-64CB5E88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194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C0504D"/>
                </a:solidFill>
              </a:defRPr>
            </a:pPr>
            <a:r>
              <a:rPr sz="1725" b="1" i="0">
                <a:solidFill>
                  <a:srgbClr val="C0504D"/>
                </a:solidFill>
              </a:rPr>
              <a:t>Entraînement sur CPU : GPU non exploitable.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C08E8B-16E0-49DE-A115-F44122CC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6191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7E2DF"/>
          </a:solidFill>
          <a:ln xmlns:a="http://schemas.openxmlformats.org/drawingml/2006/main" w="19050">
            <a:solidFill>
              <a:srgbClr val="C050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BA976D-A76B-476C-8ABE-9E17A746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385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C0504D"/>
                </a:solidFill>
              </a:defRPr>
            </a:pPr>
            <a:r>
              <a:rPr sz="2250" b="1" i="0">
                <a:solidFill>
                  <a:srgbClr val="C0504D"/>
                </a:solidFill>
              </a:rPr>
              <a:t>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950863-4C97-4033-AA48-F007AAE3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671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C0504D"/>
                </a:solidFill>
              </a:defRPr>
            </a:pPr>
            <a:r>
              <a:rPr sz="1725" b="1" i="0">
                <a:solidFill>
                  <a:srgbClr val="C0504D"/>
                </a:solidFill>
              </a:rPr>
              <a:t>Capture une image, pas encore un clip vidéo.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e5660f02f94f4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1657350"/>
            <a:ext cx="3429000" cy="2571750"/>
          </a:xfrm>
          <a:prstGeom xmlns:a="http://schemas.openxmlformats.org/drawingml/2006/main" prst="roundRect">
            <a:avLst>
              <a:gd name="adj" fmla="val 2963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5ADBC5-91E8-41FF-BB3C-67242E94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862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5C677A"/>
                </a:solidFill>
              </a:defRPr>
            </a:pPr>
            <a:r>
              <a:rPr sz="750" b="0" i="0">
                <a:solidFill>
                  <a:srgbClr val="5C677A"/>
                </a:solidFill>
              </a:rPr>
              <a:t>Source : Wikimedia Commons, Rick Doble, CC BY-SA 4.0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02EC37-D98A-42F7-9FB3-3D4304BF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143500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F3864"/>
                </a:solidFill>
              </a:defRPr>
            </a:pPr>
            <a:r>
              <a:rPr sz="1800" b="1" i="0">
                <a:solidFill>
                  <a:srgbClr val="1F3864"/>
                </a:solidFill>
              </a:rPr>
              <a:t>SIRCH est conçu pour un couloir ou un hall.</a:t>
            </a:r>
          </a:p>
          <a:p xmlns:a="http://schemas.openxmlformats.org/drawingml/2006/main">
            <a:pPr algn="ctr">
              <a:defRPr sz="1800" b="1" i="0">
                <a:solidFill>
                  <a:srgbClr val="1F3864"/>
                </a:solidFill>
              </a:defRPr>
            </a:pPr>
            <a:r>
              <a:rPr sz="1800" b="1" i="0">
                <a:solidFill>
                  <a:srgbClr val="1F3864"/>
                </a:solidFill>
              </a:rPr>
              <a:t>Pas pour un terrain de sport.</a:t>
            </a:r>
          </a:p>
        </p:txBody>
      </p:sp>
    </p:spTree>
    <p:extLst>
      <p:ext uri="{BB962C8B-B14F-4D97-AF65-F5344CB8AC3E}">
        <p14:creationId xmlns:p14="http://schemas.microsoft.com/office/powerpoint/2010/main" val="15552960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5974D3-ADC4-4498-B710-5283D257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F3864"/>
                </a:solidFill>
              </a:defRPr>
            </a:pPr>
            <a:r>
              <a:rPr sz="2700" b="1" i="0">
                <a:solidFill>
                  <a:srgbClr val="1F3864"/>
                </a:solidFill>
              </a:rPr>
              <a:t>Nos quatre contributions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CC891E-6CEB-4BD9-A5DD-1008A9F0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1028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449"/>
          </a:solidFill>
          <a:ln xmlns:a="http://schemas.openxmlformats.org/drawingml/2006/main" w="0">
            <a:solidFill>
              <a:srgbClr val="1E844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D2AE37-5435-4E6B-9BAC-A20460155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C677A"/>
                </a:solidFill>
              </a:defRPr>
            </a:pPr>
            <a:r>
              <a:rPr sz="825" b="0" i="0">
                <a:solidFill>
                  <a:srgbClr val="5C677A"/>
                </a:solidFill>
              </a:rPr>
              <a:t>Contributions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EA74D6-AA38-452B-BFEF-A9D172BA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2103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C677A"/>
                </a:solidFill>
              </a:defRPr>
            </a:pPr>
            <a:r>
              <a:rPr sz="900" b="0" i="0">
                <a:solidFill>
                  <a:srgbClr val="5C677A"/>
                </a:solidFill>
              </a:rPr>
              <a:t>8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08F11B-F916-47BF-B249-8EB9DBAC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95450"/>
            <a:ext cx="4762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6E4F0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F3EEA-330E-41B5-A473-55508EA7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98120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F3864"/>
          </a:solidFill>
          <a:ln xmlns:a="http://schemas.openxmlformats.org/drawingml/2006/main" w="0">
            <a:solidFill>
              <a:srgbClr val="1F386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B93655-F018-405B-A6FB-1BA8CFB4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8597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F37C4B-2950-4903-BE46-7AA56E8E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962150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033"/>
                </a:solidFill>
              </a:defRPr>
            </a:pPr>
            <a:r>
              <a:rPr sz="1650" b="1" i="0">
                <a:solidFill>
                  <a:srgbClr val="102033"/>
                </a:solidFill>
              </a:rPr>
              <a:t>Étude d’ablation par réentraînement réel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794264-00E0-475E-A936-3B1CA5C4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95450"/>
            <a:ext cx="4762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6E4F0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24A5BF-9869-4779-9643-C54DE42F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8120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F3864"/>
          </a:solidFill>
          <a:ln xmlns:a="http://schemas.openxmlformats.org/drawingml/2006/main" w="0">
            <a:solidFill>
              <a:srgbClr val="1F386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C1D3B8-1D93-42CB-B9D7-088AE502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8597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9E8A04-12D8-41C8-9A71-D220AAFF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62150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033"/>
                </a:solidFill>
              </a:defRPr>
            </a:pPr>
            <a:r>
              <a:rPr sz="1650" b="1" i="0">
                <a:solidFill>
                  <a:srgbClr val="102033"/>
                </a:solidFill>
              </a:rPr>
              <a:t>Test systématique sur sport et danse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C69593-5C6C-457B-85DC-E1FA4178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00450"/>
            <a:ext cx="4762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6E4F0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631575-3963-4541-AE0E-8EA58A01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8620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F3864"/>
          </a:solidFill>
          <a:ln xmlns:a="http://schemas.openxmlformats.org/drawingml/2006/main" w="0">
            <a:solidFill>
              <a:srgbClr val="1F386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DE6826-1FBA-4814-8ABB-EDF752B5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9097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A7C87C-40FC-4CD3-B06E-0B16C5B2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867150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033"/>
                </a:solidFill>
              </a:defRPr>
            </a:pPr>
            <a:r>
              <a:rPr sz="1650" b="1" i="0">
                <a:solidFill>
                  <a:srgbClr val="102033"/>
                </a:solidFill>
              </a:rPr>
              <a:t>Validation croisée entre jeux de données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E8519D-7839-401B-BD51-F7F70481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00450"/>
            <a:ext cx="4762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6E4F0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470864-8EEB-416F-8D97-912A9E6F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8620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F3864"/>
          </a:solidFill>
          <a:ln xmlns:a="http://schemas.openxmlformats.org/drawingml/2006/main" w="0">
            <a:solidFill>
              <a:srgbClr val="1F386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7AD4E0-CBA7-46AF-B338-F3E441D4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9097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1C0F6A-C429-4A15-9A3D-BAE92F04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67150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033"/>
                </a:solidFill>
              </a:defRPr>
            </a:pPr>
            <a:r>
              <a:rPr sz="1650" b="1" i="0">
                <a:solidFill>
                  <a:srgbClr val="102033"/>
                </a:solidFill>
              </a:rPr>
              <a:t>Système complet, déployable sans GPU ni cloud</a:t>
            </a:r>
          </a:p>
        </p:txBody>
      </p:sp>
    </p:spTree>
    <p:extLst>
      <p:ext uri="{BB962C8B-B14F-4D97-AF65-F5344CB8AC3E}">
        <p14:creationId xmlns:p14="http://schemas.microsoft.com/office/powerpoint/2010/main" val="12028421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8CCBB9-CE9F-467A-A1B8-8AECFD8E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F3864"/>
                </a:solidFill>
              </a:defRPr>
            </a:pPr>
            <a:r>
              <a:rPr sz="2700" b="1" i="0">
                <a:solidFill>
                  <a:srgbClr val="1F3864"/>
                </a:solidFill>
              </a:rPr>
              <a:t>En résumé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F32FF5-DB34-4A80-BC0C-19357B8E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1028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449"/>
          </a:solidFill>
          <a:ln xmlns:a="http://schemas.openxmlformats.org/drawingml/2006/main" w="0">
            <a:solidFill>
              <a:srgbClr val="1E844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1A6139-1040-486E-8D06-B0498115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C677A"/>
                </a:solidFill>
              </a:defRPr>
            </a:pPr>
            <a:r>
              <a:rPr sz="825" b="0" i="0">
                <a:solidFill>
                  <a:srgbClr val="5C677A"/>
                </a:solidFill>
              </a:rPr>
              <a:t>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BC2681-F045-4E7F-85A4-B0230AB6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2103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C677A"/>
                </a:solidFill>
              </a:defRPr>
            </a:pPr>
            <a:r>
              <a:rPr sz="900" b="0" i="0">
                <a:solidFill>
                  <a:srgbClr val="5C677A"/>
                </a:solidFill>
              </a:rPr>
              <a:t>9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9AC00E-4F53-482E-B712-56813A2A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6383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1E8449"/>
                </a:solidFill>
              </a:defRPr>
            </a:pPr>
            <a:r>
              <a:rPr sz="2550" b="1" i="0">
                <a:solidFill>
                  <a:srgbClr val="1E8449"/>
                </a:solidFill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9D275E-FC93-4106-926B-D3439AA9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6764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F3864"/>
                </a:solidFill>
              </a:defRPr>
            </a:pPr>
            <a:r>
              <a:rPr sz="1875" b="1" i="0">
                <a:solidFill>
                  <a:srgbClr val="1F3864"/>
                </a:solidFill>
              </a:rPr>
              <a:t>Détection de violence en temps réel, sur matériel ordinaire.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EDDF4B-3736-4F93-979B-50B2BFD6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5146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1E8449"/>
                </a:solidFill>
              </a:defRPr>
            </a:pPr>
            <a:r>
              <a:rPr sz="2550" b="1" i="0">
                <a:solidFill>
                  <a:srgbClr val="1E8449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49999A-CB82-4B9D-A8E9-A3835C4B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5527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F3864"/>
                </a:solidFill>
              </a:defRPr>
            </a:pPr>
            <a:r>
              <a:rPr sz="1875" b="1" i="0">
                <a:solidFill>
                  <a:srgbClr val="1F3864"/>
                </a:solidFill>
              </a:rPr>
              <a:t>F1 de 87,56 % à 92,31 %, supérieur à la référence.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45F48A-CA24-4CB0-A819-6395E0CF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909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1E8449"/>
                </a:solidFill>
              </a:defRPr>
            </a:pPr>
            <a:r>
              <a:rPr sz="2550" b="1" i="0">
                <a:solidFill>
                  <a:srgbClr val="1E8449"/>
                </a:solidFill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B871FE-75DD-4AEC-B322-6F2124CE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4290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F3864"/>
                </a:solidFill>
              </a:defRPr>
            </a:pPr>
            <a:r>
              <a:rPr sz="1875" b="1" i="0">
                <a:solidFill>
                  <a:srgbClr val="1F3864"/>
                </a:solidFill>
              </a:rPr>
              <a:t>Résultat statistiquement fiable : p = 0,0001.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2b939035c84bde"/>
          <a:stretch xmlns:a="http://schemas.openxmlformats.org/drawingml/2006/main"/>
        </p:blipFill>
        <p:spPr>
          <a:xfrm xmlns:a="http://schemas.openxmlformats.org/drawingml/2006/main">
            <a:off x="7715250" y="1863345"/>
            <a:ext cx="3810000" cy="1502535"/>
          </a:xfrm>
          <a:prstGeom xmlns:a="http://schemas.openxmlformats.org/drawingml/2006/main" prst="roundRect">
            <a:avLst>
              <a:gd name="adj" fmla="val 3265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6625FA-7259-48C6-AB64-ECB8EE81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576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5C677A"/>
                </a:solidFill>
              </a:defRPr>
            </a:pPr>
            <a:r>
              <a:rPr sz="900" b="0" i="0">
                <a:solidFill>
                  <a:srgbClr val="5C677A"/>
                </a:solidFill>
              </a:rPr>
              <a:t>Interface SIRCH : seuil, incidents et captures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8A345D-8800-4518-BA3B-21AD20D9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38700"/>
            <a:ext cx="94869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6E4F0"/>
          </a:solidFill>
          <a:ln xmlns:a="http://schemas.openxmlformats.org/drawingml/2006/main" w="9525">
            <a:solidFill>
              <a:srgbClr val="C9D3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3CF1B7-047D-4B92-ADE9-9902CB39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010150"/>
            <a:ext cx="8724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0" i="1">
                <a:solidFill>
                  <a:srgbClr val="1F3864"/>
                </a:solidFill>
              </a:defRPr>
            </a:pPr>
            <a:r>
              <a:rPr sz="1725" b="0" i="1">
                <a:solidFill>
                  <a:srgbClr val="1F3864"/>
                </a:solidFill>
              </a:rPr>
              <a:t>SIRCH ne remplace pas l’agent de sécurité.</a:t>
            </a:r>
          </a:p>
          <a:p xmlns:a="http://schemas.openxmlformats.org/drawingml/2006/main">
            <a:pPr algn="ctr">
              <a:defRPr sz="1725" b="0" i="1">
                <a:solidFill>
                  <a:srgbClr val="1F3864"/>
                </a:solidFill>
              </a:defRPr>
            </a:pPr>
            <a:r>
              <a:rPr sz="1725" b="0" i="1">
                <a:solidFill>
                  <a:srgbClr val="1F3864"/>
                </a:solidFill>
              </a:rPr>
              <a:t>Il lui offre des yeux qui ne se ferment jamais.</a:t>
            </a:r>
          </a:p>
        </p:txBody>
      </p:sp>
    </p:spTree>
    <p:extLst>
      <p:ext uri="{BB962C8B-B14F-4D97-AF65-F5344CB8AC3E}">
        <p14:creationId xmlns:p14="http://schemas.microsoft.com/office/powerpoint/2010/main" val="4576540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F386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EF1063-C99A-4BD0-9A53-56213AA5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383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FFFFFF"/>
                </a:solidFill>
              </a:defRPr>
            </a:pPr>
            <a:r>
              <a:rPr sz="3300" b="1" i="0">
                <a:solidFill>
                  <a:srgbClr val="FFFFFF"/>
                </a:solidFill>
              </a:rPr>
              <a:t>Merci pour votre attention.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AAC5AC-782D-4740-8056-DF729793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2895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FFFFFF"/>
                </a:solidFill>
              </a:defRPr>
            </a:pPr>
            <a:r>
              <a:rPr sz="1800" b="0" i="0">
                <a:solidFill>
                  <a:srgbClr val="FFFFFF"/>
                </a:solidFill>
              </a:rPr>
              <a:t>Je me tiens à votre disposition pour vos questions.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590C06-088E-41AA-810B-C73527EC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14750"/>
            <a:ext cx="304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449"/>
          </a:solidFill>
          <a:ln xmlns:a="http://schemas.openxmlformats.org/drawingml/2006/main" w="0">
            <a:solidFill>
              <a:srgbClr val="1E844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F95BA5-2E73-4562-A402-26BE873B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7721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Tracy Alipade Benzanza. UNH. 2025 à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B64E6D-03B6-4BC6-BB3D-2B51DBBA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97CB5E-1A06-4D05-A022-26AD8CC0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3055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FFFFFF"/>
                </a:solidFill>
              </a:defRPr>
            </a:pPr>
            <a:r>
              <a:rPr sz="900" b="0" i="0">
                <a:solidFill>
                  <a:srgbClr val="FFFFFF"/>
                </a:solidFill>
              </a:rP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2488769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2026-06-29T17:04:11.2860000Z</dcterms:created>
  <dcterms:modified xsi:type="dcterms:W3CDTF">2026-06-29T17:04:11.2860000Z</dcterms:modified>
</coreProperties>
</file>