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48f29447e945f8" /><Relationship Type="http://schemas.openxmlformats.org/officeDocument/2006/relationships/extended-properties" Target="/docProps/app.xml" Id="R5ca04bff3c3f4589" /><Relationship Type="http://schemas.openxmlformats.org/officeDocument/2006/relationships/officeDocument" Target="/ppt/presentation.xml" Id="Rc106a9a3174f4c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ac73de399d496b"/>
  </p:sldMasterIdLst>
  <p:notesMasterIdLst>
    <p:notesMasterId xmlns:r="http://schemas.openxmlformats.org/officeDocument/2006/relationships" r:id="R2821a7fbccc14efc"/>
  </p:notesMasterIdLst>
  <p:sldIdLst>
    <p:sldId xmlns:r="http://schemas.openxmlformats.org/officeDocument/2006/relationships" id="256" r:id="R2b0a2d4d39d944df"/>
    <p:sldId xmlns:r="http://schemas.openxmlformats.org/officeDocument/2006/relationships" id="257" r:id="R9f1c631c56394b01"/>
    <p:sldId xmlns:r="http://schemas.openxmlformats.org/officeDocument/2006/relationships" id="258" r:id="R5d176a603f794921"/>
    <p:sldId xmlns:r="http://schemas.openxmlformats.org/officeDocument/2006/relationships" id="259" r:id="R67e1492100394da8"/>
    <p:sldId xmlns:r="http://schemas.openxmlformats.org/officeDocument/2006/relationships" id="260" r:id="Rbcbe4d6ee1d84809"/>
    <p:sldId xmlns:r="http://schemas.openxmlformats.org/officeDocument/2006/relationships" id="261" r:id="R609708deaa8043f9"/>
    <p:sldId xmlns:r="http://schemas.openxmlformats.org/officeDocument/2006/relationships" id="262" r:id="R0f6f707f9cf14acf"/>
    <p:sldId xmlns:r="http://schemas.openxmlformats.org/officeDocument/2006/relationships" id="263" r:id="R2c100a7ce860462b"/>
    <p:sldId xmlns:r="http://schemas.openxmlformats.org/officeDocument/2006/relationships" id="264" r:id="R9bf7c65f53644d1b"/>
    <p:sldId xmlns:r="http://schemas.openxmlformats.org/officeDocument/2006/relationships" id="265" r:id="R950db1de47fb4135"/>
    <p:sldId xmlns:r="http://schemas.openxmlformats.org/officeDocument/2006/relationships" id="266" r:id="Rc41db0601ff94a47"/>
    <p:sldId xmlns:r="http://schemas.openxmlformats.org/officeDocument/2006/relationships" id="267" r:id="R858d8042c8874408"/>
    <p:sldId xmlns:r="http://schemas.openxmlformats.org/officeDocument/2006/relationships" id="268" r:id="R04a6853567454822"/>
    <p:sldId xmlns:r="http://schemas.openxmlformats.org/officeDocument/2006/relationships" id="269" r:id="Ra017504029514853"/>
    <p:sldId xmlns:r="http://schemas.openxmlformats.org/officeDocument/2006/relationships" id="270" r:id="R73cfae22cc894481"/>
    <p:sldId xmlns:r="http://schemas.openxmlformats.org/officeDocument/2006/relationships" id="271" r:id="R21050934e1114147"/>
    <p:sldId xmlns:r="http://schemas.openxmlformats.org/officeDocument/2006/relationships" id="272" r:id="Rf77f991a617744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d55f9b87ef423f" /><Relationship Type="http://schemas.openxmlformats.org/officeDocument/2006/relationships/slideMaster" Target="/ppt/slideMasters/slideMaster1.xml" Id="Rbfac73de399d496b" /><Relationship Type="http://schemas.openxmlformats.org/officeDocument/2006/relationships/notesMaster" Target="/ppt/notesMasters/notesMaster1.xml" Id="R2821a7fbccc14efc" /><Relationship Type="http://schemas.openxmlformats.org/officeDocument/2006/relationships/presProps" Target="/ppt/presProps.xml" Id="R15af6e9c516a469a" /><Relationship Type="http://schemas.openxmlformats.org/officeDocument/2006/relationships/tableStyles" Target="/ppt/tableStyles.xml" Id="R69c6ea6af9c548f8" /><Relationship Type="http://schemas.openxmlformats.org/officeDocument/2006/relationships/slide" Target="/ppt/slides/slide1.xml" Id="R2b0a2d4d39d944df" /><Relationship Type="http://schemas.openxmlformats.org/officeDocument/2006/relationships/slide" Target="/ppt/slides/slide2.xml" Id="R9f1c631c56394b01" /><Relationship Type="http://schemas.openxmlformats.org/officeDocument/2006/relationships/slide" Target="/ppt/slides/slide3.xml" Id="R5d176a603f794921" /><Relationship Type="http://schemas.openxmlformats.org/officeDocument/2006/relationships/slide" Target="/ppt/slides/slide4.xml" Id="R67e1492100394da8" /><Relationship Type="http://schemas.openxmlformats.org/officeDocument/2006/relationships/slide" Target="/ppt/slides/slide5.xml" Id="Rbcbe4d6ee1d84809" /><Relationship Type="http://schemas.openxmlformats.org/officeDocument/2006/relationships/slide" Target="/ppt/slides/slide6.xml" Id="R609708deaa8043f9" /><Relationship Type="http://schemas.openxmlformats.org/officeDocument/2006/relationships/slide" Target="/ppt/slides/slide7.xml" Id="R0f6f707f9cf14acf" /><Relationship Type="http://schemas.openxmlformats.org/officeDocument/2006/relationships/slide" Target="/ppt/slides/slide8.xml" Id="R2c100a7ce860462b" /><Relationship Type="http://schemas.openxmlformats.org/officeDocument/2006/relationships/slide" Target="/ppt/slides/slide9.xml" Id="R9bf7c65f53644d1b" /><Relationship Type="http://schemas.openxmlformats.org/officeDocument/2006/relationships/slide" Target="/ppt/slides/slide10.xml" Id="R950db1de47fb4135" /><Relationship Type="http://schemas.openxmlformats.org/officeDocument/2006/relationships/slide" Target="/ppt/slides/slide11.xml" Id="Rc41db0601ff94a47" /><Relationship Type="http://schemas.openxmlformats.org/officeDocument/2006/relationships/slide" Target="/ppt/slides/slide12.xml" Id="R858d8042c8874408" /><Relationship Type="http://schemas.openxmlformats.org/officeDocument/2006/relationships/slide" Target="/ppt/slides/slide13.xml" Id="R04a6853567454822" /><Relationship Type="http://schemas.openxmlformats.org/officeDocument/2006/relationships/slide" Target="/ppt/slides/slide14.xml" Id="Ra017504029514853" /><Relationship Type="http://schemas.openxmlformats.org/officeDocument/2006/relationships/slide" Target="/ppt/slides/slide15.xml" Id="R73cfae22cc894481" /><Relationship Type="http://schemas.openxmlformats.org/officeDocument/2006/relationships/slide" Target="/ppt/slides/slide16.xml" Id="R21050934e1114147" /><Relationship Type="http://schemas.openxmlformats.org/officeDocument/2006/relationships/slide" Target="/ppt/slides/slide17.xml" Id="Rf77f991a617744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0a48ba76244b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ca157041354bc9" /><Relationship Type="http://schemas.openxmlformats.org/officeDocument/2006/relationships/notesMaster" Target="/ppt/notesMasters/notesMaster1.xml" Id="Ra1c3974c583e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92c842e17b475e" /><Relationship Type="http://schemas.openxmlformats.org/officeDocument/2006/relationships/notesMaster" Target="/ppt/notesMasters/notesMaster1.xml" Id="R56d814f442954a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7dd5fb90444516" /><Relationship Type="http://schemas.openxmlformats.org/officeDocument/2006/relationships/notesMaster" Target="/ppt/notesMasters/notesMaster1.xml" Id="R69835525e9f343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d71deb021d451b" /><Relationship Type="http://schemas.openxmlformats.org/officeDocument/2006/relationships/notesMaster" Target="/ppt/notesMasters/notesMaster1.xml" Id="Ra34e6b7e8b314d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2d6fe29e0942a4" /><Relationship Type="http://schemas.openxmlformats.org/officeDocument/2006/relationships/notesMaster" Target="/ppt/notesMasters/notesMaster1.xml" Id="R8e6b79301ddb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a4e14830f04abb" /><Relationship Type="http://schemas.openxmlformats.org/officeDocument/2006/relationships/notesMaster" Target="/ppt/notesMasters/notesMaster1.xml" Id="Rcf12a983ceb844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9e41e966714e7f" /><Relationship Type="http://schemas.openxmlformats.org/officeDocument/2006/relationships/notesMaster" Target="/ppt/notesMasters/notesMaster1.xml" Id="Ra2f21b0d583547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e858c584e9456c" /><Relationship Type="http://schemas.openxmlformats.org/officeDocument/2006/relationships/notesMaster" Target="/ppt/notesMasters/notesMaster1.xml" Id="R1900ea320c284f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858d7436bb485c" /><Relationship Type="http://schemas.openxmlformats.org/officeDocument/2006/relationships/notesMaster" Target="/ppt/notesMasters/notesMaster1.xml" Id="R25ced82eef6243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48a720dccc429e" /><Relationship Type="http://schemas.openxmlformats.org/officeDocument/2006/relationships/notesMaster" Target="/ppt/notesMasters/notesMaster1.xml" Id="R9bc8088dbe1042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84f8ef41134d23" /><Relationship Type="http://schemas.openxmlformats.org/officeDocument/2006/relationships/notesMaster" Target="/ppt/notesMasters/notesMaster1.xml" Id="R174bc4c488d04e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724fe0c04d48fa" /><Relationship Type="http://schemas.openxmlformats.org/officeDocument/2006/relationships/notesMaster" Target="/ppt/notesMasters/notesMaster1.xml" Id="Rb9aa5f5c920647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e7b65423ba4756" /><Relationship Type="http://schemas.openxmlformats.org/officeDocument/2006/relationships/notesMaster" Target="/ppt/notesMasters/notesMaster1.xml" Id="R75ed1f4f663544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70c86658f543f9" /><Relationship Type="http://schemas.openxmlformats.org/officeDocument/2006/relationships/notesMaster" Target="/ppt/notesMasters/notesMaster1.xml" Id="R5d03c60e1cc14f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639489c2fa48f2" /><Relationship Type="http://schemas.openxmlformats.org/officeDocument/2006/relationships/notesMaster" Target="/ppt/notesMasters/notesMaster1.xml" Id="Rdbc64eaebe454e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e3236190284d90" /><Relationship Type="http://schemas.openxmlformats.org/officeDocument/2006/relationships/notesMaster" Target="/ppt/notesMasters/notesMaster1.xml" Id="Ra2703d488824404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ad4190536240b6" /><Relationship Type="http://schemas.openxmlformats.org/officeDocument/2006/relationships/notesMaster" Target="/ppt/notesMasters/notesMaster1.xml" Id="R8db1fb26c2e049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7583086044b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250a3af4dc4122" /><Relationship Type="http://schemas.openxmlformats.org/officeDocument/2006/relationships/slideLayout" Target="/ppt/slideLayouts/slideLayout1.xml" Id="R33ccac9eb687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ccac9eb687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0a9c602ab4a3e" /><Relationship Type="http://schemas.openxmlformats.org/officeDocument/2006/relationships/notesSlide" Target="/ppt/notesSlides/notesSlide1.xml" Id="R6dbfe42d865045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c50c7634042c2" /><Relationship Type="http://schemas.openxmlformats.org/officeDocument/2006/relationships/image" Target="/ppt/media/image.jpeg" Id="Rfc79f26805e04de7" /><Relationship Type="http://schemas.openxmlformats.org/officeDocument/2006/relationships/notesSlide" Target="/ppt/notesSlides/notesSlide2.xml" Id="Rbef404b9847648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c080949fb4047" /><Relationship Type="http://schemas.openxmlformats.org/officeDocument/2006/relationships/image" Target="/ppt/media/image.png" Id="R7e5fb3d9c03b4ed1" /><Relationship Type="http://schemas.openxmlformats.org/officeDocument/2006/relationships/notesSlide" Target="/ppt/notesSlides/notesSlide3.xml" Id="R86681673111d43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1bf2a6c0c4be4" /><Relationship Type="http://schemas.openxmlformats.org/officeDocument/2006/relationships/notesSlide" Target="/ppt/notesSlides/notesSlide4.xml" Id="R81c41404bb5b41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22bfefcd84228" /><Relationship Type="http://schemas.openxmlformats.org/officeDocument/2006/relationships/image" Target="/ppt/media/image2.png" Id="R801c1a8e36b648ba" /><Relationship Type="http://schemas.openxmlformats.org/officeDocument/2006/relationships/chart" Target="/ppt/slides/charts/chart1.xml" Id="R76b9652750ba4287" /><Relationship Type="http://schemas.openxmlformats.org/officeDocument/2006/relationships/notesSlide" Target="/ppt/notesSlides/notesSlide5.xml" Id="R1cd3ebc511b641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7d57fed274b32" /><Relationship Type="http://schemas.openxmlformats.org/officeDocument/2006/relationships/image" Target="/ppt/media/image3.png" Id="Recc07ed61f7a44be" /><Relationship Type="http://schemas.openxmlformats.org/officeDocument/2006/relationships/notesSlide" Target="/ppt/notesSlides/notesSlide6.xml" Id="R2d1a3d8aa68746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e4fefcdd04bb7" /><Relationship Type="http://schemas.openxmlformats.org/officeDocument/2006/relationships/image" Target="/ppt/media/image4.png" Id="R3238a72f521d4a94" /><Relationship Type="http://schemas.openxmlformats.org/officeDocument/2006/relationships/notesSlide" Target="/ppt/notesSlides/notesSlide7.xml" Id="R56207a945a7d43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d3f5976be490d" /><Relationship Type="http://schemas.openxmlformats.org/officeDocument/2006/relationships/image" Target="/ppt/media/image5.png" Id="R481029d829244eb0" /><Relationship Type="http://schemas.openxmlformats.org/officeDocument/2006/relationships/image" Target="/ppt/media/image6.png" Id="R8498607fd3cb4569" /><Relationship Type="http://schemas.openxmlformats.org/officeDocument/2006/relationships/notesSlide" Target="/ppt/notesSlides/notesSlide8.xml" Id="R89c71f8f32d841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dea14f7bd467f" /><Relationship Type="http://schemas.openxmlformats.org/officeDocument/2006/relationships/image" Target="/ppt/media/image7.png" Id="Ra0a36bd7a18e4233" /><Relationship Type="http://schemas.openxmlformats.org/officeDocument/2006/relationships/image" Target="/ppt/media/image8.png" Id="Rbf0bff8e5c9b4d9f" /><Relationship Type="http://schemas.openxmlformats.org/officeDocument/2006/relationships/notesSlide" Target="/ppt/notesSlides/notesSlide9.xml" Id="R236bae8acfa547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42b012f7144ad" /><Relationship Type="http://schemas.openxmlformats.org/officeDocument/2006/relationships/image" Target="/ppt/media/image9.png" Id="Rd1d8d092178d4434" /><Relationship Type="http://schemas.openxmlformats.org/officeDocument/2006/relationships/notesSlide" Target="/ppt/notesSlides/notesSlide10.xml" Id="Rbcd6d5974d614c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f6bd83af741e7" /><Relationship Type="http://schemas.openxmlformats.org/officeDocument/2006/relationships/notesSlide" Target="/ppt/notesSlides/notesSlide11.xml" Id="R50350c3b3b6342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73eb4525f4ffe" /><Relationship Type="http://schemas.openxmlformats.org/officeDocument/2006/relationships/image" Target="/ppt/media/image10.png" Id="Rb17f079e435e44c9" /><Relationship Type="http://schemas.openxmlformats.org/officeDocument/2006/relationships/notesSlide" Target="/ppt/notesSlides/notesSlide12.xml" Id="Ra015cbc91cc644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9fdf6d34e4d67" /><Relationship Type="http://schemas.openxmlformats.org/officeDocument/2006/relationships/image" Target="/ppt/media/image11.png" Id="R65350969eb2c4cf2" /><Relationship Type="http://schemas.openxmlformats.org/officeDocument/2006/relationships/notesSlide" Target="/ppt/notesSlides/notesSlide13.xml" Id="R4df1dc2a240e43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bbd2dd6224509" /><Relationship Type="http://schemas.openxmlformats.org/officeDocument/2006/relationships/image" Target="/ppt/media/image2.jpeg" Id="R42c6d1a8414e4212" /><Relationship Type="http://schemas.openxmlformats.org/officeDocument/2006/relationships/notesSlide" Target="/ppt/notesSlides/notesSlide14.xml" Id="R28fecc528e8348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f67655fda4d85" /><Relationship Type="http://schemas.openxmlformats.org/officeDocument/2006/relationships/notesSlide" Target="/ppt/notesSlides/notesSlide15.xml" Id="Ra68ce982a6844a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cbdf69ba14d52" /><Relationship Type="http://schemas.openxmlformats.org/officeDocument/2006/relationships/image" Target="/ppt/media/image12.png" Id="R51334ceb443c4b7f" /><Relationship Type="http://schemas.openxmlformats.org/officeDocument/2006/relationships/notesSlide" Target="/ppt/notesSlides/notesSlide16.xml" Id="R34b69cb364a04c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1d56af7154a63" /><Relationship Type="http://schemas.openxmlformats.org/officeDocument/2006/relationships/notesSlide" Target="/ppt/notesSlides/notesSlide17.xml" Id="R96375af4f2f24791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2033"/>
                </a:solidFill>
              </a:rPr>
              <a:t>Split final 70/15/15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02033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v>Vidéos</c:v>
          </c:tx>
          <c:spPr>
            <a:solidFill xmlns:a="http://schemas.openxmlformats.org/drawingml/2006/main">
              <a:srgbClr val="5C7180"/>
            </a:solidFill>
          </c:spPr>
          <c:dPt>
            <c:idx val="1"/>
            <c:spPr>
              <a:solidFill xmlns:a="http://schemas.openxmlformats.org/drawingml/2006/main">
                <a:srgbClr val="F5A15D"/>
              </a:solidFill>
            </c:spPr>
          </c:dPt>
          <c:dPt>
            <c:idx val="2"/>
            <c:spPr>
              <a:solidFill xmlns:a="http://schemas.openxmlformats.org/drawingml/2006/main">
                <a:srgbClr val="2A9D8F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train</c:v>
              </c:pt>
              <c:pt idx="1">
                <c:v>val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2793</c:v>
              </c:pt>
              <c:pt idx="1">
                <c:v>599</c:v>
              </c:pt>
              <c:pt idx="2">
                <c:v>599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03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102033"/>
                    </a:solidFill>
                  </a:rPr>
                  <a:t>Nombre de vidéos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203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0203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8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0F49ED-4E85-4D97-9BFE-D1D0114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90650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500" b="1" i="0">
                <a:solidFill>
                  <a:srgbClr val="FFFFFF"/>
                </a:solidFill>
              </a:defRPr>
            </a:pPr>
            <a:r>
              <a:rPr sz="4500" b="1" i="0">
                <a:solidFill>
                  <a:srgbClr val="FFFFFF"/>
                </a:solidFill>
              </a:rPr>
              <a:t>SIRCH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AF79B-E7CD-4862-9772-5C3B9217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241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Système Intelligent de Reconnaissance de Comportements Humains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865C5-72E9-45C6-B239-897837B1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491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53FE4-0C71-4552-ABD0-2A4DA07D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76600"/>
            <a:ext cx="7391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Détection automatique de violence en temps réel</a:t>
            </a:r>
          </a:p>
          <a:p xmlns:a="http://schemas.openxmlformats.org/drawingml/2006/main">
            <a:pPr algn="ctr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par EfficientNetB0 + LSTM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B2B90-EA32-4807-83D4-B753836D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B497A"/>
          </a:solidFill>
          <a:ln xmlns:a="http://schemas.openxmlformats.org/drawingml/2006/main" w="9525">
            <a:solidFill>
              <a:srgbClr val="5D7A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E057E-EA7C-4672-9F6C-E0AD0333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Tracy Alipade Benzanza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Directeur : Prof. Antoine Bagula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Codirecteur : Assistant Landry Mbale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Université Nouveaux Horizons, Faculté des Sciences Informatiques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Lubumbashi, RDC. Année académique 2025 à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7D994-845C-4425-9652-476C6F9D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Titre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5FCEE-232E-42A5-B7F6-377D6E6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055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1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AEA18-C36E-414A-AFA3-B0D0A6C3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0">
            <a:solidFill>
              <a:srgbClr val="1F3F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7D8A0-6ADE-43EF-BED3-1E871DB3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733796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17CB2-C85C-4376-8ED1-320F4B6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Un drame réel, un problème réel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8C1B2-37DA-4905-95D7-8AE9C3FD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1FD5D-0AE5-4F16-8D59-3F82BF7E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Contexte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B2C8E-88ED-4A86-AB10-C56C30AA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2 / 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9f26805e04de7"/>
          <a:srcRect xmlns:a="http://schemas.openxmlformats.org/drawingml/2006/main" l="0" t="10256" r="0" b="10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4953000" cy="295275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91D7F-AC86-4EF0-86BB-9A5AF1E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191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D2846-207E-426D-85B2-81DE6DD9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669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F3864"/>
                </a:solidFill>
              </a:defRPr>
            </a:pPr>
            <a:r>
              <a:rPr sz="1950" b="1" i="0">
                <a:solidFill>
                  <a:srgbClr val="1F3864"/>
                </a:solidFill>
              </a:rPr>
              <a:t>46 % des ménages de Lubumbashi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1F3864"/>
                </a:solidFill>
              </a:defRPr>
            </a:pPr>
            <a:r>
              <a:rPr sz="1950" b="1" i="0">
                <a:solidFill>
                  <a:srgbClr val="1F3864"/>
                </a:solidFill>
              </a:rPr>
              <a:t>se déclarent en insécurité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1F3864"/>
                </a:solidFill>
              </a:defRPr>
            </a:pPr>
            <a:r>
              <a:rPr sz="1950" b="1" i="0">
                <a:solidFill>
                  <a:srgbClr val="1F3864"/>
                </a:solidFill>
              </a:rPr>
              <a:t>selon INS, 2023.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8E562-B316-4529-BB78-EE190DCD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2033"/>
                </a:solidFill>
              </a:defRPr>
            </a:pPr>
            <a:r>
              <a:rPr sz="1800" b="0" i="0">
                <a:solidFill>
                  <a:srgbClr val="102033"/>
                </a:solidFill>
              </a:rPr>
              <a:t>Des caméras existent depuis 2016.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102033"/>
                </a:solidFill>
              </a:defRPr>
            </a:pPr>
            <a:r>
              <a:rPr sz="1800" b="0" i="0">
                <a:solidFill>
                  <a:srgbClr val="102033"/>
                </a:solidFill>
              </a:rPr>
              <a:t>Mais l’œil humain se fatigue.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102033"/>
                </a:solidFill>
              </a:defRPr>
            </a:pPr>
            <a:r>
              <a:rPr sz="1800" b="0" i="0">
                <a:solidFill>
                  <a:srgbClr val="102033"/>
                </a:solidFill>
              </a:rPr>
              <a:t>La réaction reste souvent tardive.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E744B-A8FB-4789-96C7-B525B1AC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1038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8301A-073A-48E6-BB5D-B3B82137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F3864"/>
                </a:solidFill>
              </a:defRPr>
            </a:pPr>
            <a:r>
              <a:rPr sz="1875" b="1" i="0">
                <a:solidFill>
                  <a:srgbClr val="1F3864"/>
                </a:solidFill>
              </a:rPr>
              <a:t>Et si la machine pouvait voir à la place de l’homme, en temps réel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53381-7467-4143-8855-DBB71297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C3FC2-1B38-4882-BA76-13F75C34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274818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6E139-809E-460F-923C-39851E52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Ce qui existe déjà, et ses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6F19B-0FC0-417A-AB26-55ADDEDD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9B47A-4FF2-4AA3-807E-DC299FFC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État de l’art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C66A4-B4EC-4681-BAD4-C21AB516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3 / 10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fb3d9c03b4ed1"/>
          <a:stretch xmlns:a="http://schemas.openxmlformats.org/drawingml/2006/main"/>
        </p:blipFill>
        <p:spPr>
          <a:xfrm xmlns:a="http://schemas.openxmlformats.org/drawingml/2006/main">
            <a:off x="8572500" y="1988530"/>
            <a:ext cx="2952750" cy="141409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1EB6D-9AA4-463F-A509-D1F569D3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58BD8-B1C8-43AA-AD53-3D63EF63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Approche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C38FC-52DC-45CB-81C2-4D357BD1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8C575-118A-41AE-BE0E-395F3F41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049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72286-3891-40FA-9B74-772EE4F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19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3F8E4-AFC7-4542-8366-D88445E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049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Limite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E59ED-2CEF-44BD-853B-3B025A9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C2304-9B2B-4BC4-A6DA-89E41DD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907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Optical flow classique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DDFEB-ABCE-43A8-B8FF-2E31B084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050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F650B-96FE-4396-AEF4-CA8BC938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907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Rapide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1DA97-213A-41FF-B270-D01586A0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07562-AD67-41DD-BA59-EE7F80A7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907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Peu précis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5CFEB-77AA-4356-AE35-0C4F0F3D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2AA6E-0221-4FFE-A9C6-AC762D8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CNN 3D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20C4B-2FD2-46B9-BB44-1E5EE44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650F1-F9B4-4594-99F1-7AEE97C7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765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Très précis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7AA77-0184-4A2F-AD35-A9FAEB3B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908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80630-0B6F-4F55-901D-61CB956C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765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Trop lourd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4591C-BDC0-4FFA-B414-52051175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A6F0A-092E-4416-A93F-05EF1512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CNN + LSTM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AC7BA-66D6-467F-AFEB-8B943CC3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766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F0EE0-BE07-4C90-AF93-8955648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Léger et précis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5C11E-67F0-4FB4-B5F4-B5461EC7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766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100FF-262E-4326-9DF5-C1E76EF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62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Un seul jeu de données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D7F2F7-BC92-413F-95A3-29BA82F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6F35C6-3029-4B40-BF7D-B6F7205D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7275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E8449"/>
                </a:solidFill>
              </a:defRPr>
            </a:pPr>
            <a:r>
              <a:rPr sz="1650" b="1" i="0">
                <a:solidFill>
                  <a:srgbClr val="1E8449"/>
                </a:solidFill>
              </a:rPr>
              <a:t>SIRCH part de cette base et va plus loin : sur deux jeux de données.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0D8B2-A888-4CE8-839B-1CB8DF6A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1F4193-8409-4210-8F28-1E8E19C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9824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0A7604-938B-4DD7-A6E6-147CF788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SIRCH : voir et se souvenir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679F0-4498-458F-8553-93E6D1EB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4C282-038C-4EE4-9548-605F9C88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91EFE-5788-4B58-A4EC-0EFC63EE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CEAA8-C439-42A7-A79C-1820B081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Caméra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E46DC-5384-4382-B74E-5EBCE921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443E5-96B2-452E-9C0F-FD51729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Prétraitement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129A5-927E-4855-AAAF-6684DC4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8FD8B-F7F8-4643-8501-F9AB85C9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EfficientNetB0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26E88-F2C7-4560-9361-5C5EDF8D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5E0E6-6D82-4C82-BF93-341CDDA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428F0-0011-4420-A5D9-73B46640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4E60F-077B-4561-AF5D-647B5421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Décision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1BBD7-8518-4E53-B0E4-984FF33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3E440-82DF-492F-8688-AE0DEDD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Alerte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71646-5DB0-49B0-9579-2FC2DAAA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0D82B-38DB-4A17-BFFE-5741A75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9C05E-4150-4DD0-BAAD-B4208F90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476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25868-9860-43EB-90D9-17E52758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3864"/>
                </a:solidFill>
              </a:defRPr>
            </a:pPr>
            <a:r>
              <a:rPr sz="1725" b="1" i="0">
                <a:solidFill>
                  <a:srgbClr val="1F3864"/>
                </a:solidFill>
              </a:rPr>
              <a:t>EfficientNetB0 = l’œil</a:t>
            </a:r>
          </a:p>
          <a:p xmlns:a="http://schemas.openxmlformats.org/drawingml/2006/main">
            <a:pPr algn="l">
              <a:buNone/>
              <a:defRPr sz="1725" b="1" i="0">
                <a:solidFill>
                  <a:srgbClr val="1F3864"/>
                </a:solidFill>
              </a:defRPr>
            </a:pPr>
            <a:r>
              <a:rPr sz="1725" b="1" i="0">
                <a:solidFill>
                  <a:srgbClr val="1F3864"/>
                </a:solidFill>
              </a:rPr>
              <a:t>Analyse chaque image. Modèle léger : 21 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44326-832E-46FD-8DD9-4A2930A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476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55B88-9CE7-4FB4-8124-EB380B6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814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3864"/>
                </a:solidFill>
              </a:defRPr>
            </a:pPr>
            <a:r>
              <a:rPr sz="1725" b="1" i="0">
                <a:solidFill>
                  <a:srgbClr val="1F3864"/>
                </a:solidFill>
              </a:rPr>
              <a:t>LSTM = la mémoire</a:t>
            </a:r>
          </a:p>
          <a:p xmlns:a="http://schemas.openxmlformats.org/drawingml/2006/main">
            <a:pPr algn="l">
              <a:buNone/>
              <a:defRPr sz="1725" b="1" i="0">
                <a:solidFill>
                  <a:srgbClr val="1F3864"/>
                </a:solidFill>
              </a:defRPr>
            </a:pPr>
            <a:r>
              <a:rPr sz="1725" b="1" i="0">
                <a:solidFill>
                  <a:srgbClr val="1F3864"/>
                </a:solidFill>
              </a:rPr>
              <a:t>Analyse le mouvement sur 20 images.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02FA1-B647-43EC-89EB-C015CB6F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1642C-C835-4E1F-89C7-2C62C088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626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E8449"/>
                </a:solidFill>
              </a:defRPr>
            </a:pPr>
            <a:r>
              <a:rPr sz="1650" b="1" i="0">
                <a:solidFill>
                  <a:srgbClr val="1E8449"/>
                </a:solidFill>
              </a:rPr>
              <a:t>Aucun serveur cloud requis : tout fonctionne localement.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09EE0-E28D-4EDD-ADF9-26706D5C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25A31-9916-49F2-BD67-55865938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2145106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236A7-3902-4A79-94F4-89954E1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3 991 vidéos, deux mondes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8402D-79FD-4DE2-A588-6B2A22CB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CC499-43E7-4760-BF14-3F6072C5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Données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56CD8-9444-40B0-990D-66DAABF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5 / 10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c1a8e36b648ba"/>
          <a:stretch xmlns:a="http://schemas.openxmlformats.org/drawingml/2006/main"/>
        </p:blipFill>
        <p:spPr>
          <a:xfrm xmlns:a="http://schemas.openxmlformats.org/drawingml/2006/main">
            <a:off x="552450" y="1221821"/>
            <a:ext cx="5191125" cy="2757009"/>
          </a:xfrm>
          <a:prstGeom xmlns:a="http://schemas.openxmlformats.org/drawingml/2006/main" prst="roundRect">
            <a:avLst/>
          </a:prstGeom>
        </p:spPr>
      </p:pic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477000" y="1219200"/>
          <a:ext xmlns:a="http://schemas.openxmlformats.org/drawingml/2006/main" cx="5191125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b9652750ba428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3181C-BE2A-4A3D-B0AA-752F68EA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33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033"/>
                </a:solidFill>
              </a:defRPr>
            </a:pPr>
            <a:r>
              <a:rPr sz="900" b="1" i="0">
                <a:solidFill>
                  <a:srgbClr val="102033"/>
                </a:solidFill>
              </a:rPr>
              <a:t>2793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B5EBE-562F-45F5-B200-9AFD9F65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033"/>
                </a:solidFill>
              </a:defRPr>
            </a:pPr>
            <a:r>
              <a:rPr sz="900" b="1" i="0">
                <a:solidFill>
                  <a:srgbClr val="102033"/>
                </a:solidFill>
              </a:rPr>
              <a:t>599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EFAAE-476D-4885-845D-A99F172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57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033"/>
                </a:solidFill>
              </a:defRPr>
            </a:pPr>
            <a:r>
              <a:rPr sz="900" b="1" i="0">
                <a:solidFill>
                  <a:srgbClr val="102033"/>
                </a:solidFill>
              </a:rPr>
              <a:t>599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08112-A2A9-46A5-B056-75B28204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B4BCA-9061-4BC2-8160-4C947DA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D01C9-DB6A-47C7-8B03-F0488049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33387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9CD98-1C0F-4C1F-8BCB-C3532C0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196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96AC2-384F-4180-80AC-819F5879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338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7D916-6A29-49CC-8CAB-94BE8DC5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Violence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6FDA7-CDE1-48A1-AC01-3951C459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C9233-9EA1-4C2E-AB60-EFCD3AA3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Non violence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3EC63-C242-4149-AAC9-D52AAE6E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333875"/>
            <a:ext cx="1190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FFD69-9C48-4351-A4F5-34672BD5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196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Style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6BFF0-E5AD-4BD1-A94C-90F2FF4B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9204A-3EE6-4426-B754-872D9AE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RLVS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C4CE1-5676-4F63-AEFC-0E3158EE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75297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95645-7604-4DAB-8B38-4A2EB38D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387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2 000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84CEC-7EBD-40E2-84AA-EF19B3FC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529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81AA0-A4C2-4FFA-9286-7EE5BD4B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387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D3B35-68AC-40B1-98A2-46DD52E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5F0DC-B756-4AF6-ACD4-3B820AE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AA05E-8188-47D4-8EF5-2C2562B9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752975"/>
            <a:ext cx="1190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C2343-0C4A-41C7-9B42-5D5DD046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387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Contrôlé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53257-8957-4231-947D-241AAE17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8CC519-14C4-4CFB-9265-358006D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RWF 2000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04C02-E947-42DB-A751-72D2259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17207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9ACC52-3426-4D68-98E4-06B24B56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2578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1 991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83024D-79B4-42DC-AE67-A6777268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720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F7BD00-9EF3-443E-837A-18B67615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578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991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64B62-F358-4A9C-B2D3-71A52A6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72075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B4AA83-3629-4224-848C-7E3C7AF5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578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F199DB-78E8-4E8E-B8FC-CC23A2B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72075"/>
            <a:ext cx="1190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DC2240-F85C-4E93-A559-EFCBCAAD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2578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CCTV réel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7BE202-0435-4B1E-A285-C380ED34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FAA5F8-4FA0-4504-9D99-925F0A1F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TOTAL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5AC4B9-F0D6-4AD7-8CA8-10E73E9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59117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096539-1E68-4CF5-9830-071B4993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769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3 991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BE62C3-B776-41F9-B450-1DC9F600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911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14150C-5637-432B-BC99-1505F5B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769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1 991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209937-F58E-4B46-9E62-97F45A7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587682-B7BD-4093-B18A-22FE3D58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769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2 000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02D277-E3B8-44F9-AFE2-9FD15C5D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591175"/>
            <a:ext cx="1190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886A17-FC14-4492-BB7D-461EC74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6769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Équilibré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CF90D4-2C4A-4FA4-B297-DABD8959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24375"/>
            <a:ext cx="4524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E2DF"/>
          </a:solidFill>
          <a:ln xmlns:a="http://schemas.openxmlformats.org/drawingml/2006/main" w="19050">
            <a:solidFill>
              <a:srgbClr val="C050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D9763C-2868-42A4-A98B-A4DCCD7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C0504D"/>
                </a:solidFill>
              </a:defRPr>
            </a:pPr>
            <a:r>
              <a:rPr sz="1425" b="1" i="0">
                <a:solidFill>
                  <a:srgbClr val="C0504D"/>
                </a:solidFill>
              </a:rPr>
              <a:t>Entraîné sur une seule source : 54 % sur l’autre.</a:t>
            </a:r>
          </a:p>
          <a:p xmlns:a="http://schemas.openxmlformats.org/drawingml/2006/main">
            <a:pPr algn="ctr">
              <a:buNone/>
              <a:defRPr sz="1425" b="1" i="0">
                <a:solidFill>
                  <a:srgbClr val="C0504D"/>
                </a:solidFill>
              </a:defRPr>
            </a:pPr>
            <a:r>
              <a:rPr sz="1425" b="1" i="0">
                <a:solidFill>
                  <a:srgbClr val="C0504D"/>
                </a:solidFill>
              </a:rPr>
              <a:t>La combinaison des deux datasets était une nécessité.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A97142-4457-4625-A769-E23A0AAD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280FF4-8D0C-49F2-8190-24BDBAEA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937754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6CD38-3E5C-4B02-A338-12BCED8B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SIRCH dépasse la référence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9A57C-F556-481C-A9A0-4852CB6B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D560B-22E8-4073-8503-90CEA440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Résultats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1EE47-6750-481B-9F1E-D51426CA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E4673-2125-4AD9-8457-19588642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70255-4070-406A-908B-AB797EE4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Métrique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3AF34-E900-4419-A929-BB333381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D3F7D-518B-477E-91AD-A2163BF5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0972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Abdullah 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2E287-1C16-4372-813A-FB5FD82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1694E-65D4-40E4-8812-A6C8F20B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972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SIRCH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59E26-8BDC-4D72-82DE-FD53432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240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30F21-4955-4FD0-A6AD-E6FAE89C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972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SIRCH augmenté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462AB-70DE-4A2F-B723-E5F1659D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D995C-1741-4A7A-8698-F3169D96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Exactitude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6DD2B-5412-45FC-8E0D-8757EADA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4312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075EC-EF34-4EA1-939A-BEEB077F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2885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86,38 %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72E77-74A6-4535-955C-D49BF7B5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48EF0-ED93-4582-86C4-18AC523A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2885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86,81 %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D5D2A-AF50-4E3F-A950-29C7196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4312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1FC43-138E-4D3C-B0C8-987473BA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2885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91,99 %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2FEEF-55A7-44F1-B027-E14CDF45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3B55C-A87D-4E37-B4A1-64F41F81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F1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CCE93-B879-4F0B-96C2-A3E7484A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622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4741A-3A15-42B8-9610-A7D68AC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4797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86,39 %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1842C-3094-44BC-9332-09C619DD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1B7E8-DCC4-4A48-B427-F34B531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4797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87,56 %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972C2-4F55-4337-826E-9E32410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AE0A3-2E15-4282-8938-7531F70B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4797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92,31 %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3E227-289D-419A-B62D-A264714C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D05FF-B07A-4D08-BA20-7D35059C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ROC AUC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E7E65-1C26-432B-987C-EEADE75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8137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13283-AE50-42AA-8AA3-797396D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6710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2F9CE-731C-4C43-A542-7D1385AA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8137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066693-9BBA-444F-8871-E8A9D4CD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6710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0,9446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173FC7-6F38-4081-82EB-310D4D63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8137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F59E9E-6C98-4AE6-96D6-F4149420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0,9767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A5DB14-03F2-4E9F-AEAC-EB4D917F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E8449"/>
                </a:solidFill>
              </a:defRPr>
            </a:pPr>
            <a:r>
              <a:rPr sz="3300" b="1" i="0">
                <a:solidFill>
                  <a:srgbClr val="1E8449"/>
                </a:solidFill>
              </a:rPr>
              <a:t>+1,17 point de F1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BFFEE0-C7B1-4506-A10B-E45E114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02033"/>
                </a:solidFill>
              </a:defRPr>
            </a:pPr>
            <a:r>
              <a:rPr sz="1650" b="0" i="0">
                <a:solidFill>
                  <a:srgbClr val="102033"/>
                </a:solidFill>
              </a:rPr>
              <a:t>sur la référence directe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035D22-BE07-4E4F-B57E-F5D232A6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F3864"/>
                </a:solidFill>
              </a:defRPr>
            </a:pPr>
            <a:r>
              <a:rPr sz="1650" b="1" i="0">
                <a:solidFill>
                  <a:srgbClr val="1F3864"/>
                </a:solidFill>
              </a:rPr>
              <a:t>Validation statistique : McNemar p = 0,0001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07ed61f7a44be"/>
          <a:stretch xmlns:a="http://schemas.openxmlformats.org/drawingml/2006/main"/>
        </p:blipFill>
        <p:spPr>
          <a:xfrm xmlns:a="http://schemas.openxmlformats.org/drawingml/2006/main">
            <a:off x="8029575" y="1809750"/>
            <a:ext cx="3619500" cy="2714625"/>
          </a:xfrm>
          <a:prstGeom xmlns:a="http://schemas.openxmlformats.org/drawingml/2006/main" prst="round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409426-D29A-4DD3-940F-B9815943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76069A-DFF0-4C2A-9D2D-3523C42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5201421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B9091-BC8E-4886-91F1-DAD3AB37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B8DFF-7F3D-461B-B625-4F7FEB7E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3F6D"/>
                </a:solidFill>
              </a:defRPr>
            </a:pPr>
            <a:r>
              <a:rPr sz="2400" b="1">
                <a:solidFill>
                  <a:srgbClr val="1F3F6D"/>
                </a:solidFill>
              </a:rPr>
              <a:t>Le modèle augmenté améliore les deux critères clés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3AC6E-79AE-4B8C-80C1-83E6BEDC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9598D-6938-4FA5-82D7-16524BC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3F6D"/>
                </a:solidFill>
              </a:defRPr>
            </a:pPr>
            <a:r>
              <a:rPr sz="750" b="0">
                <a:solidFill>
                  <a:srgbClr val="1F3F6D"/>
                </a:solidFill>
              </a:rPr>
              <a:t>Résultats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43FC6-AB55-4D70-B75A-DEF52296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7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A80C0-5EF6-47FF-B6E5-8C37B196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521FD-40C4-43DD-8192-2E912BBA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0">
            <a:solidFill>
              <a:srgbClr val="1F3F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940EF-3061-48E3-ABD5-8ECBCDB2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37A"/>
                </a:solidFill>
              </a:defRPr>
            </a:pPr>
            <a:r>
              <a:rPr sz="1050" b="1">
                <a:solidFill>
                  <a:srgbClr val="52637A"/>
                </a:solidFill>
              </a:rPr>
              <a:t>Accuracy original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ADF4E-0B04-4819-AAFC-16535261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3F6D"/>
                </a:solidFill>
              </a:defRPr>
            </a:pPr>
            <a:r>
              <a:rPr sz="1950" b="1">
                <a:solidFill>
                  <a:srgbClr val="1F3F6D"/>
                </a:solidFill>
              </a:rPr>
              <a:t>86,8 %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1BA79-7BE4-4105-A6DE-DFC7021E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564B8-6C66-4899-95AB-3E6733CC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D0182-1C36-4248-942D-F986B54F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37A"/>
                </a:solidFill>
              </a:defRPr>
            </a:pPr>
            <a:r>
              <a:rPr sz="1050" b="1">
                <a:solidFill>
                  <a:srgbClr val="52637A"/>
                </a:solidFill>
              </a:rPr>
              <a:t>Accuracy augmenté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B4F98-4D5C-4A9E-9C09-130883AB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3F6D"/>
                </a:solidFill>
              </a:defRPr>
            </a:pPr>
            <a:r>
              <a:rPr sz="1950" b="1">
                <a:solidFill>
                  <a:srgbClr val="1F3F6D"/>
                </a:solidFill>
              </a:rPr>
              <a:t>92,0 %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4B54E-321D-433F-B378-A8CF9FD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C3574-A88C-47F9-8565-4CD756E6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0">
            <a:solidFill>
              <a:srgbClr val="1F3F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634DD-CC88-4488-9C19-9B3E9D60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37A"/>
                </a:solidFill>
              </a:defRPr>
            </a:pPr>
            <a:r>
              <a:rPr sz="1050" b="1">
                <a:solidFill>
                  <a:srgbClr val="52637A"/>
                </a:solidFill>
              </a:rPr>
              <a:t>F1 original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BB048-94C6-4D15-9237-E8AFA0C5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3F6D"/>
                </a:solidFill>
              </a:defRPr>
            </a:pPr>
            <a:r>
              <a:rPr sz="1950" b="1">
                <a:solidFill>
                  <a:srgbClr val="1F3F6D"/>
                </a:solidFill>
              </a:rPr>
              <a:t>87,6 %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6DC19-DEEB-4EA6-AFD3-DDE281C8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6133C-FE96-47AD-A0FD-2FAE8288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EDDDC-75BC-4813-B917-CC034BE3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241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37A"/>
                </a:solidFill>
              </a:defRPr>
            </a:pPr>
            <a:r>
              <a:rPr sz="1050" b="1">
                <a:solidFill>
                  <a:srgbClr val="52637A"/>
                </a:solidFill>
              </a:rPr>
              <a:t>F1 augmenté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87B26-A0E2-4AB3-8A94-D486EDBA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3F6D"/>
                </a:solidFill>
              </a:defRPr>
            </a:pPr>
            <a:r>
              <a:rPr sz="1950" b="1">
                <a:solidFill>
                  <a:srgbClr val="1F3F6D"/>
                </a:solidFill>
              </a:rPr>
              <a:t>92,3 %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58352-77C4-46E2-9774-E98B6E5D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DBF0F-B47B-4FFD-87B2-FDF038F8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FB04A-00AC-4728-8B4B-7AD93A8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90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D1C9B-B5AC-4480-BACA-F251EF33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76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7FEF2-130D-469D-A4F7-1D26D06F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90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91521-7DE4-4435-A803-F11CA850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76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219C9-8207-4E07-B04E-59B6090A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90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4AAC01-0472-4427-9F94-E11DF81D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37B966-0144-4E59-875D-67F97BE3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590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378E9D-ED3A-4786-8BC1-3D8BBB1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76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CD683C-51C0-43AE-BBCC-642A6CD9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3C56E5-2B00-4F72-96EE-21B4EB2E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Original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BF43E6-CCE6-4141-9D17-7CCAA96C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71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0AB2D4-EB2B-4068-B662-6A464605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57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242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D79C36-616F-4DF4-9711-FFF520EF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71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106975-AAAA-4A32-8394-FB071A94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57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58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BDD16D-F2DF-4E3D-94E4-1FF33BBA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71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792CF-9B70-4F9D-A110-D8129D53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4619AE-F9B3-4B27-BD6D-A793EAC3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971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4EC5DE-AA36-4B77-A410-2E1F637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57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278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191318-F731-48CD-AD33-51E9B4D2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C0DD68-66AC-4BF1-80BB-D2A4D4DB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Augmenté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8D4B53-BF89-4BBA-8B11-8D036B9B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52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B55816-F670-46A5-B938-B0AAFEA8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38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263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DA8EDC-F2AB-43B7-892A-5460655F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52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F7DE34-8B76-41AB-8E23-FB9C4F74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38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37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B108F8-8FE9-4BBD-BD96-69A3232E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52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CE876D-A069-428E-947D-83985E4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11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156C8D-C82C-4335-8CDE-9C00E17C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52925"/>
            <a:ext cx="1095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340943-652B-4B67-8F5E-68CEA6F3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386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288</a:t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8a72f521d4a94"/>
          <a:stretch xmlns:a="http://schemas.openxmlformats.org/drawingml/2006/main"/>
        </p:blipFill>
        <p:spPr>
          <a:xfrm xmlns:a="http://schemas.openxmlformats.org/drawingml/2006/main">
            <a:off x="6572250" y="1878102"/>
            <a:ext cx="4333875" cy="2015946"/>
          </a:xfrm>
          <a:prstGeom xmlns:a="http://schemas.openxmlformats.org/drawingml/2006/main" prst="roundRect">
            <a:avLst>
              <a:gd name="adj" fmla="val 1754"/>
            </a:avLst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D0D6F4-6D3B-4747-A7C4-E64A1890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D9F228-39E8-4BD2-AA10-920A992C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9705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448"/>
                </a:solidFill>
              </a:defRPr>
            </a:pPr>
            <a:r>
              <a:rPr sz="1200" b="1">
                <a:solidFill>
                  <a:srgbClr val="168448"/>
                </a:solidFill>
              </a:rPr>
              <a:t>Lecture du tableau : la matrice ne montre pas seulement un meilleur score. Elle montre que SIRCH augmenté réduit les fausses alertes, de 58 à 37, et les violences manquées, de 21 à 11.</a:t>
            </a:r>
          </a:p>
          <a:p xmlns:a="http://schemas.openxmlformats.org/drawingml/2006/main">
            <a:pPr algn="l">
              <a:defRPr sz="1200" b="1">
                <a:solidFill>
                  <a:srgbClr val="168448"/>
                </a:solidFill>
              </a:defRPr>
            </a:pPr>
            <a:r>
              <a:rPr sz="1200" b="1">
                <a:solidFill>
                  <a:srgbClr val="168448"/>
                </a:solidFill>
              </a:rPr>
              <a:t>Ce que cela dit sur SIRCH : il devient plus équilibré. Il détecte mieux la violence sans multiplier les alertes inutiles.</a:t>
            </a:r>
          </a:p>
        </p:txBody>
      </p:sp>
    </p:spTree>
    <p:extLst>
      <p:ext uri="{BB962C8B-B14F-4D97-AF65-F5344CB8AC3E}">
        <p14:creationId xmlns:p14="http://schemas.microsoft.com/office/powerpoint/2010/main" val="4241309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1612E-09E0-43FC-A257-837CE7B3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A015C-64BE-40B7-B295-0C92D5D8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3F6D"/>
                </a:solidFill>
              </a:defRPr>
            </a:pPr>
            <a:r>
              <a:rPr sz="2400" b="1">
                <a:solidFill>
                  <a:srgbClr val="1F3F6D"/>
                </a:solidFill>
              </a:rPr>
              <a:t>Les matrices révèlent un écart entre RLVS et RWF-2000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0A91F-04F9-4B13-9D65-9ADAC81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6B21F-1EA2-4380-B4EF-5116B1B4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3F6D"/>
                </a:solidFill>
              </a:defRPr>
            </a:pPr>
            <a:r>
              <a:rPr sz="750" b="0">
                <a:solidFill>
                  <a:srgbClr val="1F3F6D"/>
                </a:solidFill>
              </a:rPr>
              <a:t>Résultats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A3BEF-EB4B-4A99-9313-971377FE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8 / 17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029d829244eb0"/>
          <a:stretch xmlns:a="http://schemas.openxmlformats.org/drawingml/2006/main"/>
        </p:blipFill>
        <p:spPr>
          <a:xfrm xmlns:a="http://schemas.openxmlformats.org/drawingml/2006/main">
            <a:off x="762000" y="1797463"/>
            <a:ext cx="4762500" cy="2215325"/>
          </a:xfrm>
          <a:prstGeom xmlns:a="http://schemas.openxmlformats.org/drawingml/2006/main" prst="roundRect">
            <a:avLst>
              <a:gd name="adj" fmla="val 1714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8607fd3cb4569"/>
          <a:stretch xmlns:a="http://schemas.openxmlformats.org/drawingml/2006/main"/>
        </p:blipFill>
        <p:spPr>
          <a:xfrm xmlns:a="http://schemas.openxmlformats.org/drawingml/2006/main">
            <a:off x="6667500" y="1797463"/>
            <a:ext cx="4762500" cy="2215325"/>
          </a:xfrm>
          <a:prstGeom xmlns:a="http://schemas.openxmlformats.org/drawingml/2006/main" prst="roundRect">
            <a:avLst>
              <a:gd name="adj" fmla="val 17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670AB-64B9-4956-B2FC-709EAB0A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448"/>
                </a:solidFill>
              </a:defRPr>
            </a:pPr>
            <a:r>
              <a:rPr sz="1350" b="1">
                <a:solidFill>
                  <a:srgbClr val="168448"/>
                </a:solidFill>
              </a:rPr>
              <a:t>RLVS : scènes plus contrôlées, meilleure stabilité.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96198-72A2-4AD3-8AAA-97948D8F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62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5A00"/>
                </a:solidFill>
              </a:defRPr>
            </a:pPr>
            <a:r>
              <a:rPr sz="1350" b="1">
                <a:solidFill>
                  <a:srgbClr val="C05A00"/>
                </a:solidFill>
              </a:rPr>
              <a:t>RWF-2000 : scènes CCTV plus réalistes, plus d’erreurs.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43E47-28EE-463D-BB23-5E214A48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0">
            <a:solidFill>
              <a:srgbClr val="1F3F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A033E-85B2-429C-BC64-30E40EBB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9610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3F6D"/>
                </a:solidFill>
              </a:defRPr>
            </a:pPr>
            <a:r>
              <a:rPr sz="1200" b="1">
                <a:solidFill>
                  <a:srgbClr val="1F3F6D"/>
                </a:solidFill>
              </a:rPr>
              <a:t>Lecture des matrices : RLVS produit peu d’erreurs, car les scènes sont plus contrôlées. RWF-2000 produit davantage d’erreurs, car les vidéos CCTV sont plus variées, plus floues et plus proches du réel.</a:t>
            </a:r>
          </a:p>
          <a:p xmlns:a="http://schemas.openxmlformats.org/drawingml/2006/main">
            <a:pPr algn="l">
              <a:defRPr sz="1200" b="1">
                <a:solidFill>
                  <a:srgbClr val="1F3F6D"/>
                </a:solidFill>
              </a:defRPr>
            </a:pPr>
            <a:r>
              <a:rPr sz="1200" b="1">
                <a:solidFill>
                  <a:srgbClr val="1F3F6D"/>
                </a:solidFill>
              </a:rPr>
              <a:t>Ce que cela dit sur SIRCH : le système fonctionne, mais sa robustesse dépend fortement de la diversité des situations vues pendant l’entraînement.</a:t>
            </a:r>
          </a:p>
        </p:txBody>
      </p:sp>
    </p:spTree>
    <p:extLst>
      <p:ext uri="{BB962C8B-B14F-4D97-AF65-F5344CB8AC3E}">
        <p14:creationId xmlns:p14="http://schemas.microsoft.com/office/powerpoint/2010/main" val="2961749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640D7-B9ED-4E73-A914-B89BC726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1E079-1B6E-46AB-9C2C-541516C2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3F6D"/>
                </a:solidFill>
              </a:defRPr>
            </a:pPr>
            <a:r>
              <a:rPr sz="2400" b="1">
                <a:solidFill>
                  <a:srgbClr val="1F3F6D"/>
                </a:solidFill>
              </a:rPr>
              <a:t>Les courbes ROC et Precision-Recall confirment le gain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84001-485E-400A-91FF-21BAECCD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72420-6982-47F9-9AB9-68DF9C3F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3F6D"/>
                </a:solidFill>
              </a:defRPr>
            </a:pPr>
            <a:r>
              <a:rPr sz="750" b="0">
                <a:solidFill>
                  <a:srgbClr val="1F3F6D"/>
                </a:solidFill>
              </a:rPr>
              <a:t>Résultats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43CE3-FFAA-42E7-8118-CDC1C3A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9 / 17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36bd7a18e4233"/>
          <a:stretch xmlns:a="http://schemas.openxmlformats.org/drawingml/2006/main"/>
        </p:blipFill>
        <p:spPr>
          <a:xfrm xmlns:a="http://schemas.openxmlformats.org/drawingml/2006/main">
            <a:off x="850900" y="1314450"/>
            <a:ext cx="4699000" cy="3524250"/>
          </a:xfrm>
          <a:prstGeom xmlns:a="http://schemas.openxmlformats.org/drawingml/2006/main" prst="roundRect">
            <a:avLst>
              <a:gd name="adj" fmla="val 1622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bff8e5c9b4d9f"/>
          <a:stretch xmlns:a="http://schemas.openxmlformats.org/drawingml/2006/main"/>
        </p:blipFill>
        <p:spPr>
          <a:xfrm xmlns:a="http://schemas.openxmlformats.org/drawingml/2006/main">
            <a:off x="6642100" y="1314450"/>
            <a:ext cx="4699000" cy="3524250"/>
          </a:xfrm>
          <a:prstGeom xmlns:a="http://schemas.openxmlformats.org/drawingml/2006/main" prst="roundRect">
            <a:avLst>
              <a:gd name="adj" fmla="val 16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8F89F-C644-47FA-921A-C50D7BBB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E707C-1D19-4AA5-B226-0D3189FC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162AE-20EC-485C-9B7B-0CF143F7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C2F96-7F95-4B2F-9759-5B6BC11D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3397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AUC ROC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9877C-F1E2-4E12-8D5F-F46BBEB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4825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AF468-FFE0-4F82-8221-6A0A36A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13397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 / PR-AUC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859FE-1BF4-4789-ABCA-0EE8134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4825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B2332-BAEF-4C82-AB2E-49627C60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3397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F1 à θ=0,5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51FD9-9F28-46D3-9B7C-12A97801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BF570-56D0-4AAB-ABF5-B7C0BE90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Original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7BF38-DC0F-4CB2-A85B-77F5EF6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7210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05049-E52F-48A4-BA18-E8EADE3B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5782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0,945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F8C30-593F-491B-9BD5-9C1B1AF6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37210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7FAF8-8CF6-4947-9795-9A9241DD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45782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0,942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F79AD-ABA6-42B5-B1D0-CCCAAB77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7210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CB9ED-831D-4FFB-A86C-BC33592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5782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0,876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3BAE4-2AAD-4F07-93E6-A323108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99276-3783-49FC-BE6A-BCD15701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Augmenté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7FB0D-6479-4B79-8C5E-3AECEAF9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9595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EADCB-4D0C-4589-9ED4-BFAF5FB5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8167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0,977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7D2E1-16EB-4D14-AF40-0B9CED2E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69595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E9A4E9-F37C-4F71-9B98-14FF298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78167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≈ 0,97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C24CA-3AA8-4876-B4D3-78B5D760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9595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3FCDF0-794D-4C6D-8BE7-C290EE53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8167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0,923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50D85-5934-4355-9FD1-ADF0A70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768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7627A8-C8CD-41D0-840C-43853806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953000"/>
            <a:ext cx="47529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448"/>
                </a:solidFill>
              </a:defRPr>
            </a:pPr>
            <a:r>
              <a:rPr sz="1200" b="1">
                <a:solidFill>
                  <a:srgbClr val="168448"/>
                </a:solidFill>
              </a:rPr>
              <a:t>Lecture des courbes : plus la courbe ROC se rapproche du coin supérieur gauche, mieux SIRCH sépare violence et non-violence. L’AUC de 0,977 signifie qu’il classe presque toujours une vidéo violente avec un score plus élevé qu’une vidéo non violente.</a:t>
            </a:r>
          </a:p>
          <a:p xmlns:a="http://schemas.openxmlformats.org/drawingml/2006/main">
            <a:pPr algn="l">
              <a:defRPr sz="1200" b="1">
                <a:solidFill>
                  <a:srgbClr val="168448"/>
                </a:solidFill>
              </a:defRPr>
            </a:pPr>
            <a:r>
              <a:rPr sz="1200" b="1">
                <a:solidFill>
                  <a:srgbClr val="168448"/>
                </a:solidFill>
              </a:rPr>
              <a:t>Ce que cela dit sur SIRCH : le modèle augmenté distingue mieux les deux classes avant même de fixer le seuil d’alerte.</a:t>
            </a:r>
          </a:p>
        </p:txBody>
      </p:sp>
    </p:spTree>
    <p:extLst>
      <p:ext uri="{BB962C8B-B14F-4D97-AF65-F5344CB8AC3E}">
        <p14:creationId xmlns:p14="http://schemas.microsoft.com/office/powerpoint/2010/main" val="21212218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DBB59A-6C5B-4EAE-86A8-5DB218CF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707BE-EB56-420C-A853-94203718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3F6D"/>
                </a:solidFill>
              </a:defRPr>
            </a:pPr>
            <a:r>
              <a:rPr sz="2400" b="1">
                <a:solidFill>
                  <a:srgbClr val="1F3F6D"/>
                </a:solidFill>
              </a:rPr>
              <a:t>L’ablation montre ce que chaque bloc apporte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87095-DDD1-4B0F-9A8A-15055F7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1CDB4-471B-4CD5-A4F3-1D14684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3F6D"/>
                </a:solidFill>
              </a:defRPr>
            </a:pPr>
            <a:r>
              <a:rPr sz="750" b="0">
                <a:solidFill>
                  <a:srgbClr val="1F3F6D"/>
                </a:solidFill>
              </a:rPr>
              <a:t>Résultats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D40C4-43CB-47C2-B625-76650954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10 / 17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8d092178d4434"/>
          <a:stretch xmlns:a="http://schemas.openxmlformats.org/drawingml/2006/main"/>
        </p:blipFill>
        <p:spPr>
          <a:xfrm xmlns:a="http://schemas.openxmlformats.org/drawingml/2006/main">
            <a:off x="571500" y="1252904"/>
            <a:ext cx="5524500" cy="3399692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28712-7C9E-4522-B592-0EBC5829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81125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541F7-65F1-4366-BDE8-E9265319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466850"/>
            <a:ext cx="2124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6B498-3B86-4857-B094-89F35F0C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5B9C9-0520-4926-9808-6D50E3B6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6685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9BE58-FBE8-4C17-BD11-28C549C4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81125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CB16D-C8F2-487A-9005-93292F5E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46685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A9962-2E4C-4E72-882E-6BAFC27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81125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E651D-2EDD-4C1A-8CBE-27F8C5A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46685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3AC6-4A50-4A8C-B97D-A955756E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9070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B13D9-6BA3-421D-AAA2-44C9AFE1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76425"/>
            <a:ext cx="2124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EfficientNet seul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9DE53-2286-43E4-9483-E5B44D6C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84CEE-C595-4717-97FE-2E339E60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7642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85,3 %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EE8DF-808C-4973-8056-B14A066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90700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8775E-83E0-4BC5-8434-1149DA98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87642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85,3 %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CA3CC-4406-482E-B2AF-A72DAD1D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90700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DC116-0D40-4721-97E8-274FA8D8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87642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85,3 %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82025-A0D2-4E2B-B072-35E92709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00275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C7D2D-D97E-40C5-813A-FC0016F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86000"/>
            <a:ext cx="2124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EfficientNet + LSTM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7AD44-6207-4CEE-9DF0-F3FD705E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0275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4BA41-D802-4138-998B-87B0B327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86,8 %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2E9F7-F85D-4289-976D-C0B599DD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00275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7D41C-AD46-4730-B5D1-05759DAA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28600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93,0 %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CFA88-046D-4B19-B4BB-D8643AE8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00275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9C05FB-EBCE-4B6A-9541-28C2DAF4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28600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87,6 %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CDD4F-EE0B-455F-ABBF-265B1FA8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0985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2C87D6-BFEF-43B6-A1E0-26DD5B78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95575"/>
            <a:ext cx="2124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EfficientNet + GRU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EC5D0A-5B8C-41EA-8AC2-D8F82705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D99141-845E-4A1C-9606-66395A93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9557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90,0 %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204EC6-130B-4B97-92AB-6F352AD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9850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DD980D-AEA3-445E-A903-EC577752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9557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92,6 %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3BCFF-68D6-4C68-A15C-FC80918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09850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6FD7B4-1EDF-4F3A-B350-4977BA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69557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90,2 %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31B6B4-7006-4B42-95B0-8641C3AB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147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0">
            <a:solidFill>
              <a:srgbClr val="1F3F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B0A57D-4AD2-454B-B49D-D74DE2EB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90900"/>
            <a:ext cx="43719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3F6D"/>
                </a:solidFill>
              </a:defRPr>
            </a:pPr>
            <a:r>
              <a:rPr sz="1200" b="1">
                <a:solidFill>
                  <a:srgbClr val="1F3F6D"/>
                </a:solidFill>
              </a:rPr>
              <a:t>Lecture de l’ablation : EfficientNet seul lit surtout l’apparence des images. Avec LSTM ou GRU, SIRCH lit aussi l’ordre du mouvement, ce qui améliore le rappel et le F1-score.</a:t>
            </a:r>
          </a:p>
          <a:p xmlns:a="http://schemas.openxmlformats.org/drawingml/2006/main">
            <a:pPr algn="l">
              <a:defRPr sz="1200" b="1">
                <a:solidFill>
                  <a:srgbClr val="1F3F6D"/>
                </a:solidFill>
              </a:defRPr>
            </a:pPr>
            <a:r>
              <a:rPr sz="1200" b="1">
                <a:solidFill>
                  <a:srgbClr val="1F3F6D"/>
                </a:solidFill>
              </a:rPr>
              <a:t>Ce que cela dit sur SIRCH : la violence est un comportement dans le temps. Le module temporel est donc un cœur du système, pas un simple ajout.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34C5B0-F7A2-4BD4-9329-B3C7751E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8448"/>
                </a:solidFill>
              </a:defRPr>
            </a:pPr>
            <a:r>
              <a:rPr sz="1350" b="1">
                <a:solidFill>
                  <a:srgbClr val="168448"/>
                </a:solidFill>
              </a:rPr>
              <a:t>Conclusion : SIRCH reconnaît mieux la violence quand il analyse une séquence de gestes, pas seulement une image isolée.</a:t>
            </a:r>
          </a:p>
        </p:txBody>
      </p:sp>
    </p:spTree>
    <p:extLst>
      <p:ext uri="{BB962C8B-B14F-4D97-AF65-F5344CB8AC3E}">
        <p14:creationId xmlns:p14="http://schemas.microsoft.com/office/powerpoint/2010/main" val="19004969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B93DE-FBB1-4E98-912B-F18F9597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829A8-41FE-4563-9C07-C210DDF5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3F6D"/>
                </a:solidFill>
              </a:defRPr>
            </a:pPr>
            <a:r>
              <a:rPr sz="2400" b="1">
                <a:solidFill>
                  <a:srgbClr val="1F3F6D"/>
                </a:solidFill>
              </a:rPr>
              <a:t>Le cross-dataset mesure la généralisation réelle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1D586-5711-4696-924A-03140D58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D10EB-487E-4AD9-A2BA-8BF7884A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3F6D"/>
                </a:solidFill>
              </a:defRPr>
            </a:pPr>
            <a:r>
              <a:rPr sz="750" b="0">
                <a:solidFill>
                  <a:srgbClr val="1F3F6D"/>
                </a:solidFill>
              </a:rPr>
              <a:t>Résultats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741ED-2B9D-47AC-AF9C-17F0D094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11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AC6E0-1E98-48C5-9725-9BD5853E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EC83F-A44C-47B1-AB28-3DA22F4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Entraînement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AFDED-00BB-4036-BD22-5FDDE42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335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9E575-00F3-4D67-8507-52CB3798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192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5C222-8377-4658-8AC6-29270E5F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4026D-7C7F-4005-B775-B8428B80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922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1C781-0266-4E70-9213-BBD3FEF9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335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5E1BF-42B1-4720-B67A-26B47231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41922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E57A4-1EA2-4274-AC3F-3D2AF296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335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6129B-87B2-4816-86EA-4C648630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1922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CFBCB-946E-4883-9693-42FBDE31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335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2C7BF-ACB6-4E10-BB57-DE528D3E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41922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059E1-5C43-4AD0-B70B-18D6F362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0B458-0D1E-4181-8AC0-5BCB3519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RLVS seul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8D086-8C3F-4004-8BAE-6896B85F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716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61D3F-E6EB-4241-8ACB-C105F759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573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RWF-2000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53681-0801-4A39-BF28-843DFA51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A8D904-94A9-4577-9A05-9B0DA26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73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54,8 %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8B815-53CF-4807-B6D0-54494849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716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3D4C4-6917-449B-86BF-5D4344AB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8573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53,0 %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78431B-4634-49DB-95A0-D524C92C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716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3AC3E-EFB1-4464-928C-A06A0BF5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573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82,0 %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81197-C9E9-4FAA-B958-CAC1F11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AA8C66-5318-49F1-8B4A-8C98FCC9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573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64,4 %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3F4C84-CDE3-4C1C-9EB0-27D2D0C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A31F32-4E72-497A-B0BB-97F9474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RWF-2000 seul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963D13-221A-4596-B03C-F0CAE8F1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098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06635E-AE77-4555-8CF8-DBDAF57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955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RLVS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B20FFA-AE3C-48B7-8E4A-FC3B69B4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D93D5E-F6F7-4D6D-A17B-D97F6809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9552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74,5 %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FCB522-DA2D-4143-BB77-F0A6558D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098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D97874-64E7-4C06-8CC4-EEE4D8D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29552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80,1 %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8EE97C-51F5-4DD8-B312-091EB78A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718C29-DD28-4EAD-AB61-0EE39918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9552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65,2 %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C8E3DC-AF6B-4E3A-9C33-19541436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098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73304-602B-4169-B625-B55657D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9552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71,9 %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77BEFB-2E06-48EB-820F-6CED594E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93C99E-946A-4EED-B0D9-35062D23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Deux datasets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FE751C-ACEA-44D8-9D4B-68764CF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479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817850-9C21-4580-96D4-ABE78500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336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Test global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A34340-D7E8-49D3-AB38-F134169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4447CF-E5CF-45CF-9682-74EBB30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336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86,8 %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29DAA5-B9C3-4A09-A951-D7CBA49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F93512-C9C2-46A7-9B7E-543C380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336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82,7 %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3F833F-C63F-4BF3-9A1B-8BACE1A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7949B2-1CBE-406F-8A16-8789222E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336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93,0 %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ECB540-8587-41E8-83B7-88940962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479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389344-F46A-40D5-88DD-1F8D8811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336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87,6 %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56912D-2A52-49C2-B66C-03611E54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3F6D"/>
                </a:solidFill>
              </a:defRPr>
            </a:pPr>
            <a:r>
              <a:rPr sz="1350" b="1">
                <a:solidFill>
                  <a:srgbClr val="1F3F6D"/>
                </a:solidFill>
              </a:rPr>
              <a:t>F1-score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CDD08A-D618-464D-9ED9-926A7AB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RLVS seul → RWF-2000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8C7EF9-FBAA-4B26-9754-6901C59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71925"/>
            <a:ext cx="385762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1E3B2D-69C0-436C-AEE8-50F69B9C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71925"/>
            <a:ext cx="2483173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05A00"/>
          </a:solidFill>
          <a:ln xmlns:a="http://schemas.openxmlformats.org/drawingml/2006/main" w="0">
            <a:solidFill>
              <a:srgbClr val="C05A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9AC3D9-BD4C-49CD-BD18-444A65F9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3F6D"/>
                </a:solidFill>
              </a:defRPr>
            </a:pPr>
            <a:r>
              <a:rPr sz="1050" b="1">
                <a:solidFill>
                  <a:srgbClr val="1F3F6D"/>
                </a:solidFill>
              </a:rPr>
              <a:t>64,4 %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AFEF58-D536-4D38-AF03-F6EBDC69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RWF-2000 seul → RLVS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C77000-4FB2-41DA-841F-D481F00B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29125"/>
            <a:ext cx="385762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4EC8FA-98B8-456A-8619-93307730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29125"/>
            <a:ext cx="277306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F3F6D"/>
          </a:solidFill>
          <a:ln xmlns:a="http://schemas.openxmlformats.org/drawingml/2006/main" w="0">
            <a:solidFill>
              <a:srgbClr val="1F3F6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FA061F-1D62-4A83-B8B8-2504F1DD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3F6D"/>
                </a:solidFill>
              </a:defRPr>
            </a:pPr>
            <a:r>
              <a:rPr sz="1050" b="1">
                <a:solidFill>
                  <a:srgbClr val="1F3F6D"/>
                </a:solidFill>
              </a:rPr>
              <a:t>71,9 %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19C578-4FE5-4D09-84CE-E6DBF3FD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Deux datasets → test global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F5A7CF-9302-4DB9-8E22-73319B15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385762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D046E5-FC8D-421D-9683-D3DEC8B6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3377702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41B13E-6A11-47FE-92D7-9833BD62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67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3F6D"/>
                </a:solidFill>
              </a:defRPr>
            </a:pPr>
            <a:r>
              <a:rPr sz="1050" b="1">
                <a:solidFill>
                  <a:srgbClr val="1F3F6D"/>
                </a:solidFill>
              </a:rPr>
              <a:t>87,6 %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669BFCA-8C53-48B5-A752-4F639E54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429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7E1DF"/>
          </a:solidFill>
          <a:ln xmlns:a="http://schemas.openxmlformats.org/drawingml/2006/main" w="9525">
            <a:solidFill>
              <a:srgbClr val="D948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59AACB-3375-4909-98CB-CF9B877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4848"/>
                </a:solidFill>
              </a:defRPr>
            </a:pPr>
            <a:r>
              <a:rPr sz="1350" b="1">
                <a:solidFill>
                  <a:srgbClr val="D94848"/>
                </a:solidFill>
              </a:rPr>
              <a:t>Lecture scientifique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01C781-CD80-4ACF-8025-29627D8A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809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Lecture : avec une seule base, SIRCH baisse fortement quand le décor change : 64,4 % de F1 vers RWF-2000, puis 71,9 % vers RLVS.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Ce que cela dit sur SIRCH : combiner RLVS et RWF-2000 l’aide à apprendre le comportement, pas seulement le style caméra.</a:t>
            </a:r>
          </a:p>
        </p:txBody>
      </p:sp>
    </p:spTree>
    <p:extLst>
      <p:ext uri="{BB962C8B-B14F-4D97-AF65-F5344CB8AC3E}">
        <p14:creationId xmlns:p14="http://schemas.microsoft.com/office/powerpoint/2010/main" val="12967497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12E74A-F209-40AD-B4B3-757BE884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6667B-198E-43BB-87EC-70DDC6FD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3F6D"/>
                </a:solidFill>
              </a:defRPr>
            </a:pPr>
            <a:r>
              <a:rPr sz="2400" b="1">
                <a:solidFill>
                  <a:srgbClr val="1F3F6D"/>
                </a:solidFill>
              </a:rPr>
              <a:t>McNemar confirme que le gain est statistiquement 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0CF79-4DE0-40FA-BDD5-9D0453C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24555-0B7F-4805-89E0-B305CAAE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3F6D"/>
                </a:solidFill>
              </a:defRPr>
            </a:pPr>
            <a:r>
              <a:rPr sz="750" b="0">
                <a:solidFill>
                  <a:srgbClr val="1F3F6D"/>
                </a:solidFill>
              </a:rPr>
              <a:t>Résultats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3FC50-A09D-4C7A-9771-07A58A8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12 / 17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f079e435e44c9"/>
          <a:stretch xmlns:a="http://schemas.openxmlformats.org/drawingml/2006/main"/>
        </p:blipFill>
        <p:spPr>
          <a:xfrm xmlns:a="http://schemas.openxmlformats.org/drawingml/2006/main">
            <a:off x="619125" y="2018091"/>
            <a:ext cx="5619750" cy="1964568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1FEFE-681F-485B-919C-379B5146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19653-0FB4-4A56-A686-98C290D4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144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CF6E4-160C-4417-9333-05066121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26C92-03E5-4E6B-9279-AD0B2D73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14475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Valeur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D8944-64AC-41EE-A2FD-5BEC8AD2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A1AFA-4F22-42F8-AB8D-D48494CE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764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Deux modèles corrects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37AD6-D848-4705-A7FE-7D0AA2AC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540AD-C692-41FB-B961-B63B2BBF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76425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0EB4A-6E97-4BB5-A9CA-8B6FEF65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C9AA6-219A-4AC6-B839-733B232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383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Original correct, augmenté faux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10B1C-FA7B-495C-AC5F-E5E85529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4FEFE-B38C-4E15-AFA3-9A8C5EA4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01EFC-67C0-4A5E-85AB-F1F52024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C3574-ADAF-46F6-A645-3E55157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03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Original faux, augmenté correct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F588E-F533-4D6C-8310-AE699D5C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A5C7F-518A-4B04-BF71-E776CBFB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0325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47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52525-2AF2-4CC7-A15B-1A99704B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340D2-3B23-433B-B771-FD5336FF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622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Paires discordantes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DD626-5860-4325-ADF8-530BCA66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655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85F342-8D3D-40B2-A402-BE7B62D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62275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63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55A3F2-9BFD-4409-88AA-34CBC919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A10A7-B83F-442E-9147-5E4B5DC9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242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p-value McNemar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0F9553-12F7-4F28-A35C-69798770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0BF07-0925-44ED-818F-A1CA3C7A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24225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0,000117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D1046-5DC7-4A00-B2B1-B1E7AA7D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C847F-3768-47E3-9873-FD4EC2D0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33825"/>
            <a:ext cx="3848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448"/>
                </a:solidFill>
              </a:defRPr>
            </a:pPr>
            <a:r>
              <a:rPr sz="1200" b="1">
                <a:solidFill>
                  <a:srgbClr val="168448"/>
                </a:solidFill>
              </a:rPr>
              <a:t>Lecture du test : McNemar compare les deux modèles sur les mêmes vidéos. SIRCH augmenté corrige 47 erreurs du modèle original et ne crée que 16 nouvelles erreurs.</a:t>
            </a:r>
          </a:p>
          <a:p xmlns:a="http://schemas.openxmlformats.org/drawingml/2006/main">
            <a:pPr algn="l">
              <a:defRPr sz="1200" b="1">
                <a:solidFill>
                  <a:srgbClr val="168448"/>
                </a:solidFill>
              </a:defRPr>
            </a:pPr>
            <a:r>
              <a:rPr sz="1200" b="1">
                <a:solidFill>
                  <a:srgbClr val="168448"/>
                </a:solidFill>
              </a:rPr>
              <a:t>Ce que cela dit sur SIRCH : le gain est statistiquement fiable. Il ne s’agit pas seulement d’une petite variation due au hasard.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07F49F-71F1-4A1F-A17C-FE8292F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3F6D"/>
                </a:solidFill>
              </a:defRPr>
            </a:pPr>
            <a:r>
              <a:rPr sz="1350" b="1">
                <a:solidFill>
                  <a:srgbClr val="1F3F6D"/>
                </a:solidFill>
              </a:rPr>
              <a:t>Conclusion méthodologique : l’amélioration de SIRCH est mesurée vidéo par vidéo et confirmée par un test statistique.</a:t>
            </a:r>
          </a:p>
        </p:txBody>
      </p:sp>
    </p:spTree>
    <p:extLst>
      <p:ext uri="{BB962C8B-B14F-4D97-AF65-F5344CB8AC3E}">
        <p14:creationId xmlns:p14="http://schemas.microsoft.com/office/powerpoint/2010/main" val="170861022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18464-BAC7-4B0A-AD3B-E940084A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E2950-DD4E-4EF3-8424-3E15EDC2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3F6D"/>
                </a:solidFill>
              </a:defRPr>
            </a:pPr>
            <a:r>
              <a:rPr sz="2400" b="1">
                <a:solidFill>
                  <a:srgbClr val="1F3F6D"/>
                </a:solidFill>
              </a:rPr>
              <a:t>Les faux positifs expliquent la limite en conditions réelles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608AE-7807-4AC7-8FF7-5D7B3888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48"/>
          </a:solidFill>
          <a:ln xmlns:a="http://schemas.openxmlformats.org/drawingml/2006/main" w="0">
            <a:solidFill>
              <a:srgbClr val="1684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60F1A-6406-4229-BF6F-CE7C6C7F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3F6D"/>
                </a:solidFill>
              </a:defRPr>
            </a:pPr>
            <a:r>
              <a:rPr sz="750" b="0">
                <a:solidFill>
                  <a:srgbClr val="1F3F6D"/>
                </a:solidFill>
              </a:rPr>
              <a:t>Résultats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49287-19FB-4DDE-9923-69A142B5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13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A6EA8-B9A9-41FB-BE5F-5EB638A7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1E278-AA8B-486E-AB54-418E7A1B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EC0B0-B4C7-4196-B4A1-8C5F3742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33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BDBB9-8A09-4D67-855A-9F77DE2B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192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θ=0,50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24615-7261-47F7-A533-D6793DB0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333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70EAD-BABF-47BC-8FC1-6083E806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4192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θ=0,65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85465-A0DD-4365-8EF9-5D4396DA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33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2C36B-033F-4E76-9029-C835EE73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192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θ=0,70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B20EE-8003-415C-A106-02B5A950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33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EBA76-E107-423D-8905-5670495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192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Meilleur 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8EA93-6440-41C8-8F89-7C5F0BDB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33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F6D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37A89-9B21-43A8-89CF-8B2EEE63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192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5D13E-59BA-4394-868F-EA9D5ABF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74C13-0CBD-460F-9943-0DFEF9AE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Original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9C80C-EEFF-4A7F-992C-961D9A48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716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1274E-A42A-49B0-A2F5-790502C4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573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46,7 %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7FD9E-92B1-4DC7-BCEC-0630AA6A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716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179C3-6820-4135-B49D-4F16E8B4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573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40,0 %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474EA-BD75-4FB6-AF1B-71B1F56E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75712-2F20-45F1-98D3-3649FC35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573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33,3 %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1172C-9D42-43BB-BC40-E320213C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89653-2A10-4C92-99B5-E8DE1FDD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θ=0,70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7DF25-30C0-448C-92BF-240788C8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2A8FF2-407A-4C1D-A89A-5A9DAC2E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573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moins d’alertes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FD872-292B-44EB-90DF-C93C059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A09A1E-0FFA-41BB-8E54-05BF9256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Augmenté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14DFF-E7EE-4975-8C63-124178B6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881EC-9629-4301-A044-463E80B7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955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50,0 %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3FD2D6-02C6-4A7C-A68D-6D18729F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09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07477F-FE19-45BA-AB8D-33D93AF8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955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33,3 %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6665D5-F99D-49EC-B79B-A0CE14DA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659104-DD47-49E5-9513-E9279BFD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955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26,7 %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8B093D-90D3-4CC0-9A9F-D52ED3B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89F5C0-B853-476F-8971-FC516AD3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955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θ=0,70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FB6F21-C732-4460-B5C9-B6339C6B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162B4B-F367-41DD-A546-BF4F783E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955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moins d’alertes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50969eb2c4cf2"/>
          <a:stretch xmlns:a="http://schemas.openxmlformats.org/drawingml/2006/main"/>
        </p:blipFill>
        <p:spPr>
          <a:xfrm xmlns:a="http://schemas.openxmlformats.org/drawingml/2006/main">
            <a:off x="857250" y="3059906"/>
            <a:ext cx="4857750" cy="2024063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A2CFF4-EDDB-470F-976F-FD080D3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381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CEAF6"/>
          </a:solidFill>
          <a:ln xmlns:a="http://schemas.openxmlformats.org/drawingml/2006/main" w="9525">
            <a:solidFill>
              <a:srgbClr val="C7D3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DB0C8F-BB88-49F9-9C49-533ED993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F6D"/>
                </a:solidFill>
              </a:defRPr>
            </a:pPr>
            <a:r>
              <a:rPr sz="1500" b="1">
                <a:solidFill>
                  <a:srgbClr val="1F3F6D"/>
                </a:solidFill>
              </a:rPr>
              <a:t>Ce que cela veut dire pour SIRCH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94E40F-5F92-4BAA-AD9A-D750A757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347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Lecture : toutes ces vidéos sont non violentes. Chaque alerte est donc un faux positif. Quand le seuil augmente, les alertes baissent, surtout avec SIRCH augmenté.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D7049B-D160-4E92-AB16-ECA80990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448"/>
                </a:solidFill>
              </a:defRPr>
            </a:pPr>
            <a:r>
              <a:rPr sz="1125" b="1">
                <a:solidFill>
                  <a:srgbClr val="168448"/>
                </a:solidFill>
              </a:rPr>
              <a:t>Ce que cela dit sur SIRCH : il confond encore certains mouvements rapides avec la violence. Pour la webcam réelle, il faut enrichir la non-violence active.</a:t>
            </a:r>
          </a:p>
        </p:txBody>
      </p:sp>
    </p:spTree>
    <p:extLst>
      <p:ext uri="{BB962C8B-B14F-4D97-AF65-F5344CB8AC3E}">
        <p14:creationId xmlns:p14="http://schemas.microsoft.com/office/powerpoint/2010/main" val="12735891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5AB96E-2E64-4E9B-B3EC-AAD2BE4D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Ce que SIRCH ne maîtrise pas encore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1866C-2E71-479C-B3E4-7E59099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92A13-D8B9-4F31-A900-E6447FD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Limites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19B88-4297-4635-88EB-A2FED36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8BC13-7C9F-4E30-94DA-9F839600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19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2DF"/>
          </a:solidFill>
          <a:ln xmlns:a="http://schemas.openxmlformats.org/drawingml/2006/main" w="19050">
            <a:solidFill>
              <a:srgbClr val="C050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E23FA-2F2D-47BA-9B5D-C689C60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0504D"/>
                </a:solidFill>
              </a:defRPr>
            </a:pPr>
            <a:r>
              <a:rPr sz="2250" b="1" i="0">
                <a:solidFill>
                  <a:srgbClr val="C0504D"/>
                </a:solidFill>
              </a:rPr>
              <a:t>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3B6F1-1ABC-46DB-8FE6-B51B0203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71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C0504D"/>
                </a:solidFill>
              </a:defRPr>
            </a:pPr>
            <a:r>
              <a:rPr sz="1725" b="1" i="0">
                <a:solidFill>
                  <a:srgbClr val="C0504D"/>
                </a:solidFill>
              </a:rPr>
              <a:t>Faux positifs sport et danse : 46,67 %.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EECF8-E476-42EB-969D-8DCB7DFC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19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2DF"/>
          </a:solidFill>
          <a:ln xmlns:a="http://schemas.openxmlformats.org/drawingml/2006/main" w="19050">
            <a:solidFill>
              <a:srgbClr val="C050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00764-BF1F-48BA-BB18-1C11E25B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0504D"/>
                </a:solidFill>
              </a:defRPr>
            </a:pPr>
            <a:r>
              <a:rPr sz="2250" b="1" i="0">
                <a:solidFill>
                  <a:srgbClr val="C0504D"/>
                </a:solidFill>
              </a:rPr>
              <a:t>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741CC-9594-4D56-8594-64CB5E88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194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C0504D"/>
                </a:solidFill>
              </a:defRPr>
            </a:pPr>
            <a:r>
              <a:rPr sz="1725" b="1" i="0">
                <a:solidFill>
                  <a:srgbClr val="C0504D"/>
                </a:solidFill>
              </a:rPr>
              <a:t>Entraînement sur CPU : GPU non exploitable.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08E8B-16E0-49DE-A115-F44122C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19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2DF"/>
          </a:solidFill>
          <a:ln xmlns:a="http://schemas.openxmlformats.org/drawingml/2006/main" w="19050">
            <a:solidFill>
              <a:srgbClr val="C050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A976D-A76B-476C-8ABE-9E17A746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0504D"/>
                </a:solidFill>
              </a:defRPr>
            </a:pPr>
            <a:r>
              <a:rPr sz="2250" b="1" i="0">
                <a:solidFill>
                  <a:srgbClr val="C0504D"/>
                </a:solidFill>
              </a:rPr>
              <a:t>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50863-4C97-4033-AA48-F007AAE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671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C0504D"/>
                </a:solidFill>
              </a:defRPr>
            </a:pPr>
            <a:r>
              <a:rPr sz="1725" b="1" i="0">
                <a:solidFill>
                  <a:srgbClr val="C0504D"/>
                </a:solidFill>
              </a:rPr>
              <a:t>Capture une image, pas encore un clip vidéo.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6d1a8414e42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657350"/>
            <a:ext cx="3429000" cy="25717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ADBC5-91E8-41FF-BB3C-67242E94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5C677A"/>
                </a:solidFill>
              </a:defRPr>
            </a:pPr>
            <a:r>
              <a:rPr sz="750" b="0" i="0">
                <a:solidFill>
                  <a:srgbClr val="5C677A"/>
                </a:solidFill>
              </a:rPr>
              <a:t>Source : Wikimedia Commons, Rick Doble, CC BY-SA 4.0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2EC37-D98A-42F7-9FB3-3D4304B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435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F3864"/>
                </a:solidFill>
              </a:defRPr>
            </a:pPr>
            <a:r>
              <a:rPr sz="1800" b="1" i="0">
                <a:solidFill>
                  <a:srgbClr val="1F3864"/>
                </a:solidFill>
              </a:rPr>
              <a:t>SIRCH est conçu pour un couloir ou un hall.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F3864"/>
                </a:solidFill>
              </a:defRPr>
            </a:pPr>
            <a:r>
              <a:rPr sz="1800" b="1" i="0">
                <a:solidFill>
                  <a:srgbClr val="1F3864"/>
                </a:solidFill>
              </a:rPr>
              <a:t>Pas pour un terrain de sport.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CD675-7BF7-493B-A0B5-B7882D3D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657AD-E395-4578-AA1D-D6BEA6F5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5552960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974D3-ADC4-4498-B710-5283D257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Nos quatre 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891E-6CEB-4BD9-A5DD-1008A9F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2AE37-5435-4E6B-9BAC-A2046015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Contributions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A74D6-AA38-452B-BFEF-A9D172BA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8F11B-F916-47BF-B249-8EB9DBA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3EEA-330E-41B5-A473-55508EA7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0">
            <a:solidFill>
              <a:srgbClr val="1F38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93655-F018-405B-A6FB-1BA8CFB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85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37C4B-2950-4903-BE46-7AA56E8E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962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033"/>
                </a:solidFill>
              </a:defRPr>
            </a:pPr>
            <a:r>
              <a:rPr sz="1650" b="1" i="0">
                <a:solidFill>
                  <a:srgbClr val="102033"/>
                </a:solidFill>
              </a:rPr>
              <a:t>Étude d’ablation par réentraînement réel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94264-00E0-475E-A936-3B1CA5C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4A5BF-9869-4779-9643-C54DE42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0">
            <a:solidFill>
              <a:srgbClr val="1F38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1D3B8-1D93-42CB-B9D7-088AE502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85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E8A04-12D8-41C8-9A71-D220AAFF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62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033"/>
                </a:solidFill>
              </a:defRPr>
            </a:pPr>
            <a:r>
              <a:rPr sz="1650" b="1" i="0">
                <a:solidFill>
                  <a:srgbClr val="102033"/>
                </a:solidFill>
              </a:rPr>
              <a:t>Test systématique sur sport et danse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69593-5C6C-457B-85DC-E1FA417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31575-3963-4541-AE0E-8EA58A01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0">
            <a:solidFill>
              <a:srgbClr val="1F38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E6826-1FBA-4814-8ABB-EDF752B5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90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7C87C-40FC-4CD3-B06E-0B16C5B2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67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033"/>
                </a:solidFill>
              </a:defRPr>
            </a:pPr>
            <a:r>
              <a:rPr sz="1650" b="1" i="0">
                <a:solidFill>
                  <a:srgbClr val="102033"/>
                </a:solidFill>
              </a:rPr>
              <a:t>Validation croisée entre jeux de données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8519D-7839-401B-BD51-F7F70481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70864-8EEB-416F-8D97-912A9E6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0">
            <a:solidFill>
              <a:srgbClr val="1F38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AD4E0-CBA7-46AF-B338-F3E441D4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90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C0F6A-C429-4A15-9A3D-BAE92F0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67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033"/>
                </a:solidFill>
              </a:defRPr>
            </a:pPr>
            <a:r>
              <a:rPr sz="1650" b="1" i="0">
                <a:solidFill>
                  <a:srgbClr val="102033"/>
                </a:solidFill>
              </a:rPr>
              <a:t>Système complet, déployable sans GPU ni cloud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4D868-D259-4DA3-A4BA-409D20BC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FABC8-43BA-4458-ADA3-40B653C5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2028421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CCBB9-CE9F-467A-A1B8-8AECFD8E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En résumé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32FF5-DB34-4A80-BC0C-19357B8E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A6139-1040-486E-8D06-B049811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C2681-F045-4E7F-85A4-B0230AB6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AC00E-4F53-482E-B712-56813A2A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38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E8449"/>
                </a:solidFill>
              </a:defRPr>
            </a:pPr>
            <a:r>
              <a:rPr sz="2550" b="1" i="0">
                <a:solidFill>
                  <a:srgbClr val="1E8449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D275E-FC93-4106-926B-D3439AA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764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F3864"/>
                </a:solidFill>
              </a:defRPr>
            </a:pPr>
            <a:r>
              <a:rPr sz="1875" b="1" i="0">
                <a:solidFill>
                  <a:srgbClr val="1F3864"/>
                </a:solidFill>
              </a:rPr>
              <a:t>Détection de violence en temps réel, sur matériel ordinaire.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DF4B-3736-4F93-979B-50B2BFD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4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E8449"/>
                </a:solidFill>
              </a:defRPr>
            </a:pPr>
            <a:r>
              <a:rPr sz="2550" b="1" i="0">
                <a:solidFill>
                  <a:srgbClr val="1E8449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9999A-CB82-4B9D-A8E9-A3835C4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F3864"/>
                </a:solidFill>
              </a:defRPr>
            </a:pPr>
            <a:r>
              <a:rPr sz="1875" b="1" i="0">
                <a:solidFill>
                  <a:srgbClr val="1F3864"/>
                </a:solidFill>
              </a:rPr>
              <a:t>F1 de 87,56 % à 92,31 %, supérieur à la référence.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F48A-CA24-4CB0-A819-6395E0CF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E8449"/>
                </a:solidFill>
              </a:defRPr>
            </a:pPr>
            <a:r>
              <a:rPr sz="2550" b="1" i="0">
                <a:solidFill>
                  <a:srgbClr val="1E8449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871FE-75DD-4AEC-B322-6F2124CE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F3864"/>
                </a:solidFill>
              </a:defRPr>
            </a:pPr>
            <a:r>
              <a:rPr sz="1875" b="1" i="0">
                <a:solidFill>
                  <a:srgbClr val="1F3864"/>
                </a:solidFill>
              </a:rPr>
              <a:t>Résultat statistiquement fiable : p = 0,0001.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34ceb443c4b7f"/>
          <a:stretch xmlns:a="http://schemas.openxmlformats.org/drawingml/2006/main"/>
        </p:blipFill>
        <p:spPr>
          <a:xfrm xmlns:a="http://schemas.openxmlformats.org/drawingml/2006/main">
            <a:off x="7715250" y="1863345"/>
            <a:ext cx="3810000" cy="1502535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625FA-7259-48C6-AB64-ECB8EE8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Interface SIRCH : seuil, incidents et captures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A345D-8800-4518-BA3B-21AD20D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9486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CF1B7-047D-4B92-ADE9-9902CB39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10150"/>
            <a:ext cx="872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1">
                <a:solidFill>
                  <a:srgbClr val="1F3864"/>
                </a:solidFill>
              </a:defRPr>
            </a:pPr>
            <a:r>
              <a:rPr sz="1725" b="0" i="1">
                <a:solidFill>
                  <a:srgbClr val="1F3864"/>
                </a:solidFill>
              </a:rPr>
              <a:t>SIRCH ne remplace pas l’agent de sécurité.</a:t>
            </a:r>
          </a:p>
          <a:p xmlns:a="http://schemas.openxmlformats.org/drawingml/2006/main">
            <a:pPr algn="ctr">
              <a:buNone/>
              <a:defRPr sz="1725" b="0" i="1">
                <a:solidFill>
                  <a:srgbClr val="1F3864"/>
                </a:solidFill>
              </a:defRPr>
            </a:pPr>
            <a:r>
              <a:rPr sz="1725" b="0" i="1">
                <a:solidFill>
                  <a:srgbClr val="1F3864"/>
                </a:solidFill>
              </a:rPr>
              <a:t>Il lui offre des yeux qui ne se ferment jamais.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33D0B-62AE-476C-8A73-7211765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FEE71-68D5-4615-A355-4B4D8FD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4576540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F38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F1063-C99A-4BD0-9A53-56213AA5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383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Merci pour votre attention.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AC5AC-782D-4740-8056-DF72979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Je me tiens à votre disposition pour vos questions.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90C06-088E-41AA-810B-C73527E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95BA5-2E73-4562-A402-26BE873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721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Tracy Alipade Benzanza. UNH. 2025 à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64E6D-03B6-4BC6-BB3D-2B51DBBA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7CB5E-1A06-4D05-A022-26AD8CC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055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D49F6-9FD5-4BFF-9327-7AADFAF1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67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874B4-0641-4E5C-9531-8BBCC544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F3F6D"/>
                </a:solidFill>
              </a:defRPr>
            </a:pPr>
            <a:r>
              <a:rPr sz="900" b="0">
                <a:solidFill>
                  <a:srgbClr val="1F3F6D"/>
                </a:solidFill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248876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2026-07-02T12:21:35.5160000Z</dcterms:created>
  <dcterms:modified xsi:type="dcterms:W3CDTF">2026-07-02T12:21:35.5160000Z</dcterms:modified>
</coreProperties>
</file>