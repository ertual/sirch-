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c2d806e3244494" /><Relationship Type="http://schemas.openxmlformats.org/officeDocument/2006/relationships/extended-properties" Target="/docProps/app.xml" Id="Rdf751914f8424f06" /><Relationship Type="http://schemas.openxmlformats.org/officeDocument/2006/relationships/officeDocument" Target="/ppt/presentation.xml" Id="R918c0118a30a41e2" /></Relationships>
</file>

<file path=ppt/presentation.xml><?xml version="1.0" encoding="utf-8"?>
<p:presentation xmlns:p="http://schemas.openxmlformats.org/presentationml/2006/main">
  <p:sldMasterIdLst>
    <p:sldMasterId xmlns:r="http://schemas.openxmlformats.org/officeDocument/2006/relationships" id="2147483648" r:id="R8badc782d23c40f8"/>
  </p:sldMasterIdLst>
  <p:notesMasterIdLst>
    <p:notesMasterId xmlns:r="http://schemas.openxmlformats.org/officeDocument/2006/relationships" r:id="R3ddd68ab33d2476e"/>
  </p:notesMasterIdLst>
  <p:sldIdLst>
    <p:sldId xmlns:r="http://schemas.openxmlformats.org/officeDocument/2006/relationships" id="256" r:id="R937bd718098f4283"/>
    <p:sldId xmlns:r="http://schemas.openxmlformats.org/officeDocument/2006/relationships" id="257" r:id="R4b1ed002d795499f"/>
    <p:sldId xmlns:r="http://schemas.openxmlformats.org/officeDocument/2006/relationships" id="258" r:id="R32afacbe6db641c7"/>
    <p:sldId xmlns:r="http://schemas.openxmlformats.org/officeDocument/2006/relationships" id="259" r:id="Re940d451204c4e93"/>
    <p:sldId xmlns:r="http://schemas.openxmlformats.org/officeDocument/2006/relationships" id="260" r:id="Rc312d9cedf0f4b4b"/>
    <p:sldId xmlns:r="http://schemas.openxmlformats.org/officeDocument/2006/relationships" id="261" r:id="Rcfdbf899cf894b0e"/>
    <p:sldId xmlns:r="http://schemas.openxmlformats.org/officeDocument/2006/relationships" id="262" r:id="Rd51b18a1d73242e0"/>
    <p:sldId xmlns:r="http://schemas.openxmlformats.org/officeDocument/2006/relationships" id="263" r:id="Rb0a5f253707a4d47"/>
    <p:sldId xmlns:r="http://schemas.openxmlformats.org/officeDocument/2006/relationships" id="264" r:id="R0013bdbab7014af6"/>
    <p:sldId xmlns:r="http://schemas.openxmlformats.org/officeDocument/2006/relationships" id="265" r:id="R8e073419fcff4904"/>
    <p:sldId xmlns:r="http://schemas.openxmlformats.org/officeDocument/2006/relationships" id="266" r:id="R6f8daf4a49d943bb"/>
    <p:sldId xmlns:r="http://schemas.openxmlformats.org/officeDocument/2006/relationships" id="267" r:id="R2c44194ca7e342aa"/>
    <p:sldId xmlns:r="http://schemas.openxmlformats.org/officeDocument/2006/relationships" id="268" r:id="R68c9fe04f4424f57"/>
    <p:sldId xmlns:r="http://schemas.openxmlformats.org/officeDocument/2006/relationships" id="269" r:id="R6fba3e032ddd477f"/>
    <p:sldId xmlns:r="http://schemas.openxmlformats.org/officeDocument/2006/relationships" id="270" r:id="Raa18affcfde14c04"/>
    <p:sldId xmlns:r="http://schemas.openxmlformats.org/officeDocument/2006/relationships" id="271" r:id="Rfbf034c6f8ee4a23"/>
    <p:sldId xmlns:r="http://schemas.openxmlformats.org/officeDocument/2006/relationships" id="272" r:id="R109efad354db4907"/>
    <p:sldId xmlns:r="http://schemas.openxmlformats.org/officeDocument/2006/relationships" id="273" r:id="R975a8ed96eee4b13"/>
    <p:sldId xmlns:r="http://schemas.openxmlformats.org/officeDocument/2006/relationships" id="274" r:id="R4fa42a40b96a47b8"/>
    <p:sldId xmlns:r="http://schemas.openxmlformats.org/officeDocument/2006/relationships" id="275" r:id="Rbb10fed6106b424a"/>
    <p:sldId xmlns:r="http://schemas.openxmlformats.org/officeDocument/2006/relationships" id="276" r:id="R1441ec58738643d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96ef0780704c5b" /><Relationship Type="http://schemas.openxmlformats.org/officeDocument/2006/relationships/slideMaster" Target="/ppt/slideMasters/slideMaster1.xml" Id="R8badc782d23c40f8" /><Relationship Type="http://schemas.openxmlformats.org/officeDocument/2006/relationships/notesMaster" Target="/ppt/notesMasters/notesMaster1.xml" Id="R3ddd68ab33d2476e" /><Relationship Type="http://schemas.openxmlformats.org/officeDocument/2006/relationships/presProps" Target="/ppt/presProps.xml" Id="Rf8fe1421b95042d1" /><Relationship Type="http://schemas.openxmlformats.org/officeDocument/2006/relationships/tableStyles" Target="/ppt/tableStyles.xml" Id="Rf863d11961b74cde" /><Relationship Type="http://schemas.openxmlformats.org/officeDocument/2006/relationships/slide" Target="/ppt/slides/slide1.xml" Id="R937bd718098f4283" /><Relationship Type="http://schemas.openxmlformats.org/officeDocument/2006/relationships/slide" Target="/ppt/slides/slide2.xml" Id="R4b1ed002d795499f" /><Relationship Type="http://schemas.openxmlformats.org/officeDocument/2006/relationships/slide" Target="/ppt/slides/slide3.xml" Id="R32afacbe6db641c7" /><Relationship Type="http://schemas.openxmlformats.org/officeDocument/2006/relationships/slide" Target="/ppt/slides/slide4.xml" Id="Re940d451204c4e93" /><Relationship Type="http://schemas.openxmlformats.org/officeDocument/2006/relationships/slide" Target="/ppt/slides/slide5.xml" Id="Rc312d9cedf0f4b4b" /><Relationship Type="http://schemas.openxmlformats.org/officeDocument/2006/relationships/slide" Target="/ppt/slides/slide6.xml" Id="Rcfdbf899cf894b0e" /><Relationship Type="http://schemas.openxmlformats.org/officeDocument/2006/relationships/slide" Target="/ppt/slides/slide7.xml" Id="Rd51b18a1d73242e0" /><Relationship Type="http://schemas.openxmlformats.org/officeDocument/2006/relationships/slide" Target="/ppt/slides/slide8.xml" Id="Rb0a5f253707a4d47" /><Relationship Type="http://schemas.openxmlformats.org/officeDocument/2006/relationships/slide" Target="/ppt/slides/slide9.xml" Id="R0013bdbab7014af6" /><Relationship Type="http://schemas.openxmlformats.org/officeDocument/2006/relationships/slide" Target="/ppt/slides/slide10.xml" Id="R8e073419fcff4904" /><Relationship Type="http://schemas.openxmlformats.org/officeDocument/2006/relationships/slide" Target="/ppt/slides/slide11.xml" Id="R6f8daf4a49d943bb" /><Relationship Type="http://schemas.openxmlformats.org/officeDocument/2006/relationships/slide" Target="/ppt/slides/slide12.xml" Id="R2c44194ca7e342aa" /><Relationship Type="http://schemas.openxmlformats.org/officeDocument/2006/relationships/slide" Target="/ppt/slides/slide13.xml" Id="R68c9fe04f4424f57" /><Relationship Type="http://schemas.openxmlformats.org/officeDocument/2006/relationships/slide" Target="/ppt/slides/slide14.xml" Id="R6fba3e032ddd477f" /><Relationship Type="http://schemas.openxmlformats.org/officeDocument/2006/relationships/slide" Target="/ppt/slides/slide15.xml" Id="Raa18affcfde14c04" /><Relationship Type="http://schemas.openxmlformats.org/officeDocument/2006/relationships/slide" Target="/ppt/slides/slide16.xml" Id="Rfbf034c6f8ee4a23" /><Relationship Type="http://schemas.openxmlformats.org/officeDocument/2006/relationships/slide" Target="/ppt/slides/slide17.xml" Id="R109efad354db4907" /><Relationship Type="http://schemas.openxmlformats.org/officeDocument/2006/relationships/slide" Target="/ppt/slides/slide18.xml" Id="R975a8ed96eee4b13" /><Relationship Type="http://schemas.openxmlformats.org/officeDocument/2006/relationships/slide" Target="/ppt/slides/slide19.xml" Id="R4fa42a40b96a47b8" /><Relationship Type="http://schemas.openxmlformats.org/officeDocument/2006/relationships/slide" Target="/ppt/slides/slide20.xml" Id="Rbb10fed6106b424a" /><Relationship Type="http://schemas.openxmlformats.org/officeDocument/2006/relationships/slide" Target="/ppt/slides/slide21.xml" Id="R1441ec58738643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5207c88fc342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87a0355d214894" /><Relationship Type="http://schemas.openxmlformats.org/officeDocument/2006/relationships/notesMaster" Target="/ppt/notesMasters/notesMaster1.xml" Id="Rb3611ebd2cfc40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d11f6f4da34547" /><Relationship Type="http://schemas.openxmlformats.org/officeDocument/2006/relationships/notesMaster" Target="/ppt/notesMasters/notesMaster1.xml" Id="Rff102a27c2fb42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f49534761c4d78" /><Relationship Type="http://schemas.openxmlformats.org/officeDocument/2006/relationships/notesMaster" Target="/ppt/notesMasters/notesMaster1.xml" Id="R2be0629768cb4f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8bae5d19fa4b9d" /><Relationship Type="http://schemas.openxmlformats.org/officeDocument/2006/relationships/notesMaster" Target="/ppt/notesMasters/notesMaster1.xml" Id="Rc773c1d6539d49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fcd324b5424313" /><Relationship Type="http://schemas.openxmlformats.org/officeDocument/2006/relationships/notesMaster" Target="/ppt/notesMasters/notesMaster1.xml" Id="Rb17ca7373df345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96e07cd4074d0a" /><Relationship Type="http://schemas.openxmlformats.org/officeDocument/2006/relationships/notesMaster" Target="/ppt/notesMasters/notesMaster1.xml" Id="Rc957e1980a6d42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10cf4742554dbd" /><Relationship Type="http://schemas.openxmlformats.org/officeDocument/2006/relationships/notesMaster" Target="/ppt/notesMasters/notesMaster1.xml" Id="R085da6e772b146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bfbba8c73246aa" /><Relationship Type="http://schemas.openxmlformats.org/officeDocument/2006/relationships/notesMaster" Target="/ppt/notesMasters/notesMaster1.xml" Id="R57b3997f041249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12d27af476450f" /><Relationship Type="http://schemas.openxmlformats.org/officeDocument/2006/relationships/notesMaster" Target="/ppt/notesMasters/notesMaster1.xml" Id="R92d18db99b9044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a3c8af189a482e" /><Relationship Type="http://schemas.openxmlformats.org/officeDocument/2006/relationships/notesMaster" Target="/ppt/notesMasters/notesMaster1.xml" Id="R7ed97a7394654f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842ee719c24e07" /><Relationship Type="http://schemas.openxmlformats.org/officeDocument/2006/relationships/notesMaster" Target="/ppt/notesMasters/notesMaster1.xml" Id="R3b4b6db47d134b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e0a755602e48ac" /><Relationship Type="http://schemas.openxmlformats.org/officeDocument/2006/relationships/notesMaster" Target="/ppt/notesMasters/notesMaster1.xml" Id="R4e9912d6c97b4f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d0f9f900a942e1" /><Relationship Type="http://schemas.openxmlformats.org/officeDocument/2006/relationships/notesMaster" Target="/ppt/notesMasters/notesMaster1.xml" Id="R5fc6447890b64d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5c405f36a7478c" /><Relationship Type="http://schemas.openxmlformats.org/officeDocument/2006/relationships/notesMaster" Target="/ppt/notesMasters/notesMaster1.xml" Id="R79a7433984c643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2cbcf0200744f6" /><Relationship Type="http://schemas.openxmlformats.org/officeDocument/2006/relationships/notesMaster" Target="/ppt/notesMasters/notesMaster1.xml" Id="R818efe0cca2947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1dedd594ae4679" /><Relationship Type="http://schemas.openxmlformats.org/officeDocument/2006/relationships/notesMaster" Target="/ppt/notesMasters/notesMaster1.xml" Id="Ra69cdb894c1146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8d4bf01f5a4215" /><Relationship Type="http://schemas.openxmlformats.org/officeDocument/2006/relationships/notesMaster" Target="/ppt/notesMasters/notesMaster1.xml" Id="Ra71e1d3ce35b40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e51db41aab4acb" /><Relationship Type="http://schemas.openxmlformats.org/officeDocument/2006/relationships/notesMaster" Target="/ppt/notesMasters/notesMaster1.xml" Id="R7a2ed897730b4b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fc640d2a434991" /><Relationship Type="http://schemas.openxmlformats.org/officeDocument/2006/relationships/notesMaster" Target="/ppt/notesMasters/notesMaster1.xml" Id="Rf6ae2cad2fe34b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3f2ae3e6464c7b" /><Relationship Type="http://schemas.openxmlformats.org/officeDocument/2006/relationships/notesMaster" Target="/ppt/notesMasters/notesMaster1.xml" Id="Rd173c5852e0840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78c647ebf34bc5" /><Relationship Type="http://schemas.openxmlformats.org/officeDocument/2006/relationships/notesMaster" Target="/ppt/notesMasters/notesMaster1.xml" Id="Rdefc052b041a4d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d27c66e58f45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7b35d440734805" /><Relationship Type="http://schemas.openxmlformats.org/officeDocument/2006/relationships/slideLayout" Target="/ppt/slideLayouts/slideLayout1.xml" Id="R4912aa4e5bb941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2aa4e5bb941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7c7e530ce24900" /><Relationship Type="http://schemas.openxmlformats.org/officeDocument/2006/relationships/notesSlide" Target="/ppt/notesSlides/notesSlide1.xml" Id="R448a5bf5b6964f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d60cff91824e9d" /><Relationship Type="http://schemas.openxmlformats.org/officeDocument/2006/relationships/notesSlide" Target="/ppt/notesSlides/notesSlide2.xml" Id="R0a04beaac4c346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e413c5d5044f8" /><Relationship Type="http://schemas.openxmlformats.org/officeDocument/2006/relationships/image" Target="/ppt/media/image.jpeg" Id="R52d02512cb2d4441" /><Relationship Type="http://schemas.openxmlformats.org/officeDocument/2006/relationships/notesSlide" Target="/ppt/notesSlides/notesSlide3.xml" Id="Ra3e6876c01da43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f9e70144f74da1" /><Relationship Type="http://schemas.openxmlformats.org/officeDocument/2006/relationships/notesSlide" Target="/ppt/notesSlides/notesSlide4.xml" Id="R93ecc93c9f3240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de626338b04d27" /><Relationship Type="http://schemas.openxmlformats.org/officeDocument/2006/relationships/image" Target="/ppt/media/image.png" Id="R13f367c926994edc" /><Relationship Type="http://schemas.openxmlformats.org/officeDocument/2006/relationships/notesSlide" Target="/ppt/notesSlides/notesSlide5.xml" Id="R4cb01ee818024f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7ed15669314067" /><Relationship Type="http://schemas.openxmlformats.org/officeDocument/2006/relationships/notesSlide" Target="/ppt/notesSlides/notesSlide6.xml" Id="R56e57f6298d94c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6f46f05aef4aca" /><Relationship Type="http://schemas.openxmlformats.org/officeDocument/2006/relationships/image" Target="/ppt/media/image2.png" Id="Rcca6e752931b41aa" /><Relationship Type="http://schemas.openxmlformats.org/officeDocument/2006/relationships/notesSlide" Target="/ppt/notesSlides/notesSlide7.xml" Id="R2657637fd28b48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9ba7d88afe4366" /><Relationship Type="http://schemas.openxmlformats.org/officeDocument/2006/relationships/notesSlide" Target="/ppt/notesSlides/notesSlide8.xml" Id="R821e80410fef43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159716e1d745da" /><Relationship Type="http://schemas.openxmlformats.org/officeDocument/2006/relationships/image" Target="/ppt/media/image3.png" Id="R971805d5360f4ff9" /><Relationship Type="http://schemas.openxmlformats.org/officeDocument/2006/relationships/notesSlide" Target="/ppt/notesSlides/notesSlide9.xml" Id="R86cd0e1d66fc46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034db958554db8" /><Relationship Type="http://schemas.openxmlformats.org/officeDocument/2006/relationships/notesSlide" Target="/ppt/notesSlides/notesSlide10.xml" Id="Ra4a20534989f43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ce8f19891744c0" /><Relationship Type="http://schemas.openxmlformats.org/officeDocument/2006/relationships/image" Target="/ppt/media/image4.png" Id="R4870cdb214f74065" /><Relationship Type="http://schemas.openxmlformats.org/officeDocument/2006/relationships/notesSlide" Target="/ppt/notesSlides/notesSlide11.xml" Id="R54b1a8e4d0a04c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3e96e10c5247ec" /><Relationship Type="http://schemas.openxmlformats.org/officeDocument/2006/relationships/image" Target="/ppt/media/image5.png" Id="R295f72a572ac4a9b" /><Relationship Type="http://schemas.openxmlformats.org/officeDocument/2006/relationships/notesSlide" Target="/ppt/notesSlides/notesSlide12.xml" Id="Rab3f1d4d95ba40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c09dbc05ae4a36" /><Relationship Type="http://schemas.openxmlformats.org/officeDocument/2006/relationships/image" Target="/ppt/media/image6.png" Id="R2eebf150f65a4192" /><Relationship Type="http://schemas.openxmlformats.org/officeDocument/2006/relationships/notesSlide" Target="/ppt/notesSlides/notesSlide13.xml" Id="Ra0ea7c42b89042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179f145d894efe" /><Relationship Type="http://schemas.openxmlformats.org/officeDocument/2006/relationships/image" Target="/ppt/media/image7.png" Id="Ra82b8d228e304c5c" /><Relationship Type="http://schemas.openxmlformats.org/officeDocument/2006/relationships/notesSlide" Target="/ppt/notesSlides/notesSlide14.xml" Id="Re93610ef82a946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1aa43ab2414875" /><Relationship Type="http://schemas.openxmlformats.org/officeDocument/2006/relationships/image" Target="/ppt/media/image8.png" Id="R42244dce108b499a" /><Relationship Type="http://schemas.openxmlformats.org/officeDocument/2006/relationships/notesSlide" Target="/ppt/notesSlides/notesSlide15.xml" Id="R64d85a711c6847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c0f4a0bdfc44671" /><Relationship Type="http://schemas.openxmlformats.org/officeDocument/2006/relationships/image" Target="/ppt/media/image9.png" Id="Rc1636b16ae1d4edd" /><Relationship Type="http://schemas.openxmlformats.org/officeDocument/2006/relationships/image" Target="/ppt/media/image10.png" Id="Rf3f03e670e374812" /><Relationship Type="http://schemas.openxmlformats.org/officeDocument/2006/relationships/notesSlide" Target="/ppt/notesSlides/notesSlide16.xml" Id="R04c766989d3741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2df675dd6d44cc" /><Relationship Type="http://schemas.openxmlformats.org/officeDocument/2006/relationships/image" Target="/ppt/media/image11.png" Id="R8854366e1c1a441b" /><Relationship Type="http://schemas.openxmlformats.org/officeDocument/2006/relationships/notesSlide" Target="/ppt/notesSlides/notesSlide17.xml" Id="Ra7087584336d42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4250b73d9c461d" /><Relationship Type="http://schemas.openxmlformats.org/officeDocument/2006/relationships/notesSlide" Target="/ppt/notesSlides/notesSlide18.xml" Id="R54e9ccfd891541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157160e20244318" /><Relationship Type="http://schemas.openxmlformats.org/officeDocument/2006/relationships/notesSlide" Target="/ppt/notesSlides/notesSlide19.xml" Id="R785e6345a11547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b6485b0a16643c3" /><Relationship Type="http://schemas.openxmlformats.org/officeDocument/2006/relationships/notesSlide" Target="/ppt/notesSlides/notesSlide20.xml" Id="R81323778312e48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e369b14e6d64361" /><Relationship Type="http://schemas.openxmlformats.org/officeDocument/2006/relationships/notesSlide" Target="/ppt/notesSlides/notesSlide21.xml" Id="R50aab1174842495c" /></Relationships>
</file>

<file path=ppt/slides/slide1.xml><?xml version="1.0" encoding="utf-8"?>
<p:sld xmlns:p="http://schemas.openxmlformats.org/presentationml/2006/main">
  <p:cSld>
    <p:bg>
      <p:bgPr>
        <a:solidFill xmlns:a="http://schemas.openxmlformats.org/drawingml/2006/main">
          <a:srgbClr val="203F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CF78B1-D12F-4B6A-902D-C130552A2901}"/>
              </a:ext>
            </a:extLst>
          </p:cNvPr>
          <p:cNvSpPr>
            <a:spLocks xmlns:a="http://schemas.openxmlformats.org/drawingml/2006/main" noGrp="1"/>
          </p:cNvSpPr>
          <p:nvPr/>
        </p:nvSpPr>
        <p:spPr>
          <a:xfrm xmlns:a="http://schemas.openxmlformats.org/drawingml/2006/main">
            <a:off x="0" y="1428750"/>
            <a:ext cx="1219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200" b="1" i="0">
                <a:solidFill>
                  <a:srgbClr val="FFFFFF"/>
                </a:solidFill>
              </a:defRPr>
            </a:pPr>
            <a:r>
              <a:rPr sz="4200" b="1" i="0">
                <a:solidFill>
                  <a:srgbClr val="FFFFFF"/>
                </a:solidFill>
              </a:rPr>
              <a:t>SIRCH</a:t>
            </a:r>
          </a:p>
        </p:txBody>
      </p:sp>
      <p:sp>
        <p:nvSpPr>
          <p:cNvPr id="2" name="">
            <a:extLst xmlns:a="http://schemas.openxmlformats.org/drawingml/2006/main">
              <a:ext uri="{FF2B5EF4-FFF2-40B4-BE49-F238E27FC236}">
                <a16:creationId xmlns:a16="http://schemas.microsoft.com/office/drawing/2014/main" id="{24C669FE-DE09-4592-B678-CEABED494B8C}"/>
              </a:ext>
            </a:extLst>
          </p:cNvPr>
          <p:cNvSpPr>
            <a:spLocks xmlns:a="http://schemas.openxmlformats.org/drawingml/2006/main" noGrp="1"/>
          </p:cNvSpPr>
          <p:nvPr/>
        </p:nvSpPr>
        <p:spPr>
          <a:xfrm xmlns:a="http://schemas.openxmlformats.org/drawingml/2006/main">
            <a:off x="0" y="2238375"/>
            <a:ext cx="1219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i="0">
                <a:solidFill>
                  <a:srgbClr val="FFFFFF"/>
                </a:solidFill>
              </a:defRPr>
            </a:pPr>
            <a:r>
              <a:rPr sz="1725" b="0" i="0">
                <a:solidFill>
                  <a:srgbClr val="FFFFFF"/>
                </a:solidFill>
              </a:rPr>
              <a:t>Système Intelligent de Reconnaissance de Comportements Humains</a:t>
            </a:r>
          </a:p>
        </p:txBody>
      </p:sp>
      <p:sp>
        <p:nvSpPr>
          <p:cNvPr id="3" name="">
            <a:extLst xmlns:a="http://schemas.openxmlformats.org/drawingml/2006/main">
              <a:ext uri="{FF2B5EF4-FFF2-40B4-BE49-F238E27FC236}">
                <a16:creationId xmlns:a16="http://schemas.microsoft.com/office/drawing/2014/main" id="{645A9A1E-4E78-450A-BD3F-1AFEA9D6C89E}"/>
              </a:ext>
            </a:extLst>
          </p:cNvPr>
          <p:cNvSpPr>
            <a:spLocks xmlns:a="http://schemas.openxmlformats.org/drawingml/2006/main" noGrp="1"/>
          </p:cNvSpPr>
          <p:nvPr/>
        </p:nvSpPr>
        <p:spPr>
          <a:xfrm xmlns:a="http://schemas.openxmlformats.org/drawingml/2006/main">
            <a:off x="4095750" y="2857500"/>
            <a:ext cx="400050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C3A25B-009C-4D14-AD75-EF7224FC0230}"/>
              </a:ext>
            </a:extLst>
          </p:cNvPr>
          <p:cNvSpPr>
            <a:spLocks xmlns:a="http://schemas.openxmlformats.org/drawingml/2006/main" noGrp="1"/>
          </p:cNvSpPr>
          <p:nvPr/>
        </p:nvSpPr>
        <p:spPr>
          <a:xfrm xmlns:a="http://schemas.openxmlformats.org/drawingml/2006/main">
            <a:off x="2381250" y="3295650"/>
            <a:ext cx="742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FFFFF"/>
                </a:solidFill>
              </a:defRPr>
            </a:pPr>
            <a:r>
              <a:rPr sz="2025" b="1" i="0">
                <a:solidFill>
                  <a:srgbClr val="FFFFFF"/>
                </a:solidFill>
              </a:rPr>
              <a:t>Application à la détection de violence en temps réel</a:t>
            </a:r>
          </a:p>
        </p:txBody>
      </p:sp>
      <p:sp>
        <p:nvSpPr>
          <p:cNvPr id="5" name="">
            <a:extLst xmlns:a="http://schemas.openxmlformats.org/drawingml/2006/main">
              <a:ext uri="{FF2B5EF4-FFF2-40B4-BE49-F238E27FC236}">
                <a16:creationId xmlns:a16="http://schemas.microsoft.com/office/drawing/2014/main" id="{9EBEC476-47B4-4665-8D9A-9F24D898007E}"/>
              </a:ext>
            </a:extLst>
          </p:cNvPr>
          <p:cNvSpPr>
            <a:spLocks xmlns:a="http://schemas.openxmlformats.org/drawingml/2006/main" noGrp="1"/>
          </p:cNvSpPr>
          <p:nvPr/>
        </p:nvSpPr>
        <p:spPr>
          <a:xfrm xmlns:a="http://schemas.openxmlformats.org/drawingml/2006/main">
            <a:off x="2857500" y="4857750"/>
            <a:ext cx="6477000" cy="914400"/>
          </a:xfrm>
          <a:prstGeom xmlns:a="http://schemas.openxmlformats.org/drawingml/2006/main" prst="roundRect">
            <a:avLst>
              <a:gd name="adj" fmla="val 8333"/>
            </a:avLst>
          </a:prstGeom>
          <a:solidFill xmlns:a="http://schemas.openxmlformats.org/drawingml/2006/main">
            <a:srgbClr val="2A4D82"/>
          </a:solidFill>
          <a:ln xmlns:a="http://schemas.openxmlformats.org/drawingml/2006/main" w="9525">
            <a:solidFill>
              <a:srgbClr val="5D7DA8"/>
            </a:solidFill>
            <a:prstDash val="solid"/>
          </a:ln>
        </p:spPr>
      </p:sp>
      <p:sp>
        <p:nvSpPr>
          <p:cNvPr id="6" name="">
            <a:extLst xmlns:a="http://schemas.openxmlformats.org/drawingml/2006/main">
              <a:ext uri="{FF2B5EF4-FFF2-40B4-BE49-F238E27FC236}">
                <a16:creationId xmlns:a16="http://schemas.microsoft.com/office/drawing/2014/main" id="{050FEB28-6F20-4D61-AE1B-10DCB4365BD6}"/>
              </a:ext>
            </a:extLst>
          </p:cNvPr>
          <p:cNvSpPr>
            <a:spLocks xmlns:a="http://schemas.openxmlformats.org/drawingml/2006/main" noGrp="1"/>
          </p:cNvSpPr>
          <p:nvPr/>
        </p:nvSpPr>
        <p:spPr>
          <a:xfrm xmlns:a="http://schemas.openxmlformats.org/drawingml/2006/main">
            <a:off x="3124200" y="5010150"/>
            <a:ext cx="5943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FFFFFF"/>
                </a:solidFill>
              </a:defRPr>
            </a:pPr>
            <a:r>
              <a:rPr sz="1125" b="0" i="0">
                <a:solidFill>
                  <a:srgbClr val="FFFFFF"/>
                </a:solidFill>
              </a:rPr>
              <a:t>Alipade Benzanza Tracy</a:t>
            </a:r>
          </a:p>
          <a:p xmlns:a="http://schemas.openxmlformats.org/drawingml/2006/main">
            <a:pPr algn="ctr">
              <a:defRPr sz="1125" b="0" i="0">
                <a:solidFill>
                  <a:srgbClr val="FFFFFF"/>
                </a:solidFill>
              </a:defRPr>
            </a:pPr>
            <a:r>
              <a:rPr sz="1125" b="0" i="0">
                <a:solidFill>
                  <a:srgbClr val="FFFFFF"/>
                </a:solidFill>
              </a:rPr>
              <a:t>Université Nouveaux Horizons, Faculté des Sciences Informatiques</a:t>
            </a:r>
          </a:p>
          <a:p xmlns:a="http://schemas.openxmlformats.org/drawingml/2006/main">
            <a:pPr algn="ctr">
              <a:defRPr sz="1125" b="0" i="0">
                <a:solidFill>
                  <a:srgbClr val="FFFFFF"/>
                </a:solidFill>
              </a:defRPr>
            </a:pPr>
            <a:r>
              <a:rPr sz="1125" b="0" i="0">
                <a:solidFill>
                  <a:srgbClr val="FFFFFF"/>
                </a:solidFill>
              </a:rPr>
              <a:t>Directeur : Prof. Antoine Bagula    Codirecteur : Assistant Landry Mbale</a:t>
            </a:r>
          </a:p>
          <a:p xmlns:a="http://schemas.openxmlformats.org/drawingml/2006/main">
            <a:pPr algn="ctr">
              <a:defRPr sz="1125" b="0" i="0">
                <a:solidFill>
                  <a:srgbClr val="FFFFFF"/>
                </a:solidFill>
              </a:defRPr>
            </a:pPr>
            <a:r>
              <a:rPr sz="1125" b="0" i="0">
                <a:solidFill>
                  <a:srgbClr val="FFFFFF"/>
                </a:solidFill>
              </a:rPr>
              <a:t>Année académique 2025 à 2026</a:t>
            </a:r>
          </a:p>
        </p:txBody>
      </p:sp>
      <p:sp>
        <p:nvSpPr>
          <p:cNvPr id="7" name="">
            <a:extLst xmlns:a="http://schemas.openxmlformats.org/drawingml/2006/main">
              <a:ext uri="{FF2B5EF4-FFF2-40B4-BE49-F238E27FC236}">
                <a16:creationId xmlns:a16="http://schemas.microsoft.com/office/drawing/2014/main" id="{3FA1B956-6047-4C66-83DD-EFD899009303}"/>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D9E6F1"/>
                </a:solidFill>
              </a:defRPr>
            </a:pPr>
            <a:r>
              <a:rPr sz="675" b="0" i="0">
                <a:solidFill>
                  <a:srgbClr val="D9E6F1"/>
                </a:solidFill>
              </a:rPr>
              <a:t>Titre</a:t>
            </a:r>
          </a:p>
        </p:txBody>
      </p:sp>
      <p:sp>
        <p:nvSpPr>
          <p:cNvPr id="8" name="">
            <a:extLst xmlns:a="http://schemas.openxmlformats.org/drawingml/2006/main">
              <a:ext uri="{FF2B5EF4-FFF2-40B4-BE49-F238E27FC236}">
                <a16:creationId xmlns:a16="http://schemas.microsoft.com/office/drawing/2014/main" id="{518DBDF7-9749-468A-AE0E-EFC10BD08DA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D9E6F1"/>
                </a:solidFill>
              </a:defRPr>
            </a:pPr>
            <a:r>
              <a:rPr sz="750" b="0" i="0">
                <a:solidFill>
                  <a:srgbClr val="D9E6F1"/>
                </a:solidFill>
              </a:rPr>
              <a:t>1 / 21</a:t>
            </a:r>
          </a:p>
        </p:txBody>
      </p:sp>
    </p:spTree>
    <p:extLst>
      <p:ext uri="{BB962C8B-B14F-4D97-AF65-F5344CB8AC3E}">
        <p14:creationId xmlns:p14="http://schemas.microsoft.com/office/powerpoint/2010/main" val="1487730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FBC296-C849-4679-9060-D81C4489F599}"/>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Plan de la présentation</a:t>
            </a:r>
          </a:p>
        </p:txBody>
      </p:sp>
      <p:sp>
        <p:nvSpPr>
          <p:cNvPr id="2" name="">
            <a:extLst xmlns:a="http://schemas.openxmlformats.org/drawingml/2006/main">
              <a:ext uri="{FF2B5EF4-FFF2-40B4-BE49-F238E27FC236}">
                <a16:creationId xmlns:a16="http://schemas.microsoft.com/office/drawing/2014/main" id="{F87ACA04-FAF9-4E0C-B236-C27B1A34F54A}"/>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51A88A-BF1F-4ED8-B313-19E8FD6FB7D9}"/>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Une progression courte : du problème scientifique à la validation du système.</a:t>
            </a:r>
          </a:p>
        </p:txBody>
      </p:sp>
      <p:sp>
        <p:nvSpPr>
          <p:cNvPr id="4" name="">
            <a:extLst xmlns:a="http://schemas.openxmlformats.org/drawingml/2006/main">
              <a:ext uri="{FF2B5EF4-FFF2-40B4-BE49-F238E27FC236}">
                <a16:creationId xmlns:a16="http://schemas.microsoft.com/office/drawing/2014/main" id="{3758348F-2B0F-4960-802F-073607845B11}"/>
              </a:ext>
            </a:extLst>
          </p:cNvPr>
          <p:cNvSpPr>
            <a:spLocks xmlns:a="http://schemas.openxmlformats.org/drawingml/2006/main" noGrp="1"/>
          </p:cNvSpPr>
          <p:nvPr/>
        </p:nvSpPr>
        <p:spPr>
          <a:xfrm xmlns:a="http://schemas.openxmlformats.org/drawingml/2006/main">
            <a:off x="857250" y="176212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FC2ABF88-C7BB-44A3-932C-ED5798ABA280}"/>
              </a:ext>
            </a:extLst>
          </p:cNvPr>
          <p:cNvSpPr>
            <a:spLocks xmlns:a="http://schemas.openxmlformats.org/drawingml/2006/main" noGrp="1"/>
          </p:cNvSpPr>
          <p:nvPr/>
        </p:nvSpPr>
        <p:spPr>
          <a:xfrm xmlns:a="http://schemas.openxmlformats.org/drawingml/2006/main">
            <a:off x="1028700" y="19716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6" name="">
            <a:extLst xmlns:a="http://schemas.openxmlformats.org/drawingml/2006/main">
              <a:ext uri="{FF2B5EF4-FFF2-40B4-BE49-F238E27FC236}">
                <a16:creationId xmlns:a16="http://schemas.microsoft.com/office/drawing/2014/main" id="{6E537D0F-AC94-4EBD-BBFA-61A3FC4E4443}"/>
              </a:ext>
            </a:extLst>
          </p:cNvPr>
          <p:cNvSpPr>
            <a:spLocks xmlns:a="http://schemas.openxmlformats.org/drawingml/2006/main" noGrp="1"/>
          </p:cNvSpPr>
          <p:nvPr/>
        </p:nvSpPr>
        <p:spPr>
          <a:xfrm xmlns:a="http://schemas.openxmlformats.org/drawingml/2006/main">
            <a:off x="1028700" y="20478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7" name="">
            <a:extLst xmlns:a="http://schemas.openxmlformats.org/drawingml/2006/main">
              <a:ext uri="{FF2B5EF4-FFF2-40B4-BE49-F238E27FC236}">
                <a16:creationId xmlns:a16="http://schemas.microsoft.com/office/drawing/2014/main" id="{76976914-A688-426B-95BF-E6796B5F2F58}"/>
              </a:ext>
            </a:extLst>
          </p:cNvPr>
          <p:cNvSpPr>
            <a:spLocks xmlns:a="http://schemas.openxmlformats.org/drawingml/2006/main" noGrp="1"/>
          </p:cNvSpPr>
          <p:nvPr/>
        </p:nvSpPr>
        <p:spPr>
          <a:xfrm xmlns:a="http://schemas.openxmlformats.org/drawingml/2006/main">
            <a:off x="1600200" y="1952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Contexte et problème</a:t>
            </a:r>
          </a:p>
        </p:txBody>
      </p:sp>
      <p:sp>
        <p:nvSpPr>
          <p:cNvPr id="8" name="">
            <a:extLst xmlns:a="http://schemas.openxmlformats.org/drawingml/2006/main">
              <a:ext uri="{FF2B5EF4-FFF2-40B4-BE49-F238E27FC236}">
                <a16:creationId xmlns:a16="http://schemas.microsoft.com/office/drawing/2014/main" id="{7DA3C69B-0192-4525-9026-0E87409AD091}"/>
              </a:ext>
            </a:extLst>
          </p:cNvPr>
          <p:cNvSpPr>
            <a:spLocks xmlns:a="http://schemas.openxmlformats.org/drawingml/2006/main" noGrp="1"/>
          </p:cNvSpPr>
          <p:nvPr/>
        </p:nvSpPr>
        <p:spPr>
          <a:xfrm xmlns:a="http://schemas.openxmlformats.org/drawingml/2006/main">
            <a:off x="1600200" y="22383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Pourquoi automatiser la surveillance vidéo ?</a:t>
            </a:r>
          </a:p>
        </p:txBody>
      </p:sp>
      <p:sp>
        <p:nvSpPr>
          <p:cNvPr id="9" name="">
            <a:extLst xmlns:a="http://schemas.openxmlformats.org/drawingml/2006/main">
              <a:ext uri="{FF2B5EF4-FFF2-40B4-BE49-F238E27FC236}">
                <a16:creationId xmlns:a16="http://schemas.microsoft.com/office/drawing/2014/main" id="{3B9F16F5-C698-48F2-BF0E-3D16EE2C91C1}"/>
              </a:ext>
            </a:extLst>
          </p:cNvPr>
          <p:cNvSpPr>
            <a:spLocks xmlns:a="http://schemas.openxmlformats.org/drawingml/2006/main" noGrp="1"/>
          </p:cNvSpPr>
          <p:nvPr/>
        </p:nvSpPr>
        <p:spPr>
          <a:xfrm xmlns:a="http://schemas.openxmlformats.org/drawingml/2006/main">
            <a:off x="6286500" y="176212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93ED7AA3-80DF-48EE-BDA2-1107DC989743}"/>
              </a:ext>
            </a:extLst>
          </p:cNvPr>
          <p:cNvSpPr>
            <a:spLocks xmlns:a="http://schemas.openxmlformats.org/drawingml/2006/main" noGrp="1"/>
          </p:cNvSpPr>
          <p:nvPr/>
        </p:nvSpPr>
        <p:spPr>
          <a:xfrm xmlns:a="http://schemas.openxmlformats.org/drawingml/2006/main">
            <a:off x="6457950" y="19716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11" name="">
            <a:extLst xmlns:a="http://schemas.openxmlformats.org/drawingml/2006/main">
              <a:ext uri="{FF2B5EF4-FFF2-40B4-BE49-F238E27FC236}">
                <a16:creationId xmlns:a16="http://schemas.microsoft.com/office/drawing/2014/main" id="{E86EEB35-49CA-45AB-A8B0-FBEA716349AB}"/>
              </a:ext>
            </a:extLst>
          </p:cNvPr>
          <p:cNvSpPr>
            <a:spLocks xmlns:a="http://schemas.openxmlformats.org/drawingml/2006/main" noGrp="1"/>
          </p:cNvSpPr>
          <p:nvPr/>
        </p:nvSpPr>
        <p:spPr>
          <a:xfrm xmlns:a="http://schemas.openxmlformats.org/drawingml/2006/main">
            <a:off x="6457950" y="20478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2" name="">
            <a:extLst xmlns:a="http://schemas.openxmlformats.org/drawingml/2006/main">
              <a:ext uri="{FF2B5EF4-FFF2-40B4-BE49-F238E27FC236}">
                <a16:creationId xmlns:a16="http://schemas.microsoft.com/office/drawing/2014/main" id="{4051AA00-EB88-41A0-B53A-0EE41C07B8A1}"/>
              </a:ext>
            </a:extLst>
          </p:cNvPr>
          <p:cNvSpPr>
            <a:spLocks xmlns:a="http://schemas.openxmlformats.org/drawingml/2006/main" noGrp="1"/>
          </p:cNvSpPr>
          <p:nvPr/>
        </p:nvSpPr>
        <p:spPr>
          <a:xfrm xmlns:a="http://schemas.openxmlformats.org/drawingml/2006/main">
            <a:off x="7029450" y="1952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Objectifs et hypothèse</a:t>
            </a:r>
          </a:p>
        </p:txBody>
      </p:sp>
      <p:sp>
        <p:nvSpPr>
          <p:cNvPr id="13" name="">
            <a:extLst xmlns:a="http://schemas.openxmlformats.org/drawingml/2006/main">
              <a:ext uri="{FF2B5EF4-FFF2-40B4-BE49-F238E27FC236}">
                <a16:creationId xmlns:a16="http://schemas.microsoft.com/office/drawing/2014/main" id="{4ADC6A59-276F-4750-89D7-96F7DDAB5FDA}"/>
              </a:ext>
            </a:extLst>
          </p:cNvPr>
          <p:cNvSpPr>
            <a:spLocks xmlns:a="http://schemas.openxmlformats.org/drawingml/2006/main" noGrp="1"/>
          </p:cNvSpPr>
          <p:nvPr/>
        </p:nvSpPr>
        <p:spPr>
          <a:xfrm xmlns:a="http://schemas.openxmlformats.org/drawingml/2006/main">
            <a:off x="7029450" y="22383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SIRCH cherche à démontrer.</a:t>
            </a:r>
          </a:p>
        </p:txBody>
      </p:sp>
      <p:sp>
        <p:nvSpPr>
          <p:cNvPr id="14" name="">
            <a:extLst xmlns:a="http://schemas.openxmlformats.org/drawingml/2006/main">
              <a:ext uri="{FF2B5EF4-FFF2-40B4-BE49-F238E27FC236}">
                <a16:creationId xmlns:a16="http://schemas.microsoft.com/office/drawing/2014/main" id="{4F5AABB5-0F37-4799-8153-1C7787FBCB73}"/>
              </a:ext>
            </a:extLst>
          </p:cNvPr>
          <p:cNvSpPr>
            <a:spLocks xmlns:a="http://schemas.openxmlformats.org/drawingml/2006/main" noGrp="1"/>
          </p:cNvSpPr>
          <p:nvPr/>
        </p:nvSpPr>
        <p:spPr>
          <a:xfrm xmlns:a="http://schemas.openxmlformats.org/drawingml/2006/main">
            <a:off x="857250" y="300037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4D2B8C5A-4C27-4BDF-881A-EFA883745457}"/>
              </a:ext>
            </a:extLst>
          </p:cNvPr>
          <p:cNvSpPr>
            <a:spLocks xmlns:a="http://schemas.openxmlformats.org/drawingml/2006/main" noGrp="1"/>
          </p:cNvSpPr>
          <p:nvPr/>
        </p:nvSpPr>
        <p:spPr>
          <a:xfrm xmlns:a="http://schemas.openxmlformats.org/drawingml/2006/main">
            <a:off x="1028700" y="320992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16" name="">
            <a:extLst xmlns:a="http://schemas.openxmlformats.org/drawingml/2006/main">
              <a:ext uri="{FF2B5EF4-FFF2-40B4-BE49-F238E27FC236}">
                <a16:creationId xmlns:a16="http://schemas.microsoft.com/office/drawing/2014/main" id="{41E46FE4-54F1-47D4-BE38-6289E536C29C}"/>
              </a:ext>
            </a:extLst>
          </p:cNvPr>
          <p:cNvSpPr>
            <a:spLocks xmlns:a="http://schemas.openxmlformats.org/drawingml/2006/main" noGrp="1"/>
          </p:cNvSpPr>
          <p:nvPr/>
        </p:nvSpPr>
        <p:spPr>
          <a:xfrm xmlns:a="http://schemas.openxmlformats.org/drawingml/2006/main">
            <a:off x="1028700" y="3286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7" name="">
            <a:extLst xmlns:a="http://schemas.openxmlformats.org/drawingml/2006/main">
              <a:ext uri="{FF2B5EF4-FFF2-40B4-BE49-F238E27FC236}">
                <a16:creationId xmlns:a16="http://schemas.microsoft.com/office/drawing/2014/main" id="{659E5C6C-45E7-40CA-9B34-DA7C5778C112}"/>
              </a:ext>
            </a:extLst>
          </p:cNvPr>
          <p:cNvSpPr>
            <a:spLocks xmlns:a="http://schemas.openxmlformats.org/drawingml/2006/main" noGrp="1"/>
          </p:cNvSpPr>
          <p:nvPr/>
        </p:nvSpPr>
        <p:spPr>
          <a:xfrm xmlns:a="http://schemas.openxmlformats.org/drawingml/2006/main">
            <a:off x="1600200" y="31908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Méthode et outils</a:t>
            </a:r>
          </a:p>
        </p:txBody>
      </p:sp>
      <p:sp>
        <p:nvSpPr>
          <p:cNvPr id="18" name="">
            <a:extLst xmlns:a="http://schemas.openxmlformats.org/drawingml/2006/main">
              <a:ext uri="{FF2B5EF4-FFF2-40B4-BE49-F238E27FC236}">
                <a16:creationId xmlns:a16="http://schemas.microsoft.com/office/drawing/2014/main" id="{A2E39449-6B5C-4167-8336-B7C8E3E52CC2}"/>
              </a:ext>
            </a:extLst>
          </p:cNvPr>
          <p:cNvSpPr>
            <a:spLocks xmlns:a="http://schemas.openxmlformats.org/drawingml/2006/main" noGrp="1"/>
          </p:cNvSpPr>
          <p:nvPr/>
        </p:nvSpPr>
        <p:spPr>
          <a:xfrm xmlns:a="http://schemas.openxmlformats.org/drawingml/2006/main">
            <a:off x="1600200" y="347662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Données, modèle, pipeline et technologies.</a:t>
            </a:r>
          </a:p>
        </p:txBody>
      </p:sp>
      <p:sp>
        <p:nvSpPr>
          <p:cNvPr id="19" name="">
            <a:extLst xmlns:a="http://schemas.openxmlformats.org/drawingml/2006/main">
              <a:ext uri="{FF2B5EF4-FFF2-40B4-BE49-F238E27FC236}">
                <a16:creationId xmlns:a16="http://schemas.microsoft.com/office/drawing/2014/main" id="{CC8B6BB5-B18A-4FFF-A159-83FBE2980AB0}"/>
              </a:ext>
            </a:extLst>
          </p:cNvPr>
          <p:cNvSpPr>
            <a:spLocks xmlns:a="http://schemas.openxmlformats.org/drawingml/2006/main" noGrp="1"/>
          </p:cNvSpPr>
          <p:nvPr/>
        </p:nvSpPr>
        <p:spPr>
          <a:xfrm xmlns:a="http://schemas.openxmlformats.org/drawingml/2006/main">
            <a:off x="6286500" y="300037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65993D70-F2A4-4F5C-9AAE-52E4ADB02C4C}"/>
              </a:ext>
            </a:extLst>
          </p:cNvPr>
          <p:cNvSpPr>
            <a:spLocks xmlns:a="http://schemas.openxmlformats.org/drawingml/2006/main" noGrp="1"/>
          </p:cNvSpPr>
          <p:nvPr/>
        </p:nvSpPr>
        <p:spPr>
          <a:xfrm xmlns:a="http://schemas.openxmlformats.org/drawingml/2006/main">
            <a:off x="6457950" y="320992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21" name="">
            <a:extLst xmlns:a="http://schemas.openxmlformats.org/drawingml/2006/main">
              <a:ext uri="{FF2B5EF4-FFF2-40B4-BE49-F238E27FC236}">
                <a16:creationId xmlns:a16="http://schemas.microsoft.com/office/drawing/2014/main" id="{D3504CB8-40DE-4D49-8937-390A2B7CDE19}"/>
              </a:ext>
            </a:extLst>
          </p:cNvPr>
          <p:cNvSpPr>
            <a:spLocks xmlns:a="http://schemas.openxmlformats.org/drawingml/2006/main" noGrp="1"/>
          </p:cNvSpPr>
          <p:nvPr/>
        </p:nvSpPr>
        <p:spPr>
          <a:xfrm xmlns:a="http://schemas.openxmlformats.org/drawingml/2006/main">
            <a:off x="6457950" y="3286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2" name="">
            <a:extLst xmlns:a="http://schemas.openxmlformats.org/drawingml/2006/main">
              <a:ext uri="{FF2B5EF4-FFF2-40B4-BE49-F238E27FC236}">
                <a16:creationId xmlns:a16="http://schemas.microsoft.com/office/drawing/2014/main" id="{72F8CB5E-E608-45D0-945C-B1785A57CA67}"/>
              </a:ext>
            </a:extLst>
          </p:cNvPr>
          <p:cNvSpPr>
            <a:spLocks xmlns:a="http://schemas.openxmlformats.org/drawingml/2006/main" noGrp="1"/>
          </p:cNvSpPr>
          <p:nvPr/>
        </p:nvSpPr>
        <p:spPr>
          <a:xfrm xmlns:a="http://schemas.openxmlformats.org/drawingml/2006/main">
            <a:off x="7029450" y="31908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Implémentation</a:t>
            </a:r>
          </a:p>
        </p:txBody>
      </p:sp>
      <p:sp>
        <p:nvSpPr>
          <p:cNvPr id="23" name="">
            <a:extLst xmlns:a="http://schemas.openxmlformats.org/drawingml/2006/main">
              <a:ext uri="{FF2B5EF4-FFF2-40B4-BE49-F238E27FC236}">
                <a16:creationId xmlns:a16="http://schemas.microsoft.com/office/drawing/2014/main" id="{651474FB-1970-4C0B-8F0D-377A342B3676}"/>
              </a:ext>
            </a:extLst>
          </p:cNvPr>
          <p:cNvSpPr>
            <a:spLocks xmlns:a="http://schemas.openxmlformats.org/drawingml/2006/main" noGrp="1"/>
          </p:cNvSpPr>
          <p:nvPr/>
        </p:nvSpPr>
        <p:spPr>
          <a:xfrm xmlns:a="http://schemas.openxmlformats.org/drawingml/2006/main">
            <a:off x="7029450" y="347662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Comment les sept modules fonctionnent ensemble.</a:t>
            </a:r>
          </a:p>
        </p:txBody>
      </p:sp>
      <p:sp>
        <p:nvSpPr>
          <p:cNvPr id="24" name="">
            <a:extLst xmlns:a="http://schemas.openxmlformats.org/drawingml/2006/main">
              <a:ext uri="{FF2B5EF4-FFF2-40B4-BE49-F238E27FC236}">
                <a16:creationId xmlns:a16="http://schemas.microsoft.com/office/drawing/2014/main" id="{7A4D49F6-5FD2-4F5F-AFB7-3B0B7B7EF74E}"/>
              </a:ext>
            </a:extLst>
          </p:cNvPr>
          <p:cNvSpPr>
            <a:spLocks xmlns:a="http://schemas.openxmlformats.org/drawingml/2006/main" noGrp="1"/>
          </p:cNvSpPr>
          <p:nvPr/>
        </p:nvSpPr>
        <p:spPr>
          <a:xfrm xmlns:a="http://schemas.openxmlformats.org/drawingml/2006/main">
            <a:off x="857250" y="423862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72FD2889-5C3B-4DFB-AF9A-362887AEB481}"/>
              </a:ext>
            </a:extLst>
          </p:cNvPr>
          <p:cNvSpPr>
            <a:spLocks xmlns:a="http://schemas.openxmlformats.org/drawingml/2006/main" noGrp="1"/>
          </p:cNvSpPr>
          <p:nvPr/>
        </p:nvSpPr>
        <p:spPr>
          <a:xfrm xmlns:a="http://schemas.openxmlformats.org/drawingml/2006/main">
            <a:off x="1028700" y="44481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26" name="">
            <a:extLst xmlns:a="http://schemas.openxmlformats.org/drawingml/2006/main">
              <a:ext uri="{FF2B5EF4-FFF2-40B4-BE49-F238E27FC236}">
                <a16:creationId xmlns:a16="http://schemas.microsoft.com/office/drawing/2014/main" id="{33B8BC66-5610-44A5-9B25-EB1B6D46223F}"/>
              </a:ext>
            </a:extLst>
          </p:cNvPr>
          <p:cNvSpPr>
            <a:spLocks xmlns:a="http://schemas.openxmlformats.org/drawingml/2006/main" noGrp="1"/>
          </p:cNvSpPr>
          <p:nvPr/>
        </p:nvSpPr>
        <p:spPr>
          <a:xfrm xmlns:a="http://schemas.openxmlformats.org/drawingml/2006/main">
            <a:off x="1028700" y="45243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5</a:t>
            </a:r>
          </a:p>
        </p:txBody>
      </p:sp>
      <p:sp>
        <p:nvSpPr>
          <p:cNvPr id="27" name="">
            <a:extLst xmlns:a="http://schemas.openxmlformats.org/drawingml/2006/main">
              <a:ext uri="{FF2B5EF4-FFF2-40B4-BE49-F238E27FC236}">
                <a16:creationId xmlns:a16="http://schemas.microsoft.com/office/drawing/2014/main" id="{21F74B62-54DD-4A4B-8438-259F114D41EE}"/>
              </a:ext>
            </a:extLst>
          </p:cNvPr>
          <p:cNvSpPr>
            <a:spLocks xmlns:a="http://schemas.openxmlformats.org/drawingml/2006/main" noGrp="1"/>
          </p:cNvSpPr>
          <p:nvPr/>
        </p:nvSpPr>
        <p:spPr>
          <a:xfrm xmlns:a="http://schemas.openxmlformats.org/drawingml/2006/main">
            <a:off x="1600200" y="4429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Résultats et discussion</a:t>
            </a:r>
          </a:p>
        </p:txBody>
      </p:sp>
      <p:sp>
        <p:nvSpPr>
          <p:cNvPr id="28" name="">
            <a:extLst xmlns:a="http://schemas.openxmlformats.org/drawingml/2006/main">
              <a:ext uri="{FF2B5EF4-FFF2-40B4-BE49-F238E27FC236}">
                <a16:creationId xmlns:a16="http://schemas.microsoft.com/office/drawing/2014/main" id="{3163DB20-C9A4-4151-B466-62388677C40B}"/>
              </a:ext>
            </a:extLst>
          </p:cNvPr>
          <p:cNvSpPr>
            <a:spLocks xmlns:a="http://schemas.openxmlformats.org/drawingml/2006/main" noGrp="1"/>
          </p:cNvSpPr>
          <p:nvPr/>
        </p:nvSpPr>
        <p:spPr>
          <a:xfrm xmlns:a="http://schemas.openxmlformats.org/drawingml/2006/main">
            <a:off x="1600200" y="47148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les métriques disent vraiment sur SIRCH.</a:t>
            </a:r>
          </a:p>
        </p:txBody>
      </p:sp>
      <p:sp>
        <p:nvSpPr>
          <p:cNvPr id="29" name="">
            <a:extLst xmlns:a="http://schemas.openxmlformats.org/drawingml/2006/main">
              <a:ext uri="{FF2B5EF4-FFF2-40B4-BE49-F238E27FC236}">
                <a16:creationId xmlns:a16="http://schemas.microsoft.com/office/drawing/2014/main" id="{D048F5F0-66F3-440B-A493-A6D00BF3D489}"/>
              </a:ext>
            </a:extLst>
          </p:cNvPr>
          <p:cNvSpPr>
            <a:spLocks xmlns:a="http://schemas.openxmlformats.org/drawingml/2006/main" noGrp="1"/>
          </p:cNvSpPr>
          <p:nvPr/>
        </p:nvSpPr>
        <p:spPr>
          <a:xfrm xmlns:a="http://schemas.openxmlformats.org/drawingml/2006/main">
            <a:off x="6286500" y="423862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5EEE1119-C195-41C0-8876-A0EBD8ACAF2D}"/>
              </a:ext>
            </a:extLst>
          </p:cNvPr>
          <p:cNvSpPr>
            <a:spLocks xmlns:a="http://schemas.openxmlformats.org/drawingml/2006/main" noGrp="1"/>
          </p:cNvSpPr>
          <p:nvPr/>
        </p:nvSpPr>
        <p:spPr>
          <a:xfrm xmlns:a="http://schemas.openxmlformats.org/drawingml/2006/main">
            <a:off x="6457950" y="44481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31" name="">
            <a:extLst xmlns:a="http://schemas.openxmlformats.org/drawingml/2006/main">
              <a:ext uri="{FF2B5EF4-FFF2-40B4-BE49-F238E27FC236}">
                <a16:creationId xmlns:a16="http://schemas.microsoft.com/office/drawing/2014/main" id="{C5A777A2-6831-409C-B271-980BA3427868}"/>
              </a:ext>
            </a:extLst>
          </p:cNvPr>
          <p:cNvSpPr>
            <a:spLocks xmlns:a="http://schemas.openxmlformats.org/drawingml/2006/main" noGrp="1"/>
          </p:cNvSpPr>
          <p:nvPr/>
        </p:nvSpPr>
        <p:spPr>
          <a:xfrm xmlns:a="http://schemas.openxmlformats.org/drawingml/2006/main">
            <a:off x="6457950" y="45243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6</a:t>
            </a:r>
          </a:p>
        </p:txBody>
      </p:sp>
      <p:sp>
        <p:nvSpPr>
          <p:cNvPr id="32" name="">
            <a:extLst xmlns:a="http://schemas.openxmlformats.org/drawingml/2006/main">
              <a:ext uri="{FF2B5EF4-FFF2-40B4-BE49-F238E27FC236}">
                <a16:creationId xmlns:a16="http://schemas.microsoft.com/office/drawing/2014/main" id="{8FD3E2CA-0682-474F-9814-E9F636877781}"/>
              </a:ext>
            </a:extLst>
          </p:cNvPr>
          <p:cNvSpPr>
            <a:spLocks xmlns:a="http://schemas.openxmlformats.org/drawingml/2006/main" noGrp="1"/>
          </p:cNvSpPr>
          <p:nvPr/>
        </p:nvSpPr>
        <p:spPr>
          <a:xfrm xmlns:a="http://schemas.openxmlformats.org/drawingml/2006/main">
            <a:off x="7029450" y="4429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Limites et perspectives</a:t>
            </a:r>
          </a:p>
        </p:txBody>
      </p:sp>
      <p:sp>
        <p:nvSpPr>
          <p:cNvPr id="33" name="">
            <a:extLst xmlns:a="http://schemas.openxmlformats.org/drawingml/2006/main">
              <a:ext uri="{FF2B5EF4-FFF2-40B4-BE49-F238E27FC236}">
                <a16:creationId xmlns:a16="http://schemas.microsoft.com/office/drawing/2014/main" id="{D28CD237-5A58-41D1-9C66-F30FF51C9A36}"/>
              </a:ext>
            </a:extLst>
          </p:cNvPr>
          <p:cNvSpPr>
            <a:spLocks xmlns:a="http://schemas.openxmlformats.org/drawingml/2006/main" noGrp="1"/>
          </p:cNvSpPr>
          <p:nvPr/>
        </p:nvSpPr>
        <p:spPr>
          <a:xfrm xmlns:a="http://schemas.openxmlformats.org/drawingml/2006/main">
            <a:off x="7029450" y="47148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le système maîtrise et ce qui reste à améliorer.</a:t>
            </a:r>
          </a:p>
        </p:txBody>
      </p:sp>
      <p:sp>
        <p:nvSpPr>
          <p:cNvPr id="34" name="">
            <a:extLst xmlns:a="http://schemas.openxmlformats.org/drawingml/2006/main">
              <a:ext uri="{FF2B5EF4-FFF2-40B4-BE49-F238E27FC236}">
                <a16:creationId xmlns:a16="http://schemas.microsoft.com/office/drawing/2014/main" id="{48565B83-D28D-489C-8375-7221E1F7E344}"/>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Plan</a:t>
            </a:r>
          </a:p>
        </p:txBody>
      </p:sp>
      <p:sp>
        <p:nvSpPr>
          <p:cNvPr id="35" name="">
            <a:extLst xmlns:a="http://schemas.openxmlformats.org/drawingml/2006/main">
              <a:ext uri="{FF2B5EF4-FFF2-40B4-BE49-F238E27FC236}">
                <a16:creationId xmlns:a16="http://schemas.microsoft.com/office/drawing/2014/main" id="{B310AB9A-0A7F-4576-8EAE-3C6F2360FC99}"/>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2 / 21</a:t>
            </a:r>
          </a:p>
        </p:txBody>
      </p:sp>
    </p:spTree>
    <p:extLst>
      <p:ext uri="{BB962C8B-B14F-4D97-AF65-F5344CB8AC3E}">
        <p14:creationId xmlns:p14="http://schemas.microsoft.com/office/powerpoint/2010/main" val="6221783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484BDF-6792-411B-B317-629111FDF933}"/>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surveillance vidéo produit trop d’images pour l’œil humain</a:t>
            </a:r>
          </a:p>
        </p:txBody>
      </p:sp>
      <p:sp>
        <p:nvSpPr>
          <p:cNvPr id="2" name="">
            <a:extLst xmlns:a="http://schemas.openxmlformats.org/drawingml/2006/main">
              <a:ext uri="{FF2B5EF4-FFF2-40B4-BE49-F238E27FC236}">
                <a16:creationId xmlns:a16="http://schemas.microsoft.com/office/drawing/2014/main" id="{EEC34FCF-C2EE-4484-8D78-4CF6EECA9229}"/>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A672BA-E832-4C43-9445-1298B7785F6F}"/>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besoin n’est pas seulement de classifier une vidéo, mais d’aider une réaction rapide.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2d02512cb2d4441"/>
          <a:srcRect xmlns:a="http://schemas.openxmlformats.org/drawingml/2006/main" l="16816" t="0" r="16816" b="0"/>
          <a:stretch xmlns:a="http://schemas.openxmlformats.org/drawingml/2006/main">
            <a:fillRect l="0" t="0" r="0" b="0"/>
          </a:stretch>
        </p:blipFill>
        <p:spPr>
          <a:xfrm xmlns:a="http://schemas.openxmlformats.org/drawingml/2006/main">
            <a:off x="666750" y="1666875"/>
            <a:ext cx="4000500" cy="2476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BE3D0C-D034-4C04-AD36-431E99B0B524}"/>
              </a:ext>
            </a:extLst>
          </p:cNvPr>
          <p:cNvSpPr>
            <a:spLocks xmlns:a="http://schemas.openxmlformats.org/drawingml/2006/main" noGrp="1"/>
          </p:cNvSpPr>
          <p:nvPr/>
        </p:nvSpPr>
        <p:spPr>
          <a:xfrm xmlns:a="http://schemas.openxmlformats.org/drawingml/2006/main">
            <a:off x="5095875" y="1666875"/>
            <a:ext cx="2667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D501A3E6-E84C-418C-B97C-B1DD4DDEC6B7}"/>
              </a:ext>
            </a:extLst>
          </p:cNvPr>
          <p:cNvSpPr>
            <a:spLocks xmlns:a="http://schemas.openxmlformats.org/drawingml/2006/main" noGrp="1"/>
          </p:cNvSpPr>
          <p:nvPr/>
        </p:nvSpPr>
        <p:spPr>
          <a:xfrm xmlns:a="http://schemas.openxmlformats.org/drawingml/2006/main">
            <a:off x="5095875" y="1666875"/>
            <a:ext cx="66675" cy="161925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153981A-1032-4BB7-8AA3-4F424A185062}"/>
              </a:ext>
            </a:extLst>
          </p:cNvPr>
          <p:cNvSpPr>
            <a:spLocks xmlns:a="http://schemas.openxmlformats.org/drawingml/2006/main" noGrp="1"/>
          </p:cNvSpPr>
          <p:nvPr/>
        </p:nvSpPr>
        <p:spPr>
          <a:xfrm xmlns:a="http://schemas.openxmlformats.org/drawingml/2006/main">
            <a:off x="5324475" y="18954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Contexte</a:t>
            </a:r>
          </a:p>
        </p:txBody>
      </p:sp>
      <p:sp>
        <p:nvSpPr>
          <p:cNvPr id="8" name="">
            <a:extLst xmlns:a="http://schemas.openxmlformats.org/drawingml/2006/main">
              <a:ext uri="{FF2B5EF4-FFF2-40B4-BE49-F238E27FC236}">
                <a16:creationId xmlns:a16="http://schemas.microsoft.com/office/drawing/2014/main" id="{93E7611F-4968-4BA8-B79F-930D1654BFE7}"/>
              </a:ext>
            </a:extLst>
          </p:cNvPr>
          <p:cNvSpPr>
            <a:spLocks xmlns:a="http://schemas.openxmlformats.org/drawingml/2006/main" noGrp="1"/>
          </p:cNvSpPr>
          <p:nvPr/>
        </p:nvSpPr>
        <p:spPr>
          <a:xfrm xmlns:a="http://schemas.openxmlformats.org/drawingml/2006/main">
            <a:off x="5324475" y="2276475"/>
            <a:ext cx="2247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caméras se multiplient, mais l’attention humaine reste limitée et se fatigue vite.</a:t>
            </a:r>
          </a:p>
        </p:txBody>
      </p:sp>
      <p:sp>
        <p:nvSpPr>
          <p:cNvPr id="9" name="">
            <a:extLst xmlns:a="http://schemas.openxmlformats.org/drawingml/2006/main">
              <a:ext uri="{FF2B5EF4-FFF2-40B4-BE49-F238E27FC236}">
                <a16:creationId xmlns:a16="http://schemas.microsoft.com/office/drawing/2014/main" id="{CEC87600-2FAF-40CA-9F19-F3C75E936CE9}"/>
              </a:ext>
            </a:extLst>
          </p:cNvPr>
          <p:cNvSpPr>
            <a:spLocks xmlns:a="http://schemas.openxmlformats.org/drawingml/2006/main" noGrp="1"/>
          </p:cNvSpPr>
          <p:nvPr/>
        </p:nvSpPr>
        <p:spPr>
          <a:xfrm xmlns:a="http://schemas.openxmlformats.org/drawingml/2006/main">
            <a:off x="8001000" y="1666875"/>
            <a:ext cx="28575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FABA0F8D-7D6D-41E7-A805-BE6294DF2C64}"/>
              </a:ext>
            </a:extLst>
          </p:cNvPr>
          <p:cNvSpPr>
            <a:spLocks xmlns:a="http://schemas.openxmlformats.org/drawingml/2006/main" noGrp="1"/>
          </p:cNvSpPr>
          <p:nvPr/>
        </p:nvSpPr>
        <p:spPr>
          <a:xfrm xmlns:a="http://schemas.openxmlformats.org/drawingml/2006/main">
            <a:off x="8001000" y="1666875"/>
            <a:ext cx="66675" cy="161925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C25E74-42EC-4B52-AEEE-073B81AF39C6}"/>
              </a:ext>
            </a:extLst>
          </p:cNvPr>
          <p:cNvSpPr>
            <a:spLocks xmlns:a="http://schemas.openxmlformats.org/drawingml/2006/main" noGrp="1"/>
          </p:cNvSpPr>
          <p:nvPr/>
        </p:nvSpPr>
        <p:spPr>
          <a:xfrm xmlns:a="http://schemas.openxmlformats.org/drawingml/2006/main">
            <a:off x="8229600" y="18954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Problème</a:t>
            </a:r>
          </a:p>
        </p:txBody>
      </p:sp>
      <p:sp>
        <p:nvSpPr>
          <p:cNvPr id="12" name="">
            <a:extLst xmlns:a="http://schemas.openxmlformats.org/drawingml/2006/main">
              <a:ext uri="{FF2B5EF4-FFF2-40B4-BE49-F238E27FC236}">
                <a16:creationId xmlns:a16="http://schemas.microsoft.com/office/drawing/2014/main" id="{CDB8CCE9-E2E7-46C8-9197-D74488D82C46}"/>
              </a:ext>
            </a:extLst>
          </p:cNvPr>
          <p:cNvSpPr>
            <a:spLocks xmlns:a="http://schemas.openxmlformats.org/drawingml/2006/main" noGrp="1"/>
          </p:cNvSpPr>
          <p:nvPr/>
        </p:nvSpPr>
        <p:spPr>
          <a:xfrm xmlns:a="http://schemas.openxmlformats.org/drawingml/2006/main">
            <a:off x="8229600" y="2276475"/>
            <a:ext cx="2438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approches existantes confondent souvent violence et activité physique intense.</a:t>
            </a:r>
          </a:p>
        </p:txBody>
      </p:sp>
      <p:sp>
        <p:nvSpPr>
          <p:cNvPr id="13" name="">
            <a:extLst xmlns:a="http://schemas.openxmlformats.org/drawingml/2006/main">
              <a:ext uri="{FF2B5EF4-FFF2-40B4-BE49-F238E27FC236}">
                <a16:creationId xmlns:a16="http://schemas.microsoft.com/office/drawing/2014/main" id="{241565D5-2833-4409-A0AD-44E377D7636E}"/>
              </a:ext>
            </a:extLst>
          </p:cNvPr>
          <p:cNvSpPr>
            <a:spLocks xmlns:a="http://schemas.openxmlformats.org/drawingml/2006/main" noGrp="1"/>
          </p:cNvSpPr>
          <p:nvPr/>
        </p:nvSpPr>
        <p:spPr>
          <a:xfrm xmlns:a="http://schemas.openxmlformats.org/drawingml/2006/main">
            <a:off x="5095875" y="3571875"/>
            <a:ext cx="576262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CBFB62DE-249B-447E-AD67-B13F14B7F5C4}"/>
              </a:ext>
            </a:extLst>
          </p:cNvPr>
          <p:cNvSpPr>
            <a:spLocks xmlns:a="http://schemas.openxmlformats.org/drawingml/2006/main" noGrp="1"/>
          </p:cNvSpPr>
          <p:nvPr/>
        </p:nvSpPr>
        <p:spPr>
          <a:xfrm xmlns:a="http://schemas.openxmlformats.org/drawingml/2006/main">
            <a:off x="5095875" y="3571875"/>
            <a:ext cx="66675" cy="123825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0DFCBB-97F2-477A-970E-EB662E97C4B9}"/>
              </a:ext>
            </a:extLst>
          </p:cNvPr>
          <p:cNvSpPr>
            <a:spLocks xmlns:a="http://schemas.openxmlformats.org/drawingml/2006/main" noGrp="1"/>
          </p:cNvSpPr>
          <p:nvPr/>
        </p:nvSpPr>
        <p:spPr>
          <a:xfrm xmlns:a="http://schemas.openxmlformats.org/drawingml/2006/main">
            <a:off x="5324475" y="3800475"/>
            <a:ext cx="538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Question de recherche</a:t>
            </a:r>
          </a:p>
        </p:txBody>
      </p:sp>
      <p:sp>
        <p:nvSpPr>
          <p:cNvPr id="16" name="">
            <a:extLst xmlns:a="http://schemas.openxmlformats.org/drawingml/2006/main">
              <a:ext uri="{FF2B5EF4-FFF2-40B4-BE49-F238E27FC236}">
                <a16:creationId xmlns:a16="http://schemas.microsoft.com/office/drawing/2014/main" id="{90CFD87D-75CE-4C4F-A571-1B9FB2213DA4}"/>
              </a:ext>
            </a:extLst>
          </p:cNvPr>
          <p:cNvSpPr>
            <a:spLocks xmlns:a="http://schemas.openxmlformats.org/drawingml/2006/main" noGrp="1"/>
          </p:cNvSpPr>
          <p:nvPr/>
        </p:nvSpPr>
        <p:spPr>
          <a:xfrm xmlns:a="http://schemas.openxmlformats.org/drawingml/2006/main">
            <a:off x="5324475" y="4181475"/>
            <a:ext cx="53435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Comment reconnaître automatiquement des comportements violents en temps réel, avec de meilleures performances que les approches actuelles, tout en restant déployable sur un ordinateur ordinaire ?</a:t>
            </a:r>
          </a:p>
        </p:txBody>
      </p:sp>
      <p:sp>
        <p:nvSpPr>
          <p:cNvPr id="17" name="">
            <a:extLst xmlns:a="http://schemas.openxmlformats.org/drawingml/2006/main">
              <a:ext uri="{FF2B5EF4-FFF2-40B4-BE49-F238E27FC236}">
                <a16:creationId xmlns:a16="http://schemas.microsoft.com/office/drawing/2014/main" id="{DBE16D36-E5F2-41D4-9938-B6E76F323272}"/>
              </a:ext>
            </a:extLst>
          </p:cNvPr>
          <p:cNvSpPr>
            <a:spLocks xmlns:a="http://schemas.openxmlformats.org/drawingml/2006/main" noGrp="1"/>
          </p:cNvSpPr>
          <p:nvPr/>
        </p:nvSpPr>
        <p:spPr>
          <a:xfrm xmlns:a="http://schemas.openxmlformats.org/drawingml/2006/main">
            <a:off x="1285875" y="5334000"/>
            <a:ext cx="962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C8B53"/>
                </a:solidFill>
              </a:defRPr>
            </a:pPr>
            <a:r>
              <a:rPr sz="1425" b="1" i="0">
                <a:solidFill>
                  <a:srgbClr val="1C8B53"/>
                </a:solidFill>
              </a:rPr>
              <a:t>Ce que SIRCH cherche à combler : un système complet, local, mesuré sur des données variées et testé aussi sur des scènes sportives ou dansées.</a:t>
            </a:r>
          </a:p>
        </p:txBody>
      </p:sp>
      <p:sp>
        <p:nvSpPr>
          <p:cNvPr id="18" name="">
            <a:extLst xmlns:a="http://schemas.openxmlformats.org/drawingml/2006/main">
              <a:ext uri="{FF2B5EF4-FFF2-40B4-BE49-F238E27FC236}">
                <a16:creationId xmlns:a16="http://schemas.microsoft.com/office/drawing/2014/main" id="{22EDD3BA-C1F7-4D03-9262-9DAE2D325396}"/>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Contexte et problématique</a:t>
            </a:r>
          </a:p>
        </p:txBody>
      </p:sp>
      <p:sp>
        <p:nvSpPr>
          <p:cNvPr id="19" name="">
            <a:extLst xmlns:a="http://schemas.openxmlformats.org/drawingml/2006/main">
              <a:ext uri="{FF2B5EF4-FFF2-40B4-BE49-F238E27FC236}">
                <a16:creationId xmlns:a16="http://schemas.microsoft.com/office/drawing/2014/main" id="{E009508E-7256-49DF-B1BD-E978DD252E5D}"/>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3 / 21</a:t>
            </a:r>
          </a:p>
        </p:txBody>
      </p:sp>
    </p:spTree>
    <p:extLst>
      <p:ext uri="{BB962C8B-B14F-4D97-AF65-F5344CB8AC3E}">
        <p14:creationId xmlns:p14="http://schemas.microsoft.com/office/powerpoint/2010/main" val="409207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5FACCC-9EED-4BA1-B764-30F78B48470A}"/>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SIRCH vise un système complet, pas seulement un bon modèle</a:t>
            </a:r>
          </a:p>
        </p:txBody>
      </p:sp>
      <p:sp>
        <p:nvSpPr>
          <p:cNvPr id="2" name="">
            <a:extLst xmlns:a="http://schemas.openxmlformats.org/drawingml/2006/main">
              <a:ext uri="{FF2B5EF4-FFF2-40B4-BE49-F238E27FC236}">
                <a16:creationId xmlns:a16="http://schemas.microsoft.com/office/drawing/2014/main" id="{FB9597E5-3F86-4935-8133-0DAD86F47415}"/>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EB2A725-D334-4D17-90A8-9C0931389843}"/>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Les objectifs couvrent la littérature, le modèle, l’évaluation et le déploiement.</a:t>
            </a:r>
          </a:p>
        </p:txBody>
      </p:sp>
      <p:sp>
        <p:nvSpPr>
          <p:cNvPr id="4" name="">
            <a:extLst xmlns:a="http://schemas.openxmlformats.org/drawingml/2006/main">
              <a:ext uri="{FF2B5EF4-FFF2-40B4-BE49-F238E27FC236}">
                <a16:creationId xmlns:a16="http://schemas.microsoft.com/office/drawing/2014/main" id="{1A688DC2-0E38-4E2E-BD86-A29212A972C9}"/>
              </a:ext>
            </a:extLst>
          </p:cNvPr>
          <p:cNvSpPr>
            <a:spLocks xmlns:a="http://schemas.openxmlformats.org/drawingml/2006/main" noGrp="1"/>
          </p:cNvSpPr>
          <p:nvPr/>
        </p:nvSpPr>
        <p:spPr>
          <a:xfrm xmlns:a="http://schemas.openxmlformats.org/drawingml/2006/main">
            <a:off x="666750" y="1666875"/>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AA369F71-B128-43C1-9DDD-568EE1D6F8E7}"/>
              </a:ext>
            </a:extLst>
          </p:cNvPr>
          <p:cNvSpPr>
            <a:spLocks xmlns:a="http://schemas.openxmlformats.org/drawingml/2006/main" noGrp="1"/>
          </p:cNvSpPr>
          <p:nvPr/>
        </p:nvSpPr>
        <p:spPr>
          <a:xfrm xmlns:a="http://schemas.openxmlformats.org/drawingml/2006/main">
            <a:off x="666750" y="1666875"/>
            <a:ext cx="66675" cy="12192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DEE857E-0AFC-4BEF-9909-721FE1E865E4}"/>
              </a:ext>
            </a:extLst>
          </p:cNvPr>
          <p:cNvSpPr>
            <a:spLocks xmlns:a="http://schemas.openxmlformats.org/drawingml/2006/main" noGrp="1"/>
          </p:cNvSpPr>
          <p:nvPr/>
        </p:nvSpPr>
        <p:spPr>
          <a:xfrm xmlns:a="http://schemas.openxmlformats.org/drawingml/2006/main">
            <a:off x="895350" y="18954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Objectif général</a:t>
            </a:r>
          </a:p>
        </p:txBody>
      </p:sp>
      <p:sp>
        <p:nvSpPr>
          <p:cNvPr id="7" name="">
            <a:extLst xmlns:a="http://schemas.openxmlformats.org/drawingml/2006/main">
              <a:ext uri="{FF2B5EF4-FFF2-40B4-BE49-F238E27FC236}">
                <a16:creationId xmlns:a16="http://schemas.microsoft.com/office/drawing/2014/main" id="{7D322B40-13CE-41C9-B823-8F2B6B8FAE7E}"/>
              </a:ext>
            </a:extLst>
          </p:cNvPr>
          <p:cNvSpPr>
            <a:spLocks xmlns:a="http://schemas.openxmlformats.org/drawingml/2006/main" noGrp="1"/>
          </p:cNvSpPr>
          <p:nvPr/>
        </p:nvSpPr>
        <p:spPr>
          <a:xfrm xmlns:a="http://schemas.openxmlformats.org/drawingml/2006/main">
            <a:off x="895350" y="22764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Concevoir et évaluer un système intelligent capable de détecter automatiquement la violence dans une vidéo, en temps réel, sur matériel ordinaire.</a:t>
            </a:r>
          </a:p>
        </p:txBody>
      </p:sp>
      <p:sp>
        <p:nvSpPr>
          <p:cNvPr id="8" name="">
            <a:extLst xmlns:a="http://schemas.openxmlformats.org/drawingml/2006/main">
              <a:ext uri="{FF2B5EF4-FFF2-40B4-BE49-F238E27FC236}">
                <a16:creationId xmlns:a16="http://schemas.microsoft.com/office/drawing/2014/main" id="{8B8AA167-C14E-47F3-8AF2-84423D1FC90B}"/>
              </a:ext>
            </a:extLst>
          </p:cNvPr>
          <p:cNvSpPr>
            <a:spLocks xmlns:a="http://schemas.openxmlformats.org/drawingml/2006/main" noGrp="1"/>
          </p:cNvSpPr>
          <p:nvPr/>
        </p:nvSpPr>
        <p:spPr>
          <a:xfrm xmlns:a="http://schemas.openxmlformats.org/drawingml/2006/main">
            <a:off x="6191250" y="1666875"/>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63652F81-B059-4F05-AD4A-652027C6F62C}"/>
              </a:ext>
            </a:extLst>
          </p:cNvPr>
          <p:cNvSpPr>
            <a:spLocks xmlns:a="http://schemas.openxmlformats.org/drawingml/2006/main" noGrp="1"/>
          </p:cNvSpPr>
          <p:nvPr/>
        </p:nvSpPr>
        <p:spPr>
          <a:xfrm xmlns:a="http://schemas.openxmlformats.org/drawingml/2006/main">
            <a:off x="6191250" y="1666875"/>
            <a:ext cx="66675" cy="12192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3AA31B-5A45-4043-9260-801F7A19371D}"/>
              </a:ext>
            </a:extLst>
          </p:cNvPr>
          <p:cNvSpPr>
            <a:spLocks xmlns:a="http://schemas.openxmlformats.org/drawingml/2006/main" noGrp="1"/>
          </p:cNvSpPr>
          <p:nvPr/>
        </p:nvSpPr>
        <p:spPr>
          <a:xfrm xmlns:a="http://schemas.openxmlformats.org/drawingml/2006/main">
            <a:off x="6419850" y="18954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Hypothèse de travail</a:t>
            </a:r>
          </a:p>
        </p:txBody>
      </p:sp>
      <p:sp>
        <p:nvSpPr>
          <p:cNvPr id="11" name="">
            <a:extLst xmlns:a="http://schemas.openxmlformats.org/drawingml/2006/main">
              <a:ext uri="{FF2B5EF4-FFF2-40B4-BE49-F238E27FC236}">
                <a16:creationId xmlns:a16="http://schemas.microsoft.com/office/drawing/2014/main" id="{E38EC5A4-9EA7-44B1-A13B-4AB9498D503E}"/>
              </a:ext>
            </a:extLst>
          </p:cNvPr>
          <p:cNvSpPr>
            <a:spLocks xmlns:a="http://schemas.openxmlformats.org/drawingml/2006/main" noGrp="1"/>
          </p:cNvSpPr>
          <p:nvPr/>
        </p:nvSpPr>
        <p:spPr>
          <a:xfrm xmlns:a="http://schemas.openxmlformats.org/drawingml/2006/main">
            <a:off x="6419850" y="22764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Une architecture EfficientNetB0 + LSTM entraînée sur RLVS + RWF-2000 peut reconnaître la violence avec un bon compromis entre performance, rapidité et déployabilité.</a:t>
            </a:r>
          </a:p>
        </p:txBody>
      </p:sp>
      <p:sp>
        <p:nvSpPr>
          <p:cNvPr id="12" name="">
            <a:extLst xmlns:a="http://schemas.openxmlformats.org/drawingml/2006/main">
              <a:ext uri="{FF2B5EF4-FFF2-40B4-BE49-F238E27FC236}">
                <a16:creationId xmlns:a16="http://schemas.microsoft.com/office/drawing/2014/main" id="{AF95D4B4-5A25-48EE-999C-7C2889A4B47D}"/>
              </a:ext>
            </a:extLst>
          </p:cNvPr>
          <p:cNvSpPr>
            <a:spLocks xmlns:a="http://schemas.openxmlformats.org/drawingml/2006/main" noGrp="1"/>
          </p:cNvSpPr>
          <p:nvPr/>
        </p:nvSpPr>
        <p:spPr>
          <a:xfrm xmlns:a="http://schemas.openxmlformats.org/drawingml/2006/main">
            <a:off x="81915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7F8845A7-BEC1-490B-9AB7-72B7C60C4B77}"/>
              </a:ext>
            </a:extLst>
          </p:cNvPr>
          <p:cNvSpPr>
            <a:spLocks xmlns:a="http://schemas.openxmlformats.org/drawingml/2006/main" noGrp="1"/>
          </p:cNvSpPr>
          <p:nvPr/>
        </p:nvSpPr>
        <p:spPr>
          <a:xfrm xmlns:a="http://schemas.openxmlformats.org/drawingml/2006/main">
            <a:off x="81915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O1</a:t>
            </a:r>
          </a:p>
        </p:txBody>
      </p:sp>
      <p:sp>
        <p:nvSpPr>
          <p:cNvPr id="14" name="">
            <a:extLst xmlns:a="http://schemas.openxmlformats.org/drawingml/2006/main">
              <a:ext uri="{FF2B5EF4-FFF2-40B4-BE49-F238E27FC236}">
                <a16:creationId xmlns:a16="http://schemas.microsoft.com/office/drawing/2014/main" id="{BACAB694-DB96-4C19-9A33-AD78505A776D}"/>
              </a:ext>
            </a:extLst>
          </p:cNvPr>
          <p:cNvSpPr>
            <a:spLocks xmlns:a="http://schemas.openxmlformats.org/drawingml/2006/main" noGrp="1"/>
          </p:cNvSpPr>
          <p:nvPr/>
        </p:nvSpPr>
        <p:spPr>
          <a:xfrm xmlns:a="http://schemas.openxmlformats.org/drawingml/2006/main">
            <a:off x="97155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Analyser les travaux existants</a:t>
            </a:r>
          </a:p>
        </p:txBody>
      </p:sp>
      <p:sp>
        <p:nvSpPr>
          <p:cNvPr id="15" name="">
            <a:extLst xmlns:a="http://schemas.openxmlformats.org/drawingml/2006/main">
              <a:ext uri="{FF2B5EF4-FFF2-40B4-BE49-F238E27FC236}">
                <a16:creationId xmlns:a16="http://schemas.microsoft.com/office/drawing/2014/main" id="{E0D7B8E2-12D3-484F-8A4E-200CBB9BF631}"/>
              </a:ext>
            </a:extLst>
          </p:cNvPr>
          <p:cNvSpPr>
            <a:spLocks xmlns:a="http://schemas.openxmlformats.org/drawingml/2006/main" noGrp="1"/>
          </p:cNvSpPr>
          <p:nvPr/>
        </p:nvSpPr>
        <p:spPr>
          <a:xfrm xmlns:a="http://schemas.openxmlformats.org/drawingml/2006/main">
            <a:off x="2562225"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040CB82-7C1A-420F-A12E-C32F7A8A2C71}"/>
              </a:ext>
            </a:extLst>
          </p:cNvPr>
          <p:cNvSpPr>
            <a:spLocks xmlns:a="http://schemas.openxmlformats.org/drawingml/2006/main" noGrp="1"/>
          </p:cNvSpPr>
          <p:nvPr/>
        </p:nvSpPr>
        <p:spPr>
          <a:xfrm xmlns:a="http://schemas.openxmlformats.org/drawingml/2006/main">
            <a:off x="2962275"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7C09B35-2045-4567-ABCE-FB9E97925444}"/>
              </a:ext>
            </a:extLst>
          </p:cNvPr>
          <p:cNvSpPr>
            <a:spLocks xmlns:a="http://schemas.openxmlformats.org/drawingml/2006/main" noGrp="1"/>
          </p:cNvSpPr>
          <p:nvPr/>
        </p:nvSpPr>
        <p:spPr>
          <a:xfrm xmlns:a="http://schemas.openxmlformats.org/drawingml/2006/main">
            <a:off x="2962275"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O2</a:t>
            </a:r>
          </a:p>
        </p:txBody>
      </p:sp>
      <p:sp>
        <p:nvSpPr>
          <p:cNvPr id="18" name="">
            <a:extLst xmlns:a="http://schemas.openxmlformats.org/drawingml/2006/main">
              <a:ext uri="{FF2B5EF4-FFF2-40B4-BE49-F238E27FC236}">
                <a16:creationId xmlns:a16="http://schemas.microsoft.com/office/drawing/2014/main" id="{876791B0-7CDC-48BB-9300-48C72D3F22BD}"/>
              </a:ext>
            </a:extLst>
          </p:cNvPr>
          <p:cNvSpPr>
            <a:spLocks xmlns:a="http://schemas.openxmlformats.org/drawingml/2006/main" noGrp="1"/>
          </p:cNvSpPr>
          <p:nvPr/>
        </p:nvSpPr>
        <p:spPr>
          <a:xfrm xmlns:a="http://schemas.openxmlformats.org/drawingml/2006/main">
            <a:off x="3114675"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Choisir et justifier l’architecture</a:t>
            </a:r>
          </a:p>
        </p:txBody>
      </p:sp>
      <p:sp>
        <p:nvSpPr>
          <p:cNvPr id="19" name="">
            <a:extLst xmlns:a="http://schemas.openxmlformats.org/drawingml/2006/main">
              <a:ext uri="{FF2B5EF4-FFF2-40B4-BE49-F238E27FC236}">
                <a16:creationId xmlns:a16="http://schemas.microsoft.com/office/drawing/2014/main" id="{C3F2F949-811D-478C-97DE-347C6BD75E32}"/>
              </a:ext>
            </a:extLst>
          </p:cNvPr>
          <p:cNvSpPr>
            <a:spLocks xmlns:a="http://schemas.openxmlformats.org/drawingml/2006/main" noGrp="1"/>
          </p:cNvSpPr>
          <p:nvPr/>
        </p:nvSpPr>
        <p:spPr>
          <a:xfrm xmlns:a="http://schemas.openxmlformats.org/drawingml/2006/main">
            <a:off x="4705350"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151954B-48EE-47A2-9843-4D8E70A7BE3A}"/>
              </a:ext>
            </a:extLst>
          </p:cNvPr>
          <p:cNvSpPr>
            <a:spLocks xmlns:a="http://schemas.openxmlformats.org/drawingml/2006/main" noGrp="1"/>
          </p:cNvSpPr>
          <p:nvPr/>
        </p:nvSpPr>
        <p:spPr>
          <a:xfrm xmlns:a="http://schemas.openxmlformats.org/drawingml/2006/main">
            <a:off x="510540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C0602029-B945-4DC0-92A8-AA061381E9B9}"/>
              </a:ext>
            </a:extLst>
          </p:cNvPr>
          <p:cNvSpPr>
            <a:spLocks xmlns:a="http://schemas.openxmlformats.org/drawingml/2006/main" noGrp="1"/>
          </p:cNvSpPr>
          <p:nvPr/>
        </p:nvSpPr>
        <p:spPr>
          <a:xfrm xmlns:a="http://schemas.openxmlformats.org/drawingml/2006/main">
            <a:off x="510540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O3</a:t>
            </a:r>
          </a:p>
        </p:txBody>
      </p:sp>
      <p:sp>
        <p:nvSpPr>
          <p:cNvPr id="22" name="">
            <a:extLst xmlns:a="http://schemas.openxmlformats.org/drawingml/2006/main">
              <a:ext uri="{FF2B5EF4-FFF2-40B4-BE49-F238E27FC236}">
                <a16:creationId xmlns:a16="http://schemas.microsoft.com/office/drawing/2014/main" id="{33373735-8681-4E67-A73D-22129B34AD8C}"/>
              </a:ext>
            </a:extLst>
          </p:cNvPr>
          <p:cNvSpPr>
            <a:spLocks xmlns:a="http://schemas.openxmlformats.org/drawingml/2006/main" noGrp="1"/>
          </p:cNvSpPr>
          <p:nvPr/>
        </p:nvSpPr>
        <p:spPr>
          <a:xfrm xmlns:a="http://schemas.openxmlformats.org/drawingml/2006/main">
            <a:off x="525780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Entraîner et évaluer le modèle</a:t>
            </a:r>
          </a:p>
        </p:txBody>
      </p:sp>
      <p:sp>
        <p:nvSpPr>
          <p:cNvPr id="23" name="">
            <a:extLst xmlns:a="http://schemas.openxmlformats.org/drawingml/2006/main">
              <a:ext uri="{FF2B5EF4-FFF2-40B4-BE49-F238E27FC236}">
                <a16:creationId xmlns:a16="http://schemas.microsoft.com/office/drawing/2014/main" id="{9FE54946-08AE-40F1-BCD9-8F9BC2AEA9F8}"/>
              </a:ext>
            </a:extLst>
          </p:cNvPr>
          <p:cNvSpPr>
            <a:spLocks xmlns:a="http://schemas.openxmlformats.org/drawingml/2006/main" noGrp="1"/>
          </p:cNvSpPr>
          <p:nvPr/>
        </p:nvSpPr>
        <p:spPr>
          <a:xfrm xmlns:a="http://schemas.openxmlformats.org/drawingml/2006/main">
            <a:off x="6848475"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E436EEF-03CB-4412-8EA4-DE0353F2D228}"/>
              </a:ext>
            </a:extLst>
          </p:cNvPr>
          <p:cNvSpPr>
            <a:spLocks xmlns:a="http://schemas.openxmlformats.org/drawingml/2006/main" noGrp="1"/>
          </p:cNvSpPr>
          <p:nvPr/>
        </p:nvSpPr>
        <p:spPr>
          <a:xfrm xmlns:a="http://schemas.openxmlformats.org/drawingml/2006/main">
            <a:off x="7248525"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C3AB1D6C-2929-4B65-8A7E-7E79A14D751C}"/>
              </a:ext>
            </a:extLst>
          </p:cNvPr>
          <p:cNvSpPr>
            <a:spLocks xmlns:a="http://schemas.openxmlformats.org/drawingml/2006/main" noGrp="1"/>
          </p:cNvSpPr>
          <p:nvPr/>
        </p:nvSpPr>
        <p:spPr>
          <a:xfrm xmlns:a="http://schemas.openxmlformats.org/drawingml/2006/main">
            <a:off x="7248525"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O4</a:t>
            </a:r>
          </a:p>
        </p:txBody>
      </p:sp>
      <p:sp>
        <p:nvSpPr>
          <p:cNvPr id="26" name="">
            <a:extLst xmlns:a="http://schemas.openxmlformats.org/drawingml/2006/main">
              <a:ext uri="{FF2B5EF4-FFF2-40B4-BE49-F238E27FC236}">
                <a16:creationId xmlns:a16="http://schemas.microsoft.com/office/drawing/2014/main" id="{A9D73BE4-8EC8-4907-99E6-A27BA9E0DDF8}"/>
              </a:ext>
            </a:extLst>
          </p:cNvPr>
          <p:cNvSpPr>
            <a:spLocks xmlns:a="http://schemas.openxmlformats.org/drawingml/2006/main" noGrp="1"/>
          </p:cNvSpPr>
          <p:nvPr/>
        </p:nvSpPr>
        <p:spPr>
          <a:xfrm xmlns:a="http://schemas.openxmlformats.org/drawingml/2006/main">
            <a:off x="7400925"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Intégrer capture, décision, alertes et dashboard</a:t>
            </a:r>
          </a:p>
        </p:txBody>
      </p:sp>
      <p:sp>
        <p:nvSpPr>
          <p:cNvPr id="27" name="">
            <a:extLst xmlns:a="http://schemas.openxmlformats.org/drawingml/2006/main">
              <a:ext uri="{FF2B5EF4-FFF2-40B4-BE49-F238E27FC236}">
                <a16:creationId xmlns:a16="http://schemas.microsoft.com/office/drawing/2014/main" id="{DD6576F7-7CAC-41A8-A1AD-40E27D5C06D4}"/>
              </a:ext>
            </a:extLst>
          </p:cNvPr>
          <p:cNvSpPr>
            <a:spLocks xmlns:a="http://schemas.openxmlformats.org/drawingml/2006/main" noGrp="1"/>
          </p:cNvSpPr>
          <p:nvPr/>
        </p:nvSpPr>
        <p:spPr>
          <a:xfrm xmlns:a="http://schemas.openxmlformats.org/drawingml/2006/main">
            <a:off x="8991600"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50F4F9A-2501-4D26-A1BD-2F5D01067118}"/>
              </a:ext>
            </a:extLst>
          </p:cNvPr>
          <p:cNvSpPr>
            <a:spLocks xmlns:a="http://schemas.openxmlformats.org/drawingml/2006/main" noGrp="1"/>
          </p:cNvSpPr>
          <p:nvPr/>
        </p:nvSpPr>
        <p:spPr>
          <a:xfrm xmlns:a="http://schemas.openxmlformats.org/drawingml/2006/main">
            <a:off x="939165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1C77D5A3-3262-49E2-96C4-89FE9F7DA05F}"/>
              </a:ext>
            </a:extLst>
          </p:cNvPr>
          <p:cNvSpPr>
            <a:spLocks xmlns:a="http://schemas.openxmlformats.org/drawingml/2006/main" noGrp="1"/>
          </p:cNvSpPr>
          <p:nvPr/>
        </p:nvSpPr>
        <p:spPr>
          <a:xfrm xmlns:a="http://schemas.openxmlformats.org/drawingml/2006/main">
            <a:off x="939165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O5</a:t>
            </a:r>
          </a:p>
        </p:txBody>
      </p:sp>
      <p:sp>
        <p:nvSpPr>
          <p:cNvPr id="30" name="">
            <a:extLst xmlns:a="http://schemas.openxmlformats.org/drawingml/2006/main">
              <a:ext uri="{FF2B5EF4-FFF2-40B4-BE49-F238E27FC236}">
                <a16:creationId xmlns:a16="http://schemas.microsoft.com/office/drawing/2014/main" id="{BD915C9E-F100-4254-B928-FD62642F6B05}"/>
              </a:ext>
            </a:extLst>
          </p:cNvPr>
          <p:cNvSpPr>
            <a:spLocks xmlns:a="http://schemas.openxmlformats.org/drawingml/2006/main" noGrp="1"/>
          </p:cNvSpPr>
          <p:nvPr/>
        </p:nvSpPr>
        <p:spPr>
          <a:xfrm xmlns:a="http://schemas.openxmlformats.org/drawingml/2006/main">
            <a:off x="954405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Tester les limites : sport, danse et généralisation</a:t>
            </a:r>
          </a:p>
        </p:txBody>
      </p:sp>
      <p:sp>
        <p:nvSpPr>
          <p:cNvPr id="31" name="">
            <a:extLst xmlns:a="http://schemas.openxmlformats.org/drawingml/2006/main">
              <a:ext uri="{FF2B5EF4-FFF2-40B4-BE49-F238E27FC236}">
                <a16:creationId xmlns:a16="http://schemas.microsoft.com/office/drawing/2014/main" id="{8FAA8252-B8DB-41EE-B1E4-368380DC9047}"/>
              </a:ext>
            </a:extLst>
          </p:cNvPr>
          <p:cNvSpPr>
            <a:spLocks xmlns:a="http://schemas.openxmlformats.org/drawingml/2006/main" noGrp="1"/>
          </p:cNvSpPr>
          <p:nvPr/>
        </p:nvSpPr>
        <p:spPr>
          <a:xfrm xmlns:a="http://schemas.openxmlformats.org/drawingml/2006/main">
            <a:off x="1714500" y="53149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7345F"/>
                </a:solidFill>
              </a:defRPr>
            </a:pPr>
            <a:r>
              <a:rPr sz="1350" b="1" i="0">
                <a:solidFill>
                  <a:srgbClr val="17345F"/>
                </a:solidFill>
              </a:rPr>
              <a:t>Le travail n’évalue pas seulement un score : il vérifie si la solution peut devenir un outil utilisable.</a:t>
            </a:r>
          </a:p>
        </p:txBody>
      </p:sp>
      <p:sp>
        <p:nvSpPr>
          <p:cNvPr id="32" name="">
            <a:extLst xmlns:a="http://schemas.openxmlformats.org/drawingml/2006/main">
              <a:ext uri="{FF2B5EF4-FFF2-40B4-BE49-F238E27FC236}">
                <a16:creationId xmlns:a16="http://schemas.microsoft.com/office/drawing/2014/main" id="{D75D1E6C-4506-42E2-AA82-EA7FF218C539}"/>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Objectifs et hypothèse</a:t>
            </a:r>
          </a:p>
        </p:txBody>
      </p:sp>
      <p:sp>
        <p:nvSpPr>
          <p:cNvPr id="33" name="">
            <a:extLst xmlns:a="http://schemas.openxmlformats.org/drawingml/2006/main">
              <a:ext uri="{FF2B5EF4-FFF2-40B4-BE49-F238E27FC236}">
                <a16:creationId xmlns:a16="http://schemas.microsoft.com/office/drawing/2014/main" id="{825FE0D6-8B00-44D7-B357-05D0181648FD}"/>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4 / 21</a:t>
            </a:r>
          </a:p>
        </p:txBody>
      </p:sp>
    </p:spTree>
    <p:extLst>
      <p:ext uri="{BB962C8B-B14F-4D97-AF65-F5344CB8AC3E}">
        <p14:creationId xmlns:p14="http://schemas.microsoft.com/office/powerpoint/2010/main" val="11438532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637B05-6CBF-4C72-AF03-410794E6A233}"/>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littérature progresse, mais laisse trois angles morts</a:t>
            </a:r>
          </a:p>
        </p:txBody>
      </p:sp>
      <p:sp>
        <p:nvSpPr>
          <p:cNvPr id="2" name="">
            <a:extLst xmlns:a="http://schemas.openxmlformats.org/drawingml/2006/main">
              <a:ext uri="{FF2B5EF4-FFF2-40B4-BE49-F238E27FC236}">
                <a16:creationId xmlns:a16="http://schemas.microsoft.com/office/drawing/2014/main" id="{2C1C8B6A-8CAB-4381-A09D-F1CF256AEEE1}"/>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0ED4C9-5593-4BF6-ABED-9D36C3ACC2C2}"/>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SIRCH part des approches existantes et ajoute l’évaluation des biais et le déploiement.</a:t>
            </a:r>
          </a:p>
        </p:txBody>
      </p:sp>
      <p:sp>
        <p:nvSpPr>
          <p:cNvPr id="4" name="">
            <a:extLst xmlns:a="http://schemas.openxmlformats.org/drawingml/2006/main">
              <a:ext uri="{FF2B5EF4-FFF2-40B4-BE49-F238E27FC236}">
                <a16:creationId xmlns:a16="http://schemas.microsoft.com/office/drawing/2014/main" id="{3BF2B680-165C-4F97-87B0-124A29EC00EF}"/>
              </a:ext>
            </a:extLst>
          </p:cNvPr>
          <p:cNvSpPr>
            <a:spLocks xmlns:a="http://schemas.openxmlformats.org/drawingml/2006/main" noGrp="1"/>
          </p:cNvSpPr>
          <p:nvPr/>
        </p:nvSpPr>
        <p:spPr>
          <a:xfrm xmlns:a="http://schemas.openxmlformats.org/drawingml/2006/main">
            <a:off x="666750" y="1666875"/>
            <a:ext cx="24765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BE7026A7-AD26-4587-801A-FC9A4209AAF9}"/>
              </a:ext>
            </a:extLst>
          </p:cNvPr>
          <p:cNvSpPr>
            <a:spLocks xmlns:a="http://schemas.openxmlformats.org/drawingml/2006/main" noGrp="1"/>
          </p:cNvSpPr>
          <p:nvPr/>
        </p:nvSpPr>
        <p:spPr>
          <a:xfrm xmlns:a="http://schemas.openxmlformats.org/drawingml/2006/main">
            <a:off x="742950" y="17621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Approche</a:t>
            </a:r>
          </a:p>
        </p:txBody>
      </p:sp>
      <p:sp>
        <p:nvSpPr>
          <p:cNvPr id="6" name="">
            <a:extLst xmlns:a="http://schemas.openxmlformats.org/drawingml/2006/main">
              <a:ext uri="{FF2B5EF4-FFF2-40B4-BE49-F238E27FC236}">
                <a16:creationId xmlns:a16="http://schemas.microsoft.com/office/drawing/2014/main" id="{115D870F-4D0B-4529-98FA-D414CE1BEB6B}"/>
              </a:ext>
            </a:extLst>
          </p:cNvPr>
          <p:cNvSpPr>
            <a:spLocks xmlns:a="http://schemas.openxmlformats.org/drawingml/2006/main" noGrp="1"/>
          </p:cNvSpPr>
          <p:nvPr/>
        </p:nvSpPr>
        <p:spPr>
          <a:xfrm xmlns:a="http://schemas.openxmlformats.org/drawingml/2006/main">
            <a:off x="3143250" y="1666875"/>
            <a:ext cx="24765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FD20FB43-EE00-4EB7-8E1E-BC888AC5468F}"/>
              </a:ext>
            </a:extLst>
          </p:cNvPr>
          <p:cNvSpPr>
            <a:spLocks xmlns:a="http://schemas.openxmlformats.org/drawingml/2006/main" noGrp="1"/>
          </p:cNvSpPr>
          <p:nvPr/>
        </p:nvSpPr>
        <p:spPr>
          <a:xfrm xmlns:a="http://schemas.openxmlformats.org/drawingml/2006/main">
            <a:off x="3219450" y="17621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Force</a:t>
            </a:r>
          </a:p>
        </p:txBody>
      </p:sp>
      <p:sp>
        <p:nvSpPr>
          <p:cNvPr id="8" name="">
            <a:extLst xmlns:a="http://schemas.openxmlformats.org/drawingml/2006/main">
              <a:ext uri="{FF2B5EF4-FFF2-40B4-BE49-F238E27FC236}">
                <a16:creationId xmlns:a16="http://schemas.microsoft.com/office/drawing/2014/main" id="{B427DE92-6D03-4916-89BE-6241714A34DE}"/>
              </a:ext>
            </a:extLst>
          </p:cNvPr>
          <p:cNvSpPr>
            <a:spLocks xmlns:a="http://schemas.openxmlformats.org/drawingml/2006/main" noGrp="1"/>
          </p:cNvSpPr>
          <p:nvPr/>
        </p:nvSpPr>
        <p:spPr>
          <a:xfrm xmlns:a="http://schemas.openxmlformats.org/drawingml/2006/main">
            <a:off x="5619750" y="1666875"/>
            <a:ext cx="30480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EE1D173B-B5CE-4111-9449-D6508F318D4C}"/>
              </a:ext>
            </a:extLst>
          </p:cNvPr>
          <p:cNvSpPr>
            <a:spLocks xmlns:a="http://schemas.openxmlformats.org/drawingml/2006/main" noGrp="1"/>
          </p:cNvSpPr>
          <p:nvPr/>
        </p:nvSpPr>
        <p:spPr>
          <a:xfrm xmlns:a="http://schemas.openxmlformats.org/drawingml/2006/main">
            <a:off x="5695950" y="17621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Limite</a:t>
            </a:r>
          </a:p>
        </p:txBody>
      </p:sp>
      <p:sp>
        <p:nvSpPr>
          <p:cNvPr id="10" name="">
            <a:extLst xmlns:a="http://schemas.openxmlformats.org/drawingml/2006/main">
              <a:ext uri="{FF2B5EF4-FFF2-40B4-BE49-F238E27FC236}">
                <a16:creationId xmlns:a16="http://schemas.microsoft.com/office/drawing/2014/main" id="{EB4892ED-3858-48AF-B6EE-3E176E214B4F}"/>
              </a:ext>
            </a:extLst>
          </p:cNvPr>
          <p:cNvSpPr>
            <a:spLocks xmlns:a="http://schemas.openxmlformats.org/drawingml/2006/main" noGrp="1"/>
          </p:cNvSpPr>
          <p:nvPr/>
        </p:nvSpPr>
        <p:spPr>
          <a:xfrm xmlns:a="http://schemas.openxmlformats.org/drawingml/2006/main">
            <a:off x="666750" y="22764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32AF3F7E-9FD0-4B42-B239-BA0354683647}"/>
              </a:ext>
            </a:extLst>
          </p:cNvPr>
          <p:cNvSpPr>
            <a:spLocks xmlns:a="http://schemas.openxmlformats.org/drawingml/2006/main" noGrp="1"/>
          </p:cNvSpPr>
          <p:nvPr/>
        </p:nvSpPr>
        <p:spPr>
          <a:xfrm xmlns:a="http://schemas.openxmlformats.org/drawingml/2006/main">
            <a:off x="742950" y="23717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Optical flow classique</a:t>
            </a:r>
          </a:p>
        </p:txBody>
      </p:sp>
      <p:sp>
        <p:nvSpPr>
          <p:cNvPr id="12" name="">
            <a:extLst xmlns:a="http://schemas.openxmlformats.org/drawingml/2006/main">
              <a:ext uri="{FF2B5EF4-FFF2-40B4-BE49-F238E27FC236}">
                <a16:creationId xmlns:a16="http://schemas.microsoft.com/office/drawing/2014/main" id="{5D06F368-35BC-46B0-A351-7E5DB6C9DEE0}"/>
              </a:ext>
            </a:extLst>
          </p:cNvPr>
          <p:cNvSpPr>
            <a:spLocks xmlns:a="http://schemas.openxmlformats.org/drawingml/2006/main" noGrp="1"/>
          </p:cNvSpPr>
          <p:nvPr/>
        </p:nvSpPr>
        <p:spPr>
          <a:xfrm xmlns:a="http://schemas.openxmlformats.org/drawingml/2006/main">
            <a:off x="3143250" y="22764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2BC1681E-D2A2-4A0B-BC18-EBCC19FF0031}"/>
              </a:ext>
            </a:extLst>
          </p:cNvPr>
          <p:cNvSpPr>
            <a:spLocks xmlns:a="http://schemas.openxmlformats.org/drawingml/2006/main" noGrp="1"/>
          </p:cNvSpPr>
          <p:nvPr/>
        </p:nvSpPr>
        <p:spPr>
          <a:xfrm xmlns:a="http://schemas.openxmlformats.org/drawingml/2006/main">
            <a:off x="3219450" y="23717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Rapide</a:t>
            </a:r>
          </a:p>
        </p:txBody>
      </p:sp>
      <p:sp>
        <p:nvSpPr>
          <p:cNvPr id="14" name="">
            <a:extLst xmlns:a="http://schemas.openxmlformats.org/drawingml/2006/main">
              <a:ext uri="{FF2B5EF4-FFF2-40B4-BE49-F238E27FC236}">
                <a16:creationId xmlns:a16="http://schemas.microsoft.com/office/drawing/2014/main" id="{31CC2976-8039-435E-BDA2-C4A663FA8846}"/>
              </a:ext>
            </a:extLst>
          </p:cNvPr>
          <p:cNvSpPr>
            <a:spLocks xmlns:a="http://schemas.openxmlformats.org/drawingml/2006/main" noGrp="1"/>
          </p:cNvSpPr>
          <p:nvPr/>
        </p:nvSpPr>
        <p:spPr>
          <a:xfrm xmlns:a="http://schemas.openxmlformats.org/drawingml/2006/main">
            <a:off x="5619750" y="2276475"/>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4EB23F48-C256-4B9D-93E6-50BC607F1814}"/>
              </a:ext>
            </a:extLst>
          </p:cNvPr>
          <p:cNvSpPr>
            <a:spLocks xmlns:a="http://schemas.openxmlformats.org/drawingml/2006/main" noGrp="1"/>
          </p:cNvSpPr>
          <p:nvPr/>
        </p:nvSpPr>
        <p:spPr>
          <a:xfrm xmlns:a="http://schemas.openxmlformats.org/drawingml/2006/main">
            <a:off x="5695950" y="23717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Peu précis sur scènes complexes</a:t>
            </a:r>
          </a:p>
        </p:txBody>
      </p:sp>
      <p:sp>
        <p:nvSpPr>
          <p:cNvPr id="16" name="">
            <a:extLst xmlns:a="http://schemas.openxmlformats.org/drawingml/2006/main">
              <a:ext uri="{FF2B5EF4-FFF2-40B4-BE49-F238E27FC236}">
                <a16:creationId xmlns:a16="http://schemas.microsoft.com/office/drawing/2014/main" id="{F72779B7-4C94-4393-839F-456CF49EAD1B}"/>
              </a:ext>
            </a:extLst>
          </p:cNvPr>
          <p:cNvSpPr>
            <a:spLocks xmlns:a="http://schemas.openxmlformats.org/drawingml/2006/main" noGrp="1"/>
          </p:cNvSpPr>
          <p:nvPr/>
        </p:nvSpPr>
        <p:spPr>
          <a:xfrm xmlns:a="http://schemas.openxmlformats.org/drawingml/2006/main">
            <a:off x="666750" y="2886075"/>
            <a:ext cx="24765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6E08FFAA-BAC0-4FD6-8AAE-12096D79E62A}"/>
              </a:ext>
            </a:extLst>
          </p:cNvPr>
          <p:cNvSpPr>
            <a:spLocks xmlns:a="http://schemas.openxmlformats.org/drawingml/2006/main" noGrp="1"/>
          </p:cNvSpPr>
          <p:nvPr/>
        </p:nvSpPr>
        <p:spPr>
          <a:xfrm xmlns:a="http://schemas.openxmlformats.org/drawingml/2006/main">
            <a:off x="742950" y="29813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CNN 3D</a:t>
            </a:r>
          </a:p>
        </p:txBody>
      </p:sp>
      <p:sp>
        <p:nvSpPr>
          <p:cNvPr id="18" name="">
            <a:extLst xmlns:a="http://schemas.openxmlformats.org/drawingml/2006/main">
              <a:ext uri="{FF2B5EF4-FFF2-40B4-BE49-F238E27FC236}">
                <a16:creationId xmlns:a16="http://schemas.microsoft.com/office/drawing/2014/main" id="{D6FB204F-06F2-45F7-86AD-4CC003CF5917}"/>
              </a:ext>
            </a:extLst>
          </p:cNvPr>
          <p:cNvSpPr>
            <a:spLocks xmlns:a="http://schemas.openxmlformats.org/drawingml/2006/main" noGrp="1"/>
          </p:cNvSpPr>
          <p:nvPr/>
        </p:nvSpPr>
        <p:spPr>
          <a:xfrm xmlns:a="http://schemas.openxmlformats.org/drawingml/2006/main">
            <a:off x="3143250" y="2886075"/>
            <a:ext cx="24765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CFE65E45-7BBF-4402-852F-1BABE22CB908}"/>
              </a:ext>
            </a:extLst>
          </p:cNvPr>
          <p:cNvSpPr>
            <a:spLocks xmlns:a="http://schemas.openxmlformats.org/drawingml/2006/main" noGrp="1"/>
          </p:cNvSpPr>
          <p:nvPr/>
        </p:nvSpPr>
        <p:spPr>
          <a:xfrm xmlns:a="http://schemas.openxmlformats.org/drawingml/2006/main">
            <a:off x="3219450" y="29813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Très précis</a:t>
            </a:r>
          </a:p>
        </p:txBody>
      </p:sp>
      <p:sp>
        <p:nvSpPr>
          <p:cNvPr id="20" name="">
            <a:extLst xmlns:a="http://schemas.openxmlformats.org/drawingml/2006/main">
              <a:ext uri="{FF2B5EF4-FFF2-40B4-BE49-F238E27FC236}">
                <a16:creationId xmlns:a16="http://schemas.microsoft.com/office/drawing/2014/main" id="{F3DE77C2-795B-4825-9435-20DACD8E0B2B}"/>
              </a:ext>
            </a:extLst>
          </p:cNvPr>
          <p:cNvSpPr>
            <a:spLocks xmlns:a="http://schemas.openxmlformats.org/drawingml/2006/main" noGrp="1"/>
          </p:cNvSpPr>
          <p:nvPr/>
        </p:nvSpPr>
        <p:spPr>
          <a:xfrm xmlns:a="http://schemas.openxmlformats.org/drawingml/2006/main">
            <a:off x="5619750" y="2886075"/>
            <a:ext cx="30480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C9AFD541-4684-4548-A256-C829120EDB4E}"/>
              </a:ext>
            </a:extLst>
          </p:cNvPr>
          <p:cNvSpPr>
            <a:spLocks xmlns:a="http://schemas.openxmlformats.org/drawingml/2006/main" noGrp="1"/>
          </p:cNvSpPr>
          <p:nvPr/>
        </p:nvSpPr>
        <p:spPr>
          <a:xfrm xmlns:a="http://schemas.openxmlformats.org/drawingml/2006/main">
            <a:off x="5695950" y="29813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Trop lourd pour un PC ordinaire</a:t>
            </a:r>
          </a:p>
        </p:txBody>
      </p:sp>
      <p:sp>
        <p:nvSpPr>
          <p:cNvPr id="22" name="">
            <a:extLst xmlns:a="http://schemas.openxmlformats.org/drawingml/2006/main">
              <a:ext uri="{FF2B5EF4-FFF2-40B4-BE49-F238E27FC236}">
                <a16:creationId xmlns:a16="http://schemas.microsoft.com/office/drawing/2014/main" id="{53AC016F-2B3D-40CD-BBE6-4BA2C574E3BA}"/>
              </a:ext>
            </a:extLst>
          </p:cNvPr>
          <p:cNvSpPr>
            <a:spLocks xmlns:a="http://schemas.openxmlformats.org/drawingml/2006/main" noGrp="1"/>
          </p:cNvSpPr>
          <p:nvPr/>
        </p:nvSpPr>
        <p:spPr>
          <a:xfrm xmlns:a="http://schemas.openxmlformats.org/drawingml/2006/main">
            <a:off x="666750" y="34956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75A79F27-966A-4857-9D57-449679D1F169}"/>
              </a:ext>
            </a:extLst>
          </p:cNvPr>
          <p:cNvSpPr>
            <a:spLocks xmlns:a="http://schemas.openxmlformats.org/drawingml/2006/main" noGrp="1"/>
          </p:cNvSpPr>
          <p:nvPr/>
        </p:nvSpPr>
        <p:spPr>
          <a:xfrm xmlns:a="http://schemas.openxmlformats.org/drawingml/2006/main">
            <a:off x="742950" y="35909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CNN + LSTM</a:t>
            </a:r>
          </a:p>
        </p:txBody>
      </p:sp>
      <p:sp>
        <p:nvSpPr>
          <p:cNvPr id="24" name="">
            <a:extLst xmlns:a="http://schemas.openxmlformats.org/drawingml/2006/main">
              <a:ext uri="{FF2B5EF4-FFF2-40B4-BE49-F238E27FC236}">
                <a16:creationId xmlns:a16="http://schemas.microsoft.com/office/drawing/2014/main" id="{91015C29-CBF7-452C-BB7D-D86DBA93C338}"/>
              </a:ext>
            </a:extLst>
          </p:cNvPr>
          <p:cNvSpPr>
            <a:spLocks xmlns:a="http://schemas.openxmlformats.org/drawingml/2006/main" noGrp="1"/>
          </p:cNvSpPr>
          <p:nvPr/>
        </p:nvSpPr>
        <p:spPr>
          <a:xfrm xmlns:a="http://schemas.openxmlformats.org/drawingml/2006/main">
            <a:off x="3143250" y="34956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979BBE2E-4FF6-4481-AED3-72AFB7AAE8E6}"/>
              </a:ext>
            </a:extLst>
          </p:cNvPr>
          <p:cNvSpPr>
            <a:spLocks xmlns:a="http://schemas.openxmlformats.org/drawingml/2006/main" noGrp="1"/>
          </p:cNvSpPr>
          <p:nvPr/>
        </p:nvSpPr>
        <p:spPr>
          <a:xfrm xmlns:a="http://schemas.openxmlformats.org/drawingml/2006/main">
            <a:off x="3219450" y="35909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Léger et temporel</a:t>
            </a:r>
          </a:p>
        </p:txBody>
      </p:sp>
      <p:sp>
        <p:nvSpPr>
          <p:cNvPr id="26" name="">
            <a:extLst xmlns:a="http://schemas.openxmlformats.org/drawingml/2006/main">
              <a:ext uri="{FF2B5EF4-FFF2-40B4-BE49-F238E27FC236}">
                <a16:creationId xmlns:a16="http://schemas.microsoft.com/office/drawing/2014/main" id="{2B835E10-F1E5-4F32-BF15-69BEC2FE992D}"/>
              </a:ext>
            </a:extLst>
          </p:cNvPr>
          <p:cNvSpPr>
            <a:spLocks xmlns:a="http://schemas.openxmlformats.org/drawingml/2006/main" noGrp="1"/>
          </p:cNvSpPr>
          <p:nvPr/>
        </p:nvSpPr>
        <p:spPr>
          <a:xfrm xmlns:a="http://schemas.openxmlformats.org/drawingml/2006/main">
            <a:off x="5619750" y="3495675"/>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3FA7BFA4-CC3A-4DC7-9971-BFC043FFEA23}"/>
              </a:ext>
            </a:extLst>
          </p:cNvPr>
          <p:cNvSpPr>
            <a:spLocks xmlns:a="http://schemas.openxmlformats.org/drawingml/2006/main" noGrp="1"/>
          </p:cNvSpPr>
          <p:nvPr/>
        </p:nvSpPr>
        <p:spPr>
          <a:xfrm xmlns:a="http://schemas.openxmlformats.org/drawingml/2006/main">
            <a:off x="5695950" y="35909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Souvent évalué sur un seul dataset</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3f367c926994edc"/>
          <a:stretch xmlns:a="http://schemas.openxmlformats.org/drawingml/2006/main"/>
        </p:blipFill>
        <p:spPr>
          <a:xfrm xmlns:a="http://schemas.openxmlformats.org/drawingml/2006/main">
            <a:off x="9001125" y="2378534"/>
            <a:ext cx="2000250" cy="957932"/>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354E8C53-08F1-471E-BF8D-03CB3CC89B8C}"/>
              </a:ext>
            </a:extLst>
          </p:cNvPr>
          <p:cNvSpPr>
            <a:spLocks xmlns:a="http://schemas.openxmlformats.org/drawingml/2006/main" noGrp="1"/>
          </p:cNvSpPr>
          <p:nvPr/>
        </p:nvSpPr>
        <p:spPr>
          <a:xfrm xmlns:a="http://schemas.openxmlformats.org/drawingml/2006/main">
            <a:off x="8477250" y="4095750"/>
            <a:ext cx="285750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2EECEE1D-D22A-4259-AE72-8EAEAADC0205}"/>
              </a:ext>
            </a:extLst>
          </p:cNvPr>
          <p:cNvSpPr>
            <a:spLocks xmlns:a="http://schemas.openxmlformats.org/drawingml/2006/main" noGrp="1"/>
          </p:cNvSpPr>
          <p:nvPr/>
        </p:nvSpPr>
        <p:spPr>
          <a:xfrm xmlns:a="http://schemas.openxmlformats.org/drawingml/2006/main">
            <a:off x="8705850" y="4286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Apport de SIRCH</a:t>
            </a:r>
          </a:p>
        </p:txBody>
      </p:sp>
      <p:sp>
        <p:nvSpPr>
          <p:cNvPr id="31" name="">
            <a:extLst xmlns:a="http://schemas.openxmlformats.org/drawingml/2006/main">
              <a:ext uri="{FF2B5EF4-FFF2-40B4-BE49-F238E27FC236}">
                <a16:creationId xmlns:a16="http://schemas.microsoft.com/office/drawing/2014/main" id="{532B0363-EADC-4DF0-B109-5B77B6A5D2E4}"/>
              </a:ext>
            </a:extLst>
          </p:cNvPr>
          <p:cNvSpPr>
            <a:spLocks xmlns:a="http://schemas.openxmlformats.org/drawingml/2006/main" noGrp="1"/>
          </p:cNvSpPr>
          <p:nvPr/>
        </p:nvSpPr>
        <p:spPr>
          <a:xfrm xmlns:a="http://schemas.openxmlformats.org/drawingml/2006/main">
            <a:off x="8705850" y="45720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02033"/>
                </a:solidFill>
              </a:defRPr>
            </a:pPr>
            <a:r>
              <a:rPr sz="975" b="0" i="0">
                <a:solidFill>
                  <a:srgbClr val="102033"/>
                </a:solidFill>
              </a:rPr>
              <a:t>Combiner deux datasets, analyser les faux positifs sport/danse et livrer une chaîne complète avec alertes et tableau de bord.</a:t>
            </a:r>
          </a:p>
        </p:txBody>
      </p:sp>
      <p:sp>
        <p:nvSpPr>
          <p:cNvPr id="32" name="">
            <a:extLst xmlns:a="http://schemas.openxmlformats.org/drawingml/2006/main">
              <a:ext uri="{FF2B5EF4-FFF2-40B4-BE49-F238E27FC236}">
                <a16:creationId xmlns:a16="http://schemas.microsoft.com/office/drawing/2014/main" id="{D57FD554-7222-4F6D-B5B5-D6575C33E63D}"/>
              </a:ext>
            </a:extLst>
          </p:cNvPr>
          <p:cNvSpPr>
            <a:spLocks xmlns:a="http://schemas.openxmlformats.org/drawingml/2006/main" noGrp="1"/>
          </p:cNvSpPr>
          <p:nvPr/>
        </p:nvSpPr>
        <p:spPr>
          <a:xfrm xmlns:a="http://schemas.openxmlformats.org/drawingml/2006/main">
            <a:off x="1285875" y="5476875"/>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Interprétation : le modèle n’est pas jugé uniquement sur sa précision, mais aussi sur son comportement hors laboratoire.</a:t>
            </a:r>
          </a:p>
        </p:txBody>
      </p:sp>
      <p:sp>
        <p:nvSpPr>
          <p:cNvPr id="33" name="">
            <a:extLst xmlns:a="http://schemas.openxmlformats.org/drawingml/2006/main">
              <a:ext uri="{FF2B5EF4-FFF2-40B4-BE49-F238E27FC236}">
                <a16:creationId xmlns:a16="http://schemas.microsoft.com/office/drawing/2014/main" id="{784BA35D-A7FB-4360-A9D0-6D56578BF493}"/>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Revue de la littérature</a:t>
            </a:r>
          </a:p>
        </p:txBody>
      </p:sp>
      <p:sp>
        <p:nvSpPr>
          <p:cNvPr id="34" name="">
            <a:extLst xmlns:a="http://schemas.openxmlformats.org/drawingml/2006/main">
              <a:ext uri="{FF2B5EF4-FFF2-40B4-BE49-F238E27FC236}">
                <a16:creationId xmlns:a16="http://schemas.microsoft.com/office/drawing/2014/main" id="{A8020F69-3B7D-49F0-9F03-5D7031A5A7E7}"/>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5 / 21</a:t>
            </a:r>
          </a:p>
        </p:txBody>
      </p:sp>
    </p:spTree>
    <p:extLst>
      <p:ext uri="{BB962C8B-B14F-4D97-AF65-F5344CB8AC3E}">
        <p14:creationId xmlns:p14="http://schemas.microsoft.com/office/powerpoint/2010/main" val="8177123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0B6AE2-E86C-453E-BC53-8C297491B4AF}"/>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méthode suit une chaîne scientifique reproductible</a:t>
            </a:r>
          </a:p>
        </p:txBody>
      </p:sp>
      <p:sp>
        <p:nvSpPr>
          <p:cNvPr id="2" name="">
            <a:extLst xmlns:a="http://schemas.openxmlformats.org/drawingml/2006/main">
              <a:ext uri="{FF2B5EF4-FFF2-40B4-BE49-F238E27FC236}">
                <a16:creationId xmlns:a16="http://schemas.microsoft.com/office/drawing/2014/main" id="{A3796FFB-BDCB-477B-B581-9F379A10E2AB}"/>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FC2B01-4CE2-41BD-8EEF-65C37FC25286}"/>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Chaque étape répond à une question : quoi apprendre, comment décider, puis comment vérifier.</a:t>
            </a:r>
          </a:p>
        </p:txBody>
      </p:sp>
      <p:sp>
        <p:nvSpPr>
          <p:cNvPr id="4" name="">
            <a:extLst xmlns:a="http://schemas.openxmlformats.org/drawingml/2006/main">
              <a:ext uri="{FF2B5EF4-FFF2-40B4-BE49-F238E27FC236}">
                <a16:creationId xmlns:a16="http://schemas.microsoft.com/office/drawing/2014/main" id="{9C476538-2EB1-4755-9B5D-DD35B2F47502}"/>
              </a:ext>
            </a:extLst>
          </p:cNvPr>
          <p:cNvSpPr>
            <a:spLocks xmlns:a="http://schemas.openxmlformats.org/drawingml/2006/main" noGrp="1"/>
          </p:cNvSpPr>
          <p:nvPr/>
        </p:nvSpPr>
        <p:spPr>
          <a:xfrm xmlns:a="http://schemas.openxmlformats.org/drawingml/2006/main">
            <a:off x="7620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2D0D2E47-2014-44CA-8C63-892F2DD6254D}"/>
              </a:ext>
            </a:extLst>
          </p:cNvPr>
          <p:cNvSpPr>
            <a:spLocks xmlns:a="http://schemas.openxmlformats.org/drawingml/2006/main" noGrp="1"/>
          </p:cNvSpPr>
          <p:nvPr/>
        </p:nvSpPr>
        <p:spPr>
          <a:xfrm xmlns:a="http://schemas.openxmlformats.org/drawingml/2006/main">
            <a:off x="7620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1</a:t>
            </a:r>
          </a:p>
        </p:txBody>
      </p:sp>
      <p:sp>
        <p:nvSpPr>
          <p:cNvPr id="6" name="">
            <a:extLst xmlns:a="http://schemas.openxmlformats.org/drawingml/2006/main">
              <a:ext uri="{FF2B5EF4-FFF2-40B4-BE49-F238E27FC236}">
                <a16:creationId xmlns:a16="http://schemas.microsoft.com/office/drawing/2014/main" id="{E699E0F4-7B13-4F2C-B805-D39AA5AE00BD}"/>
              </a:ext>
            </a:extLst>
          </p:cNvPr>
          <p:cNvSpPr>
            <a:spLocks xmlns:a="http://schemas.openxmlformats.org/drawingml/2006/main" noGrp="1"/>
          </p:cNvSpPr>
          <p:nvPr/>
        </p:nvSpPr>
        <p:spPr>
          <a:xfrm xmlns:a="http://schemas.openxmlformats.org/drawingml/2006/main">
            <a:off x="8953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Analyse du problème</a:t>
            </a:r>
          </a:p>
        </p:txBody>
      </p:sp>
      <p:sp>
        <p:nvSpPr>
          <p:cNvPr id="7" name="">
            <a:extLst xmlns:a="http://schemas.openxmlformats.org/drawingml/2006/main">
              <a:ext uri="{FF2B5EF4-FFF2-40B4-BE49-F238E27FC236}">
                <a16:creationId xmlns:a16="http://schemas.microsoft.com/office/drawing/2014/main" id="{647F2205-0D1B-47E4-8FD5-E9054E4017C0}"/>
              </a:ext>
            </a:extLst>
          </p:cNvPr>
          <p:cNvSpPr>
            <a:spLocks xmlns:a="http://schemas.openxmlformats.org/drawingml/2006/main" noGrp="1"/>
          </p:cNvSpPr>
          <p:nvPr/>
        </p:nvSpPr>
        <p:spPr>
          <a:xfrm xmlns:a="http://schemas.openxmlformats.org/drawingml/2006/main">
            <a:off x="22288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811B902-798E-4768-9EDA-38D6ECB3FD23}"/>
              </a:ext>
            </a:extLst>
          </p:cNvPr>
          <p:cNvSpPr>
            <a:spLocks xmlns:a="http://schemas.openxmlformats.org/drawingml/2006/main" noGrp="1"/>
          </p:cNvSpPr>
          <p:nvPr/>
        </p:nvSpPr>
        <p:spPr>
          <a:xfrm xmlns:a="http://schemas.openxmlformats.org/drawingml/2006/main">
            <a:off x="25717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5B8DAEEE-31F6-44C3-951C-B29B9936572C}"/>
              </a:ext>
            </a:extLst>
          </p:cNvPr>
          <p:cNvSpPr>
            <a:spLocks xmlns:a="http://schemas.openxmlformats.org/drawingml/2006/main" noGrp="1"/>
          </p:cNvSpPr>
          <p:nvPr/>
        </p:nvSpPr>
        <p:spPr>
          <a:xfrm xmlns:a="http://schemas.openxmlformats.org/drawingml/2006/main">
            <a:off x="25717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2</a:t>
            </a:r>
          </a:p>
        </p:txBody>
      </p:sp>
      <p:sp>
        <p:nvSpPr>
          <p:cNvPr id="10" name="">
            <a:extLst xmlns:a="http://schemas.openxmlformats.org/drawingml/2006/main">
              <a:ext uri="{FF2B5EF4-FFF2-40B4-BE49-F238E27FC236}">
                <a16:creationId xmlns:a16="http://schemas.microsoft.com/office/drawing/2014/main" id="{20B62431-9016-4086-B48B-F0E6DEE8A680}"/>
              </a:ext>
            </a:extLst>
          </p:cNvPr>
          <p:cNvSpPr>
            <a:spLocks xmlns:a="http://schemas.openxmlformats.org/drawingml/2006/main" noGrp="1"/>
          </p:cNvSpPr>
          <p:nvPr/>
        </p:nvSpPr>
        <p:spPr>
          <a:xfrm xmlns:a="http://schemas.openxmlformats.org/drawingml/2006/main">
            <a:off x="27051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Corpus RLVS + RWF-2000</a:t>
            </a:r>
          </a:p>
        </p:txBody>
      </p:sp>
      <p:sp>
        <p:nvSpPr>
          <p:cNvPr id="11" name="">
            <a:extLst xmlns:a="http://schemas.openxmlformats.org/drawingml/2006/main">
              <a:ext uri="{FF2B5EF4-FFF2-40B4-BE49-F238E27FC236}">
                <a16:creationId xmlns:a16="http://schemas.microsoft.com/office/drawing/2014/main" id="{DBBA7D89-3815-4077-87FF-CCCF236DA415}"/>
              </a:ext>
            </a:extLst>
          </p:cNvPr>
          <p:cNvSpPr>
            <a:spLocks xmlns:a="http://schemas.openxmlformats.org/drawingml/2006/main" noGrp="1"/>
          </p:cNvSpPr>
          <p:nvPr/>
        </p:nvSpPr>
        <p:spPr>
          <a:xfrm xmlns:a="http://schemas.openxmlformats.org/drawingml/2006/main">
            <a:off x="403860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57B91F2-0E12-4E1B-86D6-5E7E561732BF}"/>
              </a:ext>
            </a:extLst>
          </p:cNvPr>
          <p:cNvSpPr>
            <a:spLocks xmlns:a="http://schemas.openxmlformats.org/drawingml/2006/main" noGrp="1"/>
          </p:cNvSpPr>
          <p:nvPr/>
        </p:nvSpPr>
        <p:spPr>
          <a:xfrm xmlns:a="http://schemas.openxmlformats.org/drawingml/2006/main">
            <a:off x="43815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8591B823-3392-4B48-93C0-A8BB76260185}"/>
              </a:ext>
            </a:extLst>
          </p:cNvPr>
          <p:cNvSpPr>
            <a:spLocks xmlns:a="http://schemas.openxmlformats.org/drawingml/2006/main" noGrp="1"/>
          </p:cNvSpPr>
          <p:nvPr/>
        </p:nvSpPr>
        <p:spPr>
          <a:xfrm xmlns:a="http://schemas.openxmlformats.org/drawingml/2006/main">
            <a:off x="43815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3</a:t>
            </a:r>
          </a:p>
        </p:txBody>
      </p:sp>
      <p:sp>
        <p:nvSpPr>
          <p:cNvPr id="14" name="">
            <a:extLst xmlns:a="http://schemas.openxmlformats.org/drawingml/2006/main">
              <a:ext uri="{FF2B5EF4-FFF2-40B4-BE49-F238E27FC236}">
                <a16:creationId xmlns:a16="http://schemas.microsoft.com/office/drawing/2014/main" id="{A5229A4E-CEC3-4672-A558-520E5FEE9FDA}"/>
              </a:ext>
            </a:extLst>
          </p:cNvPr>
          <p:cNvSpPr>
            <a:spLocks xmlns:a="http://schemas.openxmlformats.org/drawingml/2006/main" noGrp="1"/>
          </p:cNvSpPr>
          <p:nvPr/>
        </p:nvSpPr>
        <p:spPr>
          <a:xfrm xmlns:a="http://schemas.openxmlformats.org/drawingml/2006/main">
            <a:off x="45148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Prétraitement N = 20 frames</a:t>
            </a:r>
          </a:p>
        </p:txBody>
      </p:sp>
      <p:sp>
        <p:nvSpPr>
          <p:cNvPr id="15" name="">
            <a:extLst xmlns:a="http://schemas.openxmlformats.org/drawingml/2006/main">
              <a:ext uri="{FF2B5EF4-FFF2-40B4-BE49-F238E27FC236}">
                <a16:creationId xmlns:a16="http://schemas.microsoft.com/office/drawing/2014/main" id="{EFEE2E1E-72BA-4707-A0CF-9B0A6A457991}"/>
              </a:ext>
            </a:extLst>
          </p:cNvPr>
          <p:cNvSpPr>
            <a:spLocks xmlns:a="http://schemas.openxmlformats.org/drawingml/2006/main" noGrp="1"/>
          </p:cNvSpPr>
          <p:nvPr/>
        </p:nvSpPr>
        <p:spPr>
          <a:xfrm xmlns:a="http://schemas.openxmlformats.org/drawingml/2006/main">
            <a:off x="58483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FE49DC4-C4FD-4818-9166-0FBE9158B1C6}"/>
              </a:ext>
            </a:extLst>
          </p:cNvPr>
          <p:cNvSpPr>
            <a:spLocks xmlns:a="http://schemas.openxmlformats.org/drawingml/2006/main" noGrp="1"/>
          </p:cNvSpPr>
          <p:nvPr/>
        </p:nvSpPr>
        <p:spPr>
          <a:xfrm xmlns:a="http://schemas.openxmlformats.org/drawingml/2006/main">
            <a:off x="61912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6FCB46B-8B15-4258-AE1B-E0A552EB9331}"/>
              </a:ext>
            </a:extLst>
          </p:cNvPr>
          <p:cNvSpPr>
            <a:spLocks xmlns:a="http://schemas.openxmlformats.org/drawingml/2006/main" noGrp="1"/>
          </p:cNvSpPr>
          <p:nvPr/>
        </p:nvSpPr>
        <p:spPr>
          <a:xfrm xmlns:a="http://schemas.openxmlformats.org/drawingml/2006/main">
            <a:off x="61912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4</a:t>
            </a:r>
          </a:p>
        </p:txBody>
      </p:sp>
      <p:sp>
        <p:nvSpPr>
          <p:cNvPr id="18" name="">
            <a:extLst xmlns:a="http://schemas.openxmlformats.org/drawingml/2006/main">
              <a:ext uri="{FF2B5EF4-FFF2-40B4-BE49-F238E27FC236}">
                <a16:creationId xmlns:a16="http://schemas.microsoft.com/office/drawing/2014/main" id="{EA2B82A1-03B1-4DA3-A651-1792DBB7A330}"/>
              </a:ext>
            </a:extLst>
          </p:cNvPr>
          <p:cNvSpPr>
            <a:spLocks xmlns:a="http://schemas.openxmlformats.org/drawingml/2006/main" noGrp="1"/>
          </p:cNvSpPr>
          <p:nvPr/>
        </p:nvSpPr>
        <p:spPr>
          <a:xfrm xmlns:a="http://schemas.openxmlformats.org/drawingml/2006/main">
            <a:off x="63246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EfficientNetB0 + LSTM</a:t>
            </a:r>
          </a:p>
        </p:txBody>
      </p:sp>
      <p:sp>
        <p:nvSpPr>
          <p:cNvPr id="19" name="">
            <a:extLst xmlns:a="http://schemas.openxmlformats.org/drawingml/2006/main">
              <a:ext uri="{FF2B5EF4-FFF2-40B4-BE49-F238E27FC236}">
                <a16:creationId xmlns:a16="http://schemas.microsoft.com/office/drawing/2014/main" id="{3B1C651A-EFD1-41F2-ACDF-DD8DC2DCCADB}"/>
              </a:ext>
            </a:extLst>
          </p:cNvPr>
          <p:cNvSpPr>
            <a:spLocks xmlns:a="http://schemas.openxmlformats.org/drawingml/2006/main" noGrp="1"/>
          </p:cNvSpPr>
          <p:nvPr/>
        </p:nvSpPr>
        <p:spPr>
          <a:xfrm xmlns:a="http://schemas.openxmlformats.org/drawingml/2006/main">
            <a:off x="765810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23CFC56-D766-4B09-B281-9CE3666D6574}"/>
              </a:ext>
            </a:extLst>
          </p:cNvPr>
          <p:cNvSpPr>
            <a:spLocks xmlns:a="http://schemas.openxmlformats.org/drawingml/2006/main" noGrp="1"/>
          </p:cNvSpPr>
          <p:nvPr/>
        </p:nvSpPr>
        <p:spPr>
          <a:xfrm xmlns:a="http://schemas.openxmlformats.org/drawingml/2006/main">
            <a:off x="80010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34FED36A-BC64-4B8E-97EF-D0BDE64824AF}"/>
              </a:ext>
            </a:extLst>
          </p:cNvPr>
          <p:cNvSpPr>
            <a:spLocks xmlns:a="http://schemas.openxmlformats.org/drawingml/2006/main" noGrp="1"/>
          </p:cNvSpPr>
          <p:nvPr/>
        </p:nvSpPr>
        <p:spPr>
          <a:xfrm xmlns:a="http://schemas.openxmlformats.org/drawingml/2006/main">
            <a:off x="80010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5</a:t>
            </a:r>
          </a:p>
        </p:txBody>
      </p:sp>
      <p:sp>
        <p:nvSpPr>
          <p:cNvPr id="22" name="">
            <a:extLst xmlns:a="http://schemas.openxmlformats.org/drawingml/2006/main">
              <a:ext uri="{FF2B5EF4-FFF2-40B4-BE49-F238E27FC236}">
                <a16:creationId xmlns:a16="http://schemas.microsoft.com/office/drawing/2014/main" id="{BAC43C4E-68AE-4982-8481-CC1415553B23}"/>
              </a:ext>
            </a:extLst>
          </p:cNvPr>
          <p:cNvSpPr>
            <a:spLocks xmlns:a="http://schemas.openxmlformats.org/drawingml/2006/main" noGrp="1"/>
          </p:cNvSpPr>
          <p:nvPr/>
        </p:nvSpPr>
        <p:spPr>
          <a:xfrm xmlns:a="http://schemas.openxmlformats.org/drawingml/2006/main">
            <a:off x="81343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Évaluation test + scénarios</a:t>
            </a:r>
          </a:p>
        </p:txBody>
      </p:sp>
      <p:sp>
        <p:nvSpPr>
          <p:cNvPr id="23" name="">
            <a:extLst xmlns:a="http://schemas.openxmlformats.org/drawingml/2006/main">
              <a:ext uri="{FF2B5EF4-FFF2-40B4-BE49-F238E27FC236}">
                <a16:creationId xmlns:a16="http://schemas.microsoft.com/office/drawing/2014/main" id="{02B64D14-01AC-468E-B10E-B6B2ACBB15CA}"/>
              </a:ext>
            </a:extLst>
          </p:cNvPr>
          <p:cNvSpPr>
            <a:spLocks xmlns:a="http://schemas.openxmlformats.org/drawingml/2006/main" noGrp="1"/>
          </p:cNvSpPr>
          <p:nvPr/>
        </p:nvSpPr>
        <p:spPr>
          <a:xfrm xmlns:a="http://schemas.openxmlformats.org/drawingml/2006/main">
            <a:off x="94678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87E1D89-26E9-4FCC-AB2F-7475215E170E}"/>
              </a:ext>
            </a:extLst>
          </p:cNvPr>
          <p:cNvSpPr>
            <a:spLocks xmlns:a="http://schemas.openxmlformats.org/drawingml/2006/main" noGrp="1"/>
          </p:cNvSpPr>
          <p:nvPr/>
        </p:nvSpPr>
        <p:spPr>
          <a:xfrm xmlns:a="http://schemas.openxmlformats.org/drawingml/2006/main">
            <a:off x="98107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AD50E13D-2B59-4CA4-9DA2-84E409825576}"/>
              </a:ext>
            </a:extLst>
          </p:cNvPr>
          <p:cNvSpPr>
            <a:spLocks xmlns:a="http://schemas.openxmlformats.org/drawingml/2006/main" noGrp="1"/>
          </p:cNvSpPr>
          <p:nvPr/>
        </p:nvSpPr>
        <p:spPr>
          <a:xfrm xmlns:a="http://schemas.openxmlformats.org/drawingml/2006/main">
            <a:off x="98107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6</a:t>
            </a:r>
          </a:p>
        </p:txBody>
      </p:sp>
      <p:sp>
        <p:nvSpPr>
          <p:cNvPr id="26" name="">
            <a:extLst xmlns:a="http://schemas.openxmlformats.org/drawingml/2006/main">
              <a:ext uri="{FF2B5EF4-FFF2-40B4-BE49-F238E27FC236}">
                <a16:creationId xmlns:a16="http://schemas.microsoft.com/office/drawing/2014/main" id="{E732AF5F-A0BE-478E-A380-20F6936FDAB4}"/>
              </a:ext>
            </a:extLst>
          </p:cNvPr>
          <p:cNvSpPr>
            <a:spLocks xmlns:a="http://schemas.openxmlformats.org/drawingml/2006/main" noGrp="1"/>
          </p:cNvSpPr>
          <p:nvPr/>
        </p:nvSpPr>
        <p:spPr>
          <a:xfrm xmlns:a="http://schemas.openxmlformats.org/drawingml/2006/main">
            <a:off x="99441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Déploiement local</a:t>
            </a:r>
          </a:p>
        </p:txBody>
      </p:sp>
      <p:sp>
        <p:nvSpPr>
          <p:cNvPr id="27" name="">
            <a:extLst xmlns:a="http://schemas.openxmlformats.org/drawingml/2006/main">
              <a:ext uri="{FF2B5EF4-FFF2-40B4-BE49-F238E27FC236}">
                <a16:creationId xmlns:a16="http://schemas.microsoft.com/office/drawing/2014/main" id="{A7639793-E192-4C4E-965A-665876CC8672}"/>
              </a:ext>
            </a:extLst>
          </p:cNvPr>
          <p:cNvSpPr>
            <a:spLocks xmlns:a="http://schemas.openxmlformats.org/drawingml/2006/main" noGrp="1"/>
          </p:cNvSpPr>
          <p:nvPr/>
        </p:nvSpPr>
        <p:spPr>
          <a:xfrm xmlns:a="http://schemas.openxmlformats.org/drawingml/2006/main">
            <a:off x="1047750" y="3857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8D6E4"/>
            </a:solidFill>
            <a:prstDash val="solid"/>
          </a:ln>
        </p:spPr>
      </p:sp>
      <p:sp>
        <p:nvSpPr>
          <p:cNvPr id="28" name="">
            <a:extLst xmlns:a="http://schemas.openxmlformats.org/drawingml/2006/main">
              <a:ext uri="{FF2B5EF4-FFF2-40B4-BE49-F238E27FC236}">
                <a16:creationId xmlns:a16="http://schemas.microsoft.com/office/drawing/2014/main" id="{B440B056-F77A-40BD-A17B-019EAB579E14}"/>
              </a:ext>
            </a:extLst>
          </p:cNvPr>
          <p:cNvSpPr>
            <a:spLocks xmlns:a="http://schemas.openxmlformats.org/drawingml/2006/main" noGrp="1"/>
          </p:cNvSpPr>
          <p:nvPr/>
        </p:nvSpPr>
        <p:spPr>
          <a:xfrm xmlns:a="http://schemas.openxmlformats.org/drawingml/2006/main">
            <a:off x="1047750" y="3857625"/>
            <a:ext cx="66675" cy="147637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295277E-02AC-4597-B5A2-947C84761E3A}"/>
              </a:ext>
            </a:extLst>
          </p:cNvPr>
          <p:cNvSpPr>
            <a:spLocks xmlns:a="http://schemas.openxmlformats.org/drawingml/2006/main" noGrp="1"/>
          </p:cNvSpPr>
          <p:nvPr/>
        </p:nvSpPr>
        <p:spPr>
          <a:xfrm xmlns:a="http://schemas.openxmlformats.org/drawingml/2006/main">
            <a:off x="1276350" y="40862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Décision</a:t>
            </a:r>
          </a:p>
        </p:txBody>
      </p:sp>
      <p:sp>
        <p:nvSpPr>
          <p:cNvPr id="30" name="">
            <a:extLst xmlns:a="http://schemas.openxmlformats.org/drawingml/2006/main">
              <a:ext uri="{FF2B5EF4-FFF2-40B4-BE49-F238E27FC236}">
                <a16:creationId xmlns:a16="http://schemas.microsoft.com/office/drawing/2014/main" id="{72F9BB0F-A848-4A14-9811-30C2D983F846}"/>
              </a:ext>
            </a:extLst>
          </p:cNvPr>
          <p:cNvSpPr>
            <a:spLocks xmlns:a="http://schemas.openxmlformats.org/drawingml/2006/main" noGrp="1"/>
          </p:cNvSpPr>
          <p:nvPr/>
        </p:nvSpPr>
        <p:spPr>
          <a:xfrm xmlns:a="http://schemas.openxmlformats.org/drawingml/2006/main">
            <a:off x="1276350" y="4467225"/>
            <a:ext cx="27241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 modèle produit un score par séquence. SIRCH moyenne les K = 5 derniers scores et déclenche une alerte si la moyenne dépasse θ = 0,50.</a:t>
            </a:r>
          </a:p>
        </p:txBody>
      </p:sp>
      <p:sp>
        <p:nvSpPr>
          <p:cNvPr id="31" name="">
            <a:extLst xmlns:a="http://schemas.openxmlformats.org/drawingml/2006/main">
              <a:ext uri="{FF2B5EF4-FFF2-40B4-BE49-F238E27FC236}">
                <a16:creationId xmlns:a16="http://schemas.microsoft.com/office/drawing/2014/main" id="{EDBA9A12-3A37-42A2-959C-DB74CAC698D6}"/>
              </a:ext>
            </a:extLst>
          </p:cNvPr>
          <p:cNvSpPr>
            <a:spLocks xmlns:a="http://schemas.openxmlformats.org/drawingml/2006/main" noGrp="1"/>
          </p:cNvSpPr>
          <p:nvPr/>
        </p:nvSpPr>
        <p:spPr>
          <a:xfrm xmlns:a="http://schemas.openxmlformats.org/drawingml/2006/main">
            <a:off x="4524375" y="3857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8D6E4"/>
            </a:solidFill>
            <a:prstDash val="solid"/>
          </a:ln>
        </p:spPr>
      </p:sp>
      <p:sp>
        <p:nvSpPr>
          <p:cNvPr id="32" name="">
            <a:extLst xmlns:a="http://schemas.openxmlformats.org/drawingml/2006/main">
              <a:ext uri="{FF2B5EF4-FFF2-40B4-BE49-F238E27FC236}">
                <a16:creationId xmlns:a16="http://schemas.microsoft.com/office/drawing/2014/main" id="{A828D82F-F15F-40E6-9787-74CB8FCAE1FB}"/>
              </a:ext>
            </a:extLst>
          </p:cNvPr>
          <p:cNvSpPr>
            <a:spLocks xmlns:a="http://schemas.openxmlformats.org/drawingml/2006/main" noGrp="1"/>
          </p:cNvSpPr>
          <p:nvPr/>
        </p:nvSpPr>
        <p:spPr>
          <a:xfrm xmlns:a="http://schemas.openxmlformats.org/drawingml/2006/main">
            <a:off x="4524375" y="3857625"/>
            <a:ext cx="66675" cy="147637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6368B4A-47A0-4BA6-B10D-D1F09C338872}"/>
              </a:ext>
            </a:extLst>
          </p:cNvPr>
          <p:cNvSpPr>
            <a:spLocks xmlns:a="http://schemas.openxmlformats.org/drawingml/2006/main" noGrp="1"/>
          </p:cNvSpPr>
          <p:nvPr/>
        </p:nvSpPr>
        <p:spPr>
          <a:xfrm xmlns:a="http://schemas.openxmlformats.org/drawingml/2006/main">
            <a:off x="4752975" y="40862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Validation</a:t>
            </a:r>
          </a:p>
        </p:txBody>
      </p:sp>
      <p:sp>
        <p:nvSpPr>
          <p:cNvPr id="34" name="">
            <a:extLst xmlns:a="http://schemas.openxmlformats.org/drawingml/2006/main">
              <a:ext uri="{FF2B5EF4-FFF2-40B4-BE49-F238E27FC236}">
                <a16:creationId xmlns:a16="http://schemas.microsoft.com/office/drawing/2014/main" id="{FB6BE10C-CDBE-4C38-BDFA-3BCD094E55A5}"/>
              </a:ext>
            </a:extLst>
          </p:cNvPr>
          <p:cNvSpPr>
            <a:spLocks xmlns:a="http://schemas.openxmlformats.org/drawingml/2006/main" noGrp="1"/>
          </p:cNvSpPr>
          <p:nvPr/>
        </p:nvSpPr>
        <p:spPr>
          <a:xfrm xmlns:a="http://schemas.openxmlformats.org/drawingml/2006/main">
            <a:off x="4752975" y="4467225"/>
            <a:ext cx="27241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résultats sont analysés avec les métriques, les matrices, ROC-AUC, PR-AUC, McNemar, ablation et cross-dataset.</a:t>
            </a:r>
          </a:p>
        </p:txBody>
      </p:sp>
      <p:sp>
        <p:nvSpPr>
          <p:cNvPr id="35" name="">
            <a:extLst xmlns:a="http://schemas.openxmlformats.org/drawingml/2006/main">
              <a:ext uri="{FF2B5EF4-FFF2-40B4-BE49-F238E27FC236}">
                <a16:creationId xmlns:a16="http://schemas.microsoft.com/office/drawing/2014/main" id="{DB95D008-0C3A-4F5F-8559-ACB0805337DE}"/>
              </a:ext>
            </a:extLst>
          </p:cNvPr>
          <p:cNvSpPr>
            <a:spLocks xmlns:a="http://schemas.openxmlformats.org/drawingml/2006/main" noGrp="1"/>
          </p:cNvSpPr>
          <p:nvPr/>
        </p:nvSpPr>
        <p:spPr>
          <a:xfrm xmlns:a="http://schemas.openxmlformats.org/drawingml/2006/main">
            <a:off x="8001000" y="3857625"/>
            <a:ext cx="314325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C8D6E4"/>
            </a:solidFill>
            <a:prstDash val="solid"/>
          </a:ln>
        </p:spPr>
      </p:sp>
      <p:sp>
        <p:nvSpPr>
          <p:cNvPr id="36" name="">
            <a:extLst xmlns:a="http://schemas.openxmlformats.org/drawingml/2006/main">
              <a:ext uri="{FF2B5EF4-FFF2-40B4-BE49-F238E27FC236}">
                <a16:creationId xmlns:a16="http://schemas.microsoft.com/office/drawing/2014/main" id="{FFE76392-5F4F-4DCD-9AFB-3A322D912EC3}"/>
              </a:ext>
            </a:extLst>
          </p:cNvPr>
          <p:cNvSpPr>
            <a:spLocks xmlns:a="http://schemas.openxmlformats.org/drawingml/2006/main" noGrp="1"/>
          </p:cNvSpPr>
          <p:nvPr/>
        </p:nvSpPr>
        <p:spPr>
          <a:xfrm xmlns:a="http://schemas.openxmlformats.org/drawingml/2006/main">
            <a:off x="8001000" y="3857625"/>
            <a:ext cx="66675" cy="147637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FA7D17-8107-47F8-9086-42E656DB4162}"/>
              </a:ext>
            </a:extLst>
          </p:cNvPr>
          <p:cNvSpPr>
            <a:spLocks xmlns:a="http://schemas.openxmlformats.org/drawingml/2006/main" noGrp="1"/>
          </p:cNvSpPr>
          <p:nvPr/>
        </p:nvSpPr>
        <p:spPr>
          <a:xfrm xmlns:a="http://schemas.openxmlformats.org/drawingml/2006/main">
            <a:off x="8229600" y="40862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Déploiement</a:t>
            </a:r>
          </a:p>
        </p:txBody>
      </p:sp>
      <p:sp>
        <p:nvSpPr>
          <p:cNvPr id="38" name="">
            <a:extLst xmlns:a="http://schemas.openxmlformats.org/drawingml/2006/main">
              <a:ext uri="{FF2B5EF4-FFF2-40B4-BE49-F238E27FC236}">
                <a16:creationId xmlns:a16="http://schemas.microsoft.com/office/drawing/2014/main" id="{B59DCE9E-9C0A-419C-B720-5D34B9EEED46}"/>
              </a:ext>
            </a:extLst>
          </p:cNvPr>
          <p:cNvSpPr>
            <a:spLocks xmlns:a="http://schemas.openxmlformats.org/drawingml/2006/main" noGrp="1"/>
          </p:cNvSpPr>
          <p:nvPr/>
        </p:nvSpPr>
        <p:spPr>
          <a:xfrm xmlns:a="http://schemas.openxmlformats.org/drawingml/2006/main">
            <a:off x="8229600" y="4467225"/>
            <a:ext cx="27241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La solution tourne localement : webcam ou vidéo, base SQLite, email, Telegram optionnel et dashboard Flask.</a:t>
            </a:r>
          </a:p>
        </p:txBody>
      </p:sp>
      <p:sp>
        <p:nvSpPr>
          <p:cNvPr id="39" name="">
            <a:extLst xmlns:a="http://schemas.openxmlformats.org/drawingml/2006/main">
              <a:ext uri="{FF2B5EF4-FFF2-40B4-BE49-F238E27FC236}">
                <a16:creationId xmlns:a16="http://schemas.microsoft.com/office/drawing/2014/main" id="{1B1C6A5D-D20B-4E60-B27B-0251D6076589}"/>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Méthodologie</a:t>
            </a:r>
          </a:p>
        </p:txBody>
      </p:sp>
      <p:sp>
        <p:nvSpPr>
          <p:cNvPr id="40" name="">
            <a:extLst xmlns:a="http://schemas.openxmlformats.org/drawingml/2006/main">
              <a:ext uri="{FF2B5EF4-FFF2-40B4-BE49-F238E27FC236}">
                <a16:creationId xmlns:a16="http://schemas.microsoft.com/office/drawing/2014/main" id="{A6FD8351-D0CF-4EE2-B42B-55B647769707}"/>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6 / 21</a:t>
            </a:r>
          </a:p>
        </p:txBody>
      </p:sp>
    </p:spTree>
    <p:extLst>
      <p:ext uri="{BB962C8B-B14F-4D97-AF65-F5344CB8AC3E}">
        <p14:creationId xmlns:p14="http://schemas.microsoft.com/office/powerpoint/2010/main" val="17229721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070685-0F7D-4CC1-B3F2-B3929579676F}"/>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corpus combine deux mondes visuels</a:t>
            </a:r>
          </a:p>
        </p:txBody>
      </p:sp>
      <p:sp>
        <p:nvSpPr>
          <p:cNvPr id="2" name="">
            <a:extLst xmlns:a="http://schemas.openxmlformats.org/drawingml/2006/main">
              <a:ext uri="{FF2B5EF4-FFF2-40B4-BE49-F238E27FC236}">
                <a16:creationId xmlns:a16="http://schemas.microsoft.com/office/drawing/2014/main" id="{1E6F68C7-3C13-41C1-BB10-9EA7776BA9BB}"/>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5B5A77-8DAD-4A25-81DD-AE510920FF1C}"/>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RLVS est plus contrôlé, RWF-2000 se rapproche davantage de la vidéosurveillance réelle.</a:t>
            </a:r>
          </a:p>
        </p:txBody>
      </p:sp>
      <p:sp>
        <p:nvSpPr>
          <p:cNvPr id="4" name="">
            <a:extLst xmlns:a="http://schemas.openxmlformats.org/drawingml/2006/main">
              <a:ext uri="{FF2B5EF4-FFF2-40B4-BE49-F238E27FC236}">
                <a16:creationId xmlns:a16="http://schemas.microsoft.com/office/drawing/2014/main" id="{A870515A-834E-40B6-BEF9-C55D891EE69D}"/>
              </a:ext>
            </a:extLst>
          </p:cNvPr>
          <p:cNvSpPr>
            <a:spLocks xmlns:a="http://schemas.openxmlformats.org/drawingml/2006/main" noGrp="1"/>
          </p:cNvSpPr>
          <p:nvPr/>
        </p:nvSpPr>
        <p:spPr>
          <a:xfrm xmlns:a="http://schemas.openxmlformats.org/drawingml/2006/main">
            <a:off x="6667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E6A36302-C987-4DE9-9249-A396FC4BC06E}"/>
              </a:ext>
            </a:extLst>
          </p:cNvPr>
          <p:cNvSpPr>
            <a:spLocks xmlns:a="http://schemas.openxmlformats.org/drawingml/2006/main" noGrp="1"/>
          </p:cNvSpPr>
          <p:nvPr/>
        </p:nvSpPr>
        <p:spPr>
          <a:xfrm xmlns:a="http://schemas.openxmlformats.org/drawingml/2006/main">
            <a:off x="7429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Dataset</a:t>
            </a:r>
          </a:p>
        </p:txBody>
      </p:sp>
      <p:sp>
        <p:nvSpPr>
          <p:cNvPr id="6" name="">
            <a:extLst xmlns:a="http://schemas.openxmlformats.org/drawingml/2006/main">
              <a:ext uri="{FF2B5EF4-FFF2-40B4-BE49-F238E27FC236}">
                <a16:creationId xmlns:a16="http://schemas.microsoft.com/office/drawing/2014/main" id="{1F9F0609-91C9-4496-AC10-EF5DFCBCCCB2}"/>
              </a:ext>
            </a:extLst>
          </p:cNvPr>
          <p:cNvSpPr>
            <a:spLocks xmlns:a="http://schemas.openxmlformats.org/drawingml/2006/main" noGrp="1"/>
          </p:cNvSpPr>
          <p:nvPr/>
        </p:nvSpPr>
        <p:spPr>
          <a:xfrm xmlns:a="http://schemas.openxmlformats.org/drawingml/2006/main">
            <a:off x="2095500" y="1619250"/>
            <a:ext cx="11906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5E956CC3-D845-4C44-90B7-8883DDD29A22}"/>
              </a:ext>
            </a:extLst>
          </p:cNvPr>
          <p:cNvSpPr>
            <a:spLocks xmlns:a="http://schemas.openxmlformats.org/drawingml/2006/main" noGrp="1"/>
          </p:cNvSpPr>
          <p:nvPr/>
        </p:nvSpPr>
        <p:spPr>
          <a:xfrm xmlns:a="http://schemas.openxmlformats.org/drawingml/2006/main">
            <a:off x="2171700" y="1714500"/>
            <a:ext cx="103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Violence</a:t>
            </a:r>
          </a:p>
        </p:txBody>
      </p:sp>
      <p:sp>
        <p:nvSpPr>
          <p:cNvPr id="8" name="">
            <a:extLst xmlns:a="http://schemas.openxmlformats.org/drawingml/2006/main">
              <a:ext uri="{FF2B5EF4-FFF2-40B4-BE49-F238E27FC236}">
                <a16:creationId xmlns:a16="http://schemas.microsoft.com/office/drawing/2014/main" id="{8AEEB03E-C2C6-4E0E-BF05-22C5B6E1839B}"/>
              </a:ext>
            </a:extLst>
          </p:cNvPr>
          <p:cNvSpPr>
            <a:spLocks xmlns:a="http://schemas.openxmlformats.org/drawingml/2006/main" noGrp="1"/>
          </p:cNvSpPr>
          <p:nvPr/>
        </p:nvSpPr>
        <p:spPr>
          <a:xfrm xmlns:a="http://schemas.openxmlformats.org/drawingml/2006/main">
            <a:off x="3286125" y="1619250"/>
            <a:ext cx="128587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9F2B2292-6136-449C-B5E3-B83C899116AD}"/>
              </a:ext>
            </a:extLst>
          </p:cNvPr>
          <p:cNvSpPr>
            <a:spLocks xmlns:a="http://schemas.openxmlformats.org/drawingml/2006/main" noGrp="1"/>
          </p:cNvSpPr>
          <p:nvPr/>
        </p:nvSpPr>
        <p:spPr>
          <a:xfrm xmlns:a="http://schemas.openxmlformats.org/drawingml/2006/main">
            <a:off x="3362325" y="171450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Non-violence</a:t>
            </a:r>
          </a:p>
        </p:txBody>
      </p:sp>
      <p:sp>
        <p:nvSpPr>
          <p:cNvPr id="10" name="">
            <a:extLst xmlns:a="http://schemas.openxmlformats.org/drawingml/2006/main">
              <a:ext uri="{FF2B5EF4-FFF2-40B4-BE49-F238E27FC236}">
                <a16:creationId xmlns:a16="http://schemas.microsoft.com/office/drawing/2014/main" id="{AF33739F-4DF5-4A7C-AA1A-131A116CF27D}"/>
              </a:ext>
            </a:extLst>
          </p:cNvPr>
          <p:cNvSpPr>
            <a:spLocks xmlns:a="http://schemas.openxmlformats.org/drawingml/2006/main" noGrp="1"/>
          </p:cNvSpPr>
          <p:nvPr/>
        </p:nvSpPr>
        <p:spPr>
          <a:xfrm xmlns:a="http://schemas.openxmlformats.org/drawingml/2006/main">
            <a:off x="4572000" y="1619250"/>
            <a:ext cx="128587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18E467AC-2C9A-4C55-93AD-87CDB3763ADB}"/>
              </a:ext>
            </a:extLst>
          </p:cNvPr>
          <p:cNvSpPr>
            <a:spLocks xmlns:a="http://schemas.openxmlformats.org/drawingml/2006/main" noGrp="1"/>
          </p:cNvSpPr>
          <p:nvPr/>
        </p:nvSpPr>
        <p:spPr>
          <a:xfrm xmlns:a="http://schemas.openxmlformats.org/drawingml/2006/main">
            <a:off x="4648200" y="171450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Total</a:t>
            </a:r>
          </a:p>
        </p:txBody>
      </p:sp>
      <p:sp>
        <p:nvSpPr>
          <p:cNvPr id="12" name="">
            <a:extLst xmlns:a="http://schemas.openxmlformats.org/drawingml/2006/main">
              <a:ext uri="{FF2B5EF4-FFF2-40B4-BE49-F238E27FC236}">
                <a16:creationId xmlns:a16="http://schemas.microsoft.com/office/drawing/2014/main" id="{5685CA57-85A9-42FD-89C8-8F2B1E1E9781}"/>
              </a:ext>
            </a:extLst>
          </p:cNvPr>
          <p:cNvSpPr>
            <a:spLocks xmlns:a="http://schemas.openxmlformats.org/drawingml/2006/main" noGrp="1"/>
          </p:cNvSpPr>
          <p:nvPr/>
        </p:nvSpPr>
        <p:spPr>
          <a:xfrm xmlns:a="http://schemas.openxmlformats.org/drawingml/2006/main">
            <a:off x="5857875"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360B450E-476C-4B1F-9A48-87837CD94D18}"/>
              </a:ext>
            </a:extLst>
          </p:cNvPr>
          <p:cNvSpPr>
            <a:spLocks xmlns:a="http://schemas.openxmlformats.org/drawingml/2006/main" noGrp="1"/>
          </p:cNvSpPr>
          <p:nvPr/>
        </p:nvSpPr>
        <p:spPr>
          <a:xfrm xmlns:a="http://schemas.openxmlformats.org/drawingml/2006/main">
            <a:off x="5934075"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Style</a:t>
            </a:r>
          </a:p>
        </p:txBody>
      </p:sp>
      <p:sp>
        <p:nvSpPr>
          <p:cNvPr id="14" name="">
            <a:extLst xmlns:a="http://schemas.openxmlformats.org/drawingml/2006/main">
              <a:ext uri="{FF2B5EF4-FFF2-40B4-BE49-F238E27FC236}">
                <a16:creationId xmlns:a16="http://schemas.microsoft.com/office/drawing/2014/main" id="{53AE70E2-597E-431E-8937-E7FE5C45D6AE}"/>
              </a:ext>
            </a:extLst>
          </p:cNvPr>
          <p:cNvSpPr>
            <a:spLocks xmlns:a="http://schemas.openxmlformats.org/drawingml/2006/main" noGrp="1"/>
          </p:cNvSpPr>
          <p:nvPr/>
        </p:nvSpPr>
        <p:spPr>
          <a:xfrm xmlns:a="http://schemas.openxmlformats.org/drawingml/2006/main">
            <a:off x="6667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1E5B72EE-CB94-41A7-9077-305CDD912588}"/>
              </a:ext>
            </a:extLst>
          </p:cNvPr>
          <p:cNvSpPr>
            <a:spLocks xmlns:a="http://schemas.openxmlformats.org/drawingml/2006/main" noGrp="1"/>
          </p:cNvSpPr>
          <p:nvPr/>
        </p:nvSpPr>
        <p:spPr>
          <a:xfrm xmlns:a="http://schemas.openxmlformats.org/drawingml/2006/main">
            <a:off x="7429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a:t>
            </a:r>
          </a:p>
        </p:txBody>
      </p:sp>
      <p:sp>
        <p:nvSpPr>
          <p:cNvPr id="16" name="">
            <a:extLst xmlns:a="http://schemas.openxmlformats.org/drawingml/2006/main">
              <a:ext uri="{FF2B5EF4-FFF2-40B4-BE49-F238E27FC236}">
                <a16:creationId xmlns:a16="http://schemas.microsoft.com/office/drawing/2014/main" id="{5569BCE2-4419-4B9C-B48E-B6BC9B13D61A}"/>
              </a:ext>
            </a:extLst>
          </p:cNvPr>
          <p:cNvSpPr>
            <a:spLocks xmlns:a="http://schemas.openxmlformats.org/drawingml/2006/main" noGrp="1"/>
          </p:cNvSpPr>
          <p:nvPr/>
        </p:nvSpPr>
        <p:spPr>
          <a:xfrm xmlns:a="http://schemas.openxmlformats.org/drawingml/2006/main">
            <a:off x="2095500" y="2133600"/>
            <a:ext cx="11906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0F2FD771-8790-4A47-8C3A-0B2B0DDC43CE}"/>
              </a:ext>
            </a:extLst>
          </p:cNvPr>
          <p:cNvSpPr>
            <a:spLocks xmlns:a="http://schemas.openxmlformats.org/drawingml/2006/main" noGrp="1"/>
          </p:cNvSpPr>
          <p:nvPr/>
        </p:nvSpPr>
        <p:spPr>
          <a:xfrm xmlns:a="http://schemas.openxmlformats.org/drawingml/2006/main">
            <a:off x="2171700" y="2228850"/>
            <a:ext cx="103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18" name="">
            <a:extLst xmlns:a="http://schemas.openxmlformats.org/drawingml/2006/main">
              <a:ext uri="{FF2B5EF4-FFF2-40B4-BE49-F238E27FC236}">
                <a16:creationId xmlns:a16="http://schemas.microsoft.com/office/drawing/2014/main" id="{2E0E1EC8-191F-4641-B3A5-C7B75AD9BC99}"/>
              </a:ext>
            </a:extLst>
          </p:cNvPr>
          <p:cNvSpPr>
            <a:spLocks xmlns:a="http://schemas.openxmlformats.org/drawingml/2006/main" noGrp="1"/>
          </p:cNvSpPr>
          <p:nvPr/>
        </p:nvSpPr>
        <p:spPr>
          <a:xfrm xmlns:a="http://schemas.openxmlformats.org/drawingml/2006/main">
            <a:off x="3286125" y="2133600"/>
            <a:ext cx="128587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D478F3E6-E20F-41F3-B300-5B1815E6044B}"/>
              </a:ext>
            </a:extLst>
          </p:cNvPr>
          <p:cNvSpPr>
            <a:spLocks xmlns:a="http://schemas.openxmlformats.org/drawingml/2006/main" noGrp="1"/>
          </p:cNvSpPr>
          <p:nvPr/>
        </p:nvSpPr>
        <p:spPr>
          <a:xfrm xmlns:a="http://schemas.openxmlformats.org/drawingml/2006/main">
            <a:off x="3362325" y="222885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20" name="">
            <a:extLst xmlns:a="http://schemas.openxmlformats.org/drawingml/2006/main">
              <a:ext uri="{FF2B5EF4-FFF2-40B4-BE49-F238E27FC236}">
                <a16:creationId xmlns:a16="http://schemas.microsoft.com/office/drawing/2014/main" id="{9710B2AE-2FA7-4D78-8B36-A39CA6415C01}"/>
              </a:ext>
            </a:extLst>
          </p:cNvPr>
          <p:cNvSpPr>
            <a:spLocks xmlns:a="http://schemas.openxmlformats.org/drawingml/2006/main" noGrp="1"/>
          </p:cNvSpPr>
          <p:nvPr/>
        </p:nvSpPr>
        <p:spPr>
          <a:xfrm xmlns:a="http://schemas.openxmlformats.org/drawingml/2006/main">
            <a:off x="4572000" y="2133600"/>
            <a:ext cx="128587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8E23F831-B6B7-4A32-8E62-FD0ED5CD87EE}"/>
              </a:ext>
            </a:extLst>
          </p:cNvPr>
          <p:cNvSpPr>
            <a:spLocks xmlns:a="http://schemas.openxmlformats.org/drawingml/2006/main" noGrp="1"/>
          </p:cNvSpPr>
          <p:nvPr/>
        </p:nvSpPr>
        <p:spPr>
          <a:xfrm xmlns:a="http://schemas.openxmlformats.org/drawingml/2006/main">
            <a:off x="4648200" y="222885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2 000</a:t>
            </a:r>
          </a:p>
        </p:txBody>
      </p:sp>
      <p:sp>
        <p:nvSpPr>
          <p:cNvPr id="22" name="">
            <a:extLst xmlns:a="http://schemas.openxmlformats.org/drawingml/2006/main">
              <a:ext uri="{FF2B5EF4-FFF2-40B4-BE49-F238E27FC236}">
                <a16:creationId xmlns:a16="http://schemas.microsoft.com/office/drawing/2014/main" id="{4C63A917-9BCD-45AE-B9F8-6A6865B8137D}"/>
              </a:ext>
            </a:extLst>
          </p:cNvPr>
          <p:cNvSpPr>
            <a:spLocks xmlns:a="http://schemas.openxmlformats.org/drawingml/2006/main" noGrp="1"/>
          </p:cNvSpPr>
          <p:nvPr/>
        </p:nvSpPr>
        <p:spPr>
          <a:xfrm xmlns:a="http://schemas.openxmlformats.org/drawingml/2006/main">
            <a:off x="5857875"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8F372A17-754B-4B6E-842E-A5026984ABC9}"/>
              </a:ext>
            </a:extLst>
          </p:cNvPr>
          <p:cNvSpPr>
            <a:spLocks xmlns:a="http://schemas.openxmlformats.org/drawingml/2006/main" noGrp="1"/>
          </p:cNvSpPr>
          <p:nvPr/>
        </p:nvSpPr>
        <p:spPr>
          <a:xfrm xmlns:a="http://schemas.openxmlformats.org/drawingml/2006/main">
            <a:off x="5934075"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Contrôlé</a:t>
            </a:r>
          </a:p>
        </p:txBody>
      </p:sp>
      <p:sp>
        <p:nvSpPr>
          <p:cNvPr id="24" name="">
            <a:extLst xmlns:a="http://schemas.openxmlformats.org/drawingml/2006/main">
              <a:ext uri="{FF2B5EF4-FFF2-40B4-BE49-F238E27FC236}">
                <a16:creationId xmlns:a16="http://schemas.microsoft.com/office/drawing/2014/main" id="{CB8FEFF6-A727-47D9-BC50-ABC3BBA0BA71}"/>
              </a:ext>
            </a:extLst>
          </p:cNvPr>
          <p:cNvSpPr>
            <a:spLocks xmlns:a="http://schemas.openxmlformats.org/drawingml/2006/main" noGrp="1"/>
          </p:cNvSpPr>
          <p:nvPr/>
        </p:nvSpPr>
        <p:spPr>
          <a:xfrm xmlns:a="http://schemas.openxmlformats.org/drawingml/2006/main">
            <a:off x="6667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33B5660B-D759-4D50-B510-5D7B430A2BAA}"/>
              </a:ext>
            </a:extLst>
          </p:cNvPr>
          <p:cNvSpPr>
            <a:spLocks xmlns:a="http://schemas.openxmlformats.org/drawingml/2006/main" noGrp="1"/>
          </p:cNvSpPr>
          <p:nvPr/>
        </p:nvSpPr>
        <p:spPr>
          <a:xfrm xmlns:a="http://schemas.openxmlformats.org/drawingml/2006/main">
            <a:off x="7429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a:t>
            </a:r>
          </a:p>
        </p:txBody>
      </p:sp>
      <p:sp>
        <p:nvSpPr>
          <p:cNvPr id="26" name="">
            <a:extLst xmlns:a="http://schemas.openxmlformats.org/drawingml/2006/main">
              <a:ext uri="{FF2B5EF4-FFF2-40B4-BE49-F238E27FC236}">
                <a16:creationId xmlns:a16="http://schemas.microsoft.com/office/drawing/2014/main" id="{1BD87A7F-E051-4FA1-8526-22A4CCBA140B}"/>
              </a:ext>
            </a:extLst>
          </p:cNvPr>
          <p:cNvSpPr>
            <a:spLocks xmlns:a="http://schemas.openxmlformats.org/drawingml/2006/main" noGrp="1"/>
          </p:cNvSpPr>
          <p:nvPr/>
        </p:nvSpPr>
        <p:spPr>
          <a:xfrm xmlns:a="http://schemas.openxmlformats.org/drawingml/2006/main">
            <a:off x="2095500" y="2647950"/>
            <a:ext cx="11906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F57BA504-E330-48D3-BC45-A3B960FDCCEC}"/>
              </a:ext>
            </a:extLst>
          </p:cNvPr>
          <p:cNvSpPr>
            <a:spLocks xmlns:a="http://schemas.openxmlformats.org/drawingml/2006/main" noGrp="1"/>
          </p:cNvSpPr>
          <p:nvPr/>
        </p:nvSpPr>
        <p:spPr>
          <a:xfrm xmlns:a="http://schemas.openxmlformats.org/drawingml/2006/main">
            <a:off x="2171700" y="2743200"/>
            <a:ext cx="103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991</a:t>
            </a:r>
          </a:p>
        </p:txBody>
      </p:sp>
      <p:sp>
        <p:nvSpPr>
          <p:cNvPr id="28" name="">
            <a:extLst xmlns:a="http://schemas.openxmlformats.org/drawingml/2006/main">
              <a:ext uri="{FF2B5EF4-FFF2-40B4-BE49-F238E27FC236}">
                <a16:creationId xmlns:a16="http://schemas.microsoft.com/office/drawing/2014/main" id="{721D286D-589E-41E3-A10F-1C7FCE56A37F}"/>
              </a:ext>
            </a:extLst>
          </p:cNvPr>
          <p:cNvSpPr>
            <a:spLocks xmlns:a="http://schemas.openxmlformats.org/drawingml/2006/main" noGrp="1"/>
          </p:cNvSpPr>
          <p:nvPr/>
        </p:nvSpPr>
        <p:spPr>
          <a:xfrm xmlns:a="http://schemas.openxmlformats.org/drawingml/2006/main">
            <a:off x="3286125" y="2647950"/>
            <a:ext cx="128587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6CFA1F15-48E9-4151-B8CB-D697A0683D82}"/>
              </a:ext>
            </a:extLst>
          </p:cNvPr>
          <p:cNvSpPr>
            <a:spLocks xmlns:a="http://schemas.openxmlformats.org/drawingml/2006/main" noGrp="1"/>
          </p:cNvSpPr>
          <p:nvPr/>
        </p:nvSpPr>
        <p:spPr>
          <a:xfrm xmlns:a="http://schemas.openxmlformats.org/drawingml/2006/main">
            <a:off x="3362325" y="274320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30" name="">
            <a:extLst xmlns:a="http://schemas.openxmlformats.org/drawingml/2006/main">
              <a:ext uri="{FF2B5EF4-FFF2-40B4-BE49-F238E27FC236}">
                <a16:creationId xmlns:a16="http://schemas.microsoft.com/office/drawing/2014/main" id="{2861CE46-E79B-4304-A312-1B18D1DEB49A}"/>
              </a:ext>
            </a:extLst>
          </p:cNvPr>
          <p:cNvSpPr>
            <a:spLocks xmlns:a="http://schemas.openxmlformats.org/drawingml/2006/main" noGrp="1"/>
          </p:cNvSpPr>
          <p:nvPr/>
        </p:nvSpPr>
        <p:spPr>
          <a:xfrm xmlns:a="http://schemas.openxmlformats.org/drawingml/2006/main">
            <a:off x="4572000" y="2647950"/>
            <a:ext cx="128587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EFD50E4C-D451-499E-91A5-674E90BE141E}"/>
              </a:ext>
            </a:extLst>
          </p:cNvPr>
          <p:cNvSpPr>
            <a:spLocks xmlns:a="http://schemas.openxmlformats.org/drawingml/2006/main" noGrp="1"/>
          </p:cNvSpPr>
          <p:nvPr/>
        </p:nvSpPr>
        <p:spPr>
          <a:xfrm xmlns:a="http://schemas.openxmlformats.org/drawingml/2006/main">
            <a:off x="4648200" y="274320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1 991</a:t>
            </a:r>
          </a:p>
        </p:txBody>
      </p:sp>
      <p:sp>
        <p:nvSpPr>
          <p:cNvPr id="32" name="">
            <a:extLst xmlns:a="http://schemas.openxmlformats.org/drawingml/2006/main">
              <a:ext uri="{FF2B5EF4-FFF2-40B4-BE49-F238E27FC236}">
                <a16:creationId xmlns:a16="http://schemas.microsoft.com/office/drawing/2014/main" id="{6B08FEC2-C234-4F4F-86D4-E12AFC7BC7E7}"/>
              </a:ext>
            </a:extLst>
          </p:cNvPr>
          <p:cNvSpPr>
            <a:spLocks xmlns:a="http://schemas.openxmlformats.org/drawingml/2006/main" noGrp="1"/>
          </p:cNvSpPr>
          <p:nvPr/>
        </p:nvSpPr>
        <p:spPr>
          <a:xfrm xmlns:a="http://schemas.openxmlformats.org/drawingml/2006/main">
            <a:off x="5857875"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2F72EF4C-5E21-4F5B-A471-334F46F01B46}"/>
              </a:ext>
            </a:extLst>
          </p:cNvPr>
          <p:cNvSpPr>
            <a:spLocks xmlns:a="http://schemas.openxmlformats.org/drawingml/2006/main" noGrp="1"/>
          </p:cNvSpPr>
          <p:nvPr/>
        </p:nvSpPr>
        <p:spPr>
          <a:xfrm xmlns:a="http://schemas.openxmlformats.org/drawingml/2006/main">
            <a:off x="5934075"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CCTV réel</a:t>
            </a:r>
          </a:p>
        </p:txBody>
      </p:sp>
      <p:sp>
        <p:nvSpPr>
          <p:cNvPr id="34" name="">
            <a:extLst xmlns:a="http://schemas.openxmlformats.org/drawingml/2006/main">
              <a:ext uri="{FF2B5EF4-FFF2-40B4-BE49-F238E27FC236}">
                <a16:creationId xmlns:a16="http://schemas.microsoft.com/office/drawing/2014/main" id="{EAADDA39-7F04-4ABD-A314-5321C9A30CF8}"/>
              </a:ext>
            </a:extLst>
          </p:cNvPr>
          <p:cNvSpPr>
            <a:spLocks xmlns:a="http://schemas.openxmlformats.org/drawingml/2006/main" noGrp="1"/>
          </p:cNvSpPr>
          <p:nvPr/>
        </p:nvSpPr>
        <p:spPr>
          <a:xfrm xmlns:a="http://schemas.openxmlformats.org/drawingml/2006/main">
            <a:off x="666750" y="31623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551F75CC-7D53-4EFF-AB7E-D25DF48D708C}"/>
              </a:ext>
            </a:extLst>
          </p:cNvPr>
          <p:cNvSpPr>
            <a:spLocks xmlns:a="http://schemas.openxmlformats.org/drawingml/2006/main" noGrp="1"/>
          </p:cNvSpPr>
          <p:nvPr/>
        </p:nvSpPr>
        <p:spPr>
          <a:xfrm xmlns:a="http://schemas.openxmlformats.org/drawingml/2006/main">
            <a:off x="742950" y="32575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Total</a:t>
            </a:r>
          </a:p>
        </p:txBody>
      </p:sp>
      <p:sp>
        <p:nvSpPr>
          <p:cNvPr id="36" name="">
            <a:extLst xmlns:a="http://schemas.openxmlformats.org/drawingml/2006/main">
              <a:ext uri="{FF2B5EF4-FFF2-40B4-BE49-F238E27FC236}">
                <a16:creationId xmlns:a16="http://schemas.microsoft.com/office/drawing/2014/main" id="{F3DABDDF-58A7-43AB-B4BF-3FB778AD6FD1}"/>
              </a:ext>
            </a:extLst>
          </p:cNvPr>
          <p:cNvSpPr>
            <a:spLocks xmlns:a="http://schemas.openxmlformats.org/drawingml/2006/main" noGrp="1"/>
          </p:cNvSpPr>
          <p:nvPr/>
        </p:nvSpPr>
        <p:spPr>
          <a:xfrm xmlns:a="http://schemas.openxmlformats.org/drawingml/2006/main">
            <a:off x="2095500" y="3162300"/>
            <a:ext cx="11906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388D7178-C403-4ECD-A218-749D440161F8}"/>
              </a:ext>
            </a:extLst>
          </p:cNvPr>
          <p:cNvSpPr>
            <a:spLocks xmlns:a="http://schemas.openxmlformats.org/drawingml/2006/main" noGrp="1"/>
          </p:cNvSpPr>
          <p:nvPr/>
        </p:nvSpPr>
        <p:spPr>
          <a:xfrm xmlns:a="http://schemas.openxmlformats.org/drawingml/2006/main">
            <a:off x="2171700" y="3257550"/>
            <a:ext cx="103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1 991</a:t>
            </a:r>
          </a:p>
        </p:txBody>
      </p:sp>
      <p:sp>
        <p:nvSpPr>
          <p:cNvPr id="38" name="">
            <a:extLst xmlns:a="http://schemas.openxmlformats.org/drawingml/2006/main">
              <a:ext uri="{FF2B5EF4-FFF2-40B4-BE49-F238E27FC236}">
                <a16:creationId xmlns:a16="http://schemas.microsoft.com/office/drawing/2014/main" id="{FC4A0677-2D1F-4555-BC54-0F36B66867F5}"/>
              </a:ext>
            </a:extLst>
          </p:cNvPr>
          <p:cNvSpPr>
            <a:spLocks xmlns:a="http://schemas.openxmlformats.org/drawingml/2006/main" noGrp="1"/>
          </p:cNvSpPr>
          <p:nvPr/>
        </p:nvSpPr>
        <p:spPr>
          <a:xfrm xmlns:a="http://schemas.openxmlformats.org/drawingml/2006/main">
            <a:off x="3286125" y="3162300"/>
            <a:ext cx="128587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320472DD-2664-48B2-8CAE-0C2834DDD6D5}"/>
              </a:ext>
            </a:extLst>
          </p:cNvPr>
          <p:cNvSpPr>
            <a:spLocks xmlns:a="http://schemas.openxmlformats.org/drawingml/2006/main" noGrp="1"/>
          </p:cNvSpPr>
          <p:nvPr/>
        </p:nvSpPr>
        <p:spPr>
          <a:xfrm xmlns:a="http://schemas.openxmlformats.org/drawingml/2006/main">
            <a:off x="3362325" y="325755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2 000</a:t>
            </a:r>
          </a:p>
        </p:txBody>
      </p:sp>
      <p:sp>
        <p:nvSpPr>
          <p:cNvPr id="40" name="">
            <a:extLst xmlns:a="http://schemas.openxmlformats.org/drawingml/2006/main">
              <a:ext uri="{FF2B5EF4-FFF2-40B4-BE49-F238E27FC236}">
                <a16:creationId xmlns:a16="http://schemas.microsoft.com/office/drawing/2014/main" id="{36C6E26C-07A4-4550-89A6-DACF41F2F9EC}"/>
              </a:ext>
            </a:extLst>
          </p:cNvPr>
          <p:cNvSpPr>
            <a:spLocks xmlns:a="http://schemas.openxmlformats.org/drawingml/2006/main" noGrp="1"/>
          </p:cNvSpPr>
          <p:nvPr/>
        </p:nvSpPr>
        <p:spPr>
          <a:xfrm xmlns:a="http://schemas.openxmlformats.org/drawingml/2006/main">
            <a:off x="4572000" y="3162300"/>
            <a:ext cx="128587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1" name="">
            <a:extLst xmlns:a="http://schemas.openxmlformats.org/drawingml/2006/main">
              <a:ext uri="{FF2B5EF4-FFF2-40B4-BE49-F238E27FC236}">
                <a16:creationId xmlns:a16="http://schemas.microsoft.com/office/drawing/2014/main" id="{B5994942-29E0-4173-BBC2-D55A3FF5A1FA}"/>
              </a:ext>
            </a:extLst>
          </p:cNvPr>
          <p:cNvSpPr>
            <a:spLocks xmlns:a="http://schemas.openxmlformats.org/drawingml/2006/main" noGrp="1"/>
          </p:cNvSpPr>
          <p:nvPr/>
        </p:nvSpPr>
        <p:spPr>
          <a:xfrm xmlns:a="http://schemas.openxmlformats.org/drawingml/2006/main">
            <a:off x="4648200" y="3257550"/>
            <a:ext cx="1133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3 991</a:t>
            </a:r>
          </a:p>
        </p:txBody>
      </p:sp>
      <p:sp>
        <p:nvSpPr>
          <p:cNvPr id="42" name="">
            <a:extLst xmlns:a="http://schemas.openxmlformats.org/drawingml/2006/main">
              <a:ext uri="{FF2B5EF4-FFF2-40B4-BE49-F238E27FC236}">
                <a16:creationId xmlns:a16="http://schemas.microsoft.com/office/drawing/2014/main" id="{2A8366B5-D0D1-4F60-A939-634EB0D874B1}"/>
              </a:ext>
            </a:extLst>
          </p:cNvPr>
          <p:cNvSpPr>
            <a:spLocks xmlns:a="http://schemas.openxmlformats.org/drawingml/2006/main" noGrp="1"/>
          </p:cNvSpPr>
          <p:nvPr/>
        </p:nvSpPr>
        <p:spPr>
          <a:xfrm xmlns:a="http://schemas.openxmlformats.org/drawingml/2006/main">
            <a:off x="5857875"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3" name="">
            <a:extLst xmlns:a="http://schemas.openxmlformats.org/drawingml/2006/main">
              <a:ext uri="{FF2B5EF4-FFF2-40B4-BE49-F238E27FC236}">
                <a16:creationId xmlns:a16="http://schemas.microsoft.com/office/drawing/2014/main" id="{20091981-C725-44F5-8192-6CEF7875FCBE}"/>
              </a:ext>
            </a:extLst>
          </p:cNvPr>
          <p:cNvSpPr>
            <a:spLocks xmlns:a="http://schemas.openxmlformats.org/drawingml/2006/main" noGrp="1"/>
          </p:cNvSpPr>
          <p:nvPr/>
        </p:nvSpPr>
        <p:spPr>
          <a:xfrm xmlns:a="http://schemas.openxmlformats.org/drawingml/2006/main">
            <a:off x="5934075"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Équilibré</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cca6e752931b41aa"/>
          <a:stretch xmlns:a="http://schemas.openxmlformats.org/drawingml/2006/main"/>
        </p:blipFill>
        <p:spPr>
          <a:xfrm xmlns:a="http://schemas.openxmlformats.org/drawingml/2006/main">
            <a:off x="7762875" y="1775282"/>
            <a:ext cx="3238500" cy="1840586"/>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8FE931B7-9A7A-49A1-B7CE-6D53D4BDAD01}"/>
              </a:ext>
            </a:extLst>
          </p:cNvPr>
          <p:cNvSpPr>
            <a:spLocks xmlns:a="http://schemas.openxmlformats.org/drawingml/2006/main" noGrp="1"/>
          </p:cNvSpPr>
          <p:nvPr/>
        </p:nvSpPr>
        <p:spPr>
          <a:xfrm xmlns:a="http://schemas.openxmlformats.org/drawingml/2006/main">
            <a:off x="952500"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46" name="">
            <a:extLst xmlns:a="http://schemas.openxmlformats.org/drawingml/2006/main">
              <a:ext uri="{FF2B5EF4-FFF2-40B4-BE49-F238E27FC236}">
                <a16:creationId xmlns:a16="http://schemas.microsoft.com/office/drawing/2014/main" id="{3352A0DC-60E8-4D8F-9822-1AB7530F7B1C}"/>
              </a:ext>
            </a:extLst>
          </p:cNvPr>
          <p:cNvSpPr>
            <a:spLocks xmlns:a="http://schemas.openxmlformats.org/drawingml/2006/main" noGrp="1"/>
          </p:cNvSpPr>
          <p:nvPr/>
        </p:nvSpPr>
        <p:spPr>
          <a:xfrm xmlns:a="http://schemas.openxmlformats.org/drawingml/2006/main">
            <a:off x="1123950"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2 793</a:t>
            </a:r>
          </a:p>
        </p:txBody>
      </p:sp>
      <p:sp>
        <p:nvSpPr>
          <p:cNvPr id="47" name="">
            <a:extLst xmlns:a="http://schemas.openxmlformats.org/drawingml/2006/main">
              <a:ext uri="{FF2B5EF4-FFF2-40B4-BE49-F238E27FC236}">
                <a16:creationId xmlns:a16="http://schemas.microsoft.com/office/drawing/2014/main" id="{32DD5E68-AF3D-4A78-B443-B6BEF1F96C21}"/>
              </a:ext>
            </a:extLst>
          </p:cNvPr>
          <p:cNvSpPr>
            <a:spLocks xmlns:a="http://schemas.openxmlformats.org/drawingml/2006/main" noGrp="1"/>
          </p:cNvSpPr>
          <p:nvPr/>
        </p:nvSpPr>
        <p:spPr>
          <a:xfrm xmlns:a="http://schemas.openxmlformats.org/drawingml/2006/main">
            <a:off x="1123950"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Entraînement</a:t>
            </a:r>
          </a:p>
        </p:txBody>
      </p:sp>
      <p:sp>
        <p:nvSpPr>
          <p:cNvPr id="48" name="">
            <a:extLst xmlns:a="http://schemas.openxmlformats.org/drawingml/2006/main">
              <a:ext uri="{FF2B5EF4-FFF2-40B4-BE49-F238E27FC236}">
                <a16:creationId xmlns:a16="http://schemas.microsoft.com/office/drawing/2014/main" id="{DB401417-6F8A-4FA3-98B5-6B8F1C701B5E}"/>
              </a:ext>
            </a:extLst>
          </p:cNvPr>
          <p:cNvSpPr>
            <a:spLocks xmlns:a="http://schemas.openxmlformats.org/drawingml/2006/main" noGrp="1"/>
          </p:cNvSpPr>
          <p:nvPr/>
        </p:nvSpPr>
        <p:spPr>
          <a:xfrm xmlns:a="http://schemas.openxmlformats.org/drawingml/2006/main">
            <a:off x="1123950"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49" name="">
            <a:extLst xmlns:a="http://schemas.openxmlformats.org/drawingml/2006/main">
              <a:ext uri="{FF2B5EF4-FFF2-40B4-BE49-F238E27FC236}">
                <a16:creationId xmlns:a16="http://schemas.microsoft.com/office/drawing/2014/main" id="{BCAC0327-11A8-4CBD-9A5A-70F6534B2F82}"/>
              </a:ext>
            </a:extLst>
          </p:cNvPr>
          <p:cNvSpPr>
            <a:spLocks xmlns:a="http://schemas.openxmlformats.org/drawingml/2006/main" noGrp="1"/>
          </p:cNvSpPr>
          <p:nvPr/>
        </p:nvSpPr>
        <p:spPr>
          <a:xfrm xmlns:a="http://schemas.openxmlformats.org/drawingml/2006/main">
            <a:off x="3095625"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0" name="">
            <a:extLst xmlns:a="http://schemas.openxmlformats.org/drawingml/2006/main">
              <a:ext uri="{FF2B5EF4-FFF2-40B4-BE49-F238E27FC236}">
                <a16:creationId xmlns:a16="http://schemas.microsoft.com/office/drawing/2014/main" id="{B4E48363-AF96-4286-8EDD-1126769D7FE1}"/>
              </a:ext>
            </a:extLst>
          </p:cNvPr>
          <p:cNvSpPr>
            <a:spLocks xmlns:a="http://schemas.openxmlformats.org/drawingml/2006/main" noGrp="1"/>
          </p:cNvSpPr>
          <p:nvPr/>
        </p:nvSpPr>
        <p:spPr>
          <a:xfrm xmlns:a="http://schemas.openxmlformats.org/drawingml/2006/main">
            <a:off x="3267075"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599</a:t>
            </a:r>
          </a:p>
        </p:txBody>
      </p:sp>
      <p:sp>
        <p:nvSpPr>
          <p:cNvPr id="51" name="">
            <a:extLst xmlns:a="http://schemas.openxmlformats.org/drawingml/2006/main">
              <a:ext uri="{FF2B5EF4-FFF2-40B4-BE49-F238E27FC236}">
                <a16:creationId xmlns:a16="http://schemas.microsoft.com/office/drawing/2014/main" id="{9170DDB8-E047-4E03-9C18-28C3F5FD933F}"/>
              </a:ext>
            </a:extLst>
          </p:cNvPr>
          <p:cNvSpPr>
            <a:spLocks xmlns:a="http://schemas.openxmlformats.org/drawingml/2006/main" noGrp="1"/>
          </p:cNvSpPr>
          <p:nvPr/>
        </p:nvSpPr>
        <p:spPr>
          <a:xfrm xmlns:a="http://schemas.openxmlformats.org/drawingml/2006/main">
            <a:off x="3267075"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Validation</a:t>
            </a:r>
          </a:p>
        </p:txBody>
      </p:sp>
      <p:sp>
        <p:nvSpPr>
          <p:cNvPr id="52" name="">
            <a:extLst xmlns:a="http://schemas.openxmlformats.org/drawingml/2006/main">
              <a:ext uri="{FF2B5EF4-FFF2-40B4-BE49-F238E27FC236}">
                <a16:creationId xmlns:a16="http://schemas.microsoft.com/office/drawing/2014/main" id="{5748E1A7-FCB5-46ED-8E1C-25CC83AAE919}"/>
              </a:ext>
            </a:extLst>
          </p:cNvPr>
          <p:cNvSpPr>
            <a:spLocks xmlns:a="http://schemas.openxmlformats.org/drawingml/2006/main" noGrp="1"/>
          </p:cNvSpPr>
          <p:nvPr/>
        </p:nvSpPr>
        <p:spPr>
          <a:xfrm xmlns:a="http://schemas.openxmlformats.org/drawingml/2006/main">
            <a:off x="3267075"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53" name="">
            <a:extLst xmlns:a="http://schemas.openxmlformats.org/drawingml/2006/main">
              <a:ext uri="{FF2B5EF4-FFF2-40B4-BE49-F238E27FC236}">
                <a16:creationId xmlns:a16="http://schemas.microsoft.com/office/drawing/2014/main" id="{9BB431D7-EABB-4D41-8306-9ADB4A73B0C7}"/>
              </a:ext>
            </a:extLst>
          </p:cNvPr>
          <p:cNvSpPr>
            <a:spLocks xmlns:a="http://schemas.openxmlformats.org/drawingml/2006/main" noGrp="1"/>
          </p:cNvSpPr>
          <p:nvPr/>
        </p:nvSpPr>
        <p:spPr>
          <a:xfrm xmlns:a="http://schemas.openxmlformats.org/drawingml/2006/main">
            <a:off x="5238750"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4" name="">
            <a:extLst xmlns:a="http://schemas.openxmlformats.org/drawingml/2006/main">
              <a:ext uri="{FF2B5EF4-FFF2-40B4-BE49-F238E27FC236}">
                <a16:creationId xmlns:a16="http://schemas.microsoft.com/office/drawing/2014/main" id="{F623C9AB-6AC5-4D9F-969A-C56E6810177B}"/>
              </a:ext>
            </a:extLst>
          </p:cNvPr>
          <p:cNvSpPr>
            <a:spLocks xmlns:a="http://schemas.openxmlformats.org/drawingml/2006/main" noGrp="1"/>
          </p:cNvSpPr>
          <p:nvPr/>
        </p:nvSpPr>
        <p:spPr>
          <a:xfrm xmlns:a="http://schemas.openxmlformats.org/drawingml/2006/main">
            <a:off x="5410200"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599</a:t>
            </a:r>
          </a:p>
        </p:txBody>
      </p:sp>
      <p:sp>
        <p:nvSpPr>
          <p:cNvPr id="55" name="">
            <a:extLst xmlns:a="http://schemas.openxmlformats.org/drawingml/2006/main">
              <a:ext uri="{FF2B5EF4-FFF2-40B4-BE49-F238E27FC236}">
                <a16:creationId xmlns:a16="http://schemas.microsoft.com/office/drawing/2014/main" id="{3ABE873A-3988-402C-8166-9BC2FD46AA59}"/>
              </a:ext>
            </a:extLst>
          </p:cNvPr>
          <p:cNvSpPr>
            <a:spLocks xmlns:a="http://schemas.openxmlformats.org/drawingml/2006/main" noGrp="1"/>
          </p:cNvSpPr>
          <p:nvPr/>
        </p:nvSpPr>
        <p:spPr>
          <a:xfrm xmlns:a="http://schemas.openxmlformats.org/drawingml/2006/main">
            <a:off x="5410200"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Test</a:t>
            </a:r>
          </a:p>
        </p:txBody>
      </p:sp>
      <p:sp>
        <p:nvSpPr>
          <p:cNvPr id="56" name="">
            <a:extLst xmlns:a="http://schemas.openxmlformats.org/drawingml/2006/main">
              <a:ext uri="{FF2B5EF4-FFF2-40B4-BE49-F238E27FC236}">
                <a16:creationId xmlns:a16="http://schemas.microsoft.com/office/drawing/2014/main" id="{99E4B4A0-6E00-4240-99AC-E6FF13B2187E}"/>
              </a:ext>
            </a:extLst>
          </p:cNvPr>
          <p:cNvSpPr>
            <a:spLocks xmlns:a="http://schemas.openxmlformats.org/drawingml/2006/main" noGrp="1"/>
          </p:cNvSpPr>
          <p:nvPr/>
        </p:nvSpPr>
        <p:spPr>
          <a:xfrm xmlns:a="http://schemas.openxmlformats.org/drawingml/2006/main">
            <a:off x="5410200"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57" name="">
            <a:extLst xmlns:a="http://schemas.openxmlformats.org/drawingml/2006/main">
              <a:ext uri="{FF2B5EF4-FFF2-40B4-BE49-F238E27FC236}">
                <a16:creationId xmlns:a16="http://schemas.microsoft.com/office/drawing/2014/main" id="{FE842ADE-4879-4719-A7B5-459B8F11387C}"/>
              </a:ext>
            </a:extLst>
          </p:cNvPr>
          <p:cNvSpPr>
            <a:spLocks xmlns:a="http://schemas.openxmlformats.org/drawingml/2006/main" noGrp="1"/>
          </p:cNvSpPr>
          <p:nvPr/>
        </p:nvSpPr>
        <p:spPr>
          <a:xfrm xmlns:a="http://schemas.openxmlformats.org/drawingml/2006/main">
            <a:off x="7620000" y="4476750"/>
            <a:ext cx="3429000" cy="1028700"/>
          </a:xfrm>
          <a:prstGeom xmlns:a="http://schemas.openxmlformats.org/drawingml/2006/main" prst="roundRect">
            <a:avLst>
              <a:gd name="adj" fmla="val 7407"/>
            </a:avLst>
          </a:prstGeom>
          <a:solidFill xmlns:a="http://schemas.openxmlformats.org/drawingml/2006/main">
            <a:srgbClr val="EEF5FA"/>
          </a:solidFill>
          <a:ln xmlns:a="http://schemas.openxmlformats.org/drawingml/2006/main" w="9525">
            <a:solidFill>
              <a:srgbClr val="C8D6E4"/>
            </a:solidFill>
            <a:prstDash val="solid"/>
          </a:ln>
        </p:spPr>
      </p:sp>
      <p:sp>
        <p:nvSpPr>
          <p:cNvPr id="58" name="">
            <a:extLst xmlns:a="http://schemas.openxmlformats.org/drawingml/2006/main">
              <a:ext uri="{FF2B5EF4-FFF2-40B4-BE49-F238E27FC236}">
                <a16:creationId xmlns:a16="http://schemas.microsoft.com/office/drawing/2014/main" id="{4B31DEDC-36D1-4F4B-ADE3-054735AAAC8E}"/>
              </a:ext>
            </a:extLst>
          </p:cNvPr>
          <p:cNvSpPr>
            <a:spLocks xmlns:a="http://schemas.openxmlformats.org/drawingml/2006/main" noGrp="1"/>
          </p:cNvSpPr>
          <p:nvPr/>
        </p:nvSpPr>
        <p:spPr>
          <a:xfrm xmlns:a="http://schemas.openxmlformats.org/drawingml/2006/main">
            <a:off x="7858125" y="4667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Protocole</a:t>
            </a:r>
          </a:p>
        </p:txBody>
      </p:sp>
      <p:sp>
        <p:nvSpPr>
          <p:cNvPr id="59" name="">
            <a:extLst xmlns:a="http://schemas.openxmlformats.org/drawingml/2006/main">
              <a:ext uri="{FF2B5EF4-FFF2-40B4-BE49-F238E27FC236}">
                <a16:creationId xmlns:a16="http://schemas.microsoft.com/office/drawing/2014/main" id="{1E57B327-612B-4F25-9A05-0946520B9EB0}"/>
              </a:ext>
            </a:extLst>
          </p:cNvPr>
          <p:cNvSpPr>
            <a:spLocks xmlns:a="http://schemas.openxmlformats.org/drawingml/2006/main" noGrp="1"/>
          </p:cNvSpPr>
          <p:nvPr/>
        </p:nvSpPr>
        <p:spPr>
          <a:xfrm xmlns:a="http://schemas.openxmlformats.org/drawingml/2006/main">
            <a:off x="7858125" y="4953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02033"/>
                </a:solidFill>
              </a:defRPr>
            </a:pPr>
            <a:r>
              <a:rPr sz="1050" b="0" i="0">
                <a:solidFill>
                  <a:srgbClr val="102033"/>
                </a:solidFill>
              </a:rPr>
              <a:t>N = 20 frames, K = 5, θ = 0,50. Split stratifié avec seed = 42 pour garder l’équilibre entre violence et non-violence.</a:t>
            </a:r>
          </a:p>
        </p:txBody>
      </p:sp>
      <p:sp>
        <p:nvSpPr>
          <p:cNvPr id="60" name="">
            <a:extLst xmlns:a="http://schemas.openxmlformats.org/drawingml/2006/main">
              <a:ext uri="{FF2B5EF4-FFF2-40B4-BE49-F238E27FC236}">
                <a16:creationId xmlns:a16="http://schemas.microsoft.com/office/drawing/2014/main" id="{622A9ED3-58CE-4A12-A338-59B7EB0E4A8B}"/>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Données et protocole</a:t>
            </a:r>
          </a:p>
        </p:txBody>
      </p:sp>
      <p:sp>
        <p:nvSpPr>
          <p:cNvPr id="61" name="">
            <a:extLst xmlns:a="http://schemas.openxmlformats.org/drawingml/2006/main">
              <a:ext uri="{FF2B5EF4-FFF2-40B4-BE49-F238E27FC236}">
                <a16:creationId xmlns:a16="http://schemas.microsoft.com/office/drawing/2014/main" id="{88ADD3D1-D063-4073-8D97-DAB400350F4F}"/>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7 / 21</a:t>
            </a:r>
          </a:p>
        </p:txBody>
      </p:sp>
    </p:spTree>
    <p:extLst>
      <p:ext uri="{BB962C8B-B14F-4D97-AF65-F5344CB8AC3E}">
        <p14:creationId xmlns:p14="http://schemas.microsoft.com/office/powerpoint/2010/main" val="12616435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7B5965-68E7-448D-B6AB-08A600D5C7F8}"/>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outils ont été choisis pour rester local, léger et reproductible</a:t>
            </a:r>
          </a:p>
        </p:txBody>
      </p:sp>
      <p:sp>
        <p:nvSpPr>
          <p:cNvPr id="2" name="">
            <a:extLst xmlns:a="http://schemas.openxmlformats.org/drawingml/2006/main">
              <a:ext uri="{FF2B5EF4-FFF2-40B4-BE49-F238E27FC236}">
                <a16:creationId xmlns:a16="http://schemas.microsoft.com/office/drawing/2014/main" id="{D4105033-E278-4656-93F4-870DC6CE953A}"/>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04DC18-0CF3-47EE-B354-ADCED8BAF2F4}"/>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choix technique sert la contrainte principale : fonctionner sans infrastructure cloud.</a:t>
            </a:r>
          </a:p>
        </p:txBody>
      </p:sp>
      <p:sp>
        <p:nvSpPr>
          <p:cNvPr id="4" name="">
            <a:extLst xmlns:a="http://schemas.openxmlformats.org/drawingml/2006/main">
              <a:ext uri="{FF2B5EF4-FFF2-40B4-BE49-F238E27FC236}">
                <a16:creationId xmlns:a16="http://schemas.microsoft.com/office/drawing/2014/main" id="{EBB59AA2-B7A4-4496-837F-77392CB01D71}"/>
              </a:ext>
            </a:extLst>
          </p:cNvPr>
          <p:cNvSpPr>
            <a:spLocks xmlns:a="http://schemas.openxmlformats.org/drawingml/2006/main" noGrp="1"/>
          </p:cNvSpPr>
          <p:nvPr/>
        </p:nvSpPr>
        <p:spPr>
          <a:xfrm xmlns:a="http://schemas.openxmlformats.org/drawingml/2006/main">
            <a:off x="762000" y="1666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EA4FFCDB-1BD5-42AF-9050-449DF8C9716E}"/>
              </a:ext>
            </a:extLst>
          </p:cNvPr>
          <p:cNvSpPr>
            <a:spLocks xmlns:a="http://schemas.openxmlformats.org/drawingml/2006/main" noGrp="1"/>
          </p:cNvSpPr>
          <p:nvPr/>
        </p:nvSpPr>
        <p:spPr>
          <a:xfrm xmlns:a="http://schemas.openxmlformats.org/drawingml/2006/main">
            <a:off x="971550" y="1819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Python</a:t>
            </a:r>
          </a:p>
        </p:txBody>
      </p:sp>
      <p:sp>
        <p:nvSpPr>
          <p:cNvPr id="6" name="">
            <a:extLst xmlns:a="http://schemas.openxmlformats.org/drawingml/2006/main">
              <a:ext uri="{FF2B5EF4-FFF2-40B4-BE49-F238E27FC236}">
                <a16:creationId xmlns:a16="http://schemas.microsoft.com/office/drawing/2014/main" id="{7B828EFD-7D0B-46D8-9F00-2408FB5F4AA8}"/>
              </a:ext>
            </a:extLst>
          </p:cNvPr>
          <p:cNvSpPr>
            <a:spLocks xmlns:a="http://schemas.openxmlformats.org/drawingml/2006/main" noGrp="1"/>
          </p:cNvSpPr>
          <p:nvPr/>
        </p:nvSpPr>
        <p:spPr>
          <a:xfrm xmlns:a="http://schemas.openxmlformats.org/drawingml/2006/main">
            <a:off x="2552700" y="1809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Langage principal</a:t>
            </a:r>
          </a:p>
        </p:txBody>
      </p:sp>
      <p:sp>
        <p:nvSpPr>
          <p:cNvPr id="7" name="">
            <a:extLst xmlns:a="http://schemas.openxmlformats.org/drawingml/2006/main">
              <a:ext uri="{FF2B5EF4-FFF2-40B4-BE49-F238E27FC236}">
                <a16:creationId xmlns:a16="http://schemas.microsoft.com/office/drawing/2014/main" id="{0ECF139B-FBD4-4384-A019-F870DC1F0849}"/>
              </a:ext>
            </a:extLst>
          </p:cNvPr>
          <p:cNvSpPr>
            <a:spLocks xmlns:a="http://schemas.openxmlformats.org/drawingml/2006/main" noGrp="1"/>
          </p:cNvSpPr>
          <p:nvPr/>
        </p:nvSpPr>
        <p:spPr>
          <a:xfrm xmlns:a="http://schemas.openxmlformats.org/drawingml/2006/main">
            <a:off x="25527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Écosystème IA et vision très riche</a:t>
            </a:r>
          </a:p>
        </p:txBody>
      </p:sp>
      <p:sp>
        <p:nvSpPr>
          <p:cNvPr id="8" name="">
            <a:extLst xmlns:a="http://schemas.openxmlformats.org/drawingml/2006/main">
              <a:ext uri="{FF2B5EF4-FFF2-40B4-BE49-F238E27FC236}">
                <a16:creationId xmlns:a16="http://schemas.microsoft.com/office/drawing/2014/main" id="{F365192A-CCBF-4FCA-84B2-21A6E31002E7}"/>
              </a:ext>
            </a:extLst>
          </p:cNvPr>
          <p:cNvSpPr>
            <a:spLocks xmlns:a="http://schemas.openxmlformats.org/drawingml/2006/main" noGrp="1"/>
          </p:cNvSpPr>
          <p:nvPr/>
        </p:nvSpPr>
        <p:spPr>
          <a:xfrm xmlns:a="http://schemas.openxmlformats.org/drawingml/2006/main">
            <a:off x="6477000" y="1666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5E0AA154-CF49-4DF4-9BDB-3F0E8BCEDCAB}"/>
              </a:ext>
            </a:extLst>
          </p:cNvPr>
          <p:cNvSpPr>
            <a:spLocks xmlns:a="http://schemas.openxmlformats.org/drawingml/2006/main" noGrp="1"/>
          </p:cNvSpPr>
          <p:nvPr/>
        </p:nvSpPr>
        <p:spPr>
          <a:xfrm xmlns:a="http://schemas.openxmlformats.org/drawingml/2006/main">
            <a:off x="6686550" y="1819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TensorFlow / Keras</a:t>
            </a:r>
          </a:p>
        </p:txBody>
      </p:sp>
      <p:sp>
        <p:nvSpPr>
          <p:cNvPr id="10" name="">
            <a:extLst xmlns:a="http://schemas.openxmlformats.org/drawingml/2006/main">
              <a:ext uri="{FF2B5EF4-FFF2-40B4-BE49-F238E27FC236}">
                <a16:creationId xmlns:a16="http://schemas.microsoft.com/office/drawing/2014/main" id="{E0B7B3F1-7532-41A9-A4D1-8EC2D28E34AC}"/>
              </a:ext>
            </a:extLst>
          </p:cNvPr>
          <p:cNvSpPr>
            <a:spLocks xmlns:a="http://schemas.openxmlformats.org/drawingml/2006/main" noGrp="1"/>
          </p:cNvSpPr>
          <p:nvPr/>
        </p:nvSpPr>
        <p:spPr>
          <a:xfrm xmlns:a="http://schemas.openxmlformats.org/drawingml/2006/main">
            <a:off x="8267700" y="1809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Entraînement du modèle</a:t>
            </a:r>
          </a:p>
        </p:txBody>
      </p:sp>
      <p:sp>
        <p:nvSpPr>
          <p:cNvPr id="11" name="">
            <a:extLst xmlns:a="http://schemas.openxmlformats.org/drawingml/2006/main">
              <a:ext uri="{FF2B5EF4-FFF2-40B4-BE49-F238E27FC236}">
                <a16:creationId xmlns:a16="http://schemas.microsoft.com/office/drawing/2014/main" id="{D0690405-F2A8-444D-B9C1-D3341650E200}"/>
              </a:ext>
            </a:extLst>
          </p:cNvPr>
          <p:cNvSpPr>
            <a:spLocks xmlns:a="http://schemas.openxmlformats.org/drawingml/2006/main" noGrp="1"/>
          </p:cNvSpPr>
          <p:nvPr/>
        </p:nvSpPr>
        <p:spPr>
          <a:xfrm xmlns:a="http://schemas.openxmlformats.org/drawingml/2006/main">
            <a:off x="82677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Construction simple d’EfficientNetB0 + LSTM</a:t>
            </a:r>
          </a:p>
        </p:txBody>
      </p:sp>
      <p:sp>
        <p:nvSpPr>
          <p:cNvPr id="12" name="">
            <a:extLst xmlns:a="http://schemas.openxmlformats.org/drawingml/2006/main">
              <a:ext uri="{FF2B5EF4-FFF2-40B4-BE49-F238E27FC236}">
                <a16:creationId xmlns:a16="http://schemas.microsoft.com/office/drawing/2014/main" id="{100AB5B5-33E5-41D9-8FAE-F05E5916DD32}"/>
              </a:ext>
            </a:extLst>
          </p:cNvPr>
          <p:cNvSpPr>
            <a:spLocks xmlns:a="http://schemas.openxmlformats.org/drawingml/2006/main" noGrp="1"/>
          </p:cNvSpPr>
          <p:nvPr/>
        </p:nvSpPr>
        <p:spPr>
          <a:xfrm xmlns:a="http://schemas.openxmlformats.org/drawingml/2006/main">
            <a:off x="762000" y="2809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6BC31C9A-E0F7-45C8-ABBA-8E3F35164F73}"/>
              </a:ext>
            </a:extLst>
          </p:cNvPr>
          <p:cNvSpPr>
            <a:spLocks xmlns:a="http://schemas.openxmlformats.org/drawingml/2006/main" noGrp="1"/>
          </p:cNvSpPr>
          <p:nvPr/>
        </p:nvSpPr>
        <p:spPr>
          <a:xfrm xmlns:a="http://schemas.openxmlformats.org/drawingml/2006/main">
            <a:off x="971550" y="2962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OpenCV</a:t>
            </a:r>
          </a:p>
        </p:txBody>
      </p:sp>
      <p:sp>
        <p:nvSpPr>
          <p:cNvPr id="14" name="">
            <a:extLst xmlns:a="http://schemas.openxmlformats.org/drawingml/2006/main">
              <a:ext uri="{FF2B5EF4-FFF2-40B4-BE49-F238E27FC236}">
                <a16:creationId xmlns:a16="http://schemas.microsoft.com/office/drawing/2014/main" id="{C5F82A5B-DF7E-4176-82AA-9DBAF86A93E7}"/>
              </a:ext>
            </a:extLst>
          </p:cNvPr>
          <p:cNvSpPr>
            <a:spLocks xmlns:a="http://schemas.openxmlformats.org/drawingml/2006/main" noGrp="1"/>
          </p:cNvSpPr>
          <p:nvPr/>
        </p:nvSpPr>
        <p:spPr>
          <a:xfrm xmlns:a="http://schemas.openxmlformats.org/drawingml/2006/main">
            <a:off x="2552700" y="2952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Lecture vidéo</a:t>
            </a:r>
          </a:p>
        </p:txBody>
      </p:sp>
      <p:sp>
        <p:nvSpPr>
          <p:cNvPr id="15" name="">
            <a:extLst xmlns:a="http://schemas.openxmlformats.org/drawingml/2006/main">
              <a:ext uri="{FF2B5EF4-FFF2-40B4-BE49-F238E27FC236}">
                <a16:creationId xmlns:a16="http://schemas.microsoft.com/office/drawing/2014/main" id="{980B1F55-C2AB-4156-8253-2AC9354A9806}"/>
              </a:ext>
            </a:extLst>
          </p:cNvPr>
          <p:cNvSpPr>
            <a:spLocks xmlns:a="http://schemas.openxmlformats.org/drawingml/2006/main" noGrp="1"/>
          </p:cNvSpPr>
          <p:nvPr/>
        </p:nvSpPr>
        <p:spPr>
          <a:xfrm xmlns:a="http://schemas.openxmlformats.org/drawingml/2006/main">
            <a:off x="2552700" y="3219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Capture webcam, frames et prétraitement</a:t>
            </a:r>
          </a:p>
        </p:txBody>
      </p:sp>
      <p:sp>
        <p:nvSpPr>
          <p:cNvPr id="16" name="">
            <a:extLst xmlns:a="http://schemas.openxmlformats.org/drawingml/2006/main">
              <a:ext uri="{FF2B5EF4-FFF2-40B4-BE49-F238E27FC236}">
                <a16:creationId xmlns:a16="http://schemas.microsoft.com/office/drawing/2014/main" id="{99FA06B6-8652-4045-9BFA-BC824DAC2D65}"/>
              </a:ext>
            </a:extLst>
          </p:cNvPr>
          <p:cNvSpPr>
            <a:spLocks xmlns:a="http://schemas.openxmlformats.org/drawingml/2006/main" noGrp="1"/>
          </p:cNvSpPr>
          <p:nvPr/>
        </p:nvSpPr>
        <p:spPr>
          <a:xfrm xmlns:a="http://schemas.openxmlformats.org/drawingml/2006/main">
            <a:off x="6477000" y="2809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069924AA-6BF6-496E-97E9-4091D44EEBF9}"/>
              </a:ext>
            </a:extLst>
          </p:cNvPr>
          <p:cNvSpPr>
            <a:spLocks xmlns:a="http://schemas.openxmlformats.org/drawingml/2006/main" noGrp="1"/>
          </p:cNvSpPr>
          <p:nvPr/>
        </p:nvSpPr>
        <p:spPr>
          <a:xfrm xmlns:a="http://schemas.openxmlformats.org/drawingml/2006/main">
            <a:off x="6686550" y="2962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SQLite</a:t>
            </a:r>
          </a:p>
        </p:txBody>
      </p:sp>
      <p:sp>
        <p:nvSpPr>
          <p:cNvPr id="18" name="">
            <a:extLst xmlns:a="http://schemas.openxmlformats.org/drawingml/2006/main">
              <a:ext uri="{FF2B5EF4-FFF2-40B4-BE49-F238E27FC236}">
                <a16:creationId xmlns:a16="http://schemas.microsoft.com/office/drawing/2014/main" id="{8B214FA7-C5EA-455B-AF46-BC06BB48987B}"/>
              </a:ext>
            </a:extLst>
          </p:cNvPr>
          <p:cNvSpPr>
            <a:spLocks xmlns:a="http://schemas.openxmlformats.org/drawingml/2006/main" noGrp="1"/>
          </p:cNvSpPr>
          <p:nvPr/>
        </p:nvSpPr>
        <p:spPr>
          <a:xfrm xmlns:a="http://schemas.openxmlformats.org/drawingml/2006/main">
            <a:off x="8267700" y="2952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Incidents</a:t>
            </a:r>
          </a:p>
        </p:txBody>
      </p:sp>
      <p:sp>
        <p:nvSpPr>
          <p:cNvPr id="19" name="">
            <a:extLst xmlns:a="http://schemas.openxmlformats.org/drawingml/2006/main">
              <a:ext uri="{FF2B5EF4-FFF2-40B4-BE49-F238E27FC236}">
                <a16:creationId xmlns:a16="http://schemas.microsoft.com/office/drawing/2014/main" id="{54A4A3E8-AEDD-4113-A143-E4F939FDF89E}"/>
              </a:ext>
            </a:extLst>
          </p:cNvPr>
          <p:cNvSpPr>
            <a:spLocks xmlns:a="http://schemas.openxmlformats.org/drawingml/2006/main" noGrp="1"/>
          </p:cNvSpPr>
          <p:nvPr/>
        </p:nvSpPr>
        <p:spPr>
          <a:xfrm xmlns:a="http://schemas.openxmlformats.org/drawingml/2006/main">
            <a:off x="8267700" y="3219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Base locale sans serveur</a:t>
            </a:r>
          </a:p>
        </p:txBody>
      </p:sp>
      <p:sp>
        <p:nvSpPr>
          <p:cNvPr id="20" name="">
            <a:extLst xmlns:a="http://schemas.openxmlformats.org/drawingml/2006/main">
              <a:ext uri="{FF2B5EF4-FFF2-40B4-BE49-F238E27FC236}">
                <a16:creationId xmlns:a16="http://schemas.microsoft.com/office/drawing/2014/main" id="{D217652D-4C2D-4CE6-A7A1-F73291A6887B}"/>
              </a:ext>
            </a:extLst>
          </p:cNvPr>
          <p:cNvSpPr>
            <a:spLocks xmlns:a="http://schemas.openxmlformats.org/drawingml/2006/main" noGrp="1"/>
          </p:cNvSpPr>
          <p:nvPr/>
        </p:nvSpPr>
        <p:spPr>
          <a:xfrm xmlns:a="http://schemas.openxmlformats.org/drawingml/2006/main">
            <a:off x="762000" y="3952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E584C03A-8F3A-4CD2-8DEB-EF4CED326D05}"/>
              </a:ext>
            </a:extLst>
          </p:cNvPr>
          <p:cNvSpPr>
            <a:spLocks xmlns:a="http://schemas.openxmlformats.org/drawingml/2006/main" noGrp="1"/>
          </p:cNvSpPr>
          <p:nvPr/>
        </p:nvSpPr>
        <p:spPr>
          <a:xfrm xmlns:a="http://schemas.openxmlformats.org/drawingml/2006/main">
            <a:off x="971550" y="4105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Flask</a:t>
            </a:r>
          </a:p>
        </p:txBody>
      </p:sp>
      <p:sp>
        <p:nvSpPr>
          <p:cNvPr id="22" name="">
            <a:extLst xmlns:a="http://schemas.openxmlformats.org/drawingml/2006/main">
              <a:ext uri="{FF2B5EF4-FFF2-40B4-BE49-F238E27FC236}">
                <a16:creationId xmlns:a16="http://schemas.microsoft.com/office/drawing/2014/main" id="{61FA50E9-6F1F-41EC-B1A5-2E3E74B82F02}"/>
              </a:ext>
            </a:extLst>
          </p:cNvPr>
          <p:cNvSpPr>
            <a:spLocks xmlns:a="http://schemas.openxmlformats.org/drawingml/2006/main" noGrp="1"/>
          </p:cNvSpPr>
          <p:nvPr/>
        </p:nvSpPr>
        <p:spPr>
          <a:xfrm xmlns:a="http://schemas.openxmlformats.org/drawingml/2006/main">
            <a:off x="2552700" y="4095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Dashboard</a:t>
            </a:r>
          </a:p>
        </p:txBody>
      </p:sp>
      <p:sp>
        <p:nvSpPr>
          <p:cNvPr id="23" name="">
            <a:extLst xmlns:a="http://schemas.openxmlformats.org/drawingml/2006/main">
              <a:ext uri="{FF2B5EF4-FFF2-40B4-BE49-F238E27FC236}">
                <a16:creationId xmlns:a16="http://schemas.microsoft.com/office/drawing/2014/main" id="{2B240A21-0C1F-4A13-A339-7BF17B650BC9}"/>
              </a:ext>
            </a:extLst>
          </p:cNvPr>
          <p:cNvSpPr>
            <a:spLocks xmlns:a="http://schemas.openxmlformats.org/drawingml/2006/main" noGrp="1"/>
          </p:cNvSpPr>
          <p:nvPr/>
        </p:nvSpPr>
        <p:spPr>
          <a:xfrm xmlns:a="http://schemas.openxmlformats.org/drawingml/2006/main">
            <a:off x="2552700" y="4362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Interface Web légère sur localhost</a:t>
            </a:r>
          </a:p>
        </p:txBody>
      </p:sp>
      <p:sp>
        <p:nvSpPr>
          <p:cNvPr id="24" name="">
            <a:extLst xmlns:a="http://schemas.openxmlformats.org/drawingml/2006/main">
              <a:ext uri="{FF2B5EF4-FFF2-40B4-BE49-F238E27FC236}">
                <a16:creationId xmlns:a16="http://schemas.microsoft.com/office/drawing/2014/main" id="{BAB7AC9D-9FCB-4FFB-99EE-5B896E71C58B}"/>
              </a:ext>
            </a:extLst>
          </p:cNvPr>
          <p:cNvSpPr>
            <a:spLocks xmlns:a="http://schemas.openxmlformats.org/drawingml/2006/main" noGrp="1"/>
          </p:cNvSpPr>
          <p:nvPr/>
        </p:nvSpPr>
        <p:spPr>
          <a:xfrm xmlns:a="http://schemas.openxmlformats.org/drawingml/2006/main">
            <a:off x="6477000" y="3952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9DC9948D-9748-4D37-9A26-B469A6998D83}"/>
              </a:ext>
            </a:extLst>
          </p:cNvPr>
          <p:cNvSpPr>
            <a:spLocks xmlns:a="http://schemas.openxmlformats.org/drawingml/2006/main" noGrp="1"/>
          </p:cNvSpPr>
          <p:nvPr/>
        </p:nvSpPr>
        <p:spPr>
          <a:xfrm xmlns:a="http://schemas.openxmlformats.org/drawingml/2006/main">
            <a:off x="6686550" y="4105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SMTP / Telegram</a:t>
            </a:r>
          </a:p>
        </p:txBody>
      </p:sp>
      <p:sp>
        <p:nvSpPr>
          <p:cNvPr id="26" name="">
            <a:extLst xmlns:a="http://schemas.openxmlformats.org/drawingml/2006/main">
              <a:ext uri="{FF2B5EF4-FFF2-40B4-BE49-F238E27FC236}">
                <a16:creationId xmlns:a16="http://schemas.microsoft.com/office/drawing/2014/main" id="{9ABDD9DB-CC36-469F-B7F7-3423768DD3E4}"/>
              </a:ext>
            </a:extLst>
          </p:cNvPr>
          <p:cNvSpPr>
            <a:spLocks xmlns:a="http://schemas.openxmlformats.org/drawingml/2006/main" noGrp="1"/>
          </p:cNvSpPr>
          <p:nvPr/>
        </p:nvSpPr>
        <p:spPr>
          <a:xfrm xmlns:a="http://schemas.openxmlformats.org/drawingml/2006/main">
            <a:off x="8267700" y="4095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Alertes</a:t>
            </a:r>
          </a:p>
        </p:txBody>
      </p:sp>
      <p:sp>
        <p:nvSpPr>
          <p:cNvPr id="27" name="">
            <a:extLst xmlns:a="http://schemas.openxmlformats.org/drawingml/2006/main">
              <a:ext uri="{FF2B5EF4-FFF2-40B4-BE49-F238E27FC236}">
                <a16:creationId xmlns:a16="http://schemas.microsoft.com/office/drawing/2014/main" id="{C58B7A5D-3B98-4DB9-9332-C82027FA1697}"/>
              </a:ext>
            </a:extLst>
          </p:cNvPr>
          <p:cNvSpPr>
            <a:spLocks xmlns:a="http://schemas.openxmlformats.org/drawingml/2006/main" noGrp="1"/>
          </p:cNvSpPr>
          <p:nvPr/>
        </p:nvSpPr>
        <p:spPr>
          <a:xfrm xmlns:a="http://schemas.openxmlformats.org/drawingml/2006/main">
            <a:off x="8267700" y="4362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Notifications opérateur, Telegram optionnel</a:t>
            </a:r>
          </a:p>
        </p:txBody>
      </p:sp>
      <p:sp>
        <p:nvSpPr>
          <p:cNvPr id="28" name="">
            <a:extLst xmlns:a="http://schemas.openxmlformats.org/drawingml/2006/main">
              <a:ext uri="{FF2B5EF4-FFF2-40B4-BE49-F238E27FC236}">
                <a16:creationId xmlns:a16="http://schemas.microsoft.com/office/drawing/2014/main" id="{ADC1E3A8-3E69-4C44-BBE4-B8342D8AF9C0}"/>
              </a:ext>
            </a:extLst>
          </p:cNvPr>
          <p:cNvSpPr>
            <a:spLocks xmlns:a="http://schemas.openxmlformats.org/drawingml/2006/main" noGrp="1"/>
          </p:cNvSpPr>
          <p:nvPr/>
        </p:nvSpPr>
        <p:spPr>
          <a:xfrm xmlns:a="http://schemas.openxmlformats.org/drawingml/2006/main">
            <a:off x="1428750" y="547687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Interprétation : l’architecture technique est cohérente avec le contexte local de ressources limitées.</a:t>
            </a:r>
          </a:p>
        </p:txBody>
      </p:sp>
      <p:sp>
        <p:nvSpPr>
          <p:cNvPr id="29" name="">
            <a:extLst xmlns:a="http://schemas.openxmlformats.org/drawingml/2006/main">
              <a:ext uri="{FF2B5EF4-FFF2-40B4-BE49-F238E27FC236}">
                <a16:creationId xmlns:a16="http://schemas.microsoft.com/office/drawing/2014/main" id="{84E2827E-8FBE-44D8-90D2-4FE70A92A59D}"/>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Outils et technologies</a:t>
            </a:r>
          </a:p>
        </p:txBody>
      </p:sp>
      <p:sp>
        <p:nvSpPr>
          <p:cNvPr id="30" name="">
            <a:extLst xmlns:a="http://schemas.openxmlformats.org/drawingml/2006/main">
              <a:ext uri="{FF2B5EF4-FFF2-40B4-BE49-F238E27FC236}">
                <a16:creationId xmlns:a16="http://schemas.microsoft.com/office/drawing/2014/main" id="{84756162-024C-4483-87BE-5E9E1F85A0DB}"/>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8 / 21</a:t>
            </a:r>
          </a:p>
        </p:txBody>
      </p:sp>
    </p:spTree>
    <p:extLst>
      <p:ext uri="{BB962C8B-B14F-4D97-AF65-F5344CB8AC3E}">
        <p14:creationId xmlns:p14="http://schemas.microsoft.com/office/powerpoint/2010/main" val="20803565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DB33BE-21DC-49F2-8E82-F233F7CC6C5C}"/>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L’implémentation relie sept modules de bout en bout</a:t>
            </a:r>
          </a:p>
        </p:txBody>
      </p:sp>
      <p:sp>
        <p:nvSpPr>
          <p:cNvPr id="2" name="">
            <a:extLst xmlns:a="http://schemas.openxmlformats.org/drawingml/2006/main">
              <a:ext uri="{FF2B5EF4-FFF2-40B4-BE49-F238E27FC236}">
                <a16:creationId xmlns:a16="http://schemas.microsoft.com/office/drawing/2014/main" id="{C443FACB-7EC0-4F2A-9D31-1CEBBB29D019}"/>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E2D336-5496-418E-93E6-BE9830E4EC04}"/>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système va de la caméra à la notification et à l’historique des incidents.</a:t>
            </a:r>
          </a:p>
        </p:txBody>
      </p:sp>
      <p:sp>
        <p:nvSpPr>
          <p:cNvPr id="4" name="">
            <a:extLst xmlns:a="http://schemas.openxmlformats.org/drawingml/2006/main">
              <a:ext uri="{FF2B5EF4-FFF2-40B4-BE49-F238E27FC236}">
                <a16:creationId xmlns:a16="http://schemas.microsoft.com/office/drawing/2014/main" id="{64569E0B-4558-4EF9-B338-881797E543A5}"/>
              </a:ext>
            </a:extLst>
          </p:cNvPr>
          <p:cNvSpPr>
            <a:spLocks xmlns:a="http://schemas.openxmlformats.org/drawingml/2006/main" noGrp="1"/>
          </p:cNvSpPr>
          <p:nvPr/>
        </p:nvSpPr>
        <p:spPr>
          <a:xfrm xmlns:a="http://schemas.openxmlformats.org/drawingml/2006/main">
            <a:off x="609600" y="1809750"/>
            <a:ext cx="1238250" cy="552450"/>
          </a:xfrm>
          <a:prstGeom xmlns:a="http://schemas.openxmlformats.org/drawingml/2006/main" prst="roundRect">
            <a:avLst>
              <a:gd name="adj" fmla="val 10345"/>
            </a:avLst>
          </a:prstGeom>
          <a:solidFill xmlns:a="http://schemas.openxmlformats.org/drawingml/2006/main">
            <a:srgbClr val="1C8B53"/>
          </a:solidFill>
          <a:ln xmlns:a="http://schemas.openxmlformats.org/drawingml/2006/main" w="9525">
            <a:solidFill>
              <a:srgbClr val="1C8B53"/>
            </a:solidFill>
            <a:prstDash val="solid"/>
          </a:ln>
        </p:spPr>
      </p:sp>
      <p:sp>
        <p:nvSpPr>
          <p:cNvPr id="5" name="">
            <a:extLst xmlns:a="http://schemas.openxmlformats.org/drawingml/2006/main">
              <a:ext uri="{FF2B5EF4-FFF2-40B4-BE49-F238E27FC236}">
                <a16:creationId xmlns:a16="http://schemas.microsoft.com/office/drawing/2014/main" id="{FDD2ADE0-24CC-4173-BBB3-5737A181B611}"/>
              </a:ext>
            </a:extLst>
          </p:cNvPr>
          <p:cNvSpPr>
            <a:spLocks xmlns:a="http://schemas.openxmlformats.org/drawingml/2006/main" noGrp="1"/>
          </p:cNvSpPr>
          <p:nvPr/>
        </p:nvSpPr>
        <p:spPr>
          <a:xfrm xmlns:a="http://schemas.openxmlformats.org/drawingml/2006/main">
            <a:off x="66675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Capture</a:t>
            </a:r>
          </a:p>
        </p:txBody>
      </p:sp>
      <p:sp>
        <p:nvSpPr>
          <p:cNvPr id="6" name="">
            <a:extLst xmlns:a="http://schemas.openxmlformats.org/drawingml/2006/main">
              <a:ext uri="{FF2B5EF4-FFF2-40B4-BE49-F238E27FC236}">
                <a16:creationId xmlns:a16="http://schemas.microsoft.com/office/drawing/2014/main" id="{05427307-6DE6-4752-B94E-9BEFF8045CD9}"/>
              </a:ext>
            </a:extLst>
          </p:cNvPr>
          <p:cNvSpPr>
            <a:spLocks xmlns:a="http://schemas.openxmlformats.org/drawingml/2006/main" noGrp="1"/>
          </p:cNvSpPr>
          <p:nvPr/>
        </p:nvSpPr>
        <p:spPr>
          <a:xfrm xmlns:a="http://schemas.openxmlformats.org/drawingml/2006/main">
            <a:off x="188595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890BE6-BEF1-44F7-B271-8D4B0E7AAA11}"/>
              </a:ext>
            </a:extLst>
          </p:cNvPr>
          <p:cNvSpPr>
            <a:spLocks xmlns:a="http://schemas.openxmlformats.org/drawingml/2006/main" noGrp="1"/>
          </p:cNvSpPr>
          <p:nvPr/>
        </p:nvSpPr>
        <p:spPr>
          <a:xfrm xmlns:a="http://schemas.openxmlformats.org/drawingml/2006/main">
            <a:off x="218122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8" name="">
            <a:extLst xmlns:a="http://schemas.openxmlformats.org/drawingml/2006/main">
              <a:ext uri="{FF2B5EF4-FFF2-40B4-BE49-F238E27FC236}">
                <a16:creationId xmlns:a16="http://schemas.microsoft.com/office/drawing/2014/main" id="{9B48A675-1332-4880-B1B0-EC9BCCDD2FCB}"/>
              </a:ext>
            </a:extLst>
          </p:cNvPr>
          <p:cNvSpPr>
            <a:spLocks xmlns:a="http://schemas.openxmlformats.org/drawingml/2006/main" noGrp="1"/>
          </p:cNvSpPr>
          <p:nvPr/>
        </p:nvSpPr>
        <p:spPr>
          <a:xfrm xmlns:a="http://schemas.openxmlformats.org/drawingml/2006/main">
            <a:off x="223837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Prétraitement</a:t>
            </a:r>
          </a:p>
        </p:txBody>
      </p:sp>
      <p:sp>
        <p:nvSpPr>
          <p:cNvPr id="9" name="">
            <a:extLst xmlns:a="http://schemas.openxmlformats.org/drawingml/2006/main">
              <a:ext uri="{FF2B5EF4-FFF2-40B4-BE49-F238E27FC236}">
                <a16:creationId xmlns:a16="http://schemas.microsoft.com/office/drawing/2014/main" id="{23E2F22C-9FB0-494C-AFD7-BAD2363E321F}"/>
              </a:ext>
            </a:extLst>
          </p:cNvPr>
          <p:cNvSpPr>
            <a:spLocks xmlns:a="http://schemas.openxmlformats.org/drawingml/2006/main" noGrp="1"/>
          </p:cNvSpPr>
          <p:nvPr/>
        </p:nvSpPr>
        <p:spPr>
          <a:xfrm xmlns:a="http://schemas.openxmlformats.org/drawingml/2006/main">
            <a:off x="345757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3B607C7-650C-4416-899D-FAC7C2FFC275}"/>
              </a:ext>
            </a:extLst>
          </p:cNvPr>
          <p:cNvSpPr>
            <a:spLocks xmlns:a="http://schemas.openxmlformats.org/drawingml/2006/main" noGrp="1"/>
          </p:cNvSpPr>
          <p:nvPr/>
        </p:nvSpPr>
        <p:spPr>
          <a:xfrm xmlns:a="http://schemas.openxmlformats.org/drawingml/2006/main">
            <a:off x="3752850"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1" name="">
            <a:extLst xmlns:a="http://schemas.openxmlformats.org/drawingml/2006/main">
              <a:ext uri="{FF2B5EF4-FFF2-40B4-BE49-F238E27FC236}">
                <a16:creationId xmlns:a16="http://schemas.microsoft.com/office/drawing/2014/main" id="{A7938C4A-5E1A-47FF-B6D4-07B9EC68F2DD}"/>
              </a:ext>
            </a:extLst>
          </p:cNvPr>
          <p:cNvSpPr>
            <a:spLocks xmlns:a="http://schemas.openxmlformats.org/drawingml/2006/main" noGrp="1"/>
          </p:cNvSpPr>
          <p:nvPr/>
        </p:nvSpPr>
        <p:spPr>
          <a:xfrm xmlns:a="http://schemas.openxmlformats.org/drawingml/2006/main">
            <a:off x="381000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EfficientNetB0</a:t>
            </a:r>
          </a:p>
        </p:txBody>
      </p:sp>
      <p:sp>
        <p:nvSpPr>
          <p:cNvPr id="12" name="">
            <a:extLst xmlns:a="http://schemas.openxmlformats.org/drawingml/2006/main">
              <a:ext uri="{FF2B5EF4-FFF2-40B4-BE49-F238E27FC236}">
                <a16:creationId xmlns:a16="http://schemas.microsoft.com/office/drawing/2014/main" id="{D6A1CC00-F8F6-4D33-831D-65A4BAB444B1}"/>
              </a:ext>
            </a:extLst>
          </p:cNvPr>
          <p:cNvSpPr>
            <a:spLocks xmlns:a="http://schemas.openxmlformats.org/drawingml/2006/main" noGrp="1"/>
          </p:cNvSpPr>
          <p:nvPr/>
        </p:nvSpPr>
        <p:spPr>
          <a:xfrm xmlns:a="http://schemas.openxmlformats.org/drawingml/2006/main">
            <a:off x="502920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AF8A6A-8077-49DF-9C7C-EE5AC7874DEA}"/>
              </a:ext>
            </a:extLst>
          </p:cNvPr>
          <p:cNvSpPr>
            <a:spLocks xmlns:a="http://schemas.openxmlformats.org/drawingml/2006/main" noGrp="1"/>
          </p:cNvSpPr>
          <p:nvPr/>
        </p:nvSpPr>
        <p:spPr>
          <a:xfrm xmlns:a="http://schemas.openxmlformats.org/drawingml/2006/main">
            <a:off x="532447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4" name="">
            <a:extLst xmlns:a="http://schemas.openxmlformats.org/drawingml/2006/main">
              <a:ext uri="{FF2B5EF4-FFF2-40B4-BE49-F238E27FC236}">
                <a16:creationId xmlns:a16="http://schemas.microsoft.com/office/drawing/2014/main" id="{590630EF-5ADD-435A-B7A1-B342DC756BE8}"/>
              </a:ext>
            </a:extLst>
          </p:cNvPr>
          <p:cNvSpPr>
            <a:spLocks xmlns:a="http://schemas.openxmlformats.org/drawingml/2006/main" noGrp="1"/>
          </p:cNvSpPr>
          <p:nvPr/>
        </p:nvSpPr>
        <p:spPr>
          <a:xfrm xmlns:a="http://schemas.openxmlformats.org/drawingml/2006/main">
            <a:off x="538162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LSTM</a:t>
            </a:r>
          </a:p>
        </p:txBody>
      </p:sp>
      <p:sp>
        <p:nvSpPr>
          <p:cNvPr id="15" name="">
            <a:extLst xmlns:a="http://schemas.openxmlformats.org/drawingml/2006/main">
              <a:ext uri="{FF2B5EF4-FFF2-40B4-BE49-F238E27FC236}">
                <a16:creationId xmlns:a16="http://schemas.microsoft.com/office/drawing/2014/main" id="{20431AF6-5CD9-440A-BF14-9109763D5C19}"/>
              </a:ext>
            </a:extLst>
          </p:cNvPr>
          <p:cNvSpPr>
            <a:spLocks xmlns:a="http://schemas.openxmlformats.org/drawingml/2006/main" noGrp="1"/>
          </p:cNvSpPr>
          <p:nvPr/>
        </p:nvSpPr>
        <p:spPr>
          <a:xfrm xmlns:a="http://schemas.openxmlformats.org/drawingml/2006/main">
            <a:off x="660082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E20773-7147-425C-BA22-07B625D6CDE2}"/>
              </a:ext>
            </a:extLst>
          </p:cNvPr>
          <p:cNvSpPr>
            <a:spLocks xmlns:a="http://schemas.openxmlformats.org/drawingml/2006/main" noGrp="1"/>
          </p:cNvSpPr>
          <p:nvPr/>
        </p:nvSpPr>
        <p:spPr>
          <a:xfrm xmlns:a="http://schemas.openxmlformats.org/drawingml/2006/main">
            <a:off x="6896100"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7" name="">
            <a:extLst xmlns:a="http://schemas.openxmlformats.org/drawingml/2006/main">
              <a:ext uri="{FF2B5EF4-FFF2-40B4-BE49-F238E27FC236}">
                <a16:creationId xmlns:a16="http://schemas.microsoft.com/office/drawing/2014/main" id="{4AEB6042-BC97-4AED-9855-E9E30838A3E2}"/>
              </a:ext>
            </a:extLst>
          </p:cNvPr>
          <p:cNvSpPr>
            <a:spLocks xmlns:a="http://schemas.openxmlformats.org/drawingml/2006/main" noGrp="1"/>
          </p:cNvSpPr>
          <p:nvPr/>
        </p:nvSpPr>
        <p:spPr>
          <a:xfrm xmlns:a="http://schemas.openxmlformats.org/drawingml/2006/main">
            <a:off x="695325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Décision K</a:t>
            </a:r>
          </a:p>
        </p:txBody>
      </p:sp>
      <p:sp>
        <p:nvSpPr>
          <p:cNvPr id="18" name="">
            <a:extLst xmlns:a="http://schemas.openxmlformats.org/drawingml/2006/main">
              <a:ext uri="{FF2B5EF4-FFF2-40B4-BE49-F238E27FC236}">
                <a16:creationId xmlns:a16="http://schemas.microsoft.com/office/drawing/2014/main" id="{F6BC4519-3724-47B6-851D-CD004DD9D4B7}"/>
              </a:ext>
            </a:extLst>
          </p:cNvPr>
          <p:cNvSpPr>
            <a:spLocks xmlns:a="http://schemas.openxmlformats.org/drawingml/2006/main" noGrp="1"/>
          </p:cNvSpPr>
          <p:nvPr/>
        </p:nvSpPr>
        <p:spPr>
          <a:xfrm xmlns:a="http://schemas.openxmlformats.org/drawingml/2006/main">
            <a:off x="817245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F0C5EA4-F8BF-4057-9279-5AF4D2C8B36C}"/>
              </a:ext>
            </a:extLst>
          </p:cNvPr>
          <p:cNvSpPr>
            <a:spLocks xmlns:a="http://schemas.openxmlformats.org/drawingml/2006/main" noGrp="1"/>
          </p:cNvSpPr>
          <p:nvPr/>
        </p:nvSpPr>
        <p:spPr>
          <a:xfrm xmlns:a="http://schemas.openxmlformats.org/drawingml/2006/main">
            <a:off x="846772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20" name="">
            <a:extLst xmlns:a="http://schemas.openxmlformats.org/drawingml/2006/main">
              <a:ext uri="{FF2B5EF4-FFF2-40B4-BE49-F238E27FC236}">
                <a16:creationId xmlns:a16="http://schemas.microsoft.com/office/drawing/2014/main" id="{0710D8E7-C1BA-4C72-ADBE-824E36C78FE4}"/>
              </a:ext>
            </a:extLst>
          </p:cNvPr>
          <p:cNvSpPr>
            <a:spLocks xmlns:a="http://schemas.openxmlformats.org/drawingml/2006/main" noGrp="1"/>
          </p:cNvSpPr>
          <p:nvPr/>
        </p:nvSpPr>
        <p:spPr>
          <a:xfrm xmlns:a="http://schemas.openxmlformats.org/drawingml/2006/main">
            <a:off x="852487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Alertes</a:t>
            </a:r>
          </a:p>
        </p:txBody>
      </p:sp>
      <p:sp>
        <p:nvSpPr>
          <p:cNvPr id="21" name="">
            <a:extLst xmlns:a="http://schemas.openxmlformats.org/drawingml/2006/main">
              <a:ext uri="{FF2B5EF4-FFF2-40B4-BE49-F238E27FC236}">
                <a16:creationId xmlns:a16="http://schemas.microsoft.com/office/drawing/2014/main" id="{D96C25C6-2140-41C6-9A6A-724BE0FCCE99}"/>
              </a:ext>
            </a:extLst>
          </p:cNvPr>
          <p:cNvSpPr>
            <a:spLocks xmlns:a="http://schemas.openxmlformats.org/drawingml/2006/main" noGrp="1"/>
          </p:cNvSpPr>
          <p:nvPr/>
        </p:nvSpPr>
        <p:spPr>
          <a:xfrm xmlns:a="http://schemas.openxmlformats.org/drawingml/2006/main">
            <a:off x="974407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4E0362E-49D5-4F66-9CCC-540C9DE23363}"/>
              </a:ext>
            </a:extLst>
          </p:cNvPr>
          <p:cNvSpPr>
            <a:spLocks xmlns:a="http://schemas.openxmlformats.org/drawingml/2006/main" noGrp="1"/>
          </p:cNvSpPr>
          <p:nvPr/>
        </p:nvSpPr>
        <p:spPr>
          <a:xfrm xmlns:a="http://schemas.openxmlformats.org/drawingml/2006/main">
            <a:off x="10039350" y="1809750"/>
            <a:ext cx="1238250" cy="552450"/>
          </a:xfrm>
          <a:prstGeom xmlns:a="http://schemas.openxmlformats.org/drawingml/2006/main" prst="roundRect">
            <a:avLst>
              <a:gd name="adj" fmla="val 10345"/>
            </a:avLst>
          </a:prstGeom>
          <a:solidFill xmlns:a="http://schemas.openxmlformats.org/drawingml/2006/main">
            <a:srgbClr val="1C8B53"/>
          </a:solidFill>
          <a:ln xmlns:a="http://schemas.openxmlformats.org/drawingml/2006/main" w="9525">
            <a:solidFill>
              <a:srgbClr val="1C8B53"/>
            </a:solidFill>
            <a:prstDash val="solid"/>
          </a:ln>
        </p:spPr>
      </p:sp>
      <p:sp>
        <p:nvSpPr>
          <p:cNvPr id="23" name="">
            <a:extLst xmlns:a="http://schemas.openxmlformats.org/drawingml/2006/main">
              <a:ext uri="{FF2B5EF4-FFF2-40B4-BE49-F238E27FC236}">
                <a16:creationId xmlns:a16="http://schemas.microsoft.com/office/drawing/2014/main" id="{F34B49EA-210D-427B-802B-3074C10D519C}"/>
              </a:ext>
            </a:extLst>
          </p:cNvPr>
          <p:cNvSpPr>
            <a:spLocks xmlns:a="http://schemas.openxmlformats.org/drawingml/2006/main" noGrp="1"/>
          </p:cNvSpPr>
          <p:nvPr/>
        </p:nvSpPr>
        <p:spPr>
          <a:xfrm xmlns:a="http://schemas.openxmlformats.org/drawingml/2006/main">
            <a:off x="1009650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Dashboard</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971805d5360f4ff9"/>
          <a:stretch xmlns:a="http://schemas.openxmlformats.org/drawingml/2006/main"/>
        </p:blipFill>
        <p:spPr>
          <a:xfrm xmlns:a="http://schemas.openxmlformats.org/drawingml/2006/main">
            <a:off x="1143000" y="3265666"/>
            <a:ext cx="4572000" cy="1803042"/>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F08BB43-10F1-4834-B87F-3213BB86DB5B}"/>
              </a:ext>
            </a:extLst>
          </p:cNvPr>
          <p:cNvSpPr>
            <a:spLocks xmlns:a="http://schemas.openxmlformats.org/drawingml/2006/main" noGrp="1"/>
          </p:cNvSpPr>
          <p:nvPr/>
        </p:nvSpPr>
        <p:spPr>
          <a:xfrm xmlns:a="http://schemas.openxmlformats.org/drawingml/2006/main">
            <a:off x="6191250" y="3000375"/>
            <a:ext cx="23812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187F3DDB-3098-4824-B1A5-47E128B4DAC4}"/>
              </a:ext>
            </a:extLst>
          </p:cNvPr>
          <p:cNvSpPr>
            <a:spLocks xmlns:a="http://schemas.openxmlformats.org/drawingml/2006/main" noGrp="1"/>
          </p:cNvSpPr>
          <p:nvPr/>
        </p:nvSpPr>
        <p:spPr>
          <a:xfrm xmlns:a="http://schemas.openxmlformats.org/drawingml/2006/main">
            <a:off x="6191250" y="3000375"/>
            <a:ext cx="66675" cy="180975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A15C0B4-AAFB-4E1F-9917-C1A9DC600F82}"/>
              </a:ext>
            </a:extLst>
          </p:cNvPr>
          <p:cNvSpPr>
            <a:spLocks xmlns:a="http://schemas.openxmlformats.org/drawingml/2006/main" noGrp="1"/>
          </p:cNvSpPr>
          <p:nvPr/>
        </p:nvSpPr>
        <p:spPr>
          <a:xfrm xmlns:a="http://schemas.openxmlformats.org/drawingml/2006/main">
            <a:off x="6419850" y="32289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Score vidéo</a:t>
            </a:r>
          </a:p>
        </p:txBody>
      </p:sp>
      <p:sp>
        <p:nvSpPr>
          <p:cNvPr id="28" name="">
            <a:extLst xmlns:a="http://schemas.openxmlformats.org/drawingml/2006/main">
              <a:ext uri="{FF2B5EF4-FFF2-40B4-BE49-F238E27FC236}">
                <a16:creationId xmlns:a16="http://schemas.microsoft.com/office/drawing/2014/main" id="{510BA76F-A1C0-4257-9EF3-C7DA8FF5BC88}"/>
              </a:ext>
            </a:extLst>
          </p:cNvPr>
          <p:cNvSpPr>
            <a:spLocks xmlns:a="http://schemas.openxmlformats.org/drawingml/2006/main" noGrp="1"/>
          </p:cNvSpPr>
          <p:nvPr/>
        </p:nvSpPr>
        <p:spPr>
          <a:xfrm xmlns:a="http://schemas.openxmlformats.org/drawingml/2006/main">
            <a:off x="6419850" y="3609975"/>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20 frames deviennent 20 vecteurs. Le LSTM produit une probabilité de violence pour la séquence.</a:t>
            </a:r>
          </a:p>
        </p:txBody>
      </p:sp>
      <p:sp>
        <p:nvSpPr>
          <p:cNvPr id="29" name="">
            <a:extLst xmlns:a="http://schemas.openxmlformats.org/drawingml/2006/main">
              <a:ext uri="{FF2B5EF4-FFF2-40B4-BE49-F238E27FC236}">
                <a16:creationId xmlns:a16="http://schemas.microsoft.com/office/drawing/2014/main" id="{5F0EAC5B-2BFF-4ACE-BD2C-D0880B82EBC5}"/>
              </a:ext>
            </a:extLst>
          </p:cNvPr>
          <p:cNvSpPr>
            <a:spLocks xmlns:a="http://schemas.openxmlformats.org/drawingml/2006/main" noGrp="1"/>
          </p:cNvSpPr>
          <p:nvPr/>
        </p:nvSpPr>
        <p:spPr>
          <a:xfrm xmlns:a="http://schemas.openxmlformats.org/drawingml/2006/main">
            <a:off x="8858250" y="3000375"/>
            <a:ext cx="23812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F7DC4ABD-3033-46F3-BF35-16F44653828A}"/>
              </a:ext>
            </a:extLst>
          </p:cNvPr>
          <p:cNvSpPr>
            <a:spLocks xmlns:a="http://schemas.openxmlformats.org/drawingml/2006/main" noGrp="1"/>
          </p:cNvSpPr>
          <p:nvPr/>
        </p:nvSpPr>
        <p:spPr>
          <a:xfrm xmlns:a="http://schemas.openxmlformats.org/drawingml/2006/main">
            <a:off x="8858250" y="3000375"/>
            <a:ext cx="66675" cy="180975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D650C79-8634-4BF3-B832-B9B9194B51ED}"/>
              </a:ext>
            </a:extLst>
          </p:cNvPr>
          <p:cNvSpPr>
            <a:spLocks xmlns:a="http://schemas.openxmlformats.org/drawingml/2006/main" noGrp="1"/>
          </p:cNvSpPr>
          <p:nvPr/>
        </p:nvSpPr>
        <p:spPr>
          <a:xfrm xmlns:a="http://schemas.openxmlformats.org/drawingml/2006/main">
            <a:off x="9086850" y="32289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Incident</a:t>
            </a:r>
          </a:p>
        </p:txBody>
      </p:sp>
      <p:sp>
        <p:nvSpPr>
          <p:cNvPr id="32" name="">
            <a:extLst xmlns:a="http://schemas.openxmlformats.org/drawingml/2006/main">
              <a:ext uri="{FF2B5EF4-FFF2-40B4-BE49-F238E27FC236}">
                <a16:creationId xmlns:a16="http://schemas.microsoft.com/office/drawing/2014/main" id="{7645B427-1553-48C1-AF1A-F9211231717A}"/>
              </a:ext>
            </a:extLst>
          </p:cNvPr>
          <p:cNvSpPr>
            <a:spLocks xmlns:a="http://schemas.openxmlformats.org/drawingml/2006/main" noGrp="1"/>
          </p:cNvSpPr>
          <p:nvPr/>
        </p:nvSpPr>
        <p:spPr>
          <a:xfrm xmlns:a="http://schemas.openxmlformats.org/drawingml/2006/main">
            <a:off x="9086850" y="3609975"/>
            <a:ext cx="1962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 la moyenne des 5 derniers scores dépasse le seuil, SIRCH enregistre une capture et déclenche l’alerte.</a:t>
            </a:r>
          </a:p>
        </p:txBody>
      </p:sp>
      <p:sp>
        <p:nvSpPr>
          <p:cNvPr id="33" name="">
            <a:extLst xmlns:a="http://schemas.openxmlformats.org/drawingml/2006/main">
              <a:ext uri="{FF2B5EF4-FFF2-40B4-BE49-F238E27FC236}">
                <a16:creationId xmlns:a16="http://schemas.microsoft.com/office/drawing/2014/main" id="{35D5BABD-B4A9-4D8B-A95D-ABEFE050645F}"/>
              </a:ext>
            </a:extLst>
          </p:cNvPr>
          <p:cNvSpPr>
            <a:spLocks xmlns:a="http://schemas.openxmlformats.org/drawingml/2006/main" noGrp="1"/>
          </p:cNvSpPr>
          <p:nvPr/>
        </p:nvSpPr>
        <p:spPr>
          <a:xfrm xmlns:a="http://schemas.openxmlformats.org/drawingml/2006/main">
            <a:off x="1619250" y="550545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Point clé : SIRCH n’est pas un notebook isolé, c’est une application locale exploitable en démonstration.</a:t>
            </a:r>
          </a:p>
        </p:txBody>
      </p:sp>
      <p:sp>
        <p:nvSpPr>
          <p:cNvPr id="34" name="">
            <a:extLst xmlns:a="http://schemas.openxmlformats.org/drawingml/2006/main">
              <a:ext uri="{FF2B5EF4-FFF2-40B4-BE49-F238E27FC236}">
                <a16:creationId xmlns:a16="http://schemas.microsoft.com/office/drawing/2014/main" id="{F4DE6CFB-954A-446E-8C07-5B262F989722}"/>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Implémentation</a:t>
            </a:r>
          </a:p>
        </p:txBody>
      </p:sp>
      <p:sp>
        <p:nvSpPr>
          <p:cNvPr id="35" name="">
            <a:extLst xmlns:a="http://schemas.openxmlformats.org/drawingml/2006/main">
              <a:ext uri="{FF2B5EF4-FFF2-40B4-BE49-F238E27FC236}">
                <a16:creationId xmlns:a16="http://schemas.microsoft.com/office/drawing/2014/main" id="{81DC43EA-EC81-4F51-A1CD-6E1D6A20A9AC}"/>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9 / 21</a:t>
            </a:r>
          </a:p>
        </p:txBody>
      </p:sp>
    </p:spTree>
    <p:extLst>
      <p:ext uri="{BB962C8B-B14F-4D97-AF65-F5344CB8AC3E}">
        <p14:creationId xmlns:p14="http://schemas.microsoft.com/office/powerpoint/2010/main" val="14513036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D1E30C-A6EA-488C-8815-EE12FB4A59A6}"/>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L’entraînement local a été encadré pour éviter le surapprentissage</a:t>
            </a:r>
          </a:p>
        </p:txBody>
      </p:sp>
      <p:sp>
        <p:nvSpPr>
          <p:cNvPr id="2" name="">
            <a:extLst xmlns:a="http://schemas.openxmlformats.org/drawingml/2006/main">
              <a:ext uri="{FF2B5EF4-FFF2-40B4-BE49-F238E27FC236}">
                <a16:creationId xmlns:a16="http://schemas.microsoft.com/office/drawing/2014/main" id="{F7892C8A-2E8B-49B4-A2DE-F8900C5D2AFD}"/>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6F6B2C-17BC-4618-A3AF-65DCED506E50}"/>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Les garde-fous expliquent pourquoi le meilleur modèle retenu est celui de l’epoch 4.</a:t>
            </a:r>
          </a:p>
        </p:txBody>
      </p:sp>
      <p:sp>
        <p:nvSpPr>
          <p:cNvPr id="4" name="">
            <a:extLst xmlns:a="http://schemas.openxmlformats.org/drawingml/2006/main">
              <a:ext uri="{FF2B5EF4-FFF2-40B4-BE49-F238E27FC236}">
                <a16:creationId xmlns:a16="http://schemas.microsoft.com/office/drawing/2014/main" id="{010AED52-2765-44AE-9EB0-B3C4E16779FF}"/>
              </a:ext>
            </a:extLst>
          </p:cNvPr>
          <p:cNvSpPr>
            <a:spLocks xmlns:a="http://schemas.openxmlformats.org/drawingml/2006/main" noGrp="1"/>
          </p:cNvSpPr>
          <p:nvPr/>
        </p:nvSpPr>
        <p:spPr>
          <a:xfrm xmlns:a="http://schemas.openxmlformats.org/drawingml/2006/main">
            <a:off x="762000"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0CC66819-F89F-4DE2-9797-2ECB737E117A}"/>
              </a:ext>
            </a:extLst>
          </p:cNvPr>
          <p:cNvSpPr>
            <a:spLocks xmlns:a="http://schemas.openxmlformats.org/drawingml/2006/main" noGrp="1"/>
          </p:cNvSpPr>
          <p:nvPr/>
        </p:nvSpPr>
        <p:spPr>
          <a:xfrm xmlns:a="http://schemas.openxmlformats.org/drawingml/2006/main">
            <a:off x="933450"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Adam</a:t>
            </a:r>
          </a:p>
        </p:txBody>
      </p:sp>
      <p:sp>
        <p:nvSpPr>
          <p:cNvPr id="6" name="">
            <a:extLst xmlns:a="http://schemas.openxmlformats.org/drawingml/2006/main">
              <a:ext uri="{FF2B5EF4-FFF2-40B4-BE49-F238E27FC236}">
                <a16:creationId xmlns:a16="http://schemas.microsoft.com/office/drawing/2014/main" id="{1FF4BE3E-3E3D-4CF5-A6EA-974BEF442297}"/>
              </a:ext>
            </a:extLst>
          </p:cNvPr>
          <p:cNvSpPr>
            <a:spLocks xmlns:a="http://schemas.openxmlformats.org/drawingml/2006/main" noGrp="1"/>
          </p:cNvSpPr>
          <p:nvPr/>
        </p:nvSpPr>
        <p:spPr>
          <a:xfrm xmlns:a="http://schemas.openxmlformats.org/drawingml/2006/main">
            <a:off x="933450"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Optimiseur</a:t>
            </a:r>
          </a:p>
        </p:txBody>
      </p:sp>
      <p:sp>
        <p:nvSpPr>
          <p:cNvPr id="7" name="">
            <a:extLst xmlns:a="http://schemas.openxmlformats.org/drawingml/2006/main">
              <a:ext uri="{FF2B5EF4-FFF2-40B4-BE49-F238E27FC236}">
                <a16:creationId xmlns:a16="http://schemas.microsoft.com/office/drawing/2014/main" id="{DBFD7086-CD88-4F0C-BE87-32274748C7C6}"/>
              </a:ext>
            </a:extLst>
          </p:cNvPr>
          <p:cNvSpPr>
            <a:spLocks xmlns:a="http://schemas.openxmlformats.org/drawingml/2006/main" noGrp="1"/>
          </p:cNvSpPr>
          <p:nvPr/>
        </p:nvSpPr>
        <p:spPr>
          <a:xfrm xmlns:a="http://schemas.openxmlformats.org/drawingml/2006/main">
            <a:off x="933450"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learning rate = 1e-4</a:t>
            </a:r>
          </a:p>
        </p:txBody>
      </p:sp>
      <p:sp>
        <p:nvSpPr>
          <p:cNvPr id="8" name="">
            <a:extLst xmlns:a="http://schemas.openxmlformats.org/drawingml/2006/main">
              <a:ext uri="{FF2B5EF4-FFF2-40B4-BE49-F238E27FC236}">
                <a16:creationId xmlns:a16="http://schemas.microsoft.com/office/drawing/2014/main" id="{272C3AC7-E3E4-4F90-9216-24CDB2A95DCF}"/>
              </a:ext>
            </a:extLst>
          </p:cNvPr>
          <p:cNvSpPr>
            <a:spLocks xmlns:a="http://schemas.openxmlformats.org/drawingml/2006/main" noGrp="1"/>
          </p:cNvSpPr>
          <p:nvPr/>
        </p:nvSpPr>
        <p:spPr>
          <a:xfrm xmlns:a="http://schemas.openxmlformats.org/drawingml/2006/main">
            <a:off x="3000375"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813F9B82-BB7F-442C-9D00-CD3FD9F3F05F}"/>
              </a:ext>
            </a:extLst>
          </p:cNvPr>
          <p:cNvSpPr>
            <a:spLocks xmlns:a="http://schemas.openxmlformats.org/drawingml/2006/main" noGrp="1"/>
          </p:cNvSpPr>
          <p:nvPr/>
        </p:nvSpPr>
        <p:spPr>
          <a:xfrm xmlns:a="http://schemas.openxmlformats.org/drawingml/2006/main">
            <a:off x="3171825"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a:t>
            </a:r>
          </a:p>
        </p:txBody>
      </p:sp>
      <p:sp>
        <p:nvSpPr>
          <p:cNvPr id="10" name="">
            <a:extLst xmlns:a="http://schemas.openxmlformats.org/drawingml/2006/main">
              <a:ext uri="{FF2B5EF4-FFF2-40B4-BE49-F238E27FC236}">
                <a16:creationId xmlns:a16="http://schemas.microsoft.com/office/drawing/2014/main" id="{0BD501F2-225B-431B-8618-CB7564362CC7}"/>
              </a:ext>
            </a:extLst>
          </p:cNvPr>
          <p:cNvSpPr>
            <a:spLocks xmlns:a="http://schemas.openxmlformats.org/drawingml/2006/main" noGrp="1"/>
          </p:cNvSpPr>
          <p:nvPr/>
        </p:nvSpPr>
        <p:spPr>
          <a:xfrm xmlns:a="http://schemas.openxmlformats.org/drawingml/2006/main">
            <a:off x="3171825"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Batch size</a:t>
            </a:r>
          </a:p>
        </p:txBody>
      </p:sp>
      <p:sp>
        <p:nvSpPr>
          <p:cNvPr id="11" name="">
            <a:extLst xmlns:a="http://schemas.openxmlformats.org/drawingml/2006/main">
              <a:ext uri="{FF2B5EF4-FFF2-40B4-BE49-F238E27FC236}">
                <a16:creationId xmlns:a16="http://schemas.microsoft.com/office/drawing/2014/main" id="{5143EBA8-31B5-43E0-B906-2356E0511010}"/>
              </a:ext>
            </a:extLst>
          </p:cNvPr>
          <p:cNvSpPr>
            <a:spLocks xmlns:a="http://schemas.openxmlformats.org/drawingml/2006/main" noGrp="1"/>
          </p:cNvSpPr>
          <p:nvPr/>
        </p:nvSpPr>
        <p:spPr>
          <a:xfrm xmlns:a="http://schemas.openxmlformats.org/drawingml/2006/main">
            <a:off x="3171825"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entraînement local CPU</a:t>
            </a:r>
          </a:p>
        </p:txBody>
      </p:sp>
      <p:sp>
        <p:nvSpPr>
          <p:cNvPr id="12" name="">
            <a:extLst xmlns:a="http://schemas.openxmlformats.org/drawingml/2006/main">
              <a:ext uri="{FF2B5EF4-FFF2-40B4-BE49-F238E27FC236}">
                <a16:creationId xmlns:a16="http://schemas.microsoft.com/office/drawing/2014/main" id="{307EE780-0FF2-42CC-89CF-4040F3676D85}"/>
              </a:ext>
            </a:extLst>
          </p:cNvPr>
          <p:cNvSpPr>
            <a:spLocks xmlns:a="http://schemas.openxmlformats.org/drawingml/2006/main" noGrp="1"/>
          </p:cNvSpPr>
          <p:nvPr/>
        </p:nvSpPr>
        <p:spPr>
          <a:xfrm xmlns:a="http://schemas.openxmlformats.org/drawingml/2006/main">
            <a:off x="5238750"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40342F1C-CE3E-4D6E-B701-96E7C5B7AD21}"/>
              </a:ext>
            </a:extLst>
          </p:cNvPr>
          <p:cNvSpPr>
            <a:spLocks xmlns:a="http://schemas.openxmlformats.org/drawingml/2006/main" noGrp="1"/>
          </p:cNvSpPr>
          <p:nvPr/>
        </p:nvSpPr>
        <p:spPr>
          <a:xfrm xmlns:a="http://schemas.openxmlformats.org/drawingml/2006/main">
            <a:off x="5410200"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30</a:t>
            </a:r>
          </a:p>
        </p:txBody>
      </p:sp>
      <p:sp>
        <p:nvSpPr>
          <p:cNvPr id="14" name="">
            <a:extLst xmlns:a="http://schemas.openxmlformats.org/drawingml/2006/main">
              <a:ext uri="{FF2B5EF4-FFF2-40B4-BE49-F238E27FC236}">
                <a16:creationId xmlns:a16="http://schemas.microsoft.com/office/drawing/2014/main" id="{45D2E4FF-9CA6-4512-BA24-EF52A1CBC02B}"/>
              </a:ext>
            </a:extLst>
          </p:cNvPr>
          <p:cNvSpPr>
            <a:spLocks xmlns:a="http://schemas.openxmlformats.org/drawingml/2006/main" noGrp="1"/>
          </p:cNvSpPr>
          <p:nvPr/>
        </p:nvSpPr>
        <p:spPr>
          <a:xfrm xmlns:a="http://schemas.openxmlformats.org/drawingml/2006/main">
            <a:off x="5410200"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Epochs max</a:t>
            </a:r>
          </a:p>
        </p:txBody>
      </p:sp>
      <p:sp>
        <p:nvSpPr>
          <p:cNvPr id="15" name="">
            <a:extLst xmlns:a="http://schemas.openxmlformats.org/drawingml/2006/main">
              <a:ext uri="{FF2B5EF4-FFF2-40B4-BE49-F238E27FC236}">
                <a16:creationId xmlns:a16="http://schemas.microsoft.com/office/drawing/2014/main" id="{E76A8F05-3276-4E7E-9161-48B44618E791}"/>
              </a:ext>
            </a:extLst>
          </p:cNvPr>
          <p:cNvSpPr>
            <a:spLocks xmlns:a="http://schemas.openxmlformats.org/drawingml/2006/main" noGrp="1"/>
          </p:cNvSpPr>
          <p:nvPr/>
        </p:nvSpPr>
        <p:spPr>
          <a:xfrm xmlns:a="http://schemas.openxmlformats.org/drawingml/2006/main">
            <a:off x="5410200"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arrêt automatique</a:t>
            </a:r>
          </a:p>
        </p:txBody>
      </p:sp>
      <p:sp>
        <p:nvSpPr>
          <p:cNvPr id="16" name="">
            <a:extLst xmlns:a="http://schemas.openxmlformats.org/drawingml/2006/main">
              <a:ext uri="{FF2B5EF4-FFF2-40B4-BE49-F238E27FC236}">
                <a16:creationId xmlns:a16="http://schemas.microsoft.com/office/drawing/2014/main" id="{6197BF99-79A2-4C5C-AD5E-88CC6B6150FA}"/>
              </a:ext>
            </a:extLst>
          </p:cNvPr>
          <p:cNvSpPr>
            <a:spLocks xmlns:a="http://schemas.openxmlformats.org/drawingml/2006/main" noGrp="1"/>
          </p:cNvSpPr>
          <p:nvPr/>
        </p:nvSpPr>
        <p:spPr>
          <a:xfrm xmlns:a="http://schemas.openxmlformats.org/drawingml/2006/main">
            <a:off x="7477125"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6FE9FA7-3FF1-4F09-8B58-357064BD4423}"/>
              </a:ext>
            </a:extLst>
          </p:cNvPr>
          <p:cNvSpPr>
            <a:spLocks xmlns:a="http://schemas.openxmlformats.org/drawingml/2006/main" noGrp="1"/>
          </p:cNvSpPr>
          <p:nvPr/>
        </p:nvSpPr>
        <p:spPr>
          <a:xfrm xmlns:a="http://schemas.openxmlformats.org/drawingml/2006/main">
            <a:off x="7648575"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epoch 4</a:t>
            </a:r>
          </a:p>
        </p:txBody>
      </p:sp>
      <p:sp>
        <p:nvSpPr>
          <p:cNvPr id="18" name="">
            <a:extLst xmlns:a="http://schemas.openxmlformats.org/drawingml/2006/main">
              <a:ext uri="{FF2B5EF4-FFF2-40B4-BE49-F238E27FC236}">
                <a16:creationId xmlns:a16="http://schemas.microsoft.com/office/drawing/2014/main" id="{C55CEBA6-9134-4CD8-AB1D-C3D2543E028F}"/>
              </a:ext>
            </a:extLst>
          </p:cNvPr>
          <p:cNvSpPr>
            <a:spLocks xmlns:a="http://schemas.openxmlformats.org/drawingml/2006/main" noGrp="1"/>
          </p:cNvSpPr>
          <p:nvPr/>
        </p:nvSpPr>
        <p:spPr>
          <a:xfrm xmlns:a="http://schemas.openxmlformats.org/drawingml/2006/main">
            <a:off x="7648575"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Meilleur modèle</a:t>
            </a:r>
          </a:p>
        </p:txBody>
      </p:sp>
      <p:sp>
        <p:nvSpPr>
          <p:cNvPr id="19" name="">
            <a:extLst xmlns:a="http://schemas.openxmlformats.org/drawingml/2006/main">
              <a:ext uri="{FF2B5EF4-FFF2-40B4-BE49-F238E27FC236}">
                <a16:creationId xmlns:a16="http://schemas.microsoft.com/office/drawing/2014/main" id="{037B4396-5F1D-4873-AD76-A70FC2F31966}"/>
              </a:ext>
            </a:extLst>
          </p:cNvPr>
          <p:cNvSpPr>
            <a:spLocks xmlns:a="http://schemas.openxmlformats.org/drawingml/2006/main" noGrp="1"/>
          </p:cNvSpPr>
          <p:nvPr/>
        </p:nvSpPr>
        <p:spPr>
          <a:xfrm xmlns:a="http://schemas.openxmlformats.org/drawingml/2006/main">
            <a:off x="7648575"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val_loss = 0,3197</a:t>
            </a:r>
          </a:p>
        </p:txBody>
      </p:sp>
      <p:sp>
        <p:nvSpPr>
          <p:cNvPr id="20" name="">
            <a:extLst xmlns:a="http://schemas.openxmlformats.org/drawingml/2006/main">
              <a:ext uri="{FF2B5EF4-FFF2-40B4-BE49-F238E27FC236}">
                <a16:creationId xmlns:a16="http://schemas.microsoft.com/office/drawing/2014/main" id="{57AC0F7D-C435-4C02-9B54-E03C193C1740}"/>
              </a:ext>
            </a:extLst>
          </p:cNvPr>
          <p:cNvSpPr>
            <a:spLocks xmlns:a="http://schemas.openxmlformats.org/drawingml/2006/main" noGrp="1"/>
          </p:cNvSpPr>
          <p:nvPr/>
        </p:nvSpPr>
        <p:spPr>
          <a:xfrm xmlns:a="http://schemas.openxmlformats.org/drawingml/2006/main">
            <a:off x="1047750"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BDCDB3BC-E74B-42DF-9DE8-CF86AA63192C}"/>
              </a:ext>
            </a:extLst>
          </p:cNvPr>
          <p:cNvSpPr>
            <a:spLocks xmlns:a="http://schemas.openxmlformats.org/drawingml/2006/main" noGrp="1"/>
          </p:cNvSpPr>
          <p:nvPr/>
        </p:nvSpPr>
        <p:spPr>
          <a:xfrm xmlns:a="http://schemas.openxmlformats.org/drawingml/2006/main">
            <a:off x="1047750" y="3333750"/>
            <a:ext cx="66675" cy="12192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28603A1-E124-4467-8C42-48C298A65B60}"/>
              </a:ext>
            </a:extLst>
          </p:cNvPr>
          <p:cNvSpPr>
            <a:spLocks xmlns:a="http://schemas.openxmlformats.org/drawingml/2006/main" noGrp="1"/>
          </p:cNvSpPr>
          <p:nvPr/>
        </p:nvSpPr>
        <p:spPr>
          <a:xfrm xmlns:a="http://schemas.openxmlformats.org/drawingml/2006/main">
            <a:off x="1276350"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EarlyStopping</a:t>
            </a:r>
          </a:p>
        </p:txBody>
      </p:sp>
      <p:sp>
        <p:nvSpPr>
          <p:cNvPr id="23" name="">
            <a:extLst xmlns:a="http://schemas.openxmlformats.org/drawingml/2006/main">
              <a:ext uri="{FF2B5EF4-FFF2-40B4-BE49-F238E27FC236}">
                <a16:creationId xmlns:a16="http://schemas.microsoft.com/office/drawing/2014/main" id="{62A0374D-5693-4156-AD3A-87A928386E8B}"/>
              </a:ext>
            </a:extLst>
          </p:cNvPr>
          <p:cNvSpPr>
            <a:spLocks xmlns:a="http://schemas.openxmlformats.org/drawingml/2006/main" noGrp="1"/>
          </p:cNvSpPr>
          <p:nvPr/>
        </p:nvSpPr>
        <p:spPr>
          <a:xfrm xmlns:a="http://schemas.openxmlformats.org/drawingml/2006/main">
            <a:off x="1276350"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Surveille val_loss avec patience = 6 et restaure les meilleurs poids. Il limite le surapprentissage.</a:t>
            </a:r>
          </a:p>
        </p:txBody>
      </p:sp>
      <p:sp>
        <p:nvSpPr>
          <p:cNvPr id="24" name="">
            <a:extLst xmlns:a="http://schemas.openxmlformats.org/drawingml/2006/main">
              <a:ext uri="{FF2B5EF4-FFF2-40B4-BE49-F238E27FC236}">
                <a16:creationId xmlns:a16="http://schemas.microsoft.com/office/drawing/2014/main" id="{7D1E220B-0EC1-4EA9-AD6D-1AEB5D18DD1B}"/>
              </a:ext>
            </a:extLst>
          </p:cNvPr>
          <p:cNvSpPr>
            <a:spLocks xmlns:a="http://schemas.openxmlformats.org/drawingml/2006/main" noGrp="1"/>
          </p:cNvSpPr>
          <p:nvPr/>
        </p:nvSpPr>
        <p:spPr>
          <a:xfrm xmlns:a="http://schemas.openxmlformats.org/drawingml/2006/main">
            <a:off x="4619625"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1E14F16F-CD7A-47EC-9280-2E3B9E17B725}"/>
              </a:ext>
            </a:extLst>
          </p:cNvPr>
          <p:cNvSpPr>
            <a:spLocks xmlns:a="http://schemas.openxmlformats.org/drawingml/2006/main" noGrp="1"/>
          </p:cNvSpPr>
          <p:nvPr/>
        </p:nvSpPr>
        <p:spPr>
          <a:xfrm xmlns:a="http://schemas.openxmlformats.org/drawingml/2006/main">
            <a:off x="4619625" y="3333750"/>
            <a:ext cx="66675" cy="12192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9CF79E8-03AD-4829-AF70-DF863D704F82}"/>
              </a:ext>
            </a:extLst>
          </p:cNvPr>
          <p:cNvSpPr>
            <a:spLocks xmlns:a="http://schemas.openxmlformats.org/drawingml/2006/main" noGrp="1"/>
          </p:cNvSpPr>
          <p:nvPr/>
        </p:nvSpPr>
        <p:spPr>
          <a:xfrm xmlns:a="http://schemas.openxmlformats.org/drawingml/2006/main">
            <a:off x="4848225"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ReduceLROnPlateau</a:t>
            </a:r>
          </a:p>
        </p:txBody>
      </p:sp>
      <p:sp>
        <p:nvSpPr>
          <p:cNvPr id="27" name="">
            <a:extLst xmlns:a="http://schemas.openxmlformats.org/drawingml/2006/main">
              <a:ext uri="{FF2B5EF4-FFF2-40B4-BE49-F238E27FC236}">
                <a16:creationId xmlns:a16="http://schemas.microsoft.com/office/drawing/2014/main" id="{58621BBE-624B-452B-820B-FE6E09BA2285}"/>
              </a:ext>
            </a:extLst>
          </p:cNvPr>
          <p:cNvSpPr>
            <a:spLocks xmlns:a="http://schemas.openxmlformats.org/drawingml/2006/main" noGrp="1"/>
          </p:cNvSpPr>
          <p:nvPr/>
        </p:nvSpPr>
        <p:spPr>
          <a:xfrm xmlns:a="http://schemas.openxmlformats.org/drawingml/2006/main">
            <a:off x="4848225"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 val_loss stagne, le learning rate est divisé par 2. Le minimum configuré est 1e-6.</a:t>
            </a:r>
          </a:p>
        </p:txBody>
      </p:sp>
      <p:sp>
        <p:nvSpPr>
          <p:cNvPr id="28" name="">
            <a:extLst xmlns:a="http://schemas.openxmlformats.org/drawingml/2006/main">
              <a:ext uri="{FF2B5EF4-FFF2-40B4-BE49-F238E27FC236}">
                <a16:creationId xmlns:a16="http://schemas.microsoft.com/office/drawing/2014/main" id="{FB14265B-1F8C-428B-9C58-3166010BFA41}"/>
              </a:ext>
            </a:extLst>
          </p:cNvPr>
          <p:cNvSpPr>
            <a:spLocks xmlns:a="http://schemas.openxmlformats.org/drawingml/2006/main" noGrp="1"/>
          </p:cNvSpPr>
          <p:nvPr/>
        </p:nvSpPr>
        <p:spPr>
          <a:xfrm xmlns:a="http://schemas.openxmlformats.org/drawingml/2006/main">
            <a:off x="8191500"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2AD49BB4-236A-4553-BC00-703917DE0773}"/>
              </a:ext>
            </a:extLst>
          </p:cNvPr>
          <p:cNvSpPr>
            <a:spLocks xmlns:a="http://schemas.openxmlformats.org/drawingml/2006/main" noGrp="1"/>
          </p:cNvSpPr>
          <p:nvPr/>
        </p:nvSpPr>
        <p:spPr>
          <a:xfrm xmlns:a="http://schemas.openxmlformats.org/drawingml/2006/main">
            <a:off x="8191500" y="3333750"/>
            <a:ext cx="66675" cy="12192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23E6DD8-D09A-4BC4-9A79-61EA869628BD}"/>
              </a:ext>
            </a:extLst>
          </p:cNvPr>
          <p:cNvSpPr>
            <a:spLocks xmlns:a="http://schemas.openxmlformats.org/drawingml/2006/main" noGrp="1"/>
          </p:cNvSpPr>
          <p:nvPr/>
        </p:nvSpPr>
        <p:spPr>
          <a:xfrm xmlns:a="http://schemas.openxmlformats.org/drawingml/2006/main">
            <a:off x="8420100"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Checkpoints</a:t>
            </a:r>
          </a:p>
        </p:txBody>
      </p:sp>
      <p:sp>
        <p:nvSpPr>
          <p:cNvPr id="31" name="">
            <a:extLst xmlns:a="http://schemas.openxmlformats.org/drawingml/2006/main">
              <a:ext uri="{FF2B5EF4-FFF2-40B4-BE49-F238E27FC236}">
                <a16:creationId xmlns:a16="http://schemas.microsoft.com/office/drawing/2014/main" id="{1D4F9345-8F5E-4D0D-80F5-841AE686E87A}"/>
              </a:ext>
            </a:extLst>
          </p:cNvPr>
          <p:cNvSpPr>
            <a:spLocks xmlns:a="http://schemas.openxmlformats.org/drawingml/2006/main" noGrp="1"/>
          </p:cNvSpPr>
          <p:nvPr/>
        </p:nvSpPr>
        <p:spPr>
          <a:xfrm xmlns:a="http://schemas.openxmlformats.org/drawingml/2006/main">
            <a:off x="8420100"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poids sont sauvegardés après chaque epoch pour reprendre après coupure sans repartir de zéro.</a:t>
            </a:r>
          </a:p>
        </p:txBody>
      </p:sp>
      <p:sp>
        <p:nvSpPr>
          <p:cNvPr id="32" name="">
            <a:extLst xmlns:a="http://schemas.openxmlformats.org/drawingml/2006/main">
              <a:ext uri="{FF2B5EF4-FFF2-40B4-BE49-F238E27FC236}">
                <a16:creationId xmlns:a16="http://schemas.microsoft.com/office/drawing/2014/main" id="{310E6916-16CB-4410-A0BD-E0DE7530FAA1}"/>
              </a:ext>
            </a:extLst>
          </p:cNvPr>
          <p:cNvSpPr>
            <a:spLocks xmlns:a="http://schemas.openxmlformats.org/drawingml/2006/main" noGrp="1"/>
          </p:cNvSpPr>
          <p:nvPr/>
        </p:nvSpPr>
        <p:spPr>
          <a:xfrm xmlns:a="http://schemas.openxmlformats.org/drawingml/2006/main">
            <a:off x="1238250" y="547687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Interprétation : la sélection du modèle n’est pas arbitraire ; elle suit la validation, pas seulement la performance d’entraînement.</a:t>
            </a:r>
          </a:p>
        </p:txBody>
      </p:sp>
      <p:sp>
        <p:nvSpPr>
          <p:cNvPr id="33" name="">
            <a:extLst xmlns:a="http://schemas.openxmlformats.org/drawingml/2006/main">
              <a:ext uri="{FF2B5EF4-FFF2-40B4-BE49-F238E27FC236}">
                <a16:creationId xmlns:a16="http://schemas.microsoft.com/office/drawing/2014/main" id="{89A0564E-009C-4A31-AA55-B45588E7DDF7}"/>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Entraînement</a:t>
            </a:r>
          </a:p>
        </p:txBody>
      </p:sp>
      <p:sp>
        <p:nvSpPr>
          <p:cNvPr id="34" name="">
            <a:extLst xmlns:a="http://schemas.openxmlformats.org/drawingml/2006/main">
              <a:ext uri="{FF2B5EF4-FFF2-40B4-BE49-F238E27FC236}">
                <a16:creationId xmlns:a16="http://schemas.microsoft.com/office/drawing/2014/main" id="{04BDA331-278C-4DF6-BD16-BBD744A06688}"/>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10 / 21</a:t>
            </a:r>
          </a:p>
        </p:txBody>
      </p:sp>
    </p:spTree>
    <p:extLst>
      <p:ext uri="{BB962C8B-B14F-4D97-AF65-F5344CB8AC3E}">
        <p14:creationId xmlns:p14="http://schemas.microsoft.com/office/powerpoint/2010/main" val="3671773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447950-10C2-4AEF-92AC-929E98A3F050}"/>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modèle original détecte bien la violence</a:t>
            </a:r>
          </a:p>
        </p:txBody>
      </p:sp>
      <p:sp>
        <p:nvSpPr>
          <p:cNvPr id="2" name="">
            <a:extLst xmlns:a="http://schemas.openxmlformats.org/drawingml/2006/main">
              <a:ext uri="{FF2B5EF4-FFF2-40B4-BE49-F238E27FC236}">
                <a16:creationId xmlns:a16="http://schemas.microsoft.com/office/drawing/2014/main" id="{E8ADEEEB-5456-424A-9926-921CF7377210}"/>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9AEDCEB-B0F1-4149-8A6B-E9534181A538}"/>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Résultats sur le jeu de test principal de 599 vidéos, θ = 0,50. Les faux positifs restent visibles dans la matrice.</a:t>
            </a:r>
          </a:p>
        </p:txBody>
      </p:sp>
      <p:sp>
        <p:nvSpPr>
          <p:cNvPr id="4" name="">
            <a:extLst xmlns:a="http://schemas.openxmlformats.org/drawingml/2006/main">
              <a:ext uri="{FF2B5EF4-FFF2-40B4-BE49-F238E27FC236}">
                <a16:creationId xmlns:a16="http://schemas.microsoft.com/office/drawing/2014/main" id="{BB4036EF-5711-4945-97D2-0499437AF882}"/>
              </a:ext>
            </a:extLst>
          </p:cNvPr>
          <p:cNvSpPr>
            <a:spLocks xmlns:a="http://schemas.openxmlformats.org/drawingml/2006/main" noGrp="1"/>
          </p:cNvSpPr>
          <p:nvPr/>
        </p:nvSpPr>
        <p:spPr>
          <a:xfrm xmlns:a="http://schemas.openxmlformats.org/drawingml/2006/main">
            <a:off x="6667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5807C860-611C-42AD-90EC-0DB61C310635}"/>
              </a:ext>
            </a:extLst>
          </p:cNvPr>
          <p:cNvSpPr>
            <a:spLocks xmlns:a="http://schemas.openxmlformats.org/drawingml/2006/main" noGrp="1"/>
          </p:cNvSpPr>
          <p:nvPr/>
        </p:nvSpPr>
        <p:spPr>
          <a:xfrm xmlns:a="http://schemas.openxmlformats.org/drawingml/2006/main">
            <a:off x="8382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86,81 %</a:t>
            </a:r>
          </a:p>
        </p:txBody>
      </p:sp>
      <p:sp>
        <p:nvSpPr>
          <p:cNvPr id="6" name="">
            <a:extLst xmlns:a="http://schemas.openxmlformats.org/drawingml/2006/main">
              <a:ext uri="{FF2B5EF4-FFF2-40B4-BE49-F238E27FC236}">
                <a16:creationId xmlns:a16="http://schemas.microsoft.com/office/drawing/2014/main" id="{D62F6A2A-3DB8-4EFE-A483-7627BB17F350}"/>
              </a:ext>
            </a:extLst>
          </p:cNvPr>
          <p:cNvSpPr>
            <a:spLocks xmlns:a="http://schemas.openxmlformats.org/drawingml/2006/main" noGrp="1"/>
          </p:cNvSpPr>
          <p:nvPr/>
        </p:nvSpPr>
        <p:spPr>
          <a:xfrm xmlns:a="http://schemas.openxmlformats.org/drawingml/2006/main">
            <a:off x="8382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Accuracy</a:t>
            </a:r>
          </a:p>
        </p:txBody>
      </p:sp>
      <p:sp>
        <p:nvSpPr>
          <p:cNvPr id="7" name="">
            <a:extLst xmlns:a="http://schemas.openxmlformats.org/drawingml/2006/main">
              <a:ext uri="{FF2B5EF4-FFF2-40B4-BE49-F238E27FC236}">
                <a16:creationId xmlns:a16="http://schemas.microsoft.com/office/drawing/2014/main" id="{1EFB4048-0BDF-4D42-9104-6BBEBF0BF462}"/>
              </a:ext>
            </a:extLst>
          </p:cNvPr>
          <p:cNvSpPr>
            <a:spLocks xmlns:a="http://schemas.openxmlformats.org/drawingml/2006/main" noGrp="1"/>
          </p:cNvSpPr>
          <p:nvPr/>
        </p:nvSpPr>
        <p:spPr>
          <a:xfrm xmlns:a="http://schemas.openxmlformats.org/drawingml/2006/main">
            <a:off x="8382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599 vidéos</a:t>
            </a:r>
          </a:p>
        </p:txBody>
      </p:sp>
      <p:sp>
        <p:nvSpPr>
          <p:cNvPr id="8" name="">
            <a:extLst xmlns:a="http://schemas.openxmlformats.org/drawingml/2006/main">
              <a:ext uri="{FF2B5EF4-FFF2-40B4-BE49-F238E27FC236}">
                <a16:creationId xmlns:a16="http://schemas.microsoft.com/office/drawing/2014/main" id="{7BDFE467-5CE5-4934-AE37-705E18810059}"/>
              </a:ext>
            </a:extLst>
          </p:cNvPr>
          <p:cNvSpPr>
            <a:spLocks xmlns:a="http://schemas.openxmlformats.org/drawingml/2006/main" noGrp="1"/>
          </p:cNvSpPr>
          <p:nvPr/>
        </p:nvSpPr>
        <p:spPr>
          <a:xfrm xmlns:a="http://schemas.openxmlformats.org/drawingml/2006/main">
            <a:off x="247650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A8C01FE8-1D46-4BF5-A43E-856F52A424DC}"/>
              </a:ext>
            </a:extLst>
          </p:cNvPr>
          <p:cNvSpPr>
            <a:spLocks xmlns:a="http://schemas.openxmlformats.org/drawingml/2006/main" noGrp="1"/>
          </p:cNvSpPr>
          <p:nvPr/>
        </p:nvSpPr>
        <p:spPr>
          <a:xfrm xmlns:a="http://schemas.openxmlformats.org/drawingml/2006/main">
            <a:off x="264795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82,74 %</a:t>
            </a:r>
          </a:p>
        </p:txBody>
      </p:sp>
      <p:sp>
        <p:nvSpPr>
          <p:cNvPr id="10" name="">
            <a:extLst xmlns:a="http://schemas.openxmlformats.org/drawingml/2006/main">
              <a:ext uri="{FF2B5EF4-FFF2-40B4-BE49-F238E27FC236}">
                <a16:creationId xmlns:a16="http://schemas.microsoft.com/office/drawing/2014/main" id="{A1F2FB8A-1E9E-4D22-A318-EEE3C032231F}"/>
              </a:ext>
            </a:extLst>
          </p:cNvPr>
          <p:cNvSpPr>
            <a:spLocks xmlns:a="http://schemas.openxmlformats.org/drawingml/2006/main" noGrp="1"/>
          </p:cNvSpPr>
          <p:nvPr/>
        </p:nvSpPr>
        <p:spPr>
          <a:xfrm xmlns:a="http://schemas.openxmlformats.org/drawingml/2006/main">
            <a:off x="264795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Précision</a:t>
            </a:r>
          </a:p>
        </p:txBody>
      </p:sp>
      <p:sp>
        <p:nvSpPr>
          <p:cNvPr id="11" name="">
            <a:extLst xmlns:a="http://schemas.openxmlformats.org/drawingml/2006/main">
              <a:ext uri="{FF2B5EF4-FFF2-40B4-BE49-F238E27FC236}">
                <a16:creationId xmlns:a16="http://schemas.microsoft.com/office/drawing/2014/main" id="{7CDA4688-F58C-40C5-84DD-6853F465E6B8}"/>
              </a:ext>
            </a:extLst>
          </p:cNvPr>
          <p:cNvSpPr>
            <a:spLocks xmlns:a="http://schemas.openxmlformats.org/drawingml/2006/main" noGrp="1"/>
          </p:cNvSpPr>
          <p:nvPr/>
        </p:nvSpPr>
        <p:spPr>
          <a:xfrm xmlns:a="http://schemas.openxmlformats.org/drawingml/2006/main">
            <a:off x="264795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fiabilité des alertes</a:t>
            </a:r>
          </a:p>
        </p:txBody>
      </p:sp>
      <p:sp>
        <p:nvSpPr>
          <p:cNvPr id="12" name="">
            <a:extLst xmlns:a="http://schemas.openxmlformats.org/drawingml/2006/main">
              <a:ext uri="{FF2B5EF4-FFF2-40B4-BE49-F238E27FC236}">
                <a16:creationId xmlns:a16="http://schemas.microsoft.com/office/drawing/2014/main" id="{BB8EA60E-5EAE-4E11-8052-F4DB2AF53ED0}"/>
              </a:ext>
            </a:extLst>
          </p:cNvPr>
          <p:cNvSpPr>
            <a:spLocks xmlns:a="http://schemas.openxmlformats.org/drawingml/2006/main" noGrp="1"/>
          </p:cNvSpPr>
          <p:nvPr/>
        </p:nvSpPr>
        <p:spPr>
          <a:xfrm xmlns:a="http://schemas.openxmlformats.org/drawingml/2006/main">
            <a:off x="42862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F5D860E0-28D2-4651-AC2C-AE648D2805A7}"/>
              </a:ext>
            </a:extLst>
          </p:cNvPr>
          <p:cNvSpPr>
            <a:spLocks xmlns:a="http://schemas.openxmlformats.org/drawingml/2006/main" noGrp="1"/>
          </p:cNvSpPr>
          <p:nvPr/>
        </p:nvSpPr>
        <p:spPr>
          <a:xfrm xmlns:a="http://schemas.openxmlformats.org/drawingml/2006/main">
            <a:off x="44577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92,98 %</a:t>
            </a:r>
          </a:p>
        </p:txBody>
      </p:sp>
      <p:sp>
        <p:nvSpPr>
          <p:cNvPr id="14" name="">
            <a:extLst xmlns:a="http://schemas.openxmlformats.org/drawingml/2006/main">
              <a:ext uri="{FF2B5EF4-FFF2-40B4-BE49-F238E27FC236}">
                <a16:creationId xmlns:a16="http://schemas.microsoft.com/office/drawing/2014/main" id="{06862F3F-70AC-4DC7-9798-1443DD04EA31}"/>
              </a:ext>
            </a:extLst>
          </p:cNvPr>
          <p:cNvSpPr>
            <a:spLocks xmlns:a="http://schemas.openxmlformats.org/drawingml/2006/main" noGrp="1"/>
          </p:cNvSpPr>
          <p:nvPr/>
        </p:nvSpPr>
        <p:spPr>
          <a:xfrm xmlns:a="http://schemas.openxmlformats.org/drawingml/2006/main">
            <a:off x="44577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Rappel</a:t>
            </a:r>
          </a:p>
        </p:txBody>
      </p:sp>
      <p:sp>
        <p:nvSpPr>
          <p:cNvPr id="15" name="">
            <a:extLst xmlns:a="http://schemas.openxmlformats.org/drawingml/2006/main">
              <a:ext uri="{FF2B5EF4-FFF2-40B4-BE49-F238E27FC236}">
                <a16:creationId xmlns:a16="http://schemas.microsoft.com/office/drawing/2014/main" id="{B06AE5CF-6A9F-4601-9647-FA00C798D6EC}"/>
              </a:ext>
            </a:extLst>
          </p:cNvPr>
          <p:cNvSpPr>
            <a:spLocks xmlns:a="http://schemas.openxmlformats.org/drawingml/2006/main" noGrp="1"/>
          </p:cNvSpPr>
          <p:nvPr/>
        </p:nvSpPr>
        <p:spPr>
          <a:xfrm xmlns:a="http://schemas.openxmlformats.org/drawingml/2006/main">
            <a:off x="44577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violences détectées</a:t>
            </a:r>
          </a:p>
        </p:txBody>
      </p:sp>
      <p:sp>
        <p:nvSpPr>
          <p:cNvPr id="16" name="">
            <a:extLst xmlns:a="http://schemas.openxmlformats.org/drawingml/2006/main">
              <a:ext uri="{FF2B5EF4-FFF2-40B4-BE49-F238E27FC236}">
                <a16:creationId xmlns:a16="http://schemas.microsoft.com/office/drawing/2014/main" id="{4479B26F-8E0E-4C4E-A062-2453A23393D5}"/>
              </a:ext>
            </a:extLst>
          </p:cNvPr>
          <p:cNvSpPr>
            <a:spLocks xmlns:a="http://schemas.openxmlformats.org/drawingml/2006/main" noGrp="1"/>
          </p:cNvSpPr>
          <p:nvPr/>
        </p:nvSpPr>
        <p:spPr>
          <a:xfrm xmlns:a="http://schemas.openxmlformats.org/drawingml/2006/main">
            <a:off x="609600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66BF854-39AA-4D35-90B4-CDE59B95B34D}"/>
              </a:ext>
            </a:extLst>
          </p:cNvPr>
          <p:cNvSpPr>
            <a:spLocks xmlns:a="http://schemas.openxmlformats.org/drawingml/2006/main" noGrp="1"/>
          </p:cNvSpPr>
          <p:nvPr/>
        </p:nvSpPr>
        <p:spPr>
          <a:xfrm xmlns:a="http://schemas.openxmlformats.org/drawingml/2006/main">
            <a:off x="626745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87,56 %</a:t>
            </a:r>
          </a:p>
        </p:txBody>
      </p:sp>
      <p:sp>
        <p:nvSpPr>
          <p:cNvPr id="18" name="">
            <a:extLst xmlns:a="http://schemas.openxmlformats.org/drawingml/2006/main">
              <a:ext uri="{FF2B5EF4-FFF2-40B4-BE49-F238E27FC236}">
                <a16:creationId xmlns:a16="http://schemas.microsoft.com/office/drawing/2014/main" id="{B88CE187-8D26-46AD-866D-AEEDF1B64CCA}"/>
              </a:ext>
            </a:extLst>
          </p:cNvPr>
          <p:cNvSpPr>
            <a:spLocks xmlns:a="http://schemas.openxmlformats.org/drawingml/2006/main" noGrp="1"/>
          </p:cNvSpPr>
          <p:nvPr/>
        </p:nvSpPr>
        <p:spPr>
          <a:xfrm xmlns:a="http://schemas.openxmlformats.org/drawingml/2006/main">
            <a:off x="626745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F1-score</a:t>
            </a:r>
          </a:p>
        </p:txBody>
      </p:sp>
      <p:sp>
        <p:nvSpPr>
          <p:cNvPr id="19" name="">
            <a:extLst xmlns:a="http://schemas.openxmlformats.org/drawingml/2006/main">
              <a:ext uri="{FF2B5EF4-FFF2-40B4-BE49-F238E27FC236}">
                <a16:creationId xmlns:a16="http://schemas.microsoft.com/office/drawing/2014/main" id="{1CDF70B0-4C40-4DA7-ACAC-61AFA3137C49}"/>
              </a:ext>
            </a:extLst>
          </p:cNvPr>
          <p:cNvSpPr>
            <a:spLocks xmlns:a="http://schemas.openxmlformats.org/drawingml/2006/main" noGrp="1"/>
          </p:cNvSpPr>
          <p:nvPr/>
        </p:nvSpPr>
        <p:spPr>
          <a:xfrm xmlns:a="http://schemas.openxmlformats.org/drawingml/2006/main">
            <a:off x="626745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équilibre global</a:t>
            </a:r>
          </a:p>
        </p:txBody>
      </p:sp>
      <p:sp>
        <p:nvSpPr>
          <p:cNvPr id="20" name="">
            <a:extLst xmlns:a="http://schemas.openxmlformats.org/drawingml/2006/main">
              <a:ext uri="{FF2B5EF4-FFF2-40B4-BE49-F238E27FC236}">
                <a16:creationId xmlns:a16="http://schemas.microsoft.com/office/drawing/2014/main" id="{3BE2E7D0-017E-432E-94E8-29BD9C7CF9B9}"/>
              </a:ext>
            </a:extLst>
          </p:cNvPr>
          <p:cNvSpPr>
            <a:spLocks xmlns:a="http://schemas.openxmlformats.org/drawingml/2006/main" noGrp="1"/>
          </p:cNvSpPr>
          <p:nvPr/>
        </p:nvSpPr>
        <p:spPr>
          <a:xfrm xmlns:a="http://schemas.openxmlformats.org/drawingml/2006/main">
            <a:off x="79057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F6143149-2CFA-4AAD-897A-61B17CD45B32}"/>
              </a:ext>
            </a:extLst>
          </p:cNvPr>
          <p:cNvSpPr>
            <a:spLocks xmlns:a="http://schemas.openxmlformats.org/drawingml/2006/main" noGrp="1"/>
          </p:cNvSpPr>
          <p:nvPr/>
        </p:nvSpPr>
        <p:spPr>
          <a:xfrm xmlns:a="http://schemas.openxmlformats.org/drawingml/2006/main">
            <a:off x="80772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0,9446</a:t>
            </a:r>
          </a:p>
        </p:txBody>
      </p:sp>
      <p:sp>
        <p:nvSpPr>
          <p:cNvPr id="22" name="">
            <a:extLst xmlns:a="http://schemas.openxmlformats.org/drawingml/2006/main">
              <a:ext uri="{FF2B5EF4-FFF2-40B4-BE49-F238E27FC236}">
                <a16:creationId xmlns:a16="http://schemas.microsoft.com/office/drawing/2014/main" id="{7B948BD5-89F8-4094-8E64-40B80107BCA7}"/>
              </a:ext>
            </a:extLst>
          </p:cNvPr>
          <p:cNvSpPr>
            <a:spLocks xmlns:a="http://schemas.openxmlformats.org/drawingml/2006/main" noGrp="1"/>
          </p:cNvSpPr>
          <p:nvPr/>
        </p:nvSpPr>
        <p:spPr>
          <a:xfrm xmlns:a="http://schemas.openxmlformats.org/drawingml/2006/main">
            <a:off x="80772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ROC-AUC</a:t>
            </a:r>
          </a:p>
        </p:txBody>
      </p:sp>
      <p:sp>
        <p:nvSpPr>
          <p:cNvPr id="23" name="">
            <a:extLst xmlns:a="http://schemas.openxmlformats.org/drawingml/2006/main">
              <a:ext uri="{FF2B5EF4-FFF2-40B4-BE49-F238E27FC236}">
                <a16:creationId xmlns:a16="http://schemas.microsoft.com/office/drawing/2014/main" id="{5EFBDF4C-D33E-4412-972C-D83BD8F5AE0A}"/>
              </a:ext>
            </a:extLst>
          </p:cNvPr>
          <p:cNvSpPr>
            <a:spLocks xmlns:a="http://schemas.openxmlformats.org/drawingml/2006/main" noGrp="1"/>
          </p:cNvSpPr>
          <p:nvPr/>
        </p:nvSpPr>
        <p:spPr>
          <a:xfrm xmlns:a="http://schemas.openxmlformats.org/drawingml/2006/main">
            <a:off x="80772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séparation forte</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870cdb214f74065"/>
          <a:stretch xmlns:a="http://schemas.openxmlformats.org/drawingml/2006/main"/>
        </p:blipFill>
        <p:spPr>
          <a:xfrm xmlns:a="http://schemas.openxmlformats.org/drawingml/2006/main">
            <a:off x="952500" y="3348055"/>
            <a:ext cx="4238625" cy="1971639"/>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18BF4940-9619-43C9-B9A0-F47185105359}"/>
              </a:ext>
            </a:extLst>
          </p:cNvPr>
          <p:cNvSpPr>
            <a:spLocks xmlns:a="http://schemas.openxmlformats.org/drawingml/2006/main" noGrp="1"/>
          </p:cNvSpPr>
          <p:nvPr/>
        </p:nvSpPr>
        <p:spPr>
          <a:xfrm xmlns:a="http://schemas.openxmlformats.org/drawingml/2006/main">
            <a:off x="5810250" y="3257550"/>
            <a:ext cx="4762500" cy="1809750"/>
          </a:xfrm>
          <a:prstGeom xmlns:a="http://schemas.openxmlformats.org/drawingml/2006/main" prst="roundRect">
            <a:avLst>
              <a:gd name="adj" fmla="val 4211"/>
            </a:avLst>
          </a:prstGeom>
          <a:solidFill xmlns:a="http://schemas.openxmlformats.org/drawingml/2006/main">
            <a:srgbClr val="EEF5FA"/>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CB6C7247-E1B3-409E-ABB8-27D1A4C3A62A}"/>
              </a:ext>
            </a:extLst>
          </p:cNvPr>
          <p:cNvSpPr>
            <a:spLocks xmlns:a="http://schemas.openxmlformats.org/drawingml/2006/main" noGrp="1"/>
          </p:cNvSpPr>
          <p:nvPr/>
        </p:nvSpPr>
        <p:spPr>
          <a:xfrm xmlns:a="http://schemas.openxmlformats.org/drawingml/2006/main">
            <a:off x="6076950" y="34766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Ce que dit la matrice</a:t>
            </a:r>
          </a:p>
        </p:txBody>
      </p:sp>
      <p:sp>
        <p:nvSpPr>
          <p:cNvPr id="27" name="">
            <a:extLst xmlns:a="http://schemas.openxmlformats.org/drawingml/2006/main">
              <a:ext uri="{FF2B5EF4-FFF2-40B4-BE49-F238E27FC236}">
                <a16:creationId xmlns:a16="http://schemas.microsoft.com/office/drawing/2014/main" id="{35058A03-EAE1-401E-BF66-CEB7B3C27AAE}"/>
              </a:ext>
            </a:extLst>
          </p:cNvPr>
          <p:cNvSpPr>
            <a:spLocks xmlns:a="http://schemas.openxmlformats.org/drawingml/2006/main" noGrp="1"/>
          </p:cNvSpPr>
          <p:nvPr/>
        </p:nvSpPr>
        <p:spPr>
          <a:xfrm xmlns:a="http://schemas.openxmlformats.org/drawingml/2006/main">
            <a:off x="6076950" y="3857625"/>
            <a:ext cx="4095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 Le rappel est élevé : SIRCH rate peu de vraies violences.</a:t>
            </a:r>
          </a:p>
          <a:p xmlns:a="http://schemas.openxmlformats.org/drawingml/2006/main">
            <a:pPr algn="l">
              <a:defRPr sz="1125" b="0" i="0">
                <a:solidFill>
                  <a:srgbClr val="102033"/>
                </a:solidFill>
              </a:defRPr>
            </a:pPr>
            <a:r>
              <a:rPr sz="1125" b="0" i="0">
                <a:solidFill>
                  <a:srgbClr val="102033"/>
                </a:solidFill>
              </a:rPr>
              <a:t>• Les 58 faux positifs montrent que certaines scènes non violentes restent confondues avec la violence.</a:t>
            </a:r>
          </a:p>
          <a:p xmlns:a="http://schemas.openxmlformats.org/drawingml/2006/main">
            <a:pPr algn="l">
              <a:defRPr sz="1125" b="0" i="0">
                <a:solidFill>
                  <a:srgbClr val="102033"/>
                </a:solidFill>
              </a:defRPr>
            </a:pPr>
            <a:r>
              <a:rPr sz="1125" b="0" i="0">
                <a:solidFill>
                  <a:srgbClr val="102033"/>
                </a:solidFill>
              </a:rPr>
              <a:t>• Le score global est donc bon, mais il faut regarder la nature des erreurs.</a:t>
            </a:r>
          </a:p>
        </p:txBody>
      </p:sp>
      <p:sp>
        <p:nvSpPr>
          <p:cNvPr id="28" name="">
            <a:extLst xmlns:a="http://schemas.openxmlformats.org/drawingml/2006/main">
              <a:ext uri="{FF2B5EF4-FFF2-40B4-BE49-F238E27FC236}">
                <a16:creationId xmlns:a16="http://schemas.microsoft.com/office/drawing/2014/main" id="{D5A0530E-84CE-443D-B2DB-C01F465A9CF8}"/>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Résultats principaux</a:t>
            </a:r>
          </a:p>
        </p:txBody>
      </p:sp>
      <p:sp>
        <p:nvSpPr>
          <p:cNvPr id="29" name="">
            <a:extLst xmlns:a="http://schemas.openxmlformats.org/drawingml/2006/main">
              <a:ext uri="{FF2B5EF4-FFF2-40B4-BE49-F238E27FC236}">
                <a16:creationId xmlns:a16="http://schemas.microsoft.com/office/drawing/2014/main" id="{B7A5E1FD-D1A9-4B2A-97A2-8062D9387AD5}"/>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11 / 21</a:t>
            </a:r>
          </a:p>
        </p:txBody>
      </p:sp>
    </p:spTree>
    <p:extLst>
      <p:ext uri="{BB962C8B-B14F-4D97-AF65-F5344CB8AC3E}">
        <p14:creationId xmlns:p14="http://schemas.microsoft.com/office/powerpoint/2010/main" val="13065085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8862E2-B3EC-4D6B-8C36-E58116D6D38C}"/>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modèle augmenté améliore le test principal</a:t>
            </a:r>
          </a:p>
        </p:txBody>
      </p:sp>
      <p:sp>
        <p:nvSpPr>
          <p:cNvPr id="2" name="">
            <a:extLst xmlns:a="http://schemas.openxmlformats.org/drawingml/2006/main">
              <a:ext uri="{FF2B5EF4-FFF2-40B4-BE49-F238E27FC236}">
                <a16:creationId xmlns:a16="http://schemas.microsoft.com/office/drawing/2014/main" id="{6D5F9671-9F29-4F7C-BEEA-811327FF641F}"/>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151ADB-988C-452B-A7E2-0BD4F79E60E5}"/>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L’enrichissement de données améliore les scores globaux ; les faux positifs hors contexte restent à surveiller.</a:t>
            </a:r>
          </a:p>
        </p:txBody>
      </p:sp>
      <p:sp>
        <p:nvSpPr>
          <p:cNvPr id="4" name="">
            <a:extLst xmlns:a="http://schemas.openxmlformats.org/drawingml/2006/main">
              <a:ext uri="{FF2B5EF4-FFF2-40B4-BE49-F238E27FC236}">
                <a16:creationId xmlns:a16="http://schemas.microsoft.com/office/drawing/2014/main" id="{124BAA26-9A0B-433F-A4A3-308BF9011FD1}"/>
              </a:ext>
            </a:extLst>
          </p:cNvPr>
          <p:cNvSpPr>
            <a:spLocks xmlns:a="http://schemas.openxmlformats.org/drawingml/2006/main" noGrp="1"/>
          </p:cNvSpPr>
          <p:nvPr/>
        </p:nvSpPr>
        <p:spPr>
          <a:xfrm xmlns:a="http://schemas.openxmlformats.org/drawingml/2006/main">
            <a:off x="666750" y="1619250"/>
            <a:ext cx="20955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BBFCEBD3-BA48-474E-B49D-72EBA7BE397E}"/>
              </a:ext>
            </a:extLst>
          </p:cNvPr>
          <p:cNvSpPr>
            <a:spLocks xmlns:a="http://schemas.openxmlformats.org/drawingml/2006/main" noGrp="1"/>
          </p:cNvSpPr>
          <p:nvPr/>
        </p:nvSpPr>
        <p:spPr>
          <a:xfrm xmlns:a="http://schemas.openxmlformats.org/drawingml/2006/main">
            <a:off x="742950" y="17145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Modèle</a:t>
            </a:r>
          </a:p>
        </p:txBody>
      </p:sp>
      <p:sp>
        <p:nvSpPr>
          <p:cNvPr id="6" name="">
            <a:extLst xmlns:a="http://schemas.openxmlformats.org/drawingml/2006/main">
              <a:ext uri="{FF2B5EF4-FFF2-40B4-BE49-F238E27FC236}">
                <a16:creationId xmlns:a16="http://schemas.microsoft.com/office/drawing/2014/main" id="{DDBCE65E-3F9D-403D-A09B-4194F7AF5C96}"/>
              </a:ext>
            </a:extLst>
          </p:cNvPr>
          <p:cNvSpPr>
            <a:spLocks xmlns:a="http://schemas.openxmlformats.org/drawingml/2006/main" noGrp="1"/>
          </p:cNvSpPr>
          <p:nvPr/>
        </p:nvSpPr>
        <p:spPr>
          <a:xfrm xmlns:a="http://schemas.openxmlformats.org/drawingml/2006/main">
            <a:off x="27622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CBEE412A-30E6-4F51-8115-A9CB87B898A5}"/>
              </a:ext>
            </a:extLst>
          </p:cNvPr>
          <p:cNvSpPr>
            <a:spLocks xmlns:a="http://schemas.openxmlformats.org/drawingml/2006/main" noGrp="1"/>
          </p:cNvSpPr>
          <p:nvPr/>
        </p:nvSpPr>
        <p:spPr>
          <a:xfrm xmlns:a="http://schemas.openxmlformats.org/drawingml/2006/main">
            <a:off x="28384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Accuracy</a:t>
            </a:r>
          </a:p>
        </p:txBody>
      </p:sp>
      <p:sp>
        <p:nvSpPr>
          <p:cNvPr id="8" name="">
            <a:extLst xmlns:a="http://schemas.openxmlformats.org/drawingml/2006/main">
              <a:ext uri="{FF2B5EF4-FFF2-40B4-BE49-F238E27FC236}">
                <a16:creationId xmlns:a16="http://schemas.microsoft.com/office/drawing/2014/main" id="{8F51049F-6F5B-4B71-BAF6-F6D429F90A27}"/>
              </a:ext>
            </a:extLst>
          </p:cNvPr>
          <p:cNvSpPr>
            <a:spLocks xmlns:a="http://schemas.openxmlformats.org/drawingml/2006/main" noGrp="1"/>
          </p:cNvSpPr>
          <p:nvPr/>
        </p:nvSpPr>
        <p:spPr>
          <a:xfrm xmlns:a="http://schemas.openxmlformats.org/drawingml/2006/main">
            <a:off x="419100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67609D07-6D4A-47E1-B858-C3E77FAF6F52}"/>
              </a:ext>
            </a:extLst>
          </p:cNvPr>
          <p:cNvSpPr>
            <a:spLocks xmlns:a="http://schemas.openxmlformats.org/drawingml/2006/main" noGrp="1"/>
          </p:cNvSpPr>
          <p:nvPr/>
        </p:nvSpPr>
        <p:spPr>
          <a:xfrm xmlns:a="http://schemas.openxmlformats.org/drawingml/2006/main">
            <a:off x="426720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Précision</a:t>
            </a:r>
          </a:p>
        </p:txBody>
      </p:sp>
      <p:sp>
        <p:nvSpPr>
          <p:cNvPr id="10" name="">
            <a:extLst xmlns:a="http://schemas.openxmlformats.org/drawingml/2006/main">
              <a:ext uri="{FF2B5EF4-FFF2-40B4-BE49-F238E27FC236}">
                <a16:creationId xmlns:a16="http://schemas.microsoft.com/office/drawing/2014/main" id="{D093B137-CF58-4DEE-AC63-487CCBDB29F0}"/>
              </a:ext>
            </a:extLst>
          </p:cNvPr>
          <p:cNvSpPr>
            <a:spLocks xmlns:a="http://schemas.openxmlformats.org/drawingml/2006/main" noGrp="1"/>
          </p:cNvSpPr>
          <p:nvPr/>
        </p:nvSpPr>
        <p:spPr>
          <a:xfrm xmlns:a="http://schemas.openxmlformats.org/drawingml/2006/main">
            <a:off x="56197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953EBA2F-4336-4C90-B4F8-1F9C5145995F}"/>
              </a:ext>
            </a:extLst>
          </p:cNvPr>
          <p:cNvSpPr>
            <a:spLocks xmlns:a="http://schemas.openxmlformats.org/drawingml/2006/main" noGrp="1"/>
          </p:cNvSpPr>
          <p:nvPr/>
        </p:nvSpPr>
        <p:spPr>
          <a:xfrm xmlns:a="http://schemas.openxmlformats.org/drawingml/2006/main">
            <a:off x="56959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Rappel</a:t>
            </a:r>
          </a:p>
        </p:txBody>
      </p:sp>
      <p:sp>
        <p:nvSpPr>
          <p:cNvPr id="12" name="">
            <a:extLst xmlns:a="http://schemas.openxmlformats.org/drawingml/2006/main">
              <a:ext uri="{FF2B5EF4-FFF2-40B4-BE49-F238E27FC236}">
                <a16:creationId xmlns:a16="http://schemas.microsoft.com/office/drawing/2014/main" id="{92678E1C-940A-4762-AD23-2D2B03E14684}"/>
              </a:ext>
            </a:extLst>
          </p:cNvPr>
          <p:cNvSpPr>
            <a:spLocks xmlns:a="http://schemas.openxmlformats.org/drawingml/2006/main" noGrp="1"/>
          </p:cNvSpPr>
          <p:nvPr/>
        </p:nvSpPr>
        <p:spPr>
          <a:xfrm xmlns:a="http://schemas.openxmlformats.org/drawingml/2006/main">
            <a:off x="704850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749C029D-263D-48CA-BFC6-B3D4549BBB6D}"/>
              </a:ext>
            </a:extLst>
          </p:cNvPr>
          <p:cNvSpPr>
            <a:spLocks xmlns:a="http://schemas.openxmlformats.org/drawingml/2006/main" noGrp="1"/>
          </p:cNvSpPr>
          <p:nvPr/>
        </p:nvSpPr>
        <p:spPr>
          <a:xfrm xmlns:a="http://schemas.openxmlformats.org/drawingml/2006/main">
            <a:off x="712470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F1</a:t>
            </a:r>
          </a:p>
        </p:txBody>
      </p:sp>
      <p:sp>
        <p:nvSpPr>
          <p:cNvPr id="14" name="">
            <a:extLst xmlns:a="http://schemas.openxmlformats.org/drawingml/2006/main">
              <a:ext uri="{FF2B5EF4-FFF2-40B4-BE49-F238E27FC236}">
                <a16:creationId xmlns:a16="http://schemas.microsoft.com/office/drawing/2014/main" id="{30C199F4-072B-4A3C-A81F-18BF1816ED57}"/>
              </a:ext>
            </a:extLst>
          </p:cNvPr>
          <p:cNvSpPr>
            <a:spLocks xmlns:a="http://schemas.openxmlformats.org/drawingml/2006/main" noGrp="1"/>
          </p:cNvSpPr>
          <p:nvPr/>
        </p:nvSpPr>
        <p:spPr>
          <a:xfrm xmlns:a="http://schemas.openxmlformats.org/drawingml/2006/main">
            <a:off x="84772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0314C424-908D-4BF1-A3C1-B2BBA32E9A9B}"/>
              </a:ext>
            </a:extLst>
          </p:cNvPr>
          <p:cNvSpPr>
            <a:spLocks xmlns:a="http://schemas.openxmlformats.org/drawingml/2006/main" noGrp="1"/>
          </p:cNvSpPr>
          <p:nvPr/>
        </p:nvSpPr>
        <p:spPr>
          <a:xfrm xmlns:a="http://schemas.openxmlformats.org/drawingml/2006/main">
            <a:off x="85534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ROC-AUC</a:t>
            </a:r>
          </a:p>
        </p:txBody>
      </p:sp>
      <p:sp>
        <p:nvSpPr>
          <p:cNvPr id="16" name="">
            <a:extLst xmlns:a="http://schemas.openxmlformats.org/drawingml/2006/main">
              <a:ext uri="{FF2B5EF4-FFF2-40B4-BE49-F238E27FC236}">
                <a16:creationId xmlns:a16="http://schemas.microsoft.com/office/drawing/2014/main" id="{509A38FE-6BEA-4BE1-B412-083DA21604C2}"/>
              </a:ext>
            </a:extLst>
          </p:cNvPr>
          <p:cNvSpPr>
            <a:spLocks xmlns:a="http://schemas.openxmlformats.org/drawingml/2006/main" noGrp="1"/>
          </p:cNvSpPr>
          <p:nvPr/>
        </p:nvSpPr>
        <p:spPr>
          <a:xfrm xmlns:a="http://schemas.openxmlformats.org/drawingml/2006/main">
            <a:off x="666750" y="2133600"/>
            <a:ext cx="2095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BBF65700-9FAF-4FDA-B626-D8208DAF145E}"/>
              </a:ext>
            </a:extLst>
          </p:cNvPr>
          <p:cNvSpPr>
            <a:spLocks xmlns:a="http://schemas.openxmlformats.org/drawingml/2006/main" noGrp="1"/>
          </p:cNvSpPr>
          <p:nvPr/>
        </p:nvSpPr>
        <p:spPr>
          <a:xfrm xmlns:a="http://schemas.openxmlformats.org/drawingml/2006/main">
            <a:off x="742950" y="22288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Original</a:t>
            </a:r>
          </a:p>
        </p:txBody>
      </p:sp>
      <p:sp>
        <p:nvSpPr>
          <p:cNvPr id="18" name="">
            <a:extLst xmlns:a="http://schemas.openxmlformats.org/drawingml/2006/main">
              <a:ext uri="{FF2B5EF4-FFF2-40B4-BE49-F238E27FC236}">
                <a16:creationId xmlns:a16="http://schemas.microsoft.com/office/drawing/2014/main" id="{48142834-38A2-493F-B881-F36CC96DDB21}"/>
              </a:ext>
            </a:extLst>
          </p:cNvPr>
          <p:cNvSpPr>
            <a:spLocks xmlns:a="http://schemas.openxmlformats.org/drawingml/2006/main" noGrp="1"/>
          </p:cNvSpPr>
          <p:nvPr/>
        </p:nvSpPr>
        <p:spPr>
          <a:xfrm xmlns:a="http://schemas.openxmlformats.org/drawingml/2006/main">
            <a:off x="27622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D602873A-2E39-42D6-A202-57CC1C627518}"/>
              </a:ext>
            </a:extLst>
          </p:cNvPr>
          <p:cNvSpPr>
            <a:spLocks xmlns:a="http://schemas.openxmlformats.org/drawingml/2006/main" noGrp="1"/>
          </p:cNvSpPr>
          <p:nvPr/>
        </p:nvSpPr>
        <p:spPr>
          <a:xfrm xmlns:a="http://schemas.openxmlformats.org/drawingml/2006/main">
            <a:off x="28384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86,81 %</a:t>
            </a:r>
          </a:p>
        </p:txBody>
      </p:sp>
      <p:sp>
        <p:nvSpPr>
          <p:cNvPr id="20" name="">
            <a:extLst xmlns:a="http://schemas.openxmlformats.org/drawingml/2006/main">
              <a:ext uri="{FF2B5EF4-FFF2-40B4-BE49-F238E27FC236}">
                <a16:creationId xmlns:a16="http://schemas.microsoft.com/office/drawing/2014/main" id="{0C295665-2FD2-4BC0-ADF2-650899DE200C}"/>
              </a:ext>
            </a:extLst>
          </p:cNvPr>
          <p:cNvSpPr>
            <a:spLocks xmlns:a="http://schemas.openxmlformats.org/drawingml/2006/main" noGrp="1"/>
          </p:cNvSpPr>
          <p:nvPr/>
        </p:nvSpPr>
        <p:spPr>
          <a:xfrm xmlns:a="http://schemas.openxmlformats.org/drawingml/2006/main">
            <a:off x="419100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9233A729-7FC9-4654-A648-D9D7417EA1D5}"/>
              </a:ext>
            </a:extLst>
          </p:cNvPr>
          <p:cNvSpPr>
            <a:spLocks xmlns:a="http://schemas.openxmlformats.org/drawingml/2006/main" noGrp="1"/>
          </p:cNvSpPr>
          <p:nvPr/>
        </p:nvSpPr>
        <p:spPr>
          <a:xfrm xmlns:a="http://schemas.openxmlformats.org/drawingml/2006/main">
            <a:off x="426720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82,74 %</a:t>
            </a:r>
          </a:p>
        </p:txBody>
      </p:sp>
      <p:sp>
        <p:nvSpPr>
          <p:cNvPr id="22" name="">
            <a:extLst xmlns:a="http://schemas.openxmlformats.org/drawingml/2006/main">
              <a:ext uri="{FF2B5EF4-FFF2-40B4-BE49-F238E27FC236}">
                <a16:creationId xmlns:a16="http://schemas.microsoft.com/office/drawing/2014/main" id="{C640E93B-D614-4043-919F-BB071E7EE2D3}"/>
              </a:ext>
            </a:extLst>
          </p:cNvPr>
          <p:cNvSpPr>
            <a:spLocks xmlns:a="http://schemas.openxmlformats.org/drawingml/2006/main" noGrp="1"/>
          </p:cNvSpPr>
          <p:nvPr/>
        </p:nvSpPr>
        <p:spPr>
          <a:xfrm xmlns:a="http://schemas.openxmlformats.org/drawingml/2006/main">
            <a:off x="56197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364ED0CD-0BD4-45D5-8D88-18FD12EF3286}"/>
              </a:ext>
            </a:extLst>
          </p:cNvPr>
          <p:cNvSpPr>
            <a:spLocks xmlns:a="http://schemas.openxmlformats.org/drawingml/2006/main" noGrp="1"/>
          </p:cNvSpPr>
          <p:nvPr/>
        </p:nvSpPr>
        <p:spPr>
          <a:xfrm xmlns:a="http://schemas.openxmlformats.org/drawingml/2006/main">
            <a:off x="56959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92,98 %</a:t>
            </a:r>
          </a:p>
        </p:txBody>
      </p:sp>
      <p:sp>
        <p:nvSpPr>
          <p:cNvPr id="24" name="">
            <a:extLst xmlns:a="http://schemas.openxmlformats.org/drawingml/2006/main">
              <a:ext uri="{FF2B5EF4-FFF2-40B4-BE49-F238E27FC236}">
                <a16:creationId xmlns:a16="http://schemas.microsoft.com/office/drawing/2014/main" id="{9059025E-2F8F-4E8E-AC66-78D0A96D0834}"/>
              </a:ext>
            </a:extLst>
          </p:cNvPr>
          <p:cNvSpPr>
            <a:spLocks xmlns:a="http://schemas.openxmlformats.org/drawingml/2006/main" noGrp="1"/>
          </p:cNvSpPr>
          <p:nvPr/>
        </p:nvSpPr>
        <p:spPr>
          <a:xfrm xmlns:a="http://schemas.openxmlformats.org/drawingml/2006/main">
            <a:off x="704850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94EE8D92-B062-404D-BB7A-7B8960EA99AF}"/>
              </a:ext>
            </a:extLst>
          </p:cNvPr>
          <p:cNvSpPr>
            <a:spLocks xmlns:a="http://schemas.openxmlformats.org/drawingml/2006/main" noGrp="1"/>
          </p:cNvSpPr>
          <p:nvPr/>
        </p:nvSpPr>
        <p:spPr>
          <a:xfrm xmlns:a="http://schemas.openxmlformats.org/drawingml/2006/main">
            <a:off x="712470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87,56 %</a:t>
            </a:r>
          </a:p>
        </p:txBody>
      </p:sp>
      <p:sp>
        <p:nvSpPr>
          <p:cNvPr id="26" name="">
            <a:extLst xmlns:a="http://schemas.openxmlformats.org/drawingml/2006/main">
              <a:ext uri="{FF2B5EF4-FFF2-40B4-BE49-F238E27FC236}">
                <a16:creationId xmlns:a16="http://schemas.microsoft.com/office/drawing/2014/main" id="{8BACF6AB-C646-4D8E-94CD-1159C7DF5796}"/>
              </a:ext>
            </a:extLst>
          </p:cNvPr>
          <p:cNvSpPr>
            <a:spLocks xmlns:a="http://schemas.openxmlformats.org/drawingml/2006/main" noGrp="1"/>
          </p:cNvSpPr>
          <p:nvPr/>
        </p:nvSpPr>
        <p:spPr>
          <a:xfrm xmlns:a="http://schemas.openxmlformats.org/drawingml/2006/main">
            <a:off x="84772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DDC8D7DB-3DDB-4076-95EE-9C945076E3E0}"/>
              </a:ext>
            </a:extLst>
          </p:cNvPr>
          <p:cNvSpPr>
            <a:spLocks xmlns:a="http://schemas.openxmlformats.org/drawingml/2006/main" noGrp="1"/>
          </p:cNvSpPr>
          <p:nvPr/>
        </p:nvSpPr>
        <p:spPr>
          <a:xfrm xmlns:a="http://schemas.openxmlformats.org/drawingml/2006/main">
            <a:off x="85534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0,9446</a:t>
            </a:r>
          </a:p>
        </p:txBody>
      </p:sp>
      <p:sp>
        <p:nvSpPr>
          <p:cNvPr id="28" name="">
            <a:extLst xmlns:a="http://schemas.openxmlformats.org/drawingml/2006/main">
              <a:ext uri="{FF2B5EF4-FFF2-40B4-BE49-F238E27FC236}">
                <a16:creationId xmlns:a16="http://schemas.microsoft.com/office/drawing/2014/main" id="{016C89EF-03AF-49FB-8CF4-92B0D4518277}"/>
              </a:ext>
            </a:extLst>
          </p:cNvPr>
          <p:cNvSpPr>
            <a:spLocks xmlns:a="http://schemas.openxmlformats.org/drawingml/2006/main" noGrp="1"/>
          </p:cNvSpPr>
          <p:nvPr/>
        </p:nvSpPr>
        <p:spPr>
          <a:xfrm xmlns:a="http://schemas.openxmlformats.org/drawingml/2006/main">
            <a:off x="666750" y="2647950"/>
            <a:ext cx="209550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359D3C0E-800E-4054-9D44-32B065B8AB36}"/>
              </a:ext>
            </a:extLst>
          </p:cNvPr>
          <p:cNvSpPr>
            <a:spLocks xmlns:a="http://schemas.openxmlformats.org/drawingml/2006/main" noGrp="1"/>
          </p:cNvSpPr>
          <p:nvPr/>
        </p:nvSpPr>
        <p:spPr>
          <a:xfrm xmlns:a="http://schemas.openxmlformats.org/drawingml/2006/main">
            <a:off x="742950" y="27432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Augmenté</a:t>
            </a:r>
          </a:p>
        </p:txBody>
      </p:sp>
      <p:sp>
        <p:nvSpPr>
          <p:cNvPr id="30" name="">
            <a:extLst xmlns:a="http://schemas.openxmlformats.org/drawingml/2006/main">
              <a:ext uri="{FF2B5EF4-FFF2-40B4-BE49-F238E27FC236}">
                <a16:creationId xmlns:a16="http://schemas.microsoft.com/office/drawing/2014/main" id="{D9656324-2E53-45CE-96E1-8001CB7238D6}"/>
              </a:ext>
            </a:extLst>
          </p:cNvPr>
          <p:cNvSpPr>
            <a:spLocks xmlns:a="http://schemas.openxmlformats.org/drawingml/2006/main" noGrp="1"/>
          </p:cNvSpPr>
          <p:nvPr/>
        </p:nvSpPr>
        <p:spPr>
          <a:xfrm xmlns:a="http://schemas.openxmlformats.org/drawingml/2006/main">
            <a:off x="27622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C2C388C8-73D4-4071-9E63-9B0DA35AE039}"/>
              </a:ext>
            </a:extLst>
          </p:cNvPr>
          <p:cNvSpPr>
            <a:spLocks xmlns:a="http://schemas.openxmlformats.org/drawingml/2006/main" noGrp="1"/>
          </p:cNvSpPr>
          <p:nvPr/>
        </p:nvSpPr>
        <p:spPr>
          <a:xfrm xmlns:a="http://schemas.openxmlformats.org/drawingml/2006/main">
            <a:off x="28384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91,99 %</a:t>
            </a:r>
          </a:p>
        </p:txBody>
      </p:sp>
      <p:sp>
        <p:nvSpPr>
          <p:cNvPr id="32" name="">
            <a:extLst xmlns:a="http://schemas.openxmlformats.org/drawingml/2006/main">
              <a:ext uri="{FF2B5EF4-FFF2-40B4-BE49-F238E27FC236}">
                <a16:creationId xmlns:a16="http://schemas.microsoft.com/office/drawing/2014/main" id="{0A3E4714-7648-4391-9F79-2DDE0311CC44}"/>
              </a:ext>
            </a:extLst>
          </p:cNvPr>
          <p:cNvSpPr>
            <a:spLocks xmlns:a="http://schemas.openxmlformats.org/drawingml/2006/main" noGrp="1"/>
          </p:cNvSpPr>
          <p:nvPr/>
        </p:nvSpPr>
        <p:spPr>
          <a:xfrm xmlns:a="http://schemas.openxmlformats.org/drawingml/2006/main">
            <a:off x="419100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41F4C270-7C31-4933-9440-BD6B4637FFD5}"/>
              </a:ext>
            </a:extLst>
          </p:cNvPr>
          <p:cNvSpPr>
            <a:spLocks xmlns:a="http://schemas.openxmlformats.org/drawingml/2006/main" noGrp="1"/>
          </p:cNvSpPr>
          <p:nvPr/>
        </p:nvSpPr>
        <p:spPr>
          <a:xfrm xmlns:a="http://schemas.openxmlformats.org/drawingml/2006/main">
            <a:off x="426720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88,62 %</a:t>
            </a:r>
          </a:p>
        </p:txBody>
      </p:sp>
      <p:sp>
        <p:nvSpPr>
          <p:cNvPr id="34" name="">
            <a:extLst xmlns:a="http://schemas.openxmlformats.org/drawingml/2006/main">
              <a:ext uri="{FF2B5EF4-FFF2-40B4-BE49-F238E27FC236}">
                <a16:creationId xmlns:a16="http://schemas.microsoft.com/office/drawing/2014/main" id="{1D330DCE-CE61-4A6B-904A-CA3CA2BE87F4}"/>
              </a:ext>
            </a:extLst>
          </p:cNvPr>
          <p:cNvSpPr>
            <a:spLocks xmlns:a="http://schemas.openxmlformats.org/drawingml/2006/main" noGrp="1"/>
          </p:cNvSpPr>
          <p:nvPr/>
        </p:nvSpPr>
        <p:spPr>
          <a:xfrm xmlns:a="http://schemas.openxmlformats.org/drawingml/2006/main">
            <a:off x="56197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29CFD9CF-5455-4065-8BD7-A0611A221402}"/>
              </a:ext>
            </a:extLst>
          </p:cNvPr>
          <p:cNvSpPr>
            <a:spLocks xmlns:a="http://schemas.openxmlformats.org/drawingml/2006/main" noGrp="1"/>
          </p:cNvSpPr>
          <p:nvPr/>
        </p:nvSpPr>
        <p:spPr>
          <a:xfrm xmlns:a="http://schemas.openxmlformats.org/drawingml/2006/main">
            <a:off x="56959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96,32 %</a:t>
            </a:r>
          </a:p>
        </p:txBody>
      </p:sp>
      <p:sp>
        <p:nvSpPr>
          <p:cNvPr id="36" name="">
            <a:extLst xmlns:a="http://schemas.openxmlformats.org/drawingml/2006/main">
              <a:ext uri="{FF2B5EF4-FFF2-40B4-BE49-F238E27FC236}">
                <a16:creationId xmlns:a16="http://schemas.microsoft.com/office/drawing/2014/main" id="{599F5C79-619D-4BC6-A762-D7B3F2D2BE68}"/>
              </a:ext>
            </a:extLst>
          </p:cNvPr>
          <p:cNvSpPr>
            <a:spLocks xmlns:a="http://schemas.openxmlformats.org/drawingml/2006/main" noGrp="1"/>
          </p:cNvSpPr>
          <p:nvPr/>
        </p:nvSpPr>
        <p:spPr>
          <a:xfrm xmlns:a="http://schemas.openxmlformats.org/drawingml/2006/main">
            <a:off x="704850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6EC360C7-4BC7-4622-8B97-474B2D8989A3}"/>
              </a:ext>
            </a:extLst>
          </p:cNvPr>
          <p:cNvSpPr>
            <a:spLocks xmlns:a="http://schemas.openxmlformats.org/drawingml/2006/main" noGrp="1"/>
          </p:cNvSpPr>
          <p:nvPr/>
        </p:nvSpPr>
        <p:spPr>
          <a:xfrm xmlns:a="http://schemas.openxmlformats.org/drawingml/2006/main">
            <a:off x="712470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92,31 %</a:t>
            </a:r>
          </a:p>
        </p:txBody>
      </p:sp>
      <p:sp>
        <p:nvSpPr>
          <p:cNvPr id="38" name="">
            <a:extLst xmlns:a="http://schemas.openxmlformats.org/drawingml/2006/main">
              <a:ext uri="{FF2B5EF4-FFF2-40B4-BE49-F238E27FC236}">
                <a16:creationId xmlns:a16="http://schemas.microsoft.com/office/drawing/2014/main" id="{FBADE4D8-4F81-4EF8-9ECD-9152DE15E3D3}"/>
              </a:ext>
            </a:extLst>
          </p:cNvPr>
          <p:cNvSpPr>
            <a:spLocks xmlns:a="http://schemas.openxmlformats.org/drawingml/2006/main" noGrp="1"/>
          </p:cNvSpPr>
          <p:nvPr/>
        </p:nvSpPr>
        <p:spPr>
          <a:xfrm xmlns:a="http://schemas.openxmlformats.org/drawingml/2006/main">
            <a:off x="84772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7026980A-D350-49D3-83F2-F0E2D7E18C0F}"/>
              </a:ext>
            </a:extLst>
          </p:cNvPr>
          <p:cNvSpPr>
            <a:spLocks xmlns:a="http://schemas.openxmlformats.org/drawingml/2006/main" noGrp="1"/>
          </p:cNvSpPr>
          <p:nvPr/>
        </p:nvSpPr>
        <p:spPr>
          <a:xfrm xmlns:a="http://schemas.openxmlformats.org/drawingml/2006/main">
            <a:off x="85534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0,9767</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295f72a572ac4a9b"/>
          <a:stretch xmlns:a="http://schemas.openxmlformats.org/drawingml/2006/main"/>
        </p:blipFill>
        <p:spPr>
          <a:xfrm xmlns:a="http://schemas.openxmlformats.org/drawingml/2006/main">
            <a:off x="904875" y="3547973"/>
            <a:ext cx="4095750" cy="1905179"/>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A3813D73-800B-4BBA-8C7E-540B557DA640}"/>
              </a:ext>
            </a:extLst>
          </p:cNvPr>
          <p:cNvSpPr>
            <a:spLocks xmlns:a="http://schemas.openxmlformats.org/drawingml/2006/main" noGrp="1"/>
          </p:cNvSpPr>
          <p:nvPr/>
        </p:nvSpPr>
        <p:spPr>
          <a:xfrm xmlns:a="http://schemas.openxmlformats.org/drawingml/2006/main">
            <a:off x="5715000" y="3619500"/>
            <a:ext cx="4476750" cy="1524000"/>
          </a:xfrm>
          <a:prstGeom xmlns:a="http://schemas.openxmlformats.org/drawingml/2006/main" prst="roundRect">
            <a:avLst>
              <a:gd name="adj" fmla="val 5000"/>
            </a:avLst>
          </a:prstGeom>
          <a:solidFill xmlns:a="http://schemas.openxmlformats.org/drawingml/2006/main">
            <a:srgbClr val="EEF5FA"/>
          </a:solidFill>
          <a:ln xmlns:a="http://schemas.openxmlformats.org/drawingml/2006/main" w="9525">
            <a:solidFill>
              <a:srgbClr val="C8D6E4"/>
            </a:solidFill>
            <a:prstDash val="solid"/>
          </a:ln>
        </p:spPr>
      </p:sp>
      <p:sp>
        <p:nvSpPr>
          <p:cNvPr id="42" name="">
            <a:extLst xmlns:a="http://schemas.openxmlformats.org/drawingml/2006/main">
              <a:ext uri="{FF2B5EF4-FFF2-40B4-BE49-F238E27FC236}">
                <a16:creationId xmlns:a16="http://schemas.microsoft.com/office/drawing/2014/main" id="{B01A6431-9D3F-4490-AD10-193463F90490}"/>
              </a:ext>
            </a:extLst>
          </p:cNvPr>
          <p:cNvSpPr>
            <a:spLocks xmlns:a="http://schemas.openxmlformats.org/drawingml/2006/main" noGrp="1"/>
          </p:cNvSpPr>
          <p:nvPr/>
        </p:nvSpPr>
        <p:spPr>
          <a:xfrm xmlns:a="http://schemas.openxmlformats.org/drawingml/2006/main">
            <a:off x="5981700" y="38290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Ce que cela dit de SIRCH</a:t>
            </a:r>
          </a:p>
        </p:txBody>
      </p:sp>
      <p:sp>
        <p:nvSpPr>
          <p:cNvPr id="43" name="">
            <a:extLst xmlns:a="http://schemas.openxmlformats.org/drawingml/2006/main">
              <a:ext uri="{FF2B5EF4-FFF2-40B4-BE49-F238E27FC236}">
                <a16:creationId xmlns:a16="http://schemas.microsoft.com/office/drawing/2014/main" id="{4864A847-2075-4D4E-A8D2-96BE6AC987C9}"/>
              </a:ext>
            </a:extLst>
          </p:cNvPr>
          <p:cNvSpPr>
            <a:spLocks xmlns:a="http://schemas.openxmlformats.org/drawingml/2006/main" noGrp="1"/>
          </p:cNvSpPr>
          <p:nvPr/>
        </p:nvSpPr>
        <p:spPr>
          <a:xfrm xmlns:a="http://schemas.openxmlformats.org/drawingml/2006/main">
            <a:off x="5981700" y="42100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Le modèle augmenté corrige une partie des erreurs du test principal : moins de faux positifs et moins de faux négatifs. Mais le test sport/danse montre que l’amélioration globale ne suffit pas encore à supprimer le biais mouvement-violence.</a:t>
            </a:r>
          </a:p>
        </p:txBody>
      </p:sp>
      <p:sp>
        <p:nvSpPr>
          <p:cNvPr id="44" name="">
            <a:extLst xmlns:a="http://schemas.openxmlformats.org/drawingml/2006/main">
              <a:ext uri="{FF2B5EF4-FFF2-40B4-BE49-F238E27FC236}">
                <a16:creationId xmlns:a16="http://schemas.microsoft.com/office/drawing/2014/main" id="{566ABCCE-055F-49D3-95E7-06040809203E}"/>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Résultats : original vs augmenté</a:t>
            </a:r>
          </a:p>
        </p:txBody>
      </p:sp>
      <p:sp>
        <p:nvSpPr>
          <p:cNvPr id="45" name="">
            <a:extLst xmlns:a="http://schemas.openxmlformats.org/drawingml/2006/main">
              <a:ext uri="{FF2B5EF4-FFF2-40B4-BE49-F238E27FC236}">
                <a16:creationId xmlns:a16="http://schemas.microsoft.com/office/drawing/2014/main" id="{0A754C3C-89AB-4E4B-9361-05CF32104A71}"/>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12 / 21</a:t>
            </a:r>
          </a:p>
        </p:txBody>
      </p:sp>
    </p:spTree>
    <p:extLst>
      <p:ext uri="{BB962C8B-B14F-4D97-AF65-F5344CB8AC3E}">
        <p14:creationId xmlns:p14="http://schemas.microsoft.com/office/powerpoint/2010/main" val="15413417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BEB6CB-FF9E-4267-A4F2-D6474BF8E12D}"/>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ROC montre une forte séparation des classes</a:t>
            </a:r>
          </a:p>
        </p:txBody>
      </p:sp>
      <p:sp>
        <p:nvSpPr>
          <p:cNvPr id="2" name="">
            <a:extLst xmlns:a="http://schemas.openxmlformats.org/drawingml/2006/main">
              <a:ext uri="{FF2B5EF4-FFF2-40B4-BE49-F238E27FC236}">
                <a16:creationId xmlns:a16="http://schemas.microsoft.com/office/drawing/2014/main" id="{9F3D33F6-E2FD-48A9-A85E-855CE58F2A96}"/>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D6B22D-F330-471A-BA1E-85B5219859A3}"/>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L’AUC ne mesure pas seulement un seuil : elle mesure la capacité du modèle à classer les vidéos dans le bon ordre.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eebf150f65a4192"/>
          <a:stretch xmlns:a="http://schemas.openxmlformats.org/drawingml/2006/main"/>
        </p:blipFill>
        <p:spPr>
          <a:xfrm xmlns:a="http://schemas.openxmlformats.org/drawingml/2006/main">
            <a:off x="1079500" y="1571625"/>
            <a:ext cx="4508500" cy="3381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C010E0-DFA6-4164-9F8A-1E9DAB327FA8}"/>
              </a:ext>
            </a:extLst>
          </p:cNvPr>
          <p:cNvSpPr>
            <a:spLocks xmlns:a="http://schemas.openxmlformats.org/drawingml/2006/main" noGrp="1"/>
          </p:cNvSpPr>
          <p:nvPr/>
        </p:nvSpPr>
        <p:spPr>
          <a:xfrm xmlns:a="http://schemas.openxmlformats.org/drawingml/2006/main">
            <a:off x="6524625" y="1666875"/>
            <a:ext cx="1809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85B4882E-347B-4C6F-B429-F7D9763DAC7F}"/>
              </a:ext>
            </a:extLst>
          </p:cNvPr>
          <p:cNvSpPr>
            <a:spLocks xmlns:a="http://schemas.openxmlformats.org/drawingml/2006/main" noGrp="1"/>
          </p:cNvSpPr>
          <p:nvPr/>
        </p:nvSpPr>
        <p:spPr>
          <a:xfrm xmlns:a="http://schemas.openxmlformats.org/drawingml/2006/main">
            <a:off x="6600825" y="17621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Modèle</a:t>
            </a:r>
          </a:p>
        </p:txBody>
      </p:sp>
      <p:sp>
        <p:nvSpPr>
          <p:cNvPr id="7" name="">
            <a:extLst xmlns:a="http://schemas.openxmlformats.org/drawingml/2006/main">
              <a:ext uri="{FF2B5EF4-FFF2-40B4-BE49-F238E27FC236}">
                <a16:creationId xmlns:a16="http://schemas.microsoft.com/office/drawing/2014/main" id="{22E173A8-CCD0-4934-A7EF-0D1832C70A07}"/>
              </a:ext>
            </a:extLst>
          </p:cNvPr>
          <p:cNvSpPr>
            <a:spLocks xmlns:a="http://schemas.openxmlformats.org/drawingml/2006/main" noGrp="1"/>
          </p:cNvSpPr>
          <p:nvPr/>
        </p:nvSpPr>
        <p:spPr>
          <a:xfrm xmlns:a="http://schemas.openxmlformats.org/drawingml/2006/main">
            <a:off x="8334375" y="1666875"/>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4C2DC6CF-6B70-4175-A4C1-BCBAE1ADA052}"/>
              </a:ext>
            </a:extLst>
          </p:cNvPr>
          <p:cNvSpPr>
            <a:spLocks xmlns:a="http://schemas.openxmlformats.org/drawingml/2006/main" noGrp="1"/>
          </p:cNvSpPr>
          <p:nvPr/>
        </p:nvSpPr>
        <p:spPr>
          <a:xfrm xmlns:a="http://schemas.openxmlformats.org/drawingml/2006/main">
            <a:off x="8410575" y="1762125"/>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ROC-AUC</a:t>
            </a:r>
          </a:p>
        </p:txBody>
      </p:sp>
      <p:sp>
        <p:nvSpPr>
          <p:cNvPr id="9" name="">
            <a:extLst xmlns:a="http://schemas.openxmlformats.org/drawingml/2006/main">
              <a:ext uri="{FF2B5EF4-FFF2-40B4-BE49-F238E27FC236}">
                <a16:creationId xmlns:a16="http://schemas.microsoft.com/office/drawing/2014/main" id="{E0BA4986-A2B4-493E-A2F5-40510BA89A86}"/>
              </a:ext>
            </a:extLst>
          </p:cNvPr>
          <p:cNvSpPr>
            <a:spLocks xmlns:a="http://schemas.openxmlformats.org/drawingml/2006/main" noGrp="1"/>
          </p:cNvSpPr>
          <p:nvPr/>
        </p:nvSpPr>
        <p:spPr>
          <a:xfrm xmlns:a="http://schemas.openxmlformats.org/drawingml/2006/main">
            <a:off x="9763125" y="1666875"/>
            <a:ext cx="2000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1E45655A-3385-4A5B-8A85-0CA1BCFAEA3B}"/>
              </a:ext>
            </a:extLst>
          </p:cNvPr>
          <p:cNvSpPr>
            <a:spLocks xmlns:a="http://schemas.openxmlformats.org/drawingml/2006/main" noGrp="1"/>
          </p:cNvSpPr>
          <p:nvPr/>
        </p:nvSpPr>
        <p:spPr>
          <a:xfrm xmlns:a="http://schemas.openxmlformats.org/drawingml/2006/main">
            <a:off x="9839325" y="17621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Interprétation</a:t>
            </a:r>
          </a:p>
        </p:txBody>
      </p:sp>
      <p:sp>
        <p:nvSpPr>
          <p:cNvPr id="11" name="">
            <a:extLst xmlns:a="http://schemas.openxmlformats.org/drawingml/2006/main">
              <a:ext uri="{FF2B5EF4-FFF2-40B4-BE49-F238E27FC236}">
                <a16:creationId xmlns:a16="http://schemas.microsoft.com/office/drawing/2014/main" id="{7B8319F8-5709-4A84-9BC7-8E9A90835066}"/>
              </a:ext>
            </a:extLst>
          </p:cNvPr>
          <p:cNvSpPr>
            <a:spLocks xmlns:a="http://schemas.openxmlformats.org/drawingml/2006/main" noGrp="1"/>
          </p:cNvSpPr>
          <p:nvPr/>
        </p:nvSpPr>
        <p:spPr>
          <a:xfrm xmlns:a="http://schemas.openxmlformats.org/drawingml/2006/main">
            <a:off x="6524625" y="2181225"/>
            <a:ext cx="180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2145E3F6-B64B-432A-BA03-600AF4BBA42F}"/>
              </a:ext>
            </a:extLst>
          </p:cNvPr>
          <p:cNvSpPr>
            <a:spLocks xmlns:a="http://schemas.openxmlformats.org/drawingml/2006/main" noGrp="1"/>
          </p:cNvSpPr>
          <p:nvPr/>
        </p:nvSpPr>
        <p:spPr>
          <a:xfrm xmlns:a="http://schemas.openxmlformats.org/drawingml/2006/main">
            <a:off x="6600825" y="22764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Original</a:t>
            </a:r>
          </a:p>
        </p:txBody>
      </p:sp>
      <p:sp>
        <p:nvSpPr>
          <p:cNvPr id="13" name="">
            <a:extLst xmlns:a="http://schemas.openxmlformats.org/drawingml/2006/main">
              <a:ext uri="{FF2B5EF4-FFF2-40B4-BE49-F238E27FC236}">
                <a16:creationId xmlns:a16="http://schemas.microsoft.com/office/drawing/2014/main" id="{86D55FDB-1D22-4C1B-8964-A10B7A3866F4}"/>
              </a:ext>
            </a:extLst>
          </p:cNvPr>
          <p:cNvSpPr>
            <a:spLocks xmlns:a="http://schemas.openxmlformats.org/drawingml/2006/main" noGrp="1"/>
          </p:cNvSpPr>
          <p:nvPr/>
        </p:nvSpPr>
        <p:spPr>
          <a:xfrm xmlns:a="http://schemas.openxmlformats.org/drawingml/2006/main">
            <a:off x="8334375" y="2181225"/>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F7E0397B-602D-4340-A19E-BEF482961675}"/>
              </a:ext>
            </a:extLst>
          </p:cNvPr>
          <p:cNvSpPr>
            <a:spLocks xmlns:a="http://schemas.openxmlformats.org/drawingml/2006/main" noGrp="1"/>
          </p:cNvSpPr>
          <p:nvPr/>
        </p:nvSpPr>
        <p:spPr>
          <a:xfrm xmlns:a="http://schemas.openxmlformats.org/drawingml/2006/main">
            <a:off x="8410575" y="2276475"/>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0,9446</a:t>
            </a:r>
          </a:p>
        </p:txBody>
      </p:sp>
      <p:sp>
        <p:nvSpPr>
          <p:cNvPr id="15" name="">
            <a:extLst xmlns:a="http://schemas.openxmlformats.org/drawingml/2006/main">
              <a:ext uri="{FF2B5EF4-FFF2-40B4-BE49-F238E27FC236}">
                <a16:creationId xmlns:a16="http://schemas.microsoft.com/office/drawing/2014/main" id="{BA4A956C-4EC5-4864-BF7F-E3E6393F745E}"/>
              </a:ext>
            </a:extLst>
          </p:cNvPr>
          <p:cNvSpPr>
            <a:spLocks xmlns:a="http://schemas.openxmlformats.org/drawingml/2006/main" noGrp="1"/>
          </p:cNvSpPr>
          <p:nvPr/>
        </p:nvSpPr>
        <p:spPr>
          <a:xfrm xmlns:a="http://schemas.openxmlformats.org/drawingml/2006/main">
            <a:off x="9763125" y="2181225"/>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17EFA180-8110-4BBE-95CF-5D5BC7B149D8}"/>
              </a:ext>
            </a:extLst>
          </p:cNvPr>
          <p:cNvSpPr>
            <a:spLocks xmlns:a="http://schemas.openxmlformats.org/drawingml/2006/main" noGrp="1"/>
          </p:cNvSpPr>
          <p:nvPr/>
        </p:nvSpPr>
        <p:spPr>
          <a:xfrm xmlns:a="http://schemas.openxmlformats.org/drawingml/2006/main">
            <a:off x="9839325" y="227647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Très forte séparation</a:t>
            </a:r>
          </a:p>
        </p:txBody>
      </p:sp>
      <p:sp>
        <p:nvSpPr>
          <p:cNvPr id="17" name="">
            <a:extLst xmlns:a="http://schemas.openxmlformats.org/drawingml/2006/main">
              <a:ext uri="{FF2B5EF4-FFF2-40B4-BE49-F238E27FC236}">
                <a16:creationId xmlns:a16="http://schemas.microsoft.com/office/drawing/2014/main" id="{46129545-2D42-4475-99DA-5994715EB815}"/>
              </a:ext>
            </a:extLst>
          </p:cNvPr>
          <p:cNvSpPr>
            <a:spLocks xmlns:a="http://schemas.openxmlformats.org/drawingml/2006/main" noGrp="1"/>
          </p:cNvSpPr>
          <p:nvPr/>
        </p:nvSpPr>
        <p:spPr>
          <a:xfrm xmlns:a="http://schemas.openxmlformats.org/drawingml/2006/main">
            <a:off x="6524625" y="2695575"/>
            <a:ext cx="1809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FAC201D4-3951-473F-B6F4-352E55B4B7D2}"/>
              </a:ext>
            </a:extLst>
          </p:cNvPr>
          <p:cNvSpPr>
            <a:spLocks xmlns:a="http://schemas.openxmlformats.org/drawingml/2006/main" noGrp="1"/>
          </p:cNvSpPr>
          <p:nvPr/>
        </p:nvSpPr>
        <p:spPr>
          <a:xfrm xmlns:a="http://schemas.openxmlformats.org/drawingml/2006/main">
            <a:off x="6600825" y="27908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Augmenté</a:t>
            </a:r>
          </a:p>
        </p:txBody>
      </p:sp>
      <p:sp>
        <p:nvSpPr>
          <p:cNvPr id="19" name="">
            <a:extLst xmlns:a="http://schemas.openxmlformats.org/drawingml/2006/main">
              <a:ext uri="{FF2B5EF4-FFF2-40B4-BE49-F238E27FC236}">
                <a16:creationId xmlns:a16="http://schemas.microsoft.com/office/drawing/2014/main" id="{E9B65049-61F8-4430-9A03-0310AFA8B0F2}"/>
              </a:ext>
            </a:extLst>
          </p:cNvPr>
          <p:cNvSpPr>
            <a:spLocks xmlns:a="http://schemas.openxmlformats.org/drawingml/2006/main" noGrp="1"/>
          </p:cNvSpPr>
          <p:nvPr/>
        </p:nvSpPr>
        <p:spPr>
          <a:xfrm xmlns:a="http://schemas.openxmlformats.org/drawingml/2006/main">
            <a:off x="8334375" y="2695575"/>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7C5F38EB-EE10-4366-966A-92E47474ECA5}"/>
              </a:ext>
            </a:extLst>
          </p:cNvPr>
          <p:cNvSpPr>
            <a:spLocks xmlns:a="http://schemas.openxmlformats.org/drawingml/2006/main" noGrp="1"/>
          </p:cNvSpPr>
          <p:nvPr/>
        </p:nvSpPr>
        <p:spPr>
          <a:xfrm xmlns:a="http://schemas.openxmlformats.org/drawingml/2006/main">
            <a:off x="8410575" y="2790825"/>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0,9767</a:t>
            </a:r>
          </a:p>
        </p:txBody>
      </p:sp>
      <p:sp>
        <p:nvSpPr>
          <p:cNvPr id="21" name="">
            <a:extLst xmlns:a="http://schemas.openxmlformats.org/drawingml/2006/main">
              <a:ext uri="{FF2B5EF4-FFF2-40B4-BE49-F238E27FC236}">
                <a16:creationId xmlns:a16="http://schemas.microsoft.com/office/drawing/2014/main" id="{FBE7226E-605D-4802-A523-9C6BB7C0B1EF}"/>
              </a:ext>
            </a:extLst>
          </p:cNvPr>
          <p:cNvSpPr>
            <a:spLocks xmlns:a="http://schemas.openxmlformats.org/drawingml/2006/main" noGrp="1"/>
          </p:cNvSpPr>
          <p:nvPr/>
        </p:nvSpPr>
        <p:spPr>
          <a:xfrm xmlns:a="http://schemas.openxmlformats.org/drawingml/2006/main">
            <a:off x="9763125" y="2695575"/>
            <a:ext cx="2000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2" name="">
            <a:extLst xmlns:a="http://schemas.openxmlformats.org/drawingml/2006/main">
              <a:ext uri="{FF2B5EF4-FFF2-40B4-BE49-F238E27FC236}">
                <a16:creationId xmlns:a16="http://schemas.microsoft.com/office/drawing/2014/main" id="{B0F3D29D-4541-4762-A950-E76B2BD81D07}"/>
              </a:ext>
            </a:extLst>
          </p:cNvPr>
          <p:cNvSpPr>
            <a:spLocks xmlns:a="http://schemas.openxmlformats.org/drawingml/2006/main" noGrp="1"/>
          </p:cNvSpPr>
          <p:nvPr/>
        </p:nvSpPr>
        <p:spPr>
          <a:xfrm xmlns:a="http://schemas.openxmlformats.org/drawingml/2006/main">
            <a:off x="9839325" y="27908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Séparation renforcée</a:t>
            </a:r>
          </a:p>
        </p:txBody>
      </p:sp>
      <p:sp>
        <p:nvSpPr>
          <p:cNvPr id="23" name="">
            <a:extLst xmlns:a="http://schemas.openxmlformats.org/drawingml/2006/main">
              <a:ext uri="{FF2B5EF4-FFF2-40B4-BE49-F238E27FC236}">
                <a16:creationId xmlns:a16="http://schemas.microsoft.com/office/drawing/2014/main" id="{EC419926-F5A0-4F01-BFFE-5DAF54BD6B49}"/>
              </a:ext>
            </a:extLst>
          </p:cNvPr>
          <p:cNvSpPr>
            <a:spLocks xmlns:a="http://schemas.openxmlformats.org/drawingml/2006/main" noGrp="1"/>
          </p:cNvSpPr>
          <p:nvPr/>
        </p:nvSpPr>
        <p:spPr>
          <a:xfrm xmlns:a="http://schemas.openxmlformats.org/drawingml/2006/main">
            <a:off x="6524625" y="3571875"/>
            <a:ext cx="5238750" cy="1381125"/>
          </a:xfrm>
          <a:prstGeom xmlns:a="http://schemas.openxmlformats.org/drawingml/2006/main" prst="roundRect">
            <a:avLst>
              <a:gd name="adj" fmla="val 5517"/>
            </a:avLst>
          </a:prstGeom>
          <a:solidFill xmlns:a="http://schemas.openxmlformats.org/drawingml/2006/main">
            <a:srgbClr val="EEF5FA"/>
          </a:solidFill>
          <a:ln xmlns:a="http://schemas.openxmlformats.org/drawingml/2006/main" w="9525">
            <a:solidFill>
              <a:srgbClr val="C8D6E4"/>
            </a:solidFill>
            <a:prstDash val="solid"/>
          </a:ln>
        </p:spPr>
      </p:sp>
      <p:sp>
        <p:nvSpPr>
          <p:cNvPr id="24" name="">
            <a:extLst xmlns:a="http://schemas.openxmlformats.org/drawingml/2006/main">
              <a:ext uri="{FF2B5EF4-FFF2-40B4-BE49-F238E27FC236}">
                <a16:creationId xmlns:a16="http://schemas.microsoft.com/office/drawing/2014/main" id="{D8275CC1-51A7-495A-9F40-85DDF1835A49}"/>
              </a:ext>
            </a:extLst>
          </p:cNvPr>
          <p:cNvSpPr>
            <a:spLocks xmlns:a="http://schemas.openxmlformats.org/drawingml/2006/main" noGrp="1"/>
          </p:cNvSpPr>
          <p:nvPr/>
        </p:nvSpPr>
        <p:spPr>
          <a:xfrm xmlns:a="http://schemas.openxmlformats.org/drawingml/2006/main">
            <a:off x="6810375" y="3790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Ce que cela dit sur SIRCH</a:t>
            </a:r>
          </a:p>
        </p:txBody>
      </p:sp>
      <p:sp>
        <p:nvSpPr>
          <p:cNvPr id="25" name="">
            <a:extLst xmlns:a="http://schemas.openxmlformats.org/drawingml/2006/main">
              <a:ext uri="{FF2B5EF4-FFF2-40B4-BE49-F238E27FC236}">
                <a16:creationId xmlns:a16="http://schemas.microsoft.com/office/drawing/2014/main" id="{4003877C-D258-4CB4-92FB-86F8453CAE24}"/>
              </a:ext>
            </a:extLst>
          </p:cNvPr>
          <p:cNvSpPr>
            <a:spLocks xmlns:a="http://schemas.openxmlformats.org/drawingml/2006/main" noGrp="1"/>
          </p:cNvSpPr>
          <p:nvPr/>
        </p:nvSpPr>
        <p:spPr>
          <a:xfrm xmlns:a="http://schemas.openxmlformats.org/drawingml/2006/main">
            <a:off x="6810375" y="417195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La courbe proche du coin supérieur gauche signifie que SIRCH distingue bien les séquences violentes des séquences non violentes. L’amélioration du modèle augmenté montre que l’ajout de données aide surtout la séparation globale.</a:t>
            </a:r>
          </a:p>
        </p:txBody>
      </p:sp>
      <p:sp>
        <p:nvSpPr>
          <p:cNvPr id="26" name="">
            <a:extLst xmlns:a="http://schemas.openxmlformats.org/drawingml/2006/main">
              <a:ext uri="{FF2B5EF4-FFF2-40B4-BE49-F238E27FC236}">
                <a16:creationId xmlns:a16="http://schemas.microsoft.com/office/drawing/2014/main" id="{442ACF30-7108-42EB-82D3-EA3350C33A51}"/>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ROC-AUC</a:t>
            </a:r>
          </a:p>
        </p:txBody>
      </p:sp>
      <p:sp>
        <p:nvSpPr>
          <p:cNvPr id="27" name="">
            <a:extLst xmlns:a="http://schemas.openxmlformats.org/drawingml/2006/main">
              <a:ext uri="{FF2B5EF4-FFF2-40B4-BE49-F238E27FC236}">
                <a16:creationId xmlns:a16="http://schemas.microsoft.com/office/drawing/2014/main" id="{BDA1CDEA-2FEA-4215-BBE5-ED0D92C3C24C}"/>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13 / 21</a:t>
            </a:r>
          </a:p>
        </p:txBody>
      </p:sp>
    </p:spTree>
    <p:extLst>
      <p:ext uri="{BB962C8B-B14F-4D97-AF65-F5344CB8AC3E}">
        <p14:creationId xmlns:p14="http://schemas.microsoft.com/office/powerpoint/2010/main" val="1894712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764F54-A36C-4ABE-82FE-8D7E7E04C3A6}"/>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McNemar confirme que le gain n’est pas un hasard</a:t>
            </a:r>
          </a:p>
        </p:txBody>
      </p:sp>
      <p:sp>
        <p:nvSpPr>
          <p:cNvPr id="2" name="">
            <a:extLst xmlns:a="http://schemas.openxmlformats.org/drawingml/2006/main">
              <a:ext uri="{FF2B5EF4-FFF2-40B4-BE49-F238E27FC236}">
                <a16:creationId xmlns:a16="http://schemas.microsoft.com/office/drawing/2014/main" id="{E666805A-B900-42C1-928C-0B8516DD6E5A}"/>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0C03B7-40EE-488C-8D5B-25E2124824B4}"/>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test compare les erreurs des deux modèles sur les mêmes vidéos du jeu de test.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82b8d228e304c5c"/>
          <a:stretch xmlns:a="http://schemas.openxmlformats.org/drawingml/2006/main"/>
        </p:blipFill>
        <p:spPr>
          <a:xfrm xmlns:a="http://schemas.openxmlformats.org/drawingml/2006/main">
            <a:off x="666750" y="2329975"/>
            <a:ext cx="5334000" cy="18646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EB66BF2-5AC1-44FE-BA0F-CC98DE7B4D85}"/>
              </a:ext>
            </a:extLst>
          </p:cNvPr>
          <p:cNvSpPr>
            <a:spLocks xmlns:a="http://schemas.openxmlformats.org/drawingml/2006/main" noGrp="1"/>
          </p:cNvSpPr>
          <p:nvPr/>
        </p:nvSpPr>
        <p:spPr>
          <a:xfrm xmlns:a="http://schemas.openxmlformats.org/drawingml/2006/main">
            <a:off x="6572250" y="1666875"/>
            <a:ext cx="2000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DA5BB9B5-D37B-4712-A4E1-892414E5C7A5}"/>
              </a:ext>
            </a:extLst>
          </p:cNvPr>
          <p:cNvSpPr>
            <a:spLocks xmlns:a="http://schemas.openxmlformats.org/drawingml/2006/main" noGrp="1"/>
          </p:cNvSpPr>
          <p:nvPr/>
        </p:nvSpPr>
        <p:spPr>
          <a:xfrm xmlns:a="http://schemas.openxmlformats.org/drawingml/2006/main">
            <a:off x="6648450" y="17621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Élément</a:t>
            </a:r>
          </a:p>
        </p:txBody>
      </p:sp>
      <p:sp>
        <p:nvSpPr>
          <p:cNvPr id="7" name="">
            <a:extLst xmlns:a="http://schemas.openxmlformats.org/drawingml/2006/main">
              <a:ext uri="{FF2B5EF4-FFF2-40B4-BE49-F238E27FC236}">
                <a16:creationId xmlns:a16="http://schemas.microsoft.com/office/drawing/2014/main" id="{1D7B7B3C-F110-4705-B557-8D151215573B}"/>
              </a:ext>
            </a:extLst>
          </p:cNvPr>
          <p:cNvSpPr>
            <a:spLocks xmlns:a="http://schemas.openxmlformats.org/drawingml/2006/main" noGrp="1"/>
          </p:cNvSpPr>
          <p:nvPr/>
        </p:nvSpPr>
        <p:spPr>
          <a:xfrm xmlns:a="http://schemas.openxmlformats.org/drawingml/2006/main">
            <a:off x="8572500" y="1666875"/>
            <a:ext cx="28575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6BFE1E90-AFA0-4A73-9342-A50E2201361B}"/>
              </a:ext>
            </a:extLst>
          </p:cNvPr>
          <p:cNvSpPr>
            <a:spLocks xmlns:a="http://schemas.openxmlformats.org/drawingml/2006/main" noGrp="1"/>
          </p:cNvSpPr>
          <p:nvPr/>
        </p:nvSpPr>
        <p:spPr>
          <a:xfrm xmlns:a="http://schemas.openxmlformats.org/drawingml/2006/main">
            <a:off x="8648700" y="1762125"/>
            <a:ext cx="270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Résultat</a:t>
            </a:r>
          </a:p>
        </p:txBody>
      </p:sp>
      <p:sp>
        <p:nvSpPr>
          <p:cNvPr id="9" name="">
            <a:extLst xmlns:a="http://schemas.openxmlformats.org/drawingml/2006/main">
              <a:ext uri="{FF2B5EF4-FFF2-40B4-BE49-F238E27FC236}">
                <a16:creationId xmlns:a16="http://schemas.microsoft.com/office/drawing/2014/main" id="{6C06DCF7-B208-4B58-8A3E-F6D86E768E72}"/>
              </a:ext>
            </a:extLst>
          </p:cNvPr>
          <p:cNvSpPr>
            <a:spLocks xmlns:a="http://schemas.openxmlformats.org/drawingml/2006/main" noGrp="1"/>
          </p:cNvSpPr>
          <p:nvPr/>
        </p:nvSpPr>
        <p:spPr>
          <a:xfrm xmlns:a="http://schemas.openxmlformats.org/drawingml/2006/main">
            <a:off x="6572250" y="2181225"/>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BCD2F7CC-FED8-46AD-8DA1-F95577AB7FAB}"/>
              </a:ext>
            </a:extLst>
          </p:cNvPr>
          <p:cNvSpPr>
            <a:spLocks xmlns:a="http://schemas.openxmlformats.org/drawingml/2006/main" noGrp="1"/>
          </p:cNvSpPr>
          <p:nvPr/>
        </p:nvSpPr>
        <p:spPr>
          <a:xfrm xmlns:a="http://schemas.openxmlformats.org/drawingml/2006/main">
            <a:off x="6648450" y="227647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p-value</a:t>
            </a:r>
          </a:p>
        </p:txBody>
      </p:sp>
      <p:sp>
        <p:nvSpPr>
          <p:cNvPr id="11" name="">
            <a:extLst xmlns:a="http://schemas.openxmlformats.org/drawingml/2006/main">
              <a:ext uri="{FF2B5EF4-FFF2-40B4-BE49-F238E27FC236}">
                <a16:creationId xmlns:a16="http://schemas.microsoft.com/office/drawing/2014/main" id="{3C7AD279-73A6-422E-ABFA-A74C2B84DF84}"/>
              </a:ext>
            </a:extLst>
          </p:cNvPr>
          <p:cNvSpPr>
            <a:spLocks xmlns:a="http://schemas.openxmlformats.org/drawingml/2006/main" noGrp="1"/>
          </p:cNvSpPr>
          <p:nvPr/>
        </p:nvSpPr>
        <p:spPr>
          <a:xfrm xmlns:a="http://schemas.openxmlformats.org/drawingml/2006/main">
            <a:off x="8572500" y="2181225"/>
            <a:ext cx="285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D3845815-AB79-4F4B-9A56-8518AA2CF8FE}"/>
              </a:ext>
            </a:extLst>
          </p:cNvPr>
          <p:cNvSpPr>
            <a:spLocks xmlns:a="http://schemas.openxmlformats.org/drawingml/2006/main" noGrp="1"/>
          </p:cNvSpPr>
          <p:nvPr/>
        </p:nvSpPr>
        <p:spPr>
          <a:xfrm xmlns:a="http://schemas.openxmlformats.org/drawingml/2006/main">
            <a:off x="8648700" y="2276475"/>
            <a:ext cx="270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0,000117</a:t>
            </a:r>
          </a:p>
        </p:txBody>
      </p:sp>
      <p:sp>
        <p:nvSpPr>
          <p:cNvPr id="13" name="">
            <a:extLst xmlns:a="http://schemas.openxmlformats.org/drawingml/2006/main">
              <a:ext uri="{FF2B5EF4-FFF2-40B4-BE49-F238E27FC236}">
                <a16:creationId xmlns:a16="http://schemas.microsoft.com/office/drawing/2014/main" id="{E90D1171-60B0-418C-8479-B9FC8429F09C}"/>
              </a:ext>
            </a:extLst>
          </p:cNvPr>
          <p:cNvSpPr>
            <a:spLocks xmlns:a="http://schemas.openxmlformats.org/drawingml/2006/main" noGrp="1"/>
          </p:cNvSpPr>
          <p:nvPr/>
        </p:nvSpPr>
        <p:spPr>
          <a:xfrm xmlns:a="http://schemas.openxmlformats.org/drawingml/2006/main">
            <a:off x="6572250" y="2695575"/>
            <a:ext cx="2000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4FD793E2-836E-4B4C-8CCF-EF43BAFEE2A4}"/>
              </a:ext>
            </a:extLst>
          </p:cNvPr>
          <p:cNvSpPr>
            <a:spLocks xmlns:a="http://schemas.openxmlformats.org/drawingml/2006/main" noGrp="1"/>
          </p:cNvSpPr>
          <p:nvPr/>
        </p:nvSpPr>
        <p:spPr>
          <a:xfrm xmlns:a="http://schemas.openxmlformats.org/drawingml/2006/main">
            <a:off x="6648450" y="27908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Seuil de décision</a:t>
            </a:r>
          </a:p>
        </p:txBody>
      </p:sp>
      <p:sp>
        <p:nvSpPr>
          <p:cNvPr id="15" name="">
            <a:extLst xmlns:a="http://schemas.openxmlformats.org/drawingml/2006/main">
              <a:ext uri="{FF2B5EF4-FFF2-40B4-BE49-F238E27FC236}">
                <a16:creationId xmlns:a16="http://schemas.microsoft.com/office/drawing/2014/main" id="{03144276-57E3-4E83-90B9-600168799251}"/>
              </a:ext>
            </a:extLst>
          </p:cNvPr>
          <p:cNvSpPr>
            <a:spLocks xmlns:a="http://schemas.openxmlformats.org/drawingml/2006/main" noGrp="1"/>
          </p:cNvSpPr>
          <p:nvPr/>
        </p:nvSpPr>
        <p:spPr>
          <a:xfrm xmlns:a="http://schemas.openxmlformats.org/drawingml/2006/main">
            <a:off x="8572500" y="2695575"/>
            <a:ext cx="285750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B93B05FA-F36C-45A4-B7C9-557368525E98}"/>
              </a:ext>
            </a:extLst>
          </p:cNvPr>
          <p:cNvSpPr>
            <a:spLocks xmlns:a="http://schemas.openxmlformats.org/drawingml/2006/main" noGrp="1"/>
          </p:cNvSpPr>
          <p:nvPr/>
        </p:nvSpPr>
        <p:spPr>
          <a:xfrm xmlns:a="http://schemas.openxmlformats.org/drawingml/2006/main">
            <a:off x="8648700" y="2790825"/>
            <a:ext cx="270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p &lt; 0,05</a:t>
            </a:r>
          </a:p>
        </p:txBody>
      </p:sp>
      <p:sp>
        <p:nvSpPr>
          <p:cNvPr id="17" name="">
            <a:extLst xmlns:a="http://schemas.openxmlformats.org/drawingml/2006/main">
              <a:ext uri="{FF2B5EF4-FFF2-40B4-BE49-F238E27FC236}">
                <a16:creationId xmlns:a16="http://schemas.microsoft.com/office/drawing/2014/main" id="{DD533B0A-8FD3-418A-BEFB-D1BB3EDE0D2C}"/>
              </a:ext>
            </a:extLst>
          </p:cNvPr>
          <p:cNvSpPr>
            <a:spLocks xmlns:a="http://schemas.openxmlformats.org/drawingml/2006/main" noGrp="1"/>
          </p:cNvSpPr>
          <p:nvPr/>
        </p:nvSpPr>
        <p:spPr>
          <a:xfrm xmlns:a="http://schemas.openxmlformats.org/drawingml/2006/main">
            <a:off x="6572250" y="3209925"/>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6786EB8C-100A-4381-8DC6-472688279E4E}"/>
              </a:ext>
            </a:extLst>
          </p:cNvPr>
          <p:cNvSpPr>
            <a:spLocks xmlns:a="http://schemas.openxmlformats.org/drawingml/2006/main" noGrp="1"/>
          </p:cNvSpPr>
          <p:nvPr/>
        </p:nvSpPr>
        <p:spPr>
          <a:xfrm xmlns:a="http://schemas.openxmlformats.org/drawingml/2006/main">
            <a:off x="6648450" y="330517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Conclusion</a:t>
            </a:r>
          </a:p>
        </p:txBody>
      </p:sp>
      <p:sp>
        <p:nvSpPr>
          <p:cNvPr id="19" name="">
            <a:extLst xmlns:a="http://schemas.openxmlformats.org/drawingml/2006/main">
              <a:ext uri="{FF2B5EF4-FFF2-40B4-BE49-F238E27FC236}">
                <a16:creationId xmlns:a16="http://schemas.microsoft.com/office/drawing/2014/main" id="{BA925141-2F5F-4E30-988A-370A21D3AF41}"/>
              </a:ext>
            </a:extLst>
          </p:cNvPr>
          <p:cNvSpPr>
            <a:spLocks xmlns:a="http://schemas.openxmlformats.org/drawingml/2006/main" noGrp="1"/>
          </p:cNvSpPr>
          <p:nvPr/>
        </p:nvSpPr>
        <p:spPr>
          <a:xfrm xmlns:a="http://schemas.openxmlformats.org/drawingml/2006/main">
            <a:off x="8572500" y="3209925"/>
            <a:ext cx="285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93CDEC2A-2159-4AAC-9C41-45CB1E0890DE}"/>
              </a:ext>
            </a:extLst>
          </p:cNvPr>
          <p:cNvSpPr>
            <a:spLocks xmlns:a="http://schemas.openxmlformats.org/drawingml/2006/main" noGrp="1"/>
          </p:cNvSpPr>
          <p:nvPr/>
        </p:nvSpPr>
        <p:spPr>
          <a:xfrm xmlns:a="http://schemas.openxmlformats.org/drawingml/2006/main">
            <a:off x="8648700" y="3305175"/>
            <a:ext cx="270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Différence significative</a:t>
            </a:r>
          </a:p>
        </p:txBody>
      </p:sp>
      <p:sp>
        <p:nvSpPr>
          <p:cNvPr id="21" name="">
            <a:extLst xmlns:a="http://schemas.openxmlformats.org/drawingml/2006/main">
              <a:ext uri="{FF2B5EF4-FFF2-40B4-BE49-F238E27FC236}">
                <a16:creationId xmlns:a16="http://schemas.microsoft.com/office/drawing/2014/main" id="{34E7DD19-990A-4941-A380-F1806B337C68}"/>
              </a:ext>
            </a:extLst>
          </p:cNvPr>
          <p:cNvSpPr>
            <a:spLocks xmlns:a="http://schemas.openxmlformats.org/drawingml/2006/main" noGrp="1"/>
          </p:cNvSpPr>
          <p:nvPr/>
        </p:nvSpPr>
        <p:spPr>
          <a:xfrm xmlns:a="http://schemas.openxmlformats.org/drawingml/2006/main">
            <a:off x="6572250" y="4000500"/>
            <a:ext cx="4857750" cy="1285875"/>
          </a:xfrm>
          <a:prstGeom xmlns:a="http://schemas.openxmlformats.org/drawingml/2006/main" prst="roundRect">
            <a:avLst>
              <a:gd name="adj" fmla="val 5926"/>
            </a:avLst>
          </a:prstGeom>
          <a:solidFill xmlns:a="http://schemas.openxmlformats.org/drawingml/2006/main">
            <a:srgbClr val="EEF5FA"/>
          </a:solidFill>
          <a:ln xmlns:a="http://schemas.openxmlformats.org/drawingml/2006/main" w="9525">
            <a:solidFill>
              <a:srgbClr val="C8D6E4"/>
            </a:solidFill>
            <a:prstDash val="solid"/>
          </a:ln>
        </p:spPr>
      </p:sp>
      <p:sp>
        <p:nvSpPr>
          <p:cNvPr id="22" name="">
            <a:extLst xmlns:a="http://schemas.openxmlformats.org/drawingml/2006/main">
              <a:ext uri="{FF2B5EF4-FFF2-40B4-BE49-F238E27FC236}">
                <a16:creationId xmlns:a16="http://schemas.microsoft.com/office/drawing/2014/main" id="{8CC139E4-A150-4047-9FC6-BF8C456253A9}"/>
              </a:ext>
            </a:extLst>
          </p:cNvPr>
          <p:cNvSpPr>
            <a:spLocks xmlns:a="http://schemas.openxmlformats.org/drawingml/2006/main" noGrp="1"/>
          </p:cNvSpPr>
          <p:nvPr/>
        </p:nvSpPr>
        <p:spPr>
          <a:xfrm xmlns:a="http://schemas.openxmlformats.org/drawingml/2006/main">
            <a:off x="6858000" y="421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C8B53"/>
                </a:solidFill>
              </a:defRPr>
            </a:pPr>
            <a:r>
              <a:rPr sz="1500" b="1" i="0">
                <a:solidFill>
                  <a:srgbClr val="1C8B53"/>
                </a:solidFill>
              </a:rPr>
              <a:t>Interprétation</a:t>
            </a:r>
          </a:p>
        </p:txBody>
      </p:sp>
      <p:sp>
        <p:nvSpPr>
          <p:cNvPr id="23" name="">
            <a:extLst xmlns:a="http://schemas.openxmlformats.org/drawingml/2006/main">
              <a:ext uri="{FF2B5EF4-FFF2-40B4-BE49-F238E27FC236}">
                <a16:creationId xmlns:a16="http://schemas.microsoft.com/office/drawing/2014/main" id="{6F4FD1AE-14A1-45A0-ADFD-6A2A16EF4233}"/>
              </a:ext>
            </a:extLst>
          </p:cNvPr>
          <p:cNvSpPr>
            <a:spLocks xmlns:a="http://schemas.openxmlformats.org/drawingml/2006/main" noGrp="1"/>
          </p:cNvSpPr>
          <p:nvPr/>
        </p:nvSpPr>
        <p:spPr>
          <a:xfrm xmlns:a="http://schemas.openxmlformats.org/drawingml/2006/main">
            <a:off x="6858000" y="45529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Le modèle augmenté ne gagne pas seulement quelques vidéos par chance. Sur le même test, ses erreurs changent de façon statistiquement crédible.</a:t>
            </a:r>
          </a:p>
        </p:txBody>
      </p:sp>
      <p:sp>
        <p:nvSpPr>
          <p:cNvPr id="24" name="">
            <a:extLst xmlns:a="http://schemas.openxmlformats.org/drawingml/2006/main">
              <a:ext uri="{FF2B5EF4-FFF2-40B4-BE49-F238E27FC236}">
                <a16:creationId xmlns:a16="http://schemas.microsoft.com/office/drawing/2014/main" id="{32ADA4E2-6D4C-472D-9337-8ACB21054FB6}"/>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Test statistique McNemar</a:t>
            </a:r>
          </a:p>
        </p:txBody>
      </p:sp>
      <p:sp>
        <p:nvSpPr>
          <p:cNvPr id="25" name="">
            <a:extLst xmlns:a="http://schemas.openxmlformats.org/drawingml/2006/main">
              <a:ext uri="{FF2B5EF4-FFF2-40B4-BE49-F238E27FC236}">
                <a16:creationId xmlns:a16="http://schemas.microsoft.com/office/drawing/2014/main" id="{41933596-F578-4D28-B8A6-9137B26217A6}"/>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14 / 21</a:t>
            </a:r>
          </a:p>
        </p:txBody>
      </p:sp>
    </p:spTree>
    <p:extLst>
      <p:ext uri="{BB962C8B-B14F-4D97-AF65-F5344CB8AC3E}">
        <p14:creationId xmlns:p14="http://schemas.microsoft.com/office/powerpoint/2010/main" val="13882974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705007-3821-4953-A2EA-EB684D6CD28D}"/>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L’ablation montre les choix techniques utiles</a:t>
            </a:r>
          </a:p>
        </p:txBody>
      </p:sp>
      <p:sp>
        <p:nvSpPr>
          <p:cNvPr id="2" name="">
            <a:extLst xmlns:a="http://schemas.openxmlformats.org/drawingml/2006/main">
              <a:ext uri="{FF2B5EF4-FFF2-40B4-BE49-F238E27FC236}">
                <a16:creationId xmlns:a16="http://schemas.microsoft.com/office/drawing/2014/main" id="{B1878C97-242B-45A6-A009-32AF551ABFFD}"/>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C1D7B-EF0F-4F36-A20F-A373DA22326F}"/>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On retire ou remplace des blocs pour comprendre ce qui contribue réellement à la performance.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2244dce108b499a"/>
          <a:stretch xmlns:a="http://schemas.openxmlformats.org/drawingml/2006/main"/>
        </p:blipFill>
        <p:spPr>
          <a:xfrm xmlns:a="http://schemas.openxmlformats.org/drawingml/2006/main">
            <a:off x="699492" y="1524000"/>
            <a:ext cx="5649516" cy="3476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B993D1-17DF-455E-9323-91BEA8D711DC}"/>
              </a:ext>
            </a:extLst>
          </p:cNvPr>
          <p:cNvSpPr>
            <a:spLocks xmlns:a="http://schemas.openxmlformats.org/drawingml/2006/main" noGrp="1"/>
          </p:cNvSpPr>
          <p:nvPr/>
        </p:nvSpPr>
        <p:spPr>
          <a:xfrm xmlns:a="http://schemas.openxmlformats.org/drawingml/2006/main">
            <a:off x="6858000" y="1619250"/>
            <a:ext cx="1762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2EAE8030-3A6B-4C8A-A83C-68B29E714B5E}"/>
              </a:ext>
            </a:extLst>
          </p:cNvPr>
          <p:cNvSpPr>
            <a:spLocks xmlns:a="http://schemas.openxmlformats.org/drawingml/2006/main" noGrp="1"/>
          </p:cNvSpPr>
          <p:nvPr/>
        </p:nvSpPr>
        <p:spPr>
          <a:xfrm xmlns:a="http://schemas.openxmlformats.org/drawingml/2006/main">
            <a:off x="6934200" y="17145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Observation</a:t>
            </a:r>
          </a:p>
        </p:txBody>
      </p:sp>
      <p:sp>
        <p:nvSpPr>
          <p:cNvPr id="7" name="">
            <a:extLst xmlns:a="http://schemas.openxmlformats.org/drawingml/2006/main">
              <a:ext uri="{FF2B5EF4-FFF2-40B4-BE49-F238E27FC236}">
                <a16:creationId xmlns:a16="http://schemas.microsoft.com/office/drawing/2014/main" id="{18EA1027-C228-4E3A-87C1-D105A141EAD6}"/>
              </a:ext>
            </a:extLst>
          </p:cNvPr>
          <p:cNvSpPr>
            <a:spLocks xmlns:a="http://schemas.openxmlformats.org/drawingml/2006/main" noGrp="1"/>
          </p:cNvSpPr>
          <p:nvPr/>
        </p:nvSpPr>
        <p:spPr>
          <a:xfrm xmlns:a="http://schemas.openxmlformats.org/drawingml/2006/main">
            <a:off x="8620125" y="1619250"/>
            <a:ext cx="3143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254395D7-8EB9-41B8-997D-A26CC12149EA}"/>
              </a:ext>
            </a:extLst>
          </p:cNvPr>
          <p:cNvSpPr>
            <a:spLocks xmlns:a="http://schemas.openxmlformats.org/drawingml/2006/main" noGrp="1"/>
          </p:cNvSpPr>
          <p:nvPr/>
        </p:nvSpPr>
        <p:spPr>
          <a:xfrm xmlns:a="http://schemas.openxmlformats.org/drawingml/2006/main">
            <a:off x="8696325" y="17145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Sens pour SIRCH</a:t>
            </a:r>
          </a:p>
        </p:txBody>
      </p:sp>
      <p:sp>
        <p:nvSpPr>
          <p:cNvPr id="9" name="">
            <a:extLst xmlns:a="http://schemas.openxmlformats.org/drawingml/2006/main">
              <a:ext uri="{FF2B5EF4-FFF2-40B4-BE49-F238E27FC236}">
                <a16:creationId xmlns:a16="http://schemas.microsoft.com/office/drawing/2014/main" id="{A1C74478-2002-4A98-AB6D-81D59696EBF1}"/>
              </a:ext>
            </a:extLst>
          </p:cNvPr>
          <p:cNvSpPr>
            <a:spLocks xmlns:a="http://schemas.openxmlformats.org/drawingml/2006/main" noGrp="1"/>
          </p:cNvSpPr>
          <p:nvPr/>
        </p:nvSpPr>
        <p:spPr>
          <a:xfrm xmlns:a="http://schemas.openxmlformats.org/drawingml/2006/main">
            <a:off x="6858000" y="2133600"/>
            <a:ext cx="1762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99493915-8FA8-4062-8C52-9C469D8E4CFB}"/>
              </a:ext>
            </a:extLst>
          </p:cNvPr>
          <p:cNvSpPr>
            <a:spLocks xmlns:a="http://schemas.openxmlformats.org/drawingml/2006/main" noGrp="1"/>
          </p:cNvSpPr>
          <p:nvPr/>
        </p:nvSpPr>
        <p:spPr>
          <a:xfrm xmlns:a="http://schemas.openxmlformats.org/drawingml/2006/main">
            <a:off x="6934200" y="222885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Bloc temporel</a:t>
            </a:r>
          </a:p>
        </p:txBody>
      </p:sp>
      <p:sp>
        <p:nvSpPr>
          <p:cNvPr id="11" name="">
            <a:extLst xmlns:a="http://schemas.openxmlformats.org/drawingml/2006/main">
              <a:ext uri="{FF2B5EF4-FFF2-40B4-BE49-F238E27FC236}">
                <a16:creationId xmlns:a16="http://schemas.microsoft.com/office/drawing/2014/main" id="{92C31EDA-B7A8-47B0-A27C-D95930021655}"/>
              </a:ext>
            </a:extLst>
          </p:cNvPr>
          <p:cNvSpPr>
            <a:spLocks xmlns:a="http://schemas.openxmlformats.org/drawingml/2006/main" noGrp="1"/>
          </p:cNvSpPr>
          <p:nvPr/>
        </p:nvSpPr>
        <p:spPr>
          <a:xfrm xmlns:a="http://schemas.openxmlformats.org/drawingml/2006/main">
            <a:off x="8620125" y="2133600"/>
            <a:ext cx="3143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5C05CF33-470D-4CA2-BD79-D0F79CD6D12B}"/>
              </a:ext>
            </a:extLst>
          </p:cNvPr>
          <p:cNvSpPr>
            <a:spLocks xmlns:a="http://schemas.openxmlformats.org/drawingml/2006/main" noGrp="1"/>
          </p:cNvSpPr>
          <p:nvPr/>
        </p:nvSpPr>
        <p:spPr>
          <a:xfrm xmlns:a="http://schemas.openxmlformats.org/drawingml/2006/main">
            <a:off x="8696325" y="2228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Réduit les violences manquées</a:t>
            </a:r>
          </a:p>
        </p:txBody>
      </p:sp>
      <p:sp>
        <p:nvSpPr>
          <p:cNvPr id="13" name="">
            <a:extLst xmlns:a="http://schemas.openxmlformats.org/drawingml/2006/main">
              <a:ext uri="{FF2B5EF4-FFF2-40B4-BE49-F238E27FC236}">
                <a16:creationId xmlns:a16="http://schemas.microsoft.com/office/drawing/2014/main" id="{7689AD73-636F-463B-86C9-F0AEA7927793}"/>
              </a:ext>
            </a:extLst>
          </p:cNvPr>
          <p:cNvSpPr>
            <a:spLocks xmlns:a="http://schemas.openxmlformats.org/drawingml/2006/main" noGrp="1"/>
          </p:cNvSpPr>
          <p:nvPr/>
        </p:nvSpPr>
        <p:spPr>
          <a:xfrm xmlns:a="http://schemas.openxmlformats.org/drawingml/2006/main">
            <a:off x="6858000" y="2647950"/>
            <a:ext cx="1762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1B1E9DA4-0ABB-4C6A-B09B-5C9CA71CB4E3}"/>
              </a:ext>
            </a:extLst>
          </p:cNvPr>
          <p:cNvSpPr>
            <a:spLocks xmlns:a="http://schemas.openxmlformats.org/drawingml/2006/main" noGrp="1"/>
          </p:cNvSpPr>
          <p:nvPr/>
        </p:nvSpPr>
        <p:spPr>
          <a:xfrm xmlns:a="http://schemas.openxmlformats.org/drawingml/2006/main">
            <a:off x="6934200" y="274320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EfficientNetB0 + LSTM</a:t>
            </a:r>
          </a:p>
        </p:txBody>
      </p:sp>
      <p:sp>
        <p:nvSpPr>
          <p:cNvPr id="15" name="">
            <a:extLst xmlns:a="http://schemas.openxmlformats.org/drawingml/2006/main">
              <a:ext uri="{FF2B5EF4-FFF2-40B4-BE49-F238E27FC236}">
                <a16:creationId xmlns:a16="http://schemas.microsoft.com/office/drawing/2014/main" id="{DAF88747-56A2-41D1-B718-301DDDE1335F}"/>
              </a:ext>
            </a:extLst>
          </p:cNvPr>
          <p:cNvSpPr>
            <a:spLocks xmlns:a="http://schemas.openxmlformats.org/drawingml/2006/main" noGrp="1"/>
          </p:cNvSpPr>
          <p:nvPr/>
        </p:nvSpPr>
        <p:spPr>
          <a:xfrm xmlns:a="http://schemas.openxmlformats.org/drawingml/2006/main">
            <a:off x="8620125" y="2647950"/>
            <a:ext cx="3143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B57F0E43-EE63-4EC0-A497-2DAF29DB5283}"/>
              </a:ext>
            </a:extLst>
          </p:cNvPr>
          <p:cNvSpPr>
            <a:spLocks xmlns:a="http://schemas.openxmlformats.org/drawingml/2006/main" noGrp="1"/>
          </p:cNvSpPr>
          <p:nvPr/>
        </p:nvSpPr>
        <p:spPr>
          <a:xfrm xmlns:a="http://schemas.openxmlformats.org/drawingml/2006/main">
            <a:off x="8696325" y="27432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Bon compromis entre précision et légèreté</a:t>
            </a:r>
          </a:p>
        </p:txBody>
      </p:sp>
      <p:sp>
        <p:nvSpPr>
          <p:cNvPr id="17" name="">
            <a:extLst xmlns:a="http://schemas.openxmlformats.org/drawingml/2006/main">
              <a:ext uri="{FF2B5EF4-FFF2-40B4-BE49-F238E27FC236}">
                <a16:creationId xmlns:a16="http://schemas.microsoft.com/office/drawing/2014/main" id="{CD8274E9-BE82-44E3-B2B5-AFCAC655132A}"/>
              </a:ext>
            </a:extLst>
          </p:cNvPr>
          <p:cNvSpPr>
            <a:spLocks xmlns:a="http://schemas.openxmlformats.org/drawingml/2006/main" noGrp="1"/>
          </p:cNvSpPr>
          <p:nvPr/>
        </p:nvSpPr>
        <p:spPr>
          <a:xfrm xmlns:a="http://schemas.openxmlformats.org/drawingml/2006/main">
            <a:off x="6858000" y="3162300"/>
            <a:ext cx="1762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4CFB23F8-4A52-41C1-BCD3-CEDC5EFC2A3C}"/>
              </a:ext>
            </a:extLst>
          </p:cNvPr>
          <p:cNvSpPr>
            <a:spLocks xmlns:a="http://schemas.openxmlformats.org/drawingml/2006/main" noGrp="1"/>
          </p:cNvSpPr>
          <p:nvPr/>
        </p:nvSpPr>
        <p:spPr>
          <a:xfrm xmlns:a="http://schemas.openxmlformats.org/drawingml/2006/main">
            <a:off x="6934200" y="3257550"/>
            <a:ext cx="1609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GRU</a:t>
            </a:r>
          </a:p>
        </p:txBody>
      </p:sp>
      <p:sp>
        <p:nvSpPr>
          <p:cNvPr id="19" name="">
            <a:extLst xmlns:a="http://schemas.openxmlformats.org/drawingml/2006/main">
              <a:ext uri="{FF2B5EF4-FFF2-40B4-BE49-F238E27FC236}">
                <a16:creationId xmlns:a16="http://schemas.microsoft.com/office/drawing/2014/main" id="{E889FCA0-A465-4D20-958D-776C77660582}"/>
              </a:ext>
            </a:extLst>
          </p:cNvPr>
          <p:cNvSpPr>
            <a:spLocks xmlns:a="http://schemas.openxmlformats.org/drawingml/2006/main" noGrp="1"/>
          </p:cNvSpPr>
          <p:nvPr/>
        </p:nvSpPr>
        <p:spPr>
          <a:xfrm xmlns:a="http://schemas.openxmlformats.org/drawingml/2006/main">
            <a:off x="8620125" y="3162300"/>
            <a:ext cx="3143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5F384349-C252-4799-8976-A84191F52AD9}"/>
              </a:ext>
            </a:extLst>
          </p:cNvPr>
          <p:cNvSpPr>
            <a:spLocks xmlns:a="http://schemas.openxmlformats.org/drawingml/2006/main" noGrp="1"/>
          </p:cNvSpPr>
          <p:nvPr/>
        </p:nvSpPr>
        <p:spPr>
          <a:xfrm xmlns:a="http://schemas.openxmlformats.org/drawingml/2006/main">
            <a:off x="8696325" y="32575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Piste prometteuse à tester plus loin</a:t>
            </a:r>
          </a:p>
        </p:txBody>
      </p:sp>
      <p:sp>
        <p:nvSpPr>
          <p:cNvPr id="21" name="">
            <a:extLst xmlns:a="http://schemas.openxmlformats.org/drawingml/2006/main">
              <a:ext uri="{FF2B5EF4-FFF2-40B4-BE49-F238E27FC236}">
                <a16:creationId xmlns:a16="http://schemas.microsoft.com/office/drawing/2014/main" id="{BDF3A580-2E90-447A-8C61-22F8CE4B3381}"/>
              </a:ext>
            </a:extLst>
          </p:cNvPr>
          <p:cNvSpPr>
            <a:spLocks xmlns:a="http://schemas.openxmlformats.org/drawingml/2006/main" noGrp="1"/>
          </p:cNvSpPr>
          <p:nvPr/>
        </p:nvSpPr>
        <p:spPr>
          <a:xfrm xmlns:a="http://schemas.openxmlformats.org/drawingml/2006/main">
            <a:off x="6858000" y="4000500"/>
            <a:ext cx="4857750" cy="1285875"/>
          </a:xfrm>
          <a:prstGeom xmlns:a="http://schemas.openxmlformats.org/drawingml/2006/main" prst="roundRect">
            <a:avLst>
              <a:gd name="adj" fmla="val 5926"/>
            </a:avLst>
          </a:prstGeom>
          <a:solidFill xmlns:a="http://schemas.openxmlformats.org/drawingml/2006/main">
            <a:srgbClr val="EEF5FA"/>
          </a:solidFill>
          <a:ln xmlns:a="http://schemas.openxmlformats.org/drawingml/2006/main" w="9525">
            <a:solidFill>
              <a:srgbClr val="C8D6E4"/>
            </a:solidFill>
            <a:prstDash val="solid"/>
          </a:ln>
        </p:spPr>
      </p:sp>
      <p:sp>
        <p:nvSpPr>
          <p:cNvPr id="22" name="">
            <a:extLst xmlns:a="http://schemas.openxmlformats.org/drawingml/2006/main">
              <a:ext uri="{FF2B5EF4-FFF2-40B4-BE49-F238E27FC236}">
                <a16:creationId xmlns:a16="http://schemas.microsoft.com/office/drawing/2014/main" id="{34C9B7BF-BC48-4BFA-BE3F-8DD090B80579}"/>
              </a:ext>
            </a:extLst>
          </p:cNvPr>
          <p:cNvSpPr>
            <a:spLocks xmlns:a="http://schemas.openxmlformats.org/drawingml/2006/main" noGrp="1"/>
          </p:cNvSpPr>
          <p:nvPr/>
        </p:nvSpPr>
        <p:spPr>
          <a:xfrm xmlns:a="http://schemas.openxmlformats.org/drawingml/2006/main">
            <a:off x="7143750" y="421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Interprétation</a:t>
            </a:r>
          </a:p>
        </p:txBody>
      </p:sp>
      <p:sp>
        <p:nvSpPr>
          <p:cNvPr id="23" name="">
            <a:extLst xmlns:a="http://schemas.openxmlformats.org/drawingml/2006/main">
              <a:ext uri="{FF2B5EF4-FFF2-40B4-BE49-F238E27FC236}">
                <a16:creationId xmlns:a16="http://schemas.microsoft.com/office/drawing/2014/main" id="{C7086680-18D8-4EFC-9E62-F6776F2A2C2A}"/>
              </a:ext>
            </a:extLst>
          </p:cNvPr>
          <p:cNvSpPr>
            <a:spLocks xmlns:a="http://schemas.openxmlformats.org/drawingml/2006/main" noGrp="1"/>
          </p:cNvSpPr>
          <p:nvPr/>
        </p:nvSpPr>
        <p:spPr>
          <a:xfrm xmlns:a="http://schemas.openxmlformats.org/drawingml/2006/main">
            <a:off x="7143750" y="455295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Cette expérience montre que SIRCH dépend autant de la lecture temporelle du mouvement que de l’extraction visuelle image par image.</a:t>
            </a:r>
          </a:p>
        </p:txBody>
      </p:sp>
      <p:sp>
        <p:nvSpPr>
          <p:cNvPr id="24" name="">
            <a:extLst xmlns:a="http://schemas.openxmlformats.org/drawingml/2006/main">
              <a:ext uri="{FF2B5EF4-FFF2-40B4-BE49-F238E27FC236}">
                <a16:creationId xmlns:a16="http://schemas.microsoft.com/office/drawing/2014/main" id="{C5F0B7C1-6EBE-4BC7-93DB-5476F8194F81}"/>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Ablation</a:t>
            </a:r>
          </a:p>
        </p:txBody>
      </p:sp>
      <p:sp>
        <p:nvSpPr>
          <p:cNvPr id="25" name="">
            <a:extLst xmlns:a="http://schemas.openxmlformats.org/drawingml/2006/main">
              <a:ext uri="{FF2B5EF4-FFF2-40B4-BE49-F238E27FC236}">
                <a16:creationId xmlns:a16="http://schemas.microsoft.com/office/drawing/2014/main" id="{CC3E3793-87C6-4327-AF9C-10CC44D62A4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15 / 21</a:t>
            </a:r>
          </a:p>
        </p:txBody>
      </p:sp>
    </p:spTree>
    <p:extLst>
      <p:ext uri="{BB962C8B-B14F-4D97-AF65-F5344CB8AC3E}">
        <p14:creationId xmlns:p14="http://schemas.microsoft.com/office/powerpoint/2010/main" val="11959611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D41CFD-9FD1-49F4-899D-F1D6A94A4611}"/>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cross-dataset montre que la généralisation est le vrai défi</a:t>
            </a:r>
          </a:p>
        </p:txBody>
      </p:sp>
      <p:sp>
        <p:nvSpPr>
          <p:cNvPr id="2" name="">
            <a:extLst xmlns:a="http://schemas.openxmlformats.org/drawingml/2006/main">
              <a:ext uri="{FF2B5EF4-FFF2-40B4-BE49-F238E27FC236}">
                <a16:creationId xmlns:a16="http://schemas.microsoft.com/office/drawing/2014/main" id="{249E952B-26AB-4A8C-B0F5-9F2812D58420}"/>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7FEFB1-B1A4-45C9-A5BC-4CF7A8F1F51C}"/>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Quand on entraîne sur une source et qu’on teste sur l’autre, les scores chutent fortement.</a:t>
            </a:r>
          </a:p>
        </p:txBody>
      </p:sp>
      <p:sp>
        <p:nvSpPr>
          <p:cNvPr id="4" name="">
            <a:extLst xmlns:a="http://schemas.openxmlformats.org/drawingml/2006/main">
              <a:ext uri="{FF2B5EF4-FFF2-40B4-BE49-F238E27FC236}">
                <a16:creationId xmlns:a16="http://schemas.microsoft.com/office/drawing/2014/main" id="{B3CFDA6D-E215-49B8-9E8E-BCF01E6CB9D4}"/>
              </a:ext>
            </a:extLst>
          </p:cNvPr>
          <p:cNvSpPr>
            <a:spLocks xmlns:a="http://schemas.openxmlformats.org/drawingml/2006/main" noGrp="1"/>
          </p:cNvSpPr>
          <p:nvPr/>
        </p:nvSpPr>
        <p:spPr>
          <a:xfrm xmlns:a="http://schemas.openxmlformats.org/drawingml/2006/main">
            <a:off x="666750" y="1619250"/>
            <a:ext cx="2000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47A884B3-CBE2-4BEF-ADD3-1C7070F03CA9}"/>
              </a:ext>
            </a:extLst>
          </p:cNvPr>
          <p:cNvSpPr>
            <a:spLocks xmlns:a="http://schemas.openxmlformats.org/drawingml/2006/main" noGrp="1"/>
          </p:cNvSpPr>
          <p:nvPr/>
        </p:nvSpPr>
        <p:spPr>
          <a:xfrm xmlns:a="http://schemas.openxmlformats.org/drawingml/2006/main">
            <a:off x="742950" y="17145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Expérience</a:t>
            </a:r>
          </a:p>
        </p:txBody>
      </p:sp>
      <p:sp>
        <p:nvSpPr>
          <p:cNvPr id="6" name="">
            <a:extLst xmlns:a="http://schemas.openxmlformats.org/drawingml/2006/main">
              <a:ext uri="{FF2B5EF4-FFF2-40B4-BE49-F238E27FC236}">
                <a16:creationId xmlns:a16="http://schemas.microsoft.com/office/drawing/2014/main" id="{109F31B0-BFB2-40E2-AF8E-D8C8527689A7}"/>
              </a:ext>
            </a:extLst>
          </p:cNvPr>
          <p:cNvSpPr>
            <a:spLocks xmlns:a="http://schemas.openxmlformats.org/drawingml/2006/main" noGrp="1"/>
          </p:cNvSpPr>
          <p:nvPr/>
        </p:nvSpPr>
        <p:spPr>
          <a:xfrm xmlns:a="http://schemas.openxmlformats.org/drawingml/2006/main">
            <a:off x="2667000" y="1619250"/>
            <a:ext cx="1619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A8FF939E-AB82-42B4-B419-00F344858CCA}"/>
              </a:ext>
            </a:extLst>
          </p:cNvPr>
          <p:cNvSpPr>
            <a:spLocks xmlns:a="http://schemas.openxmlformats.org/drawingml/2006/main" noGrp="1"/>
          </p:cNvSpPr>
          <p:nvPr/>
        </p:nvSpPr>
        <p:spPr>
          <a:xfrm xmlns:a="http://schemas.openxmlformats.org/drawingml/2006/main">
            <a:off x="2743200" y="17145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Test</a:t>
            </a:r>
          </a:p>
        </p:txBody>
      </p:sp>
      <p:sp>
        <p:nvSpPr>
          <p:cNvPr id="8" name="">
            <a:extLst xmlns:a="http://schemas.openxmlformats.org/drawingml/2006/main">
              <a:ext uri="{FF2B5EF4-FFF2-40B4-BE49-F238E27FC236}">
                <a16:creationId xmlns:a16="http://schemas.microsoft.com/office/drawing/2014/main" id="{5F142963-1439-4859-9A2F-2D82139C5848}"/>
              </a:ext>
            </a:extLst>
          </p:cNvPr>
          <p:cNvSpPr>
            <a:spLocks xmlns:a="http://schemas.openxmlformats.org/drawingml/2006/main" noGrp="1"/>
          </p:cNvSpPr>
          <p:nvPr/>
        </p:nvSpPr>
        <p:spPr>
          <a:xfrm xmlns:a="http://schemas.openxmlformats.org/drawingml/2006/main">
            <a:off x="4286250"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BF4AF610-D1D3-497F-866E-3EC11581BC9A}"/>
              </a:ext>
            </a:extLst>
          </p:cNvPr>
          <p:cNvSpPr>
            <a:spLocks xmlns:a="http://schemas.openxmlformats.org/drawingml/2006/main" noGrp="1"/>
          </p:cNvSpPr>
          <p:nvPr/>
        </p:nvSpPr>
        <p:spPr>
          <a:xfrm xmlns:a="http://schemas.openxmlformats.org/drawingml/2006/main">
            <a:off x="4362450"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Accuracy</a:t>
            </a:r>
          </a:p>
        </p:txBody>
      </p:sp>
      <p:sp>
        <p:nvSpPr>
          <p:cNvPr id="10" name="">
            <a:extLst xmlns:a="http://schemas.openxmlformats.org/drawingml/2006/main">
              <a:ext uri="{FF2B5EF4-FFF2-40B4-BE49-F238E27FC236}">
                <a16:creationId xmlns:a16="http://schemas.microsoft.com/office/drawing/2014/main" id="{CA6F5BF5-44CE-4A6B-9BB3-1A11B1CE7453}"/>
              </a:ext>
            </a:extLst>
          </p:cNvPr>
          <p:cNvSpPr>
            <a:spLocks xmlns:a="http://schemas.openxmlformats.org/drawingml/2006/main" noGrp="1"/>
          </p:cNvSpPr>
          <p:nvPr/>
        </p:nvSpPr>
        <p:spPr>
          <a:xfrm xmlns:a="http://schemas.openxmlformats.org/drawingml/2006/main">
            <a:off x="5667375"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2886ED5F-D855-4780-9E6B-AE20682F5321}"/>
              </a:ext>
            </a:extLst>
          </p:cNvPr>
          <p:cNvSpPr>
            <a:spLocks xmlns:a="http://schemas.openxmlformats.org/drawingml/2006/main" noGrp="1"/>
          </p:cNvSpPr>
          <p:nvPr/>
        </p:nvSpPr>
        <p:spPr>
          <a:xfrm xmlns:a="http://schemas.openxmlformats.org/drawingml/2006/main">
            <a:off x="5743575"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Précision</a:t>
            </a:r>
          </a:p>
        </p:txBody>
      </p:sp>
      <p:sp>
        <p:nvSpPr>
          <p:cNvPr id="12" name="">
            <a:extLst xmlns:a="http://schemas.openxmlformats.org/drawingml/2006/main">
              <a:ext uri="{FF2B5EF4-FFF2-40B4-BE49-F238E27FC236}">
                <a16:creationId xmlns:a16="http://schemas.microsoft.com/office/drawing/2014/main" id="{0C149B7F-99AE-4AB0-A7D4-D1C78CF090E4}"/>
              </a:ext>
            </a:extLst>
          </p:cNvPr>
          <p:cNvSpPr>
            <a:spLocks xmlns:a="http://schemas.openxmlformats.org/drawingml/2006/main" noGrp="1"/>
          </p:cNvSpPr>
          <p:nvPr/>
        </p:nvSpPr>
        <p:spPr>
          <a:xfrm xmlns:a="http://schemas.openxmlformats.org/drawingml/2006/main">
            <a:off x="7048500"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DA6F8F88-64DC-4496-A0AF-4043387AF570}"/>
              </a:ext>
            </a:extLst>
          </p:cNvPr>
          <p:cNvSpPr>
            <a:spLocks xmlns:a="http://schemas.openxmlformats.org/drawingml/2006/main" noGrp="1"/>
          </p:cNvSpPr>
          <p:nvPr/>
        </p:nvSpPr>
        <p:spPr>
          <a:xfrm xmlns:a="http://schemas.openxmlformats.org/drawingml/2006/main">
            <a:off x="7124700"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Rappel</a:t>
            </a:r>
          </a:p>
        </p:txBody>
      </p:sp>
      <p:sp>
        <p:nvSpPr>
          <p:cNvPr id="14" name="">
            <a:extLst xmlns:a="http://schemas.openxmlformats.org/drawingml/2006/main">
              <a:ext uri="{FF2B5EF4-FFF2-40B4-BE49-F238E27FC236}">
                <a16:creationId xmlns:a16="http://schemas.microsoft.com/office/drawing/2014/main" id="{EC43051B-AF2A-4AA2-9A9A-4FB52EEAC3D0}"/>
              </a:ext>
            </a:extLst>
          </p:cNvPr>
          <p:cNvSpPr>
            <a:spLocks xmlns:a="http://schemas.openxmlformats.org/drawingml/2006/main" noGrp="1"/>
          </p:cNvSpPr>
          <p:nvPr/>
        </p:nvSpPr>
        <p:spPr>
          <a:xfrm xmlns:a="http://schemas.openxmlformats.org/drawingml/2006/main">
            <a:off x="8429625"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6D0FC231-3A3C-405C-B701-2CB2CAC67D11}"/>
              </a:ext>
            </a:extLst>
          </p:cNvPr>
          <p:cNvSpPr>
            <a:spLocks xmlns:a="http://schemas.openxmlformats.org/drawingml/2006/main" noGrp="1"/>
          </p:cNvSpPr>
          <p:nvPr/>
        </p:nvSpPr>
        <p:spPr>
          <a:xfrm xmlns:a="http://schemas.openxmlformats.org/drawingml/2006/main">
            <a:off x="8505825"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F1</a:t>
            </a:r>
          </a:p>
        </p:txBody>
      </p:sp>
      <p:sp>
        <p:nvSpPr>
          <p:cNvPr id="16" name="">
            <a:extLst xmlns:a="http://schemas.openxmlformats.org/drawingml/2006/main">
              <a:ext uri="{FF2B5EF4-FFF2-40B4-BE49-F238E27FC236}">
                <a16:creationId xmlns:a16="http://schemas.microsoft.com/office/drawing/2014/main" id="{6A61D3AF-CBFE-4F61-89FC-A0A7E454E23C}"/>
              </a:ext>
            </a:extLst>
          </p:cNvPr>
          <p:cNvSpPr>
            <a:spLocks xmlns:a="http://schemas.openxmlformats.org/drawingml/2006/main" noGrp="1"/>
          </p:cNvSpPr>
          <p:nvPr/>
        </p:nvSpPr>
        <p:spPr>
          <a:xfrm xmlns:a="http://schemas.openxmlformats.org/drawingml/2006/main">
            <a:off x="666750" y="2133600"/>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35872C76-0A0B-472A-94E8-0F322AD2174E}"/>
              </a:ext>
            </a:extLst>
          </p:cNvPr>
          <p:cNvSpPr>
            <a:spLocks xmlns:a="http://schemas.openxmlformats.org/drawingml/2006/main" noGrp="1"/>
          </p:cNvSpPr>
          <p:nvPr/>
        </p:nvSpPr>
        <p:spPr>
          <a:xfrm xmlns:a="http://schemas.openxmlformats.org/drawingml/2006/main">
            <a:off x="742950" y="22288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 seul</a:t>
            </a:r>
          </a:p>
        </p:txBody>
      </p:sp>
      <p:sp>
        <p:nvSpPr>
          <p:cNvPr id="18" name="">
            <a:extLst xmlns:a="http://schemas.openxmlformats.org/drawingml/2006/main">
              <a:ext uri="{FF2B5EF4-FFF2-40B4-BE49-F238E27FC236}">
                <a16:creationId xmlns:a16="http://schemas.microsoft.com/office/drawing/2014/main" id="{053EB8BB-D862-43CB-B8A1-67133A71AB88}"/>
              </a:ext>
            </a:extLst>
          </p:cNvPr>
          <p:cNvSpPr>
            <a:spLocks xmlns:a="http://schemas.openxmlformats.org/drawingml/2006/main" noGrp="1"/>
          </p:cNvSpPr>
          <p:nvPr/>
        </p:nvSpPr>
        <p:spPr>
          <a:xfrm xmlns:a="http://schemas.openxmlformats.org/drawingml/2006/main">
            <a:off x="2667000" y="21336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CFFDE2DC-3179-44DE-9243-35AF4D2DF41E}"/>
              </a:ext>
            </a:extLst>
          </p:cNvPr>
          <p:cNvSpPr>
            <a:spLocks xmlns:a="http://schemas.openxmlformats.org/drawingml/2006/main" noGrp="1"/>
          </p:cNvSpPr>
          <p:nvPr/>
        </p:nvSpPr>
        <p:spPr>
          <a:xfrm xmlns:a="http://schemas.openxmlformats.org/drawingml/2006/main">
            <a:off x="2743200" y="22288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a:t>
            </a:r>
          </a:p>
        </p:txBody>
      </p:sp>
      <p:sp>
        <p:nvSpPr>
          <p:cNvPr id="20" name="">
            <a:extLst xmlns:a="http://schemas.openxmlformats.org/drawingml/2006/main">
              <a:ext uri="{FF2B5EF4-FFF2-40B4-BE49-F238E27FC236}">
                <a16:creationId xmlns:a16="http://schemas.microsoft.com/office/drawing/2014/main" id="{21671D8E-DC9C-4048-A5D2-60BECE685D2F}"/>
              </a:ext>
            </a:extLst>
          </p:cNvPr>
          <p:cNvSpPr>
            <a:spLocks xmlns:a="http://schemas.openxmlformats.org/drawingml/2006/main" noGrp="1"/>
          </p:cNvSpPr>
          <p:nvPr/>
        </p:nvSpPr>
        <p:spPr>
          <a:xfrm xmlns:a="http://schemas.openxmlformats.org/drawingml/2006/main">
            <a:off x="4286250"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9EFFD8B5-7216-4E75-AE7D-872D415C60CF}"/>
              </a:ext>
            </a:extLst>
          </p:cNvPr>
          <p:cNvSpPr>
            <a:spLocks xmlns:a="http://schemas.openxmlformats.org/drawingml/2006/main" noGrp="1"/>
          </p:cNvSpPr>
          <p:nvPr/>
        </p:nvSpPr>
        <p:spPr>
          <a:xfrm xmlns:a="http://schemas.openxmlformats.org/drawingml/2006/main">
            <a:off x="4362450"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54,80 %</a:t>
            </a:r>
          </a:p>
        </p:txBody>
      </p:sp>
      <p:sp>
        <p:nvSpPr>
          <p:cNvPr id="22" name="">
            <a:extLst xmlns:a="http://schemas.openxmlformats.org/drawingml/2006/main">
              <a:ext uri="{FF2B5EF4-FFF2-40B4-BE49-F238E27FC236}">
                <a16:creationId xmlns:a16="http://schemas.microsoft.com/office/drawing/2014/main" id="{FC912A2D-345D-4172-9206-C3065492643A}"/>
              </a:ext>
            </a:extLst>
          </p:cNvPr>
          <p:cNvSpPr>
            <a:spLocks xmlns:a="http://schemas.openxmlformats.org/drawingml/2006/main" noGrp="1"/>
          </p:cNvSpPr>
          <p:nvPr/>
        </p:nvSpPr>
        <p:spPr>
          <a:xfrm xmlns:a="http://schemas.openxmlformats.org/drawingml/2006/main">
            <a:off x="5667375"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9D39BA83-131A-4CA5-9F91-34456CD7791A}"/>
              </a:ext>
            </a:extLst>
          </p:cNvPr>
          <p:cNvSpPr>
            <a:spLocks xmlns:a="http://schemas.openxmlformats.org/drawingml/2006/main" noGrp="1"/>
          </p:cNvSpPr>
          <p:nvPr/>
        </p:nvSpPr>
        <p:spPr>
          <a:xfrm xmlns:a="http://schemas.openxmlformats.org/drawingml/2006/main">
            <a:off x="5743575"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52,96 %</a:t>
            </a:r>
          </a:p>
        </p:txBody>
      </p:sp>
      <p:sp>
        <p:nvSpPr>
          <p:cNvPr id="24" name="">
            <a:extLst xmlns:a="http://schemas.openxmlformats.org/drawingml/2006/main">
              <a:ext uri="{FF2B5EF4-FFF2-40B4-BE49-F238E27FC236}">
                <a16:creationId xmlns:a16="http://schemas.microsoft.com/office/drawing/2014/main" id="{55456DD8-3459-4405-9183-7B30DBE9FE48}"/>
              </a:ext>
            </a:extLst>
          </p:cNvPr>
          <p:cNvSpPr>
            <a:spLocks xmlns:a="http://schemas.openxmlformats.org/drawingml/2006/main" noGrp="1"/>
          </p:cNvSpPr>
          <p:nvPr/>
        </p:nvSpPr>
        <p:spPr>
          <a:xfrm xmlns:a="http://schemas.openxmlformats.org/drawingml/2006/main">
            <a:off x="7048500"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CC6E9CF4-1BF4-4681-8826-CAEA69DA2A47}"/>
              </a:ext>
            </a:extLst>
          </p:cNvPr>
          <p:cNvSpPr>
            <a:spLocks xmlns:a="http://schemas.openxmlformats.org/drawingml/2006/main" noGrp="1"/>
          </p:cNvSpPr>
          <p:nvPr/>
        </p:nvSpPr>
        <p:spPr>
          <a:xfrm xmlns:a="http://schemas.openxmlformats.org/drawingml/2006/main">
            <a:off x="7124700"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82,04 %</a:t>
            </a:r>
          </a:p>
        </p:txBody>
      </p:sp>
      <p:sp>
        <p:nvSpPr>
          <p:cNvPr id="26" name="">
            <a:extLst xmlns:a="http://schemas.openxmlformats.org/drawingml/2006/main">
              <a:ext uri="{FF2B5EF4-FFF2-40B4-BE49-F238E27FC236}">
                <a16:creationId xmlns:a16="http://schemas.microsoft.com/office/drawing/2014/main" id="{3695334F-809A-416B-8BE6-F5BB87340C0F}"/>
              </a:ext>
            </a:extLst>
          </p:cNvPr>
          <p:cNvSpPr>
            <a:spLocks xmlns:a="http://schemas.openxmlformats.org/drawingml/2006/main" noGrp="1"/>
          </p:cNvSpPr>
          <p:nvPr/>
        </p:nvSpPr>
        <p:spPr>
          <a:xfrm xmlns:a="http://schemas.openxmlformats.org/drawingml/2006/main">
            <a:off x="8429625"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F32C48B6-A54C-45F7-86FC-B9154DFAC8EC}"/>
              </a:ext>
            </a:extLst>
          </p:cNvPr>
          <p:cNvSpPr>
            <a:spLocks xmlns:a="http://schemas.openxmlformats.org/drawingml/2006/main" noGrp="1"/>
          </p:cNvSpPr>
          <p:nvPr/>
        </p:nvSpPr>
        <p:spPr>
          <a:xfrm xmlns:a="http://schemas.openxmlformats.org/drawingml/2006/main">
            <a:off x="8505825"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64,37 %</a:t>
            </a:r>
          </a:p>
        </p:txBody>
      </p:sp>
      <p:sp>
        <p:nvSpPr>
          <p:cNvPr id="28" name="">
            <a:extLst xmlns:a="http://schemas.openxmlformats.org/drawingml/2006/main">
              <a:ext uri="{FF2B5EF4-FFF2-40B4-BE49-F238E27FC236}">
                <a16:creationId xmlns:a16="http://schemas.microsoft.com/office/drawing/2014/main" id="{4113F067-560D-4220-BEE2-D7AA69C5DD30}"/>
              </a:ext>
            </a:extLst>
          </p:cNvPr>
          <p:cNvSpPr>
            <a:spLocks xmlns:a="http://schemas.openxmlformats.org/drawingml/2006/main" noGrp="1"/>
          </p:cNvSpPr>
          <p:nvPr/>
        </p:nvSpPr>
        <p:spPr>
          <a:xfrm xmlns:a="http://schemas.openxmlformats.org/drawingml/2006/main">
            <a:off x="666750" y="2647950"/>
            <a:ext cx="2000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8591E162-855C-4F7A-ADDA-EB6B162C89BE}"/>
              </a:ext>
            </a:extLst>
          </p:cNvPr>
          <p:cNvSpPr>
            <a:spLocks xmlns:a="http://schemas.openxmlformats.org/drawingml/2006/main" noGrp="1"/>
          </p:cNvSpPr>
          <p:nvPr/>
        </p:nvSpPr>
        <p:spPr>
          <a:xfrm xmlns:a="http://schemas.openxmlformats.org/drawingml/2006/main">
            <a:off x="742950" y="27432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 seul</a:t>
            </a:r>
          </a:p>
        </p:txBody>
      </p:sp>
      <p:sp>
        <p:nvSpPr>
          <p:cNvPr id="30" name="">
            <a:extLst xmlns:a="http://schemas.openxmlformats.org/drawingml/2006/main">
              <a:ext uri="{FF2B5EF4-FFF2-40B4-BE49-F238E27FC236}">
                <a16:creationId xmlns:a16="http://schemas.microsoft.com/office/drawing/2014/main" id="{92E5F29D-A2FC-46F6-B633-669055E6C6D2}"/>
              </a:ext>
            </a:extLst>
          </p:cNvPr>
          <p:cNvSpPr>
            <a:spLocks xmlns:a="http://schemas.openxmlformats.org/drawingml/2006/main" noGrp="1"/>
          </p:cNvSpPr>
          <p:nvPr/>
        </p:nvSpPr>
        <p:spPr>
          <a:xfrm xmlns:a="http://schemas.openxmlformats.org/drawingml/2006/main">
            <a:off x="2667000" y="2647950"/>
            <a:ext cx="1619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44EA242E-5BDB-4C67-9153-D71313E51F94}"/>
              </a:ext>
            </a:extLst>
          </p:cNvPr>
          <p:cNvSpPr>
            <a:spLocks xmlns:a="http://schemas.openxmlformats.org/drawingml/2006/main" noGrp="1"/>
          </p:cNvSpPr>
          <p:nvPr/>
        </p:nvSpPr>
        <p:spPr>
          <a:xfrm xmlns:a="http://schemas.openxmlformats.org/drawingml/2006/main">
            <a:off x="274320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a:t>
            </a:r>
          </a:p>
        </p:txBody>
      </p:sp>
      <p:sp>
        <p:nvSpPr>
          <p:cNvPr id="32" name="">
            <a:extLst xmlns:a="http://schemas.openxmlformats.org/drawingml/2006/main">
              <a:ext uri="{FF2B5EF4-FFF2-40B4-BE49-F238E27FC236}">
                <a16:creationId xmlns:a16="http://schemas.microsoft.com/office/drawing/2014/main" id="{A42C9B96-F138-4F5C-8A80-F38B758BC915}"/>
              </a:ext>
            </a:extLst>
          </p:cNvPr>
          <p:cNvSpPr>
            <a:spLocks xmlns:a="http://schemas.openxmlformats.org/drawingml/2006/main" noGrp="1"/>
          </p:cNvSpPr>
          <p:nvPr/>
        </p:nvSpPr>
        <p:spPr>
          <a:xfrm xmlns:a="http://schemas.openxmlformats.org/drawingml/2006/main">
            <a:off x="4286250"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E8AD5F40-910D-4A0D-B572-F5E1A7EB573C}"/>
              </a:ext>
            </a:extLst>
          </p:cNvPr>
          <p:cNvSpPr>
            <a:spLocks xmlns:a="http://schemas.openxmlformats.org/drawingml/2006/main" noGrp="1"/>
          </p:cNvSpPr>
          <p:nvPr/>
        </p:nvSpPr>
        <p:spPr>
          <a:xfrm xmlns:a="http://schemas.openxmlformats.org/drawingml/2006/main">
            <a:off x="4362450"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74,50 %</a:t>
            </a:r>
          </a:p>
        </p:txBody>
      </p:sp>
      <p:sp>
        <p:nvSpPr>
          <p:cNvPr id="34" name="">
            <a:extLst xmlns:a="http://schemas.openxmlformats.org/drawingml/2006/main">
              <a:ext uri="{FF2B5EF4-FFF2-40B4-BE49-F238E27FC236}">
                <a16:creationId xmlns:a16="http://schemas.microsoft.com/office/drawing/2014/main" id="{4897BEBD-38B3-42B7-B14D-A1D1DF97A677}"/>
              </a:ext>
            </a:extLst>
          </p:cNvPr>
          <p:cNvSpPr>
            <a:spLocks xmlns:a="http://schemas.openxmlformats.org/drawingml/2006/main" noGrp="1"/>
          </p:cNvSpPr>
          <p:nvPr/>
        </p:nvSpPr>
        <p:spPr>
          <a:xfrm xmlns:a="http://schemas.openxmlformats.org/drawingml/2006/main">
            <a:off x="5667375"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7CBC2B98-1A22-40AD-BE8D-8BC2E001785F}"/>
              </a:ext>
            </a:extLst>
          </p:cNvPr>
          <p:cNvSpPr>
            <a:spLocks xmlns:a="http://schemas.openxmlformats.org/drawingml/2006/main" noGrp="1"/>
          </p:cNvSpPr>
          <p:nvPr/>
        </p:nvSpPr>
        <p:spPr>
          <a:xfrm xmlns:a="http://schemas.openxmlformats.org/drawingml/2006/main">
            <a:off x="5743575"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80,10 %</a:t>
            </a:r>
          </a:p>
        </p:txBody>
      </p:sp>
      <p:sp>
        <p:nvSpPr>
          <p:cNvPr id="36" name="">
            <a:extLst xmlns:a="http://schemas.openxmlformats.org/drawingml/2006/main">
              <a:ext uri="{FF2B5EF4-FFF2-40B4-BE49-F238E27FC236}">
                <a16:creationId xmlns:a16="http://schemas.microsoft.com/office/drawing/2014/main" id="{A237DE43-B178-40F6-9B5F-26C9EC6F8CF7}"/>
              </a:ext>
            </a:extLst>
          </p:cNvPr>
          <p:cNvSpPr>
            <a:spLocks xmlns:a="http://schemas.openxmlformats.org/drawingml/2006/main" noGrp="1"/>
          </p:cNvSpPr>
          <p:nvPr/>
        </p:nvSpPr>
        <p:spPr>
          <a:xfrm xmlns:a="http://schemas.openxmlformats.org/drawingml/2006/main">
            <a:off x="7048500"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09483E12-B910-4D4D-91D4-FA24ED4A42E4}"/>
              </a:ext>
            </a:extLst>
          </p:cNvPr>
          <p:cNvSpPr>
            <a:spLocks xmlns:a="http://schemas.openxmlformats.org/drawingml/2006/main" noGrp="1"/>
          </p:cNvSpPr>
          <p:nvPr/>
        </p:nvSpPr>
        <p:spPr>
          <a:xfrm xmlns:a="http://schemas.openxmlformats.org/drawingml/2006/main">
            <a:off x="7124700"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65,20 %</a:t>
            </a:r>
          </a:p>
        </p:txBody>
      </p:sp>
      <p:sp>
        <p:nvSpPr>
          <p:cNvPr id="38" name="">
            <a:extLst xmlns:a="http://schemas.openxmlformats.org/drawingml/2006/main">
              <a:ext uri="{FF2B5EF4-FFF2-40B4-BE49-F238E27FC236}">
                <a16:creationId xmlns:a16="http://schemas.microsoft.com/office/drawing/2014/main" id="{AF4A5968-CDBE-4095-AF4A-EFD9309F4D10}"/>
              </a:ext>
            </a:extLst>
          </p:cNvPr>
          <p:cNvSpPr>
            <a:spLocks xmlns:a="http://schemas.openxmlformats.org/drawingml/2006/main" noGrp="1"/>
          </p:cNvSpPr>
          <p:nvPr/>
        </p:nvSpPr>
        <p:spPr>
          <a:xfrm xmlns:a="http://schemas.openxmlformats.org/drawingml/2006/main">
            <a:off x="8429625"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A40F0CDE-4393-47A2-9246-E60D955820EA}"/>
              </a:ext>
            </a:extLst>
          </p:cNvPr>
          <p:cNvSpPr>
            <a:spLocks xmlns:a="http://schemas.openxmlformats.org/drawingml/2006/main" noGrp="1"/>
          </p:cNvSpPr>
          <p:nvPr/>
        </p:nvSpPr>
        <p:spPr>
          <a:xfrm xmlns:a="http://schemas.openxmlformats.org/drawingml/2006/main">
            <a:off x="8505825"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71,89 %</a:t>
            </a:r>
          </a:p>
        </p:txBody>
      </p:sp>
      <p:sp>
        <p:nvSpPr>
          <p:cNvPr id="40" name="">
            <a:extLst xmlns:a="http://schemas.openxmlformats.org/drawingml/2006/main">
              <a:ext uri="{FF2B5EF4-FFF2-40B4-BE49-F238E27FC236}">
                <a16:creationId xmlns:a16="http://schemas.microsoft.com/office/drawing/2014/main" id="{63293F74-5A64-4B28-82DA-3AB26CEDA951}"/>
              </a:ext>
            </a:extLst>
          </p:cNvPr>
          <p:cNvSpPr>
            <a:spLocks xmlns:a="http://schemas.openxmlformats.org/drawingml/2006/main" noGrp="1"/>
          </p:cNvSpPr>
          <p:nvPr/>
        </p:nvSpPr>
        <p:spPr>
          <a:xfrm xmlns:a="http://schemas.openxmlformats.org/drawingml/2006/main">
            <a:off x="666750" y="3162300"/>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1" name="">
            <a:extLst xmlns:a="http://schemas.openxmlformats.org/drawingml/2006/main">
              <a:ext uri="{FF2B5EF4-FFF2-40B4-BE49-F238E27FC236}">
                <a16:creationId xmlns:a16="http://schemas.microsoft.com/office/drawing/2014/main" id="{69AA0FDA-DC45-4076-9E67-69093D700F46}"/>
              </a:ext>
            </a:extLst>
          </p:cNvPr>
          <p:cNvSpPr>
            <a:spLocks xmlns:a="http://schemas.openxmlformats.org/drawingml/2006/main" noGrp="1"/>
          </p:cNvSpPr>
          <p:nvPr/>
        </p:nvSpPr>
        <p:spPr>
          <a:xfrm xmlns:a="http://schemas.openxmlformats.org/drawingml/2006/main">
            <a:off x="742950" y="32575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Combiné original</a:t>
            </a:r>
          </a:p>
        </p:txBody>
      </p:sp>
      <p:sp>
        <p:nvSpPr>
          <p:cNvPr id="42" name="">
            <a:extLst xmlns:a="http://schemas.openxmlformats.org/drawingml/2006/main">
              <a:ext uri="{FF2B5EF4-FFF2-40B4-BE49-F238E27FC236}">
                <a16:creationId xmlns:a16="http://schemas.microsoft.com/office/drawing/2014/main" id="{5B85CA55-CF5D-4A93-8241-21C7AD91DFDA}"/>
              </a:ext>
            </a:extLst>
          </p:cNvPr>
          <p:cNvSpPr>
            <a:spLocks xmlns:a="http://schemas.openxmlformats.org/drawingml/2006/main" noGrp="1"/>
          </p:cNvSpPr>
          <p:nvPr/>
        </p:nvSpPr>
        <p:spPr>
          <a:xfrm xmlns:a="http://schemas.openxmlformats.org/drawingml/2006/main">
            <a:off x="2667000" y="31623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3" name="">
            <a:extLst xmlns:a="http://schemas.openxmlformats.org/drawingml/2006/main">
              <a:ext uri="{FF2B5EF4-FFF2-40B4-BE49-F238E27FC236}">
                <a16:creationId xmlns:a16="http://schemas.microsoft.com/office/drawing/2014/main" id="{F032D902-4AC1-4B9E-A12D-662199EBD0BC}"/>
              </a:ext>
            </a:extLst>
          </p:cNvPr>
          <p:cNvSpPr>
            <a:spLocks xmlns:a="http://schemas.openxmlformats.org/drawingml/2006/main" noGrp="1"/>
          </p:cNvSpPr>
          <p:nvPr/>
        </p:nvSpPr>
        <p:spPr>
          <a:xfrm xmlns:a="http://schemas.openxmlformats.org/drawingml/2006/main">
            <a:off x="2743200" y="32575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599 vidéos</a:t>
            </a:r>
          </a:p>
        </p:txBody>
      </p:sp>
      <p:sp>
        <p:nvSpPr>
          <p:cNvPr id="44" name="">
            <a:extLst xmlns:a="http://schemas.openxmlformats.org/drawingml/2006/main">
              <a:ext uri="{FF2B5EF4-FFF2-40B4-BE49-F238E27FC236}">
                <a16:creationId xmlns:a16="http://schemas.microsoft.com/office/drawing/2014/main" id="{5653E540-8852-4C5D-A942-E5D01FC958B7}"/>
              </a:ext>
            </a:extLst>
          </p:cNvPr>
          <p:cNvSpPr>
            <a:spLocks xmlns:a="http://schemas.openxmlformats.org/drawingml/2006/main" noGrp="1"/>
          </p:cNvSpPr>
          <p:nvPr/>
        </p:nvSpPr>
        <p:spPr>
          <a:xfrm xmlns:a="http://schemas.openxmlformats.org/drawingml/2006/main">
            <a:off x="4286250"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5" name="">
            <a:extLst xmlns:a="http://schemas.openxmlformats.org/drawingml/2006/main">
              <a:ext uri="{FF2B5EF4-FFF2-40B4-BE49-F238E27FC236}">
                <a16:creationId xmlns:a16="http://schemas.microsoft.com/office/drawing/2014/main" id="{7A93DA65-1172-4779-A158-48F7A1347A87}"/>
              </a:ext>
            </a:extLst>
          </p:cNvPr>
          <p:cNvSpPr>
            <a:spLocks xmlns:a="http://schemas.openxmlformats.org/drawingml/2006/main" noGrp="1"/>
          </p:cNvSpPr>
          <p:nvPr/>
        </p:nvSpPr>
        <p:spPr>
          <a:xfrm xmlns:a="http://schemas.openxmlformats.org/drawingml/2006/main">
            <a:off x="4362450"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86,81 %</a:t>
            </a:r>
          </a:p>
        </p:txBody>
      </p:sp>
      <p:sp>
        <p:nvSpPr>
          <p:cNvPr id="46" name="">
            <a:extLst xmlns:a="http://schemas.openxmlformats.org/drawingml/2006/main">
              <a:ext uri="{FF2B5EF4-FFF2-40B4-BE49-F238E27FC236}">
                <a16:creationId xmlns:a16="http://schemas.microsoft.com/office/drawing/2014/main" id="{9623B5C0-CB21-4D4E-9C9E-2F07D76DCE2E}"/>
              </a:ext>
            </a:extLst>
          </p:cNvPr>
          <p:cNvSpPr>
            <a:spLocks xmlns:a="http://schemas.openxmlformats.org/drawingml/2006/main" noGrp="1"/>
          </p:cNvSpPr>
          <p:nvPr/>
        </p:nvSpPr>
        <p:spPr>
          <a:xfrm xmlns:a="http://schemas.openxmlformats.org/drawingml/2006/main">
            <a:off x="5667375"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7" name="">
            <a:extLst xmlns:a="http://schemas.openxmlformats.org/drawingml/2006/main">
              <a:ext uri="{FF2B5EF4-FFF2-40B4-BE49-F238E27FC236}">
                <a16:creationId xmlns:a16="http://schemas.microsoft.com/office/drawing/2014/main" id="{EB3B8BC7-0B26-4EBE-B881-63D6E95FDB7D}"/>
              </a:ext>
            </a:extLst>
          </p:cNvPr>
          <p:cNvSpPr>
            <a:spLocks xmlns:a="http://schemas.openxmlformats.org/drawingml/2006/main" noGrp="1"/>
          </p:cNvSpPr>
          <p:nvPr/>
        </p:nvSpPr>
        <p:spPr>
          <a:xfrm xmlns:a="http://schemas.openxmlformats.org/drawingml/2006/main">
            <a:off x="5743575"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82,74 %</a:t>
            </a:r>
          </a:p>
        </p:txBody>
      </p:sp>
      <p:sp>
        <p:nvSpPr>
          <p:cNvPr id="48" name="">
            <a:extLst xmlns:a="http://schemas.openxmlformats.org/drawingml/2006/main">
              <a:ext uri="{FF2B5EF4-FFF2-40B4-BE49-F238E27FC236}">
                <a16:creationId xmlns:a16="http://schemas.microsoft.com/office/drawing/2014/main" id="{705F0926-0C29-4509-B193-2324FE9D29F5}"/>
              </a:ext>
            </a:extLst>
          </p:cNvPr>
          <p:cNvSpPr>
            <a:spLocks xmlns:a="http://schemas.openxmlformats.org/drawingml/2006/main" noGrp="1"/>
          </p:cNvSpPr>
          <p:nvPr/>
        </p:nvSpPr>
        <p:spPr>
          <a:xfrm xmlns:a="http://schemas.openxmlformats.org/drawingml/2006/main">
            <a:off x="7048500"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9" name="">
            <a:extLst xmlns:a="http://schemas.openxmlformats.org/drawingml/2006/main">
              <a:ext uri="{FF2B5EF4-FFF2-40B4-BE49-F238E27FC236}">
                <a16:creationId xmlns:a16="http://schemas.microsoft.com/office/drawing/2014/main" id="{97B5D0A9-1E70-4862-ACD8-00DC080B5592}"/>
              </a:ext>
            </a:extLst>
          </p:cNvPr>
          <p:cNvSpPr>
            <a:spLocks xmlns:a="http://schemas.openxmlformats.org/drawingml/2006/main" noGrp="1"/>
          </p:cNvSpPr>
          <p:nvPr/>
        </p:nvSpPr>
        <p:spPr>
          <a:xfrm xmlns:a="http://schemas.openxmlformats.org/drawingml/2006/main">
            <a:off x="7124700"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92,98 %</a:t>
            </a:r>
          </a:p>
        </p:txBody>
      </p:sp>
      <p:sp>
        <p:nvSpPr>
          <p:cNvPr id="50" name="">
            <a:extLst xmlns:a="http://schemas.openxmlformats.org/drawingml/2006/main">
              <a:ext uri="{FF2B5EF4-FFF2-40B4-BE49-F238E27FC236}">
                <a16:creationId xmlns:a16="http://schemas.microsoft.com/office/drawing/2014/main" id="{2ADDA602-BB1C-42C1-BD3A-C2AAF7AE05F6}"/>
              </a:ext>
            </a:extLst>
          </p:cNvPr>
          <p:cNvSpPr>
            <a:spLocks xmlns:a="http://schemas.openxmlformats.org/drawingml/2006/main" noGrp="1"/>
          </p:cNvSpPr>
          <p:nvPr/>
        </p:nvSpPr>
        <p:spPr>
          <a:xfrm xmlns:a="http://schemas.openxmlformats.org/drawingml/2006/main">
            <a:off x="8429625"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51" name="">
            <a:extLst xmlns:a="http://schemas.openxmlformats.org/drawingml/2006/main">
              <a:ext uri="{FF2B5EF4-FFF2-40B4-BE49-F238E27FC236}">
                <a16:creationId xmlns:a16="http://schemas.microsoft.com/office/drawing/2014/main" id="{46817FF6-7748-48A1-9C68-EA38DE33C691}"/>
              </a:ext>
            </a:extLst>
          </p:cNvPr>
          <p:cNvSpPr>
            <a:spLocks xmlns:a="http://schemas.openxmlformats.org/drawingml/2006/main" noGrp="1"/>
          </p:cNvSpPr>
          <p:nvPr/>
        </p:nvSpPr>
        <p:spPr>
          <a:xfrm xmlns:a="http://schemas.openxmlformats.org/drawingml/2006/main">
            <a:off x="8505825"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87,56 %</a:t>
            </a:r>
          </a:p>
        </p:txBody>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c1636b16ae1d4edd"/>
          <a:stretch xmlns:a="http://schemas.openxmlformats.org/drawingml/2006/main"/>
        </p:blipFill>
        <p:spPr>
          <a:xfrm xmlns:a="http://schemas.openxmlformats.org/drawingml/2006/main">
            <a:off x="1047750" y="4116737"/>
            <a:ext cx="2571750" cy="1196275"/>
          </a:xfrm>
          <a:prstGeom xmlns:a="http://schemas.openxmlformats.org/drawingml/2006/main" prst="rect">
            <a:avLst/>
          </a:prstGeom>
        </p:spPr>
      </p:pic>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f3f03e670e374812"/>
          <a:stretch xmlns:a="http://schemas.openxmlformats.org/drawingml/2006/main"/>
        </p:blipFill>
        <p:spPr>
          <a:xfrm xmlns:a="http://schemas.openxmlformats.org/drawingml/2006/main">
            <a:off x="4095750" y="4116737"/>
            <a:ext cx="2571750" cy="1196275"/>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E4C91343-560C-48A6-896F-18EA049F55FB}"/>
              </a:ext>
            </a:extLst>
          </p:cNvPr>
          <p:cNvSpPr>
            <a:spLocks xmlns:a="http://schemas.openxmlformats.org/drawingml/2006/main" noGrp="1"/>
          </p:cNvSpPr>
          <p:nvPr/>
        </p:nvSpPr>
        <p:spPr>
          <a:xfrm xmlns:a="http://schemas.openxmlformats.org/drawingml/2006/main">
            <a:off x="7239000" y="3905250"/>
            <a:ext cx="3429000" cy="1619250"/>
          </a:xfrm>
          <a:prstGeom xmlns:a="http://schemas.openxmlformats.org/drawingml/2006/main" prst="roundRect">
            <a:avLst>
              <a:gd name="adj" fmla="val 4706"/>
            </a:avLst>
          </a:prstGeom>
          <a:solidFill xmlns:a="http://schemas.openxmlformats.org/drawingml/2006/main">
            <a:srgbClr val="EEF5FA"/>
          </a:solidFill>
          <a:ln xmlns:a="http://schemas.openxmlformats.org/drawingml/2006/main" w="9525">
            <a:solidFill>
              <a:srgbClr val="C8D6E4"/>
            </a:solidFill>
            <a:prstDash val="solid"/>
          </a:ln>
        </p:spPr>
      </p:sp>
      <p:sp>
        <p:nvSpPr>
          <p:cNvPr id="55" name="">
            <a:extLst xmlns:a="http://schemas.openxmlformats.org/drawingml/2006/main">
              <a:ext uri="{FF2B5EF4-FFF2-40B4-BE49-F238E27FC236}">
                <a16:creationId xmlns:a16="http://schemas.microsoft.com/office/drawing/2014/main" id="{84E25965-5618-4E28-B214-0469F9D2FD1D}"/>
              </a:ext>
            </a:extLst>
          </p:cNvPr>
          <p:cNvSpPr>
            <a:spLocks xmlns:a="http://schemas.openxmlformats.org/drawingml/2006/main" noGrp="1"/>
          </p:cNvSpPr>
          <p:nvPr/>
        </p:nvSpPr>
        <p:spPr>
          <a:xfrm xmlns:a="http://schemas.openxmlformats.org/drawingml/2006/main">
            <a:off x="7477125" y="4114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Interprétation</a:t>
            </a:r>
          </a:p>
        </p:txBody>
      </p:sp>
      <p:sp>
        <p:nvSpPr>
          <p:cNvPr id="56" name="">
            <a:extLst xmlns:a="http://schemas.openxmlformats.org/drawingml/2006/main">
              <a:ext uri="{FF2B5EF4-FFF2-40B4-BE49-F238E27FC236}">
                <a16:creationId xmlns:a16="http://schemas.microsoft.com/office/drawing/2014/main" id="{D6F8296C-289D-4079-BCDC-EFD26A346653}"/>
              </a:ext>
            </a:extLst>
          </p:cNvPr>
          <p:cNvSpPr>
            <a:spLocks xmlns:a="http://schemas.openxmlformats.org/drawingml/2006/main" noGrp="1"/>
          </p:cNvSpPr>
          <p:nvPr/>
        </p:nvSpPr>
        <p:spPr>
          <a:xfrm xmlns:a="http://schemas.openxmlformats.org/drawingml/2006/main">
            <a:off x="7477125" y="4476750"/>
            <a:ext cx="3000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RLVS et RWF-2000 ne représentent pas le même monde visuel. SIRCH devient plus fiable quand il apprend sur les deux sources, car il voit à la fois des scènes contrôlées et des scènes CCTV réelles.</a:t>
            </a:r>
          </a:p>
        </p:txBody>
      </p:sp>
      <p:sp>
        <p:nvSpPr>
          <p:cNvPr id="57" name="">
            <a:extLst xmlns:a="http://schemas.openxmlformats.org/drawingml/2006/main">
              <a:ext uri="{FF2B5EF4-FFF2-40B4-BE49-F238E27FC236}">
                <a16:creationId xmlns:a16="http://schemas.microsoft.com/office/drawing/2014/main" id="{735B28FF-EE45-4342-936E-14A27D1A5A4D}"/>
              </a:ext>
            </a:extLst>
          </p:cNvPr>
          <p:cNvSpPr>
            <a:spLocks xmlns:a="http://schemas.openxmlformats.org/drawingml/2006/main" noGrp="1"/>
          </p:cNvSpPr>
          <p:nvPr/>
        </p:nvSpPr>
        <p:spPr>
          <a:xfrm xmlns:a="http://schemas.openxmlformats.org/drawingml/2006/main">
            <a:off x="1238250" y="5810250"/>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Message clé : le gain de SIRCH vient autant de la diversité des données que de l’architecture du réseau.</a:t>
            </a:r>
          </a:p>
        </p:txBody>
      </p:sp>
      <p:sp>
        <p:nvSpPr>
          <p:cNvPr id="58" name="">
            <a:extLst xmlns:a="http://schemas.openxmlformats.org/drawingml/2006/main">
              <a:ext uri="{FF2B5EF4-FFF2-40B4-BE49-F238E27FC236}">
                <a16:creationId xmlns:a16="http://schemas.microsoft.com/office/drawing/2014/main" id="{CFD4F423-85A7-4DF9-BD30-11312B444D4C}"/>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Expériences de généralisation</a:t>
            </a:r>
          </a:p>
        </p:txBody>
      </p:sp>
      <p:sp>
        <p:nvSpPr>
          <p:cNvPr id="59" name="">
            <a:extLst xmlns:a="http://schemas.openxmlformats.org/drawingml/2006/main">
              <a:ext uri="{FF2B5EF4-FFF2-40B4-BE49-F238E27FC236}">
                <a16:creationId xmlns:a16="http://schemas.microsoft.com/office/drawing/2014/main" id="{26C011A1-095C-43D5-BDDB-D52099C304ED}"/>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16 / 21</a:t>
            </a:r>
          </a:p>
        </p:txBody>
      </p:sp>
    </p:spTree>
    <p:extLst>
      <p:ext uri="{BB962C8B-B14F-4D97-AF65-F5344CB8AC3E}">
        <p14:creationId xmlns:p14="http://schemas.microsoft.com/office/powerpoint/2010/main" val="967014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A8E95A-0FE6-4347-9825-1388D05B6C39}"/>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tests sport et danse révèlent la principale limite opérationnelle</a:t>
            </a:r>
          </a:p>
        </p:txBody>
      </p:sp>
      <p:sp>
        <p:nvSpPr>
          <p:cNvPr id="2" name="">
            <a:extLst xmlns:a="http://schemas.openxmlformats.org/drawingml/2006/main">
              <a:ext uri="{FF2B5EF4-FFF2-40B4-BE49-F238E27FC236}">
                <a16:creationId xmlns:a16="http://schemas.microsoft.com/office/drawing/2014/main" id="{A8B5787C-FD56-4F1D-99AC-1EE996F762A7}"/>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1217BF-BDF8-42D5-B74A-47DDDE5D73BF}"/>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système associe parfois mouvement intense et violence, surtout hors contexte de surveillance classique.</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854366e1c1a441b"/>
          <a:stretch xmlns:a="http://schemas.openxmlformats.org/drawingml/2006/main"/>
        </p:blipFill>
        <p:spPr>
          <a:xfrm xmlns:a="http://schemas.openxmlformats.org/drawingml/2006/main">
            <a:off x="666750" y="2119313"/>
            <a:ext cx="4000500" cy="166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20371C-EDC0-4173-AE2C-AAB2D88ADDEC}"/>
              </a:ext>
            </a:extLst>
          </p:cNvPr>
          <p:cNvSpPr>
            <a:spLocks xmlns:a="http://schemas.openxmlformats.org/drawingml/2006/main" noGrp="1"/>
          </p:cNvSpPr>
          <p:nvPr/>
        </p:nvSpPr>
        <p:spPr>
          <a:xfrm xmlns:a="http://schemas.openxmlformats.org/drawingml/2006/main">
            <a:off x="5191125" y="1714500"/>
            <a:ext cx="15240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0531D7CA-E2AF-4F92-B825-E6F4871C4D88}"/>
              </a:ext>
            </a:extLst>
          </p:cNvPr>
          <p:cNvSpPr>
            <a:spLocks xmlns:a="http://schemas.openxmlformats.org/drawingml/2006/main" noGrp="1"/>
          </p:cNvSpPr>
          <p:nvPr/>
        </p:nvSpPr>
        <p:spPr>
          <a:xfrm xmlns:a="http://schemas.openxmlformats.org/drawingml/2006/main">
            <a:off x="5267325" y="18097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Scénario v2</a:t>
            </a:r>
          </a:p>
        </p:txBody>
      </p:sp>
      <p:sp>
        <p:nvSpPr>
          <p:cNvPr id="7" name="">
            <a:extLst xmlns:a="http://schemas.openxmlformats.org/drawingml/2006/main">
              <a:ext uri="{FF2B5EF4-FFF2-40B4-BE49-F238E27FC236}">
                <a16:creationId xmlns:a16="http://schemas.microsoft.com/office/drawing/2014/main" id="{5777052D-7605-4C0F-8B14-021D94697942}"/>
              </a:ext>
            </a:extLst>
          </p:cNvPr>
          <p:cNvSpPr>
            <a:spLocks xmlns:a="http://schemas.openxmlformats.org/drawingml/2006/main" noGrp="1"/>
          </p:cNvSpPr>
          <p:nvPr/>
        </p:nvSpPr>
        <p:spPr>
          <a:xfrm xmlns:a="http://schemas.openxmlformats.org/drawingml/2006/main">
            <a:off x="6715125" y="171450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EE3C8DD0-4925-4E0D-B137-D42E05C68049}"/>
              </a:ext>
            </a:extLst>
          </p:cNvPr>
          <p:cNvSpPr>
            <a:spLocks xmlns:a="http://schemas.openxmlformats.org/drawingml/2006/main" noGrp="1"/>
          </p:cNvSpPr>
          <p:nvPr/>
        </p:nvSpPr>
        <p:spPr>
          <a:xfrm xmlns:a="http://schemas.openxmlformats.org/drawingml/2006/main">
            <a:off x="6791325" y="18097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Faux positifs</a:t>
            </a:r>
          </a:p>
        </p:txBody>
      </p:sp>
      <p:sp>
        <p:nvSpPr>
          <p:cNvPr id="9" name="">
            <a:extLst xmlns:a="http://schemas.openxmlformats.org/drawingml/2006/main">
              <a:ext uri="{FF2B5EF4-FFF2-40B4-BE49-F238E27FC236}">
                <a16:creationId xmlns:a16="http://schemas.microsoft.com/office/drawing/2014/main" id="{547D2E7D-B92E-4FFE-A322-0C7EB95B0E26}"/>
              </a:ext>
            </a:extLst>
          </p:cNvPr>
          <p:cNvSpPr>
            <a:spLocks xmlns:a="http://schemas.openxmlformats.org/drawingml/2006/main" noGrp="1"/>
          </p:cNvSpPr>
          <p:nvPr/>
        </p:nvSpPr>
        <p:spPr>
          <a:xfrm xmlns:a="http://schemas.openxmlformats.org/drawingml/2006/main">
            <a:off x="8096250" y="171450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14D6B563-C0A6-46DE-83F2-8E8E2ABF30F4}"/>
              </a:ext>
            </a:extLst>
          </p:cNvPr>
          <p:cNvSpPr>
            <a:spLocks xmlns:a="http://schemas.openxmlformats.org/drawingml/2006/main" noGrp="1"/>
          </p:cNvSpPr>
          <p:nvPr/>
        </p:nvSpPr>
        <p:spPr>
          <a:xfrm xmlns:a="http://schemas.openxmlformats.org/drawingml/2006/main">
            <a:off x="8172450" y="18097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Taux</a:t>
            </a:r>
          </a:p>
        </p:txBody>
      </p:sp>
      <p:sp>
        <p:nvSpPr>
          <p:cNvPr id="11" name="">
            <a:extLst xmlns:a="http://schemas.openxmlformats.org/drawingml/2006/main">
              <a:ext uri="{FF2B5EF4-FFF2-40B4-BE49-F238E27FC236}">
                <a16:creationId xmlns:a16="http://schemas.microsoft.com/office/drawing/2014/main" id="{4999E4D0-6222-432A-B453-755841BB0914}"/>
              </a:ext>
            </a:extLst>
          </p:cNvPr>
          <p:cNvSpPr>
            <a:spLocks xmlns:a="http://schemas.openxmlformats.org/drawingml/2006/main" noGrp="1"/>
          </p:cNvSpPr>
          <p:nvPr/>
        </p:nvSpPr>
        <p:spPr>
          <a:xfrm xmlns:a="http://schemas.openxmlformats.org/drawingml/2006/main">
            <a:off x="5191125" y="222885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C57FDBD3-246A-4978-9FAB-05ABA98FB68D}"/>
              </a:ext>
            </a:extLst>
          </p:cNvPr>
          <p:cNvSpPr>
            <a:spLocks xmlns:a="http://schemas.openxmlformats.org/drawingml/2006/main" noGrp="1"/>
          </p:cNvSpPr>
          <p:nvPr/>
        </p:nvSpPr>
        <p:spPr>
          <a:xfrm xmlns:a="http://schemas.openxmlformats.org/drawingml/2006/main">
            <a:off x="5267325" y="23241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Sport</a:t>
            </a:r>
          </a:p>
        </p:txBody>
      </p:sp>
      <p:sp>
        <p:nvSpPr>
          <p:cNvPr id="13" name="">
            <a:extLst xmlns:a="http://schemas.openxmlformats.org/drawingml/2006/main">
              <a:ext uri="{FF2B5EF4-FFF2-40B4-BE49-F238E27FC236}">
                <a16:creationId xmlns:a16="http://schemas.microsoft.com/office/drawing/2014/main" id="{F0F544C8-BEEB-438D-B724-6B1ECA1D628B}"/>
              </a:ext>
            </a:extLst>
          </p:cNvPr>
          <p:cNvSpPr>
            <a:spLocks xmlns:a="http://schemas.openxmlformats.org/drawingml/2006/main" noGrp="1"/>
          </p:cNvSpPr>
          <p:nvPr/>
        </p:nvSpPr>
        <p:spPr>
          <a:xfrm xmlns:a="http://schemas.openxmlformats.org/drawingml/2006/main">
            <a:off x="6715125" y="22288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E6C49CC2-B8E1-4C56-8079-61A2D51D6786}"/>
              </a:ext>
            </a:extLst>
          </p:cNvPr>
          <p:cNvSpPr>
            <a:spLocks xmlns:a="http://schemas.openxmlformats.org/drawingml/2006/main" noGrp="1"/>
          </p:cNvSpPr>
          <p:nvPr/>
        </p:nvSpPr>
        <p:spPr>
          <a:xfrm xmlns:a="http://schemas.openxmlformats.org/drawingml/2006/main">
            <a:off x="6791325" y="23241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 15</a:t>
            </a:r>
          </a:p>
        </p:txBody>
      </p:sp>
      <p:sp>
        <p:nvSpPr>
          <p:cNvPr id="15" name="">
            <a:extLst xmlns:a="http://schemas.openxmlformats.org/drawingml/2006/main">
              <a:ext uri="{FF2B5EF4-FFF2-40B4-BE49-F238E27FC236}">
                <a16:creationId xmlns:a16="http://schemas.microsoft.com/office/drawing/2014/main" id="{F08FBAB9-A069-4F1A-AF73-33A5C99CDB04}"/>
              </a:ext>
            </a:extLst>
          </p:cNvPr>
          <p:cNvSpPr>
            <a:spLocks xmlns:a="http://schemas.openxmlformats.org/drawingml/2006/main" noGrp="1"/>
          </p:cNvSpPr>
          <p:nvPr/>
        </p:nvSpPr>
        <p:spPr>
          <a:xfrm xmlns:a="http://schemas.openxmlformats.org/drawingml/2006/main">
            <a:off x="8096250" y="22288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6BBB5EBC-23F6-4AD5-B8FC-E107941A9D18}"/>
              </a:ext>
            </a:extLst>
          </p:cNvPr>
          <p:cNvSpPr>
            <a:spLocks xmlns:a="http://schemas.openxmlformats.org/drawingml/2006/main" noGrp="1"/>
          </p:cNvSpPr>
          <p:nvPr/>
        </p:nvSpPr>
        <p:spPr>
          <a:xfrm xmlns:a="http://schemas.openxmlformats.org/drawingml/2006/main">
            <a:off x="8172450" y="23241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20,00 %</a:t>
            </a:r>
          </a:p>
        </p:txBody>
      </p:sp>
      <p:sp>
        <p:nvSpPr>
          <p:cNvPr id="17" name="">
            <a:extLst xmlns:a="http://schemas.openxmlformats.org/drawingml/2006/main">
              <a:ext uri="{FF2B5EF4-FFF2-40B4-BE49-F238E27FC236}">
                <a16:creationId xmlns:a16="http://schemas.microsoft.com/office/drawing/2014/main" id="{8DADF1AE-643F-44A8-BC65-D626EB3F78E1}"/>
              </a:ext>
            </a:extLst>
          </p:cNvPr>
          <p:cNvSpPr>
            <a:spLocks xmlns:a="http://schemas.openxmlformats.org/drawingml/2006/main" noGrp="1"/>
          </p:cNvSpPr>
          <p:nvPr/>
        </p:nvSpPr>
        <p:spPr>
          <a:xfrm xmlns:a="http://schemas.openxmlformats.org/drawingml/2006/main">
            <a:off x="5191125" y="2743200"/>
            <a:ext cx="1524000"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AE8229EF-AAD4-4D1A-AFF3-CBC3005B29D5}"/>
              </a:ext>
            </a:extLst>
          </p:cNvPr>
          <p:cNvSpPr>
            <a:spLocks xmlns:a="http://schemas.openxmlformats.org/drawingml/2006/main" noGrp="1"/>
          </p:cNvSpPr>
          <p:nvPr/>
        </p:nvSpPr>
        <p:spPr>
          <a:xfrm xmlns:a="http://schemas.openxmlformats.org/drawingml/2006/main">
            <a:off x="5267325" y="28384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Danse</a:t>
            </a:r>
          </a:p>
        </p:txBody>
      </p:sp>
      <p:sp>
        <p:nvSpPr>
          <p:cNvPr id="19" name="">
            <a:extLst xmlns:a="http://schemas.openxmlformats.org/drawingml/2006/main">
              <a:ext uri="{FF2B5EF4-FFF2-40B4-BE49-F238E27FC236}">
                <a16:creationId xmlns:a16="http://schemas.microsoft.com/office/drawing/2014/main" id="{1BB6D795-0774-4FB3-86F9-2BD0C443AB6C}"/>
              </a:ext>
            </a:extLst>
          </p:cNvPr>
          <p:cNvSpPr>
            <a:spLocks xmlns:a="http://schemas.openxmlformats.org/drawingml/2006/main" noGrp="1"/>
          </p:cNvSpPr>
          <p:nvPr/>
        </p:nvSpPr>
        <p:spPr>
          <a:xfrm xmlns:a="http://schemas.openxmlformats.org/drawingml/2006/main">
            <a:off x="6715125" y="27432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2F3206ED-BB3B-4B0A-AF38-A6D8FFED5F10}"/>
              </a:ext>
            </a:extLst>
          </p:cNvPr>
          <p:cNvSpPr>
            <a:spLocks xmlns:a="http://schemas.openxmlformats.org/drawingml/2006/main" noGrp="1"/>
          </p:cNvSpPr>
          <p:nvPr/>
        </p:nvSpPr>
        <p:spPr>
          <a:xfrm xmlns:a="http://schemas.openxmlformats.org/drawingml/2006/main">
            <a:off x="6791325" y="28384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 / 10</a:t>
            </a:r>
          </a:p>
        </p:txBody>
      </p:sp>
      <p:sp>
        <p:nvSpPr>
          <p:cNvPr id="21" name="">
            <a:extLst xmlns:a="http://schemas.openxmlformats.org/drawingml/2006/main">
              <a:ext uri="{FF2B5EF4-FFF2-40B4-BE49-F238E27FC236}">
                <a16:creationId xmlns:a16="http://schemas.microsoft.com/office/drawing/2014/main" id="{7C044CBD-8285-4728-A311-D937229D1BE2}"/>
              </a:ext>
            </a:extLst>
          </p:cNvPr>
          <p:cNvSpPr>
            <a:spLocks xmlns:a="http://schemas.openxmlformats.org/drawingml/2006/main" noGrp="1"/>
          </p:cNvSpPr>
          <p:nvPr/>
        </p:nvSpPr>
        <p:spPr>
          <a:xfrm xmlns:a="http://schemas.openxmlformats.org/drawingml/2006/main">
            <a:off x="8096250" y="27432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22" name="">
            <a:extLst xmlns:a="http://schemas.openxmlformats.org/drawingml/2006/main">
              <a:ext uri="{FF2B5EF4-FFF2-40B4-BE49-F238E27FC236}">
                <a16:creationId xmlns:a16="http://schemas.microsoft.com/office/drawing/2014/main" id="{AF856B01-5CA8-40B8-8377-AD23E70C19A6}"/>
              </a:ext>
            </a:extLst>
          </p:cNvPr>
          <p:cNvSpPr>
            <a:spLocks xmlns:a="http://schemas.openxmlformats.org/drawingml/2006/main" noGrp="1"/>
          </p:cNvSpPr>
          <p:nvPr/>
        </p:nvSpPr>
        <p:spPr>
          <a:xfrm xmlns:a="http://schemas.openxmlformats.org/drawingml/2006/main">
            <a:off x="8172450" y="28384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80,00 %</a:t>
            </a:r>
          </a:p>
        </p:txBody>
      </p:sp>
      <p:sp>
        <p:nvSpPr>
          <p:cNvPr id="23" name="">
            <a:extLst xmlns:a="http://schemas.openxmlformats.org/drawingml/2006/main">
              <a:ext uri="{FF2B5EF4-FFF2-40B4-BE49-F238E27FC236}">
                <a16:creationId xmlns:a16="http://schemas.microsoft.com/office/drawing/2014/main" id="{692B92F0-44AE-4432-A021-EABE41CA2478}"/>
              </a:ext>
            </a:extLst>
          </p:cNvPr>
          <p:cNvSpPr>
            <a:spLocks xmlns:a="http://schemas.openxmlformats.org/drawingml/2006/main" noGrp="1"/>
          </p:cNvSpPr>
          <p:nvPr/>
        </p:nvSpPr>
        <p:spPr>
          <a:xfrm xmlns:a="http://schemas.openxmlformats.org/drawingml/2006/main">
            <a:off x="5191125" y="325755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4" name="">
            <a:extLst xmlns:a="http://schemas.openxmlformats.org/drawingml/2006/main">
              <a:ext uri="{FF2B5EF4-FFF2-40B4-BE49-F238E27FC236}">
                <a16:creationId xmlns:a16="http://schemas.microsoft.com/office/drawing/2014/main" id="{EE6AD172-AF2E-45C0-89CB-18222D9A660D}"/>
              </a:ext>
            </a:extLst>
          </p:cNvPr>
          <p:cNvSpPr>
            <a:spLocks xmlns:a="http://schemas.openxmlformats.org/drawingml/2006/main" noGrp="1"/>
          </p:cNvSpPr>
          <p:nvPr/>
        </p:nvSpPr>
        <p:spPr>
          <a:xfrm xmlns:a="http://schemas.openxmlformats.org/drawingml/2006/main">
            <a:off x="5267325" y="33528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Calme</a:t>
            </a:r>
          </a:p>
        </p:txBody>
      </p:sp>
      <p:sp>
        <p:nvSpPr>
          <p:cNvPr id="25" name="">
            <a:extLst xmlns:a="http://schemas.openxmlformats.org/drawingml/2006/main">
              <a:ext uri="{FF2B5EF4-FFF2-40B4-BE49-F238E27FC236}">
                <a16:creationId xmlns:a16="http://schemas.microsoft.com/office/drawing/2014/main" id="{3ACB5819-8730-422A-9EB1-6FED20511BA1}"/>
              </a:ext>
            </a:extLst>
          </p:cNvPr>
          <p:cNvSpPr>
            <a:spLocks xmlns:a="http://schemas.openxmlformats.org/drawingml/2006/main" noGrp="1"/>
          </p:cNvSpPr>
          <p:nvPr/>
        </p:nvSpPr>
        <p:spPr>
          <a:xfrm xmlns:a="http://schemas.openxmlformats.org/drawingml/2006/main">
            <a:off x="6715125" y="32575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4D8DB9D2-BFC2-4AE3-9331-A7C0D3C38443}"/>
              </a:ext>
            </a:extLst>
          </p:cNvPr>
          <p:cNvSpPr>
            <a:spLocks xmlns:a="http://schemas.openxmlformats.org/drawingml/2006/main" noGrp="1"/>
          </p:cNvSpPr>
          <p:nvPr/>
        </p:nvSpPr>
        <p:spPr>
          <a:xfrm xmlns:a="http://schemas.openxmlformats.org/drawingml/2006/main">
            <a:off x="6791325" y="33528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 5</a:t>
            </a:r>
          </a:p>
        </p:txBody>
      </p:sp>
      <p:sp>
        <p:nvSpPr>
          <p:cNvPr id="27" name="">
            <a:extLst xmlns:a="http://schemas.openxmlformats.org/drawingml/2006/main">
              <a:ext uri="{FF2B5EF4-FFF2-40B4-BE49-F238E27FC236}">
                <a16:creationId xmlns:a16="http://schemas.microsoft.com/office/drawing/2014/main" id="{090EE038-DB67-471C-8817-14293B678E65}"/>
              </a:ext>
            </a:extLst>
          </p:cNvPr>
          <p:cNvSpPr>
            <a:spLocks xmlns:a="http://schemas.openxmlformats.org/drawingml/2006/main" noGrp="1"/>
          </p:cNvSpPr>
          <p:nvPr/>
        </p:nvSpPr>
        <p:spPr>
          <a:xfrm xmlns:a="http://schemas.openxmlformats.org/drawingml/2006/main">
            <a:off x="8096250" y="32575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8" name="">
            <a:extLst xmlns:a="http://schemas.openxmlformats.org/drawingml/2006/main">
              <a:ext uri="{FF2B5EF4-FFF2-40B4-BE49-F238E27FC236}">
                <a16:creationId xmlns:a16="http://schemas.microsoft.com/office/drawing/2014/main" id="{9D6D8309-42B7-44DF-A0D6-9724E301F132}"/>
              </a:ext>
            </a:extLst>
          </p:cNvPr>
          <p:cNvSpPr>
            <a:spLocks xmlns:a="http://schemas.openxmlformats.org/drawingml/2006/main" noGrp="1"/>
          </p:cNvSpPr>
          <p:nvPr/>
        </p:nvSpPr>
        <p:spPr>
          <a:xfrm xmlns:a="http://schemas.openxmlformats.org/drawingml/2006/main">
            <a:off x="8172450" y="33528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60,00 %</a:t>
            </a:r>
          </a:p>
        </p:txBody>
      </p:sp>
      <p:sp>
        <p:nvSpPr>
          <p:cNvPr id="29" name="">
            <a:extLst xmlns:a="http://schemas.openxmlformats.org/drawingml/2006/main">
              <a:ext uri="{FF2B5EF4-FFF2-40B4-BE49-F238E27FC236}">
                <a16:creationId xmlns:a16="http://schemas.microsoft.com/office/drawing/2014/main" id="{AFE8F262-57FD-40F1-8BE4-AACB2931F86D}"/>
              </a:ext>
            </a:extLst>
          </p:cNvPr>
          <p:cNvSpPr>
            <a:spLocks xmlns:a="http://schemas.openxmlformats.org/drawingml/2006/main" noGrp="1"/>
          </p:cNvSpPr>
          <p:nvPr/>
        </p:nvSpPr>
        <p:spPr>
          <a:xfrm xmlns:a="http://schemas.openxmlformats.org/drawingml/2006/main">
            <a:off x="5191125" y="3771900"/>
            <a:ext cx="1524000"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A429C166-E238-4182-8104-42A014BBA0ED}"/>
              </a:ext>
            </a:extLst>
          </p:cNvPr>
          <p:cNvSpPr>
            <a:spLocks xmlns:a="http://schemas.openxmlformats.org/drawingml/2006/main" noGrp="1"/>
          </p:cNvSpPr>
          <p:nvPr/>
        </p:nvSpPr>
        <p:spPr>
          <a:xfrm xmlns:a="http://schemas.openxmlformats.org/drawingml/2006/main">
            <a:off x="5267325" y="38671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Global</a:t>
            </a:r>
          </a:p>
        </p:txBody>
      </p:sp>
      <p:sp>
        <p:nvSpPr>
          <p:cNvPr id="31" name="">
            <a:extLst xmlns:a="http://schemas.openxmlformats.org/drawingml/2006/main">
              <a:ext uri="{FF2B5EF4-FFF2-40B4-BE49-F238E27FC236}">
                <a16:creationId xmlns:a16="http://schemas.microsoft.com/office/drawing/2014/main" id="{91542E3E-71E3-415B-9CB3-D601016545DF}"/>
              </a:ext>
            </a:extLst>
          </p:cNvPr>
          <p:cNvSpPr>
            <a:spLocks xmlns:a="http://schemas.openxmlformats.org/drawingml/2006/main" noGrp="1"/>
          </p:cNvSpPr>
          <p:nvPr/>
        </p:nvSpPr>
        <p:spPr>
          <a:xfrm xmlns:a="http://schemas.openxmlformats.org/drawingml/2006/main">
            <a:off x="6715125" y="37719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2" name="">
            <a:extLst xmlns:a="http://schemas.openxmlformats.org/drawingml/2006/main">
              <a:ext uri="{FF2B5EF4-FFF2-40B4-BE49-F238E27FC236}">
                <a16:creationId xmlns:a16="http://schemas.microsoft.com/office/drawing/2014/main" id="{052DC8CD-2F30-4068-896F-EE507B4517F6}"/>
              </a:ext>
            </a:extLst>
          </p:cNvPr>
          <p:cNvSpPr>
            <a:spLocks xmlns:a="http://schemas.openxmlformats.org/drawingml/2006/main" noGrp="1"/>
          </p:cNvSpPr>
          <p:nvPr/>
        </p:nvSpPr>
        <p:spPr>
          <a:xfrm xmlns:a="http://schemas.openxmlformats.org/drawingml/2006/main">
            <a:off x="6791325" y="38671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14 / 30</a:t>
            </a:r>
          </a:p>
        </p:txBody>
      </p:sp>
      <p:sp>
        <p:nvSpPr>
          <p:cNvPr id="33" name="">
            <a:extLst xmlns:a="http://schemas.openxmlformats.org/drawingml/2006/main">
              <a:ext uri="{FF2B5EF4-FFF2-40B4-BE49-F238E27FC236}">
                <a16:creationId xmlns:a16="http://schemas.microsoft.com/office/drawing/2014/main" id="{20667459-C44F-4713-8A73-C4A0A2CFD89E}"/>
              </a:ext>
            </a:extLst>
          </p:cNvPr>
          <p:cNvSpPr>
            <a:spLocks xmlns:a="http://schemas.openxmlformats.org/drawingml/2006/main" noGrp="1"/>
          </p:cNvSpPr>
          <p:nvPr/>
        </p:nvSpPr>
        <p:spPr>
          <a:xfrm xmlns:a="http://schemas.openxmlformats.org/drawingml/2006/main">
            <a:off x="8096250" y="37719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4" name="">
            <a:extLst xmlns:a="http://schemas.openxmlformats.org/drawingml/2006/main">
              <a:ext uri="{FF2B5EF4-FFF2-40B4-BE49-F238E27FC236}">
                <a16:creationId xmlns:a16="http://schemas.microsoft.com/office/drawing/2014/main" id="{58E9E192-6233-487E-9B6A-7D4B533E106A}"/>
              </a:ext>
            </a:extLst>
          </p:cNvPr>
          <p:cNvSpPr>
            <a:spLocks xmlns:a="http://schemas.openxmlformats.org/drawingml/2006/main" noGrp="1"/>
          </p:cNvSpPr>
          <p:nvPr/>
        </p:nvSpPr>
        <p:spPr>
          <a:xfrm xmlns:a="http://schemas.openxmlformats.org/drawingml/2006/main">
            <a:off x="8172450" y="38671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46,67 %</a:t>
            </a:r>
          </a:p>
        </p:txBody>
      </p:sp>
      <p:sp>
        <p:nvSpPr>
          <p:cNvPr id="35" name="">
            <a:extLst xmlns:a="http://schemas.openxmlformats.org/drawingml/2006/main">
              <a:ext uri="{FF2B5EF4-FFF2-40B4-BE49-F238E27FC236}">
                <a16:creationId xmlns:a16="http://schemas.microsoft.com/office/drawing/2014/main" id="{EE85D6D8-63F0-4B79-983D-C1FCEB5D19C7}"/>
              </a:ext>
            </a:extLst>
          </p:cNvPr>
          <p:cNvSpPr>
            <a:spLocks xmlns:a="http://schemas.openxmlformats.org/drawingml/2006/main" noGrp="1"/>
          </p:cNvSpPr>
          <p:nvPr/>
        </p:nvSpPr>
        <p:spPr>
          <a:xfrm xmlns:a="http://schemas.openxmlformats.org/drawingml/2006/main">
            <a:off x="666750" y="4619625"/>
            <a:ext cx="10096500" cy="762000"/>
          </a:xfrm>
          <a:prstGeom xmlns:a="http://schemas.openxmlformats.org/drawingml/2006/main" prst="roundRect">
            <a:avLst>
              <a:gd name="adj" fmla="val 10000"/>
            </a:avLst>
          </a:prstGeom>
          <a:solidFill xmlns:a="http://schemas.openxmlformats.org/drawingml/2006/main">
            <a:srgbClr val="EEF5FA"/>
          </a:solidFill>
          <a:ln xmlns:a="http://schemas.openxmlformats.org/drawingml/2006/main" w="9525">
            <a:solidFill>
              <a:srgbClr val="C8D6E4"/>
            </a:solidFill>
            <a:prstDash val="solid"/>
          </a:ln>
        </p:spPr>
      </p:sp>
      <p:sp>
        <p:nvSpPr>
          <p:cNvPr id="36" name="">
            <a:extLst xmlns:a="http://schemas.openxmlformats.org/drawingml/2006/main">
              <a:ext uri="{FF2B5EF4-FFF2-40B4-BE49-F238E27FC236}">
                <a16:creationId xmlns:a16="http://schemas.microsoft.com/office/drawing/2014/main" id="{35513E94-A0D5-4771-9E72-03FA5D7F5BD5}"/>
              </a:ext>
            </a:extLst>
          </p:cNvPr>
          <p:cNvSpPr>
            <a:spLocks xmlns:a="http://schemas.openxmlformats.org/drawingml/2006/main" noGrp="1"/>
          </p:cNvSpPr>
          <p:nvPr/>
        </p:nvSpPr>
        <p:spPr>
          <a:xfrm xmlns:a="http://schemas.openxmlformats.org/drawingml/2006/main">
            <a:off x="1000125" y="4781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Interprétation pour SIRCH</a:t>
            </a:r>
          </a:p>
        </p:txBody>
      </p:sp>
      <p:sp>
        <p:nvSpPr>
          <p:cNvPr id="37" name="">
            <a:extLst xmlns:a="http://schemas.openxmlformats.org/drawingml/2006/main">
              <a:ext uri="{FF2B5EF4-FFF2-40B4-BE49-F238E27FC236}">
                <a16:creationId xmlns:a16="http://schemas.microsoft.com/office/drawing/2014/main" id="{778F1B46-2F35-4F7F-80EF-186D2278E131}"/>
              </a:ext>
            </a:extLst>
          </p:cNvPr>
          <p:cNvSpPr>
            <a:spLocks xmlns:a="http://schemas.openxmlformats.org/drawingml/2006/main" noGrp="1"/>
          </p:cNvSpPr>
          <p:nvPr/>
        </p:nvSpPr>
        <p:spPr>
          <a:xfrm xmlns:a="http://schemas.openxmlformats.org/drawingml/2006/main">
            <a:off x="3429000" y="477202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Ces erreurs ne détruisent pas le système : elles délimitent son bon contexte d’usage. SIRCH convient mieux aux lieux où une activité physique intense n’est pas normale : couloirs, halls, commerces, cours d’école. Une salle de sport exige un réentraînement ciblé.</a:t>
            </a:r>
          </a:p>
        </p:txBody>
      </p:sp>
      <p:sp>
        <p:nvSpPr>
          <p:cNvPr id="38" name="">
            <a:extLst xmlns:a="http://schemas.openxmlformats.org/drawingml/2006/main">
              <a:ext uri="{FF2B5EF4-FFF2-40B4-BE49-F238E27FC236}">
                <a16:creationId xmlns:a16="http://schemas.microsoft.com/office/drawing/2014/main" id="{08F2C231-8F69-45A4-95D2-C6AFBCD4E078}"/>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Limites opérationnelles</a:t>
            </a:r>
          </a:p>
        </p:txBody>
      </p:sp>
      <p:sp>
        <p:nvSpPr>
          <p:cNvPr id="39" name="">
            <a:extLst xmlns:a="http://schemas.openxmlformats.org/drawingml/2006/main">
              <a:ext uri="{FF2B5EF4-FFF2-40B4-BE49-F238E27FC236}">
                <a16:creationId xmlns:a16="http://schemas.microsoft.com/office/drawing/2014/main" id="{5546C1BF-E4C5-4AD2-8D2B-00A89438C98E}"/>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17 / 21</a:t>
            </a:r>
          </a:p>
        </p:txBody>
      </p:sp>
    </p:spTree>
    <p:extLst>
      <p:ext uri="{BB962C8B-B14F-4D97-AF65-F5344CB8AC3E}">
        <p14:creationId xmlns:p14="http://schemas.microsoft.com/office/powerpoint/2010/main" val="18468633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940758-591E-41C2-81F3-EC123EE0F68D}"/>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limites ne contredisent pas les résultats, elles fixent le périmètre</a:t>
            </a:r>
          </a:p>
        </p:txBody>
      </p:sp>
      <p:sp>
        <p:nvSpPr>
          <p:cNvPr id="2" name="">
            <a:extLst xmlns:a="http://schemas.openxmlformats.org/drawingml/2006/main">
              <a:ext uri="{FF2B5EF4-FFF2-40B4-BE49-F238E27FC236}">
                <a16:creationId xmlns:a16="http://schemas.microsoft.com/office/drawing/2014/main" id="{F08DE792-43C1-43E3-9647-9BFAB6F56280}"/>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AE4DD1-2C08-4E68-8F5A-CC9793059DBD}"/>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Un système fiable doit dire clairement où il fonctionne et où il doit être adapté.</a:t>
            </a:r>
          </a:p>
        </p:txBody>
      </p:sp>
      <p:sp>
        <p:nvSpPr>
          <p:cNvPr id="4" name="">
            <a:extLst xmlns:a="http://schemas.openxmlformats.org/drawingml/2006/main">
              <a:ext uri="{FF2B5EF4-FFF2-40B4-BE49-F238E27FC236}">
                <a16:creationId xmlns:a16="http://schemas.microsoft.com/office/drawing/2014/main" id="{EE6938E0-88F7-4DC6-8ADC-20B9DC76910F}"/>
              </a:ext>
            </a:extLst>
          </p:cNvPr>
          <p:cNvSpPr>
            <a:spLocks xmlns:a="http://schemas.openxmlformats.org/drawingml/2006/main" noGrp="1"/>
          </p:cNvSpPr>
          <p:nvPr/>
        </p:nvSpPr>
        <p:spPr>
          <a:xfrm xmlns:a="http://schemas.openxmlformats.org/drawingml/2006/main">
            <a:off x="76200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E07BFD3B-F0A2-486F-8749-7AA2EDB36562}"/>
              </a:ext>
            </a:extLst>
          </p:cNvPr>
          <p:cNvSpPr>
            <a:spLocks xmlns:a="http://schemas.openxmlformats.org/drawingml/2006/main" noGrp="1"/>
          </p:cNvSpPr>
          <p:nvPr/>
        </p:nvSpPr>
        <p:spPr>
          <a:xfrm xmlns:a="http://schemas.openxmlformats.org/drawingml/2006/main">
            <a:off x="762000" y="1714500"/>
            <a:ext cx="66675" cy="15240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77DD338-EEBC-4ADE-A39F-2CF7DE441138}"/>
              </a:ext>
            </a:extLst>
          </p:cNvPr>
          <p:cNvSpPr>
            <a:spLocks xmlns:a="http://schemas.openxmlformats.org/drawingml/2006/main" noGrp="1"/>
          </p:cNvSpPr>
          <p:nvPr/>
        </p:nvSpPr>
        <p:spPr>
          <a:xfrm xmlns:a="http://schemas.openxmlformats.org/drawingml/2006/main">
            <a:off x="99060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Limites méthodologiques</a:t>
            </a:r>
          </a:p>
        </p:txBody>
      </p:sp>
      <p:sp>
        <p:nvSpPr>
          <p:cNvPr id="7" name="">
            <a:extLst xmlns:a="http://schemas.openxmlformats.org/drawingml/2006/main">
              <a:ext uri="{FF2B5EF4-FFF2-40B4-BE49-F238E27FC236}">
                <a16:creationId xmlns:a16="http://schemas.microsoft.com/office/drawing/2014/main" id="{8D72F880-DACE-4EE1-B898-47C8B18A9227}"/>
              </a:ext>
            </a:extLst>
          </p:cNvPr>
          <p:cNvSpPr>
            <a:spLocks xmlns:a="http://schemas.openxmlformats.org/drawingml/2006/main" noGrp="1"/>
          </p:cNvSpPr>
          <p:nvPr/>
        </p:nvSpPr>
        <p:spPr>
          <a:xfrm xmlns:a="http://schemas.openxmlformats.org/drawingml/2006/main">
            <a:off x="99060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vidéos de référence sont courtes, les caméras sont fixes et les datasets ne couvrent pas toutes les formes de violence réelle.</a:t>
            </a:r>
          </a:p>
        </p:txBody>
      </p:sp>
      <p:sp>
        <p:nvSpPr>
          <p:cNvPr id="8" name="">
            <a:extLst xmlns:a="http://schemas.openxmlformats.org/drawingml/2006/main">
              <a:ext uri="{FF2B5EF4-FFF2-40B4-BE49-F238E27FC236}">
                <a16:creationId xmlns:a16="http://schemas.microsoft.com/office/drawing/2014/main" id="{CE68919D-931D-4585-A59A-A0AD3CB12AF5}"/>
              </a:ext>
            </a:extLst>
          </p:cNvPr>
          <p:cNvSpPr>
            <a:spLocks xmlns:a="http://schemas.openxmlformats.org/drawingml/2006/main" noGrp="1"/>
          </p:cNvSpPr>
          <p:nvPr/>
        </p:nvSpPr>
        <p:spPr>
          <a:xfrm xmlns:a="http://schemas.openxmlformats.org/drawingml/2006/main">
            <a:off x="447675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0FCF5C8F-84E4-4FD8-A483-1E0649CE5C2A}"/>
              </a:ext>
            </a:extLst>
          </p:cNvPr>
          <p:cNvSpPr>
            <a:spLocks xmlns:a="http://schemas.openxmlformats.org/drawingml/2006/main" noGrp="1"/>
          </p:cNvSpPr>
          <p:nvPr/>
        </p:nvSpPr>
        <p:spPr>
          <a:xfrm xmlns:a="http://schemas.openxmlformats.org/drawingml/2006/main">
            <a:off x="4476750" y="1714500"/>
            <a:ext cx="66675" cy="15240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DFE661-DA66-4DEE-A6BE-D157EC88F7C3}"/>
              </a:ext>
            </a:extLst>
          </p:cNvPr>
          <p:cNvSpPr>
            <a:spLocks xmlns:a="http://schemas.openxmlformats.org/drawingml/2006/main" noGrp="1"/>
          </p:cNvSpPr>
          <p:nvPr/>
        </p:nvSpPr>
        <p:spPr>
          <a:xfrm xmlns:a="http://schemas.openxmlformats.org/drawingml/2006/main">
            <a:off x="470535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Limites techniques</a:t>
            </a:r>
          </a:p>
        </p:txBody>
      </p:sp>
      <p:sp>
        <p:nvSpPr>
          <p:cNvPr id="11" name="">
            <a:extLst xmlns:a="http://schemas.openxmlformats.org/drawingml/2006/main">
              <a:ext uri="{FF2B5EF4-FFF2-40B4-BE49-F238E27FC236}">
                <a16:creationId xmlns:a16="http://schemas.microsoft.com/office/drawing/2014/main" id="{3042AE27-566E-4529-AE4A-E91D27CAC783}"/>
              </a:ext>
            </a:extLst>
          </p:cNvPr>
          <p:cNvSpPr>
            <a:spLocks xmlns:a="http://schemas.openxmlformats.org/drawingml/2006/main" noGrp="1"/>
          </p:cNvSpPr>
          <p:nvPr/>
        </p:nvSpPr>
        <p:spPr>
          <a:xfrm xmlns:a="http://schemas.openxmlformats.org/drawingml/2006/main">
            <a:off x="470535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L’entraînement a été réalisé sur CPU. Le GPU Windows n’a pas été exploitable et la latence dépend du prétraitement vidéo.</a:t>
            </a:r>
          </a:p>
        </p:txBody>
      </p:sp>
      <p:sp>
        <p:nvSpPr>
          <p:cNvPr id="12" name="">
            <a:extLst xmlns:a="http://schemas.openxmlformats.org/drawingml/2006/main">
              <a:ext uri="{FF2B5EF4-FFF2-40B4-BE49-F238E27FC236}">
                <a16:creationId xmlns:a16="http://schemas.microsoft.com/office/drawing/2014/main" id="{E127174F-98A2-4BCA-910E-6CFE2D5EACAE}"/>
              </a:ext>
            </a:extLst>
          </p:cNvPr>
          <p:cNvSpPr>
            <a:spLocks xmlns:a="http://schemas.openxmlformats.org/drawingml/2006/main" noGrp="1"/>
          </p:cNvSpPr>
          <p:nvPr/>
        </p:nvSpPr>
        <p:spPr>
          <a:xfrm xmlns:a="http://schemas.openxmlformats.org/drawingml/2006/main">
            <a:off x="819150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8DA54DFD-8081-4AA6-8990-1EA8BFADC6AC}"/>
              </a:ext>
            </a:extLst>
          </p:cNvPr>
          <p:cNvSpPr>
            <a:spLocks xmlns:a="http://schemas.openxmlformats.org/drawingml/2006/main" noGrp="1"/>
          </p:cNvSpPr>
          <p:nvPr/>
        </p:nvSpPr>
        <p:spPr>
          <a:xfrm xmlns:a="http://schemas.openxmlformats.org/drawingml/2006/main">
            <a:off x="8191500" y="1714500"/>
            <a:ext cx="66675" cy="1524000"/>
          </a:xfrm>
          <a:prstGeom xmlns:a="http://schemas.openxmlformats.org/drawingml/2006/main" prst="rect">
            <a:avLst/>
          </a:prstGeom>
          <a:solidFill xmlns:a="http://schemas.openxmlformats.org/drawingml/2006/main">
            <a:srgbClr val="D94B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DA9200-ADBC-405C-B96C-FAF1F48F960D}"/>
              </a:ext>
            </a:extLst>
          </p:cNvPr>
          <p:cNvSpPr>
            <a:spLocks xmlns:a="http://schemas.openxmlformats.org/drawingml/2006/main" noGrp="1"/>
          </p:cNvSpPr>
          <p:nvPr/>
        </p:nvSpPr>
        <p:spPr>
          <a:xfrm xmlns:a="http://schemas.openxmlformats.org/drawingml/2006/main">
            <a:off x="842010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D94B45"/>
                </a:solidFill>
              </a:defRPr>
            </a:pPr>
            <a:r>
              <a:rPr sz="1350" b="1" i="0">
                <a:solidFill>
                  <a:srgbClr val="D94B45"/>
                </a:solidFill>
              </a:rPr>
              <a:t>Limites d’usage</a:t>
            </a:r>
          </a:p>
        </p:txBody>
      </p:sp>
      <p:sp>
        <p:nvSpPr>
          <p:cNvPr id="15" name="">
            <a:extLst xmlns:a="http://schemas.openxmlformats.org/drawingml/2006/main">
              <a:ext uri="{FF2B5EF4-FFF2-40B4-BE49-F238E27FC236}">
                <a16:creationId xmlns:a16="http://schemas.microsoft.com/office/drawing/2014/main" id="{C59C235B-E887-45B3-9C15-2A74A8F1954F}"/>
              </a:ext>
            </a:extLst>
          </p:cNvPr>
          <p:cNvSpPr>
            <a:spLocks xmlns:a="http://schemas.openxmlformats.org/drawingml/2006/main" noGrp="1"/>
          </p:cNvSpPr>
          <p:nvPr/>
        </p:nvSpPr>
        <p:spPr>
          <a:xfrm xmlns:a="http://schemas.openxmlformats.org/drawingml/2006/main">
            <a:off x="842010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SIRCH n’est pas conçu tel quel pour les salles de sport, spectacles de danse ou lieux où le mouvement intense est normal.</a:t>
            </a:r>
          </a:p>
        </p:txBody>
      </p:sp>
      <p:sp>
        <p:nvSpPr>
          <p:cNvPr id="16" name="">
            <a:extLst xmlns:a="http://schemas.openxmlformats.org/drawingml/2006/main">
              <a:ext uri="{FF2B5EF4-FFF2-40B4-BE49-F238E27FC236}">
                <a16:creationId xmlns:a16="http://schemas.microsoft.com/office/drawing/2014/main" id="{33ABD716-75EF-4DFD-A45F-F4FF0C182C91}"/>
              </a:ext>
            </a:extLst>
          </p:cNvPr>
          <p:cNvSpPr>
            <a:spLocks xmlns:a="http://schemas.openxmlformats.org/drawingml/2006/main" noGrp="1"/>
          </p:cNvSpPr>
          <p:nvPr/>
        </p:nvSpPr>
        <p:spPr>
          <a:xfrm xmlns:a="http://schemas.openxmlformats.org/drawingml/2006/main">
            <a:off x="1524000" y="4095750"/>
            <a:ext cx="9144000" cy="933450"/>
          </a:xfrm>
          <a:prstGeom xmlns:a="http://schemas.openxmlformats.org/drawingml/2006/main" prst="roundRect">
            <a:avLst>
              <a:gd name="adj" fmla="val 8163"/>
            </a:avLst>
          </a:prstGeom>
          <a:solidFill xmlns:a="http://schemas.openxmlformats.org/drawingml/2006/main">
            <a:srgbClr val="EEF5FA"/>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26249C04-A8C7-45D6-9410-CD9D54513525}"/>
              </a:ext>
            </a:extLst>
          </p:cNvPr>
          <p:cNvSpPr>
            <a:spLocks xmlns:a="http://schemas.openxmlformats.org/drawingml/2006/main" noGrp="1"/>
          </p:cNvSpPr>
          <p:nvPr/>
        </p:nvSpPr>
        <p:spPr>
          <a:xfrm xmlns:a="http://schemas.openxmlformats.org/drawingml/2006/main">
            <a:off x="1809750" y="42862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C8B53"/>
                </a:solidFill>
              </a:defRPr>
            </a:pPr>
            <a:r>
              <a:rPr sz="1500" b="1" i="0">
                <a:solidFill>
                  <a:srgbClr val="1C8B53"/>
                </a:solidFill>
              </a:rPr>
              <a:t>Portée des limites</a:t>
            </a:r>
          </a:p>
        </p:txBody>
      </p:sp>
      <p:sp>
        <p:nvSpPr>
          <p:cNvPr id="18" name="">
            <a:extLst xmlns:a="http://schemas.openxmlformats.org/drawingml/2006/main">
              <a:ext uri="{FF2B5EF4-FFF2-40B4-BE49-F238E27FC236}">
                <a16:creationId xmlns:a16="http://schemas.microsoft.com/office/drawing/2014/main" id="{0FF6E41F-50C1-430A-A342-DB7E68E058AE}"/>
              </a:ext>
            </a:extLst>
          </p:cNvPr>
          <p:cNvSpPr>
            <a:spLocks xmlns:a="http://schemas.openxmlformats.org/drawingml/2006/main" noGrp="1"/>
          </p:cNvSpPr>
          <p:nvPr/>
        </p:nvSpPr>
        <p:spPr>
          <a:xfrm xmlns:a="http://schemas.openxmlformats.org/drawingml/2006/main">
            <a:off x="4286250" y="4257675"/>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La limite principale n’est pas que SIRCH ne fonctionne pas. C’est qu’il apprend fortement la dynamique du mouvement. Ce comportement est utile dans un couloir ou un hall, mais insuffisant dans un environnement sportif.</a:t>
            </a:r>
          </a:p>
        </p:txBody>
      </p:sp>
      <p:sp>
        <p:nvSpPr>
          <p:cNvPr id="19" name="">
            <a:extLst xmlns:a="http://schemas.openxmlformats.org/drawingml/2006/main">
              <a:ext uri="{FF2B5EF4-FFF2-40B4-BE49-F238E27FC236}">
                <a16:creationId xmlns:a16="http://schemas.microsoft.com/office/drawing/2014/main" id="{118F1D8B-7A5A-4A1D-B022-65DF324BD63E}"/>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Limites</a:t>
            </a:r>
          </a:p>
        </p:txBody>
      </p:sp>
      <p:sp>
        <p:nvSpPr>
          <p:cNvPr id="20" name="">
            <a:extLst xmlns:a="http://schemas.openxmlformats.org/drawingml/2006/main">
              <a:ext uri="{FF2B5EF4-FFF2-40B4-BE49-F238E27FC236}">
                <a16:creationId xmlns:a16="http://schemas.microsoft.com/office/drawing/2014/main" id="{BF882240-3751-4A79-A435-316F68231E2B}"/>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18 / 21</a:t>
            </a:r>
          </a:p>
        </p:txBody>
      </p:sp>
    </p:spTree>
    <p:extLst>
      <p:ext uri="{BB962C8B-B14F-4D97-AF65-F5344CB8AC3E}">
        <p14:creationId xmlns:p14="http://schemas.microsoft.com/office/powerpoint/2010/main" val="17511708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571451-A17C-4390-9A5B-CB339FB0AB4F}"/>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perspectives découlent directement des limites observées</a:t>
            </a:r>
          </a:p>
        </p:txBody>
      </p:sp>
      <p:sp>
        <p:nvSpPr>
          <p:cNvPr id="2" name="">
            <a:extLst xmlns:a="http://schemas.openxmlformats.org/drawingml/2006/main">
              <a:ext uri="{FF2B5EF4-FFF2-40B4-BE49-F238E27FC236}">
                <a16:creationId xmlns:a16="http://schemas.microsoft.com/office/drawing/2014/main" id="{6B13A553-428A-47A6-80A1-E38D8BC916E2}"/>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E2D094-E212-428A-BAE0-7BE5856CF76E}"/>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Chaque amélioration proposée répond à un résultat ou à une faiblesse mesurée.</a:t>
            </a:r>
          </a:p>
        </p:txBody>
      </p:sp>
      <p:sp>
        <p:nvSpPr>
          <p:cNvPr id="4" name="">
            <a:extLst xmlns:a="http://schemas.openxmlformats.org/drawingml/2006/main">
              <a:ext uri="{FF2B5EF4-FFF2-40B4-BE49-F238E27FC236}">
                <a16:creationId xmlns:a16="http://schemas.microsoft.com/office/drawing/2014/main" id="{091C8430-BD9F-44A1-B9EB-5BBD5725C8D8}"/>
              </a:ext>
            </a:extLst>
          </p:cNvPr>
          <p:cNvSpPr>
            <a:spLocks xmlns:a="http://schemas.openxmlformats.org/drawingml/2006/main" noGrp="1"/>
          </p:cNvSpPr>
          <p:nvPr/>
        </p:nvSpPr>
        <p:spPr>
          <a:xfrm xmlns:a="http://schemas.openxmlformats.org/drawingml/2006/main">
            <a:off x="1047750" y="1714500"/>
            <a:ext cx="3143250" cy="5524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DA3AF6D4-20DB-4FD8-A914-23DF0B26B720}"/>
              </a:ext>
            </a:extLst>
          </p:cNvPr>
          <p:cNvSpPr>
            <a:spLocks xmlns:a="http://schemas.openxmlformats.org/drawingml/2006/main" noGrp="1"/>
          </p:cNvSpPr>
          <p:nvPr/>
        </p:nvSpPr>
        <p:spPr>
          <a:xfrm xmlns:a="http://schemas.openxmlformats.org/drawingml/2006/main">
            <a:off x="1123950" y="18097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Perspective</a:t>
            </a:r>
          </a:p>
        </p:txBody>
      </p:sp>
      <p:sp>
        <p:nvSpPr>
          <p:cNvPr id="6" name="">
            <a:extLst xmlns:a="http://schemas.openxmlformats.org/drawingml/2006/main">
              <a:ext uri="{FF2B5EF4-FFF2-40B4-BE49-F238E27FC236}">
                <a16:creationId xmlns:a16="http://schemas.microsoft.com/office/drawing/2014/main" id="{D960AA78-0BCA-4C1B-B570-36ECFEB05552}"/>
              </a:ext>
            </a:extLst>
          </p:cNvPr>
          <p:cNvSpPr>
            <a:spLocks xmlns:a="http://schemas.openxmlformats.org/drawingml/2006/main" noGrp="1"/>
          </p:cNvSpPr>
          <p:nvPr/>
        </p:nvSpPr>
        <p:spPr>
          <a:xfrm xmlns:a="http://schemas.openxmlformats.org/drawingml/2006/main">
            <a:off x="4191000" y="1714500"/>
            <a:ext cx="6286500" cy="5524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D427B6B5-CE9A-4A31-8C49-55AA96F336CA}"/>
              </a:ext>
            </a:extLst>
          </p:cNvPr>
          <p:cNvSpPr>
            <a:spLocks xmlns:a="http://schemas.openxmlformats.org/drawingml/2006/main" noGrp="1"/>
          </p:cNvSpPr>
          <p:nvPr/>
        </p:nvSpPr>
        <p:spPr>
          <a:xfrm xmlns:a="http://schemas.openxmlformats.org/drawingml/2006/main">
            <a:off x="4267200" y="18097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Ce que cela améliorerait</a:t>
            </a:r>
          </a:p>
        </p:txBody>
      </p:sp>
      <p:sp>
        <p:nvSpPr>
          <p:cNvPr id="8" name="">
            <a:extLst xmlns:a="http://schemas.openxmlformats.org/drawingml/2006/main">
              <a:ext uri="{FF2B5EF4-FFF2-40B4-BE49-F238E27FC236}">
                <a16:creationId xmlns:a16="http://schemas.microsoft.com/office/drawing/2014/main" id="{6B64E3D8-4D1D-4CA5-9376-5A1659030D3B}"/>
              </a:ext>
            </a:extLst>
          </p:cNvPr>
          <p:cNvSpPr>
            <a:spLocks xmlns:a="http://schemas.openxmlformats.org/drawingml/2006/main" noGrp="1"/>
          </p:cNvSpPr>
          <p:nvPr/>
        </p:nvSpPr>
        <p:spPr>
          <a:xfrm xmlns:a="http://schemas.openxmlformats.org/drawingml/2006/main">
            <a:off x="1047750" y="2266950"/>
            <a:ext cx="3143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6142EBE5-814C-49B2-BD1F-E2C8FAC5E71F}"/>
              </a:ext>
            </a:extLst>
          </p:cNvPr>
          <p:cNvSpPr>
            <a:spLocks xmlns:a="http://schemas.openxmlformats.org/drawingml/2006/main" noGrp="1"/>
          </p:cNvSpPr>
          <p:nvPr/>
        </p:nvSpPr>
        <p:spPr>
          <a:xfrm xmlns:a="http://schemas.openxmlformats.org/drawingml/2006/main">
            <a:off x="1123950" y="23622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Ajouter 200 à 300 vidéos sport/danse non violentes</a:t>
            </a:r>
          </a:p>
        </p:txBody>
      </p:sp>
      <p:sp>
        <p:nvSpPr>
          <p:cNvPr id="10" name="">
            <a:extLst xmlns:a="http://schemas.openxmlformats.org/drawingml/2006/main">
              <a:ext uri="{FF2B5EF4-FFF2-40B4-BE49-F238E27FC236}">
                <a16:creationId xmlns:a16="http://schemas.microsoft.com/office/drawing/2014/main" id="{79E24AEE-FE38-493F-8B49-0C806C3C4EAB}"/>
              </a:ext>
            </a:extLst>
          </p:cNvPr>
          <p:cNvSpPr>
            <a:spLocks xmlns:a="http://schemas.openxmlformats.org/drawingml/2006/main" noGrp="1"/>
          </p:cNvSpPr>
          <p:nvPr/>
        </p:nvSpPr>
        <p:spPr>
          <a:xfrm xmlns:a="http://schemas.openxmlformats.org/drawingml/2006/main">
            <a:off x="4191000" y="2266950"/>
            <a:ext cx="628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72E49A42-1BB1-4909-9FC7-035CF9081DA9}"/>
              </a:ext>
            </a:extLst>
          </p:cNvPr>
          <p:cNvSpPr>
            <a:spLocks xmlns:a="http://schemas.openxmlformats.org/drawingml/2006/main" noGrp="1"/>
          </p:cNvSpPr>
          <p:nvPr/>
        </p:nvSpPr>
        <p:spPr>
          <a:xfrm xmlns:a="http://schemas.openxmlformats.org/drawingml/2006/main">
            <a:off x="4267200" y="236220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Réduire la confusion entre mouvement intense et violence</a:t>
            </a:r>
          </a:p>
        </p:txBody>
      </p:sp>
      <p:sp>
        <p:nvSpPr>
          <p:cNvPr id="12" name="">
            <a:extLst xmlns:a="http://schemas.openxmlformats.org/drawingml/2006/main">
              <a:ext uri="{FF2B5EF4-FFF2-40B4-BE49-F238E27FC236}">
                <a16:creationId xmlns:a16="http://schemas.microsoft.com/office/drawing/2014/main" id="{896F5C08-5C78-4300-AAEE-CF8BAA994503}"/>
              </a:ext>
            </a:extLst>
          </p:cNvPr>
          <p:cNvSpPr>
            <a:spLocks xmlns:a="http://schemas.openxmlformats.org/drawingml/2006/main" noGrp="1"/>
          </p:cNvSpPr>
          <p:nvPr/>
        </p:nvSpPr>
        <p:spPr>
          <a:xfrm xmlns:a="http://schemas.openxmlformats.org/drawingml/2006/main">
            <a:off x="1047750" y="2819400"/>
            <a:ext cx="314325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DFDB563E-C106-4608-89C3-524DF97F9093}"/>
              </a:ext>
            </a:extLst>
          </p:cNvPr>
          <p:cNvSpPr>
            <a:spLocks xmlns:a="http://schemas.openxmlformats.org/drawingml/2006/main" noGrp="1"/>
          </p:cNvSpPr>
          <p:nvPr/>
        </p:nvSpPr>
        <p:spPr>
          <a:xfrm xmlns:a="http://schemas.openxmlformats.org/drawingml/2006/main">
            <a:off x="1123950" y="29146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Tester GRU et hyperparamètres</a:t>
            </a:r>
          </a:p>
        </p:txBody>
      </p:sp>
      <p:sp>
        <p:nvSpPr>
          <p:cNvPr id="14" name="">
            <a:extLst xmlns:a="http://schemas.openxmlformats.org/drawingml/2006/main">
              <a:ext uri="{FF2B5EF4-FFF2-40B4-BE49-F238E27FC236}">
                <a16:creationId xmlns:a16="http://schemas.microsoft.com/office/drawing/2014/main" id="{4A5924E3-AD22-43E5-96C5-B3B0C9BA1264}"/>
              </a:ext>
            </a:extLst>
          </p:cNvPr>
          <p:cNvSpPr>
            <a:spLocks xmlns:a="http://schemas.openxmlformats.org/drawingml/2006/main" noGrp="1"/>
          </p:cNvSpPr>
          <p:nvPr/>
        </p:nvSpPr>
        <p:spPr>
          <a:xfrm xmlns:a="http://schemas.openxmlformats.org/drawingml/2006/main">
            <a:off x="4191000" y="2819400"/>
            <a:ext cx="628650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CEDB0B18-AEFC-4DB6-B4B1-D9B958ACFD88}"/>
              </a:ext>
            </a:extLst>
          </p:cNvPr>
          <p:cNvSpPr>
            <a:spLocks xmlns:a="http://schemas.openxmlformats.org/drawingml/2006/main" noGrp="1"/>
          </p:cNvSpPr>
          <p:nvPr/>
        </p:nvSpPr>
        <p:spPr>
          <a:xfrm xmlns:a="http://schemas.openxmlformats.org/drawingml/2006/main">
            <a:off x="4267200" y="29146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Confirmer l’architecture temporelle la plus efficace</a:t>
            </a:r>
          </a:p>
        </p:txBody>
      </p:sp>
      <p:sp>
        <p:nvSpPr>
          <p:cNvPr id="16" name="">
            <a:extLst xmlns:a="http://schemas.openxmlformats.org/drawingml/2006/main">
              <a:ext uri="{FF2B5EF4-FFF2-40B4-BE49-F238E27FC236}">
                <a16:creationId xmlns:a16="http://schemas.microsoft.com/office/drawing/2014/main" id="{8435D6CB-6AEA-4D36-9A5E-86A04B4F55DF}"/>
              </a:ext>
            </a:extLst>
          </p:cNvPr>
          <p:cNvSpPr>
            <a:spLocks xmlns:a="http://schemas.openxmlformats.org/drawingml/2006/main" noGrp="1"/>
          </p:cNvSpPr>
          <p:nvPr/>
        </p:nvSpPr>
        <p:spPr>
          <a:xfrm xmlns:a="http://schemas.openxmlformats.org/drawingml/2006/main">
            <a:off x="1047750" y="3371850"/>
            <a:ext cx="3143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87B4BD25-6651-4CEC-AC74-D4EE19F6CD1C}"/>
              </a:ext>
            </a:extLst>
          </p:cNvPr>
          <p:cNvSpPr>
            <a:spLocks xmlns:a="http://schemas.openxmlformats.org/drawingml/2006/main" noGrp="1"/>
          </p:cNvSpPr>
          <p:nvPr/>
        </p:nvSpPr>
        <p:spPr>
          <a:xfrm xmlns:a="http://schemas.openxmlformats.org/drawingml/2006/main">
            <a:off x="1123950" y="34671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Quantification TensorFlow Lite ou TensorRT</a:t>
            </a:r>
          </a:p>
        </p:txBody>
      </p:sp>
      <p:sp>
        <p:nvSpPr>
          <p:cNvPr id="18" name="">
            <a:extLst xmlns:a="http://schemas.openxmlformats.org/drawingml/2006/main">
              <a:ext uri="{FF2B5EF4-FFF2-40B4-BE49-F238E27FC236}">
                <a16:creationId xmlns:a16="http://schemas.microsoft.com/office/drawing/2014/main" id="{D5CBD201-A719-4290-974F-9791F7A63AD4}"/>
              </a:ext>
            </a:extLst>
          </p:cNvPr>
          <p:cNvSpPr>
            <a:spLocks xmlns:a="http://schemas.openxmlformats.org/drawingml/2006/main" noGrp="1"/>
          </p:cNvSpPr>
          <p:nvPr/>
        </p:nvSpPr>
        <p:spPr>
          <a:xfrm xmlns:a="http://schemas.openxmlformats.org/drawingml/2006/main">
            <a:off x="4191000" y="3371850"/>
            <a:ext cx="628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54033C08-F7CC-4921-91DF-8724F8797F19}"/>
              </a:ext>
            </a:extLst>
          </p:cNvPr>
          <p:cNvSpPr>
            <a:spLocks xmlns:a="http://schemas.openxmlformats.org/drawingml/2006/main" noGrp="1"/>
          </p:cNvSpPr>
          <p:nvPr/>
        </p:nvSpPr>
        <p:spPr>
          <a:xfrm xmlns:a="http://schemas.openxmlformats.org/drawingml/2006/main">
            <a:off x="4267200" y="346710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Réduire la latence et faciliter le déploiement embarqué</a:t>
            </a:r>
          </a:p>
        </p:txBody>
      </p:sp>
      <p:sp>
        <p:nvSpPr>
          <p:cNvPr id="20" name="">
            <a:extLst xmlns:a="http://schemas.openxmlformats.org/drawingml/2006/main">
              <a:ext uri="{FF2B5EF4-FFF2-40B4-BE49-F238E27FC236}">
                <a16:creationId xmlns:a16="http://schemas.microsoft.com/office/drawing/2014/main" id="{B59C7547-D411-4D03-8EB9-959B29ADD496}"/>
              </a:ext>
            </a:extLst>
          </p:cNvPr>
          <p:cNvSpPr>
            <a:spLocks xmlns:a="http://schemas.openxmlformats.org/drawingml/2006/main" noGrp="1"/>
          </p:cNvSpPr>
          <p:nvPr/>
        </p:nvSpPr>
        <p:spPr>
          <a:xfrm xmlns:a="http://schemas.openxmlformats.org/drawingml/2006/main">
            <a:off x="1047750" y="3924300"/>
            <a:ext cx="314325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0341EDBA-9DC3-4DE8-AE69-D79E9F867D10}"/>
              </a:ext>
            </a:extLst>
          </p:cNvPr>
          <p:cNvSpPr>
            <a:spLocks xmlns:a="http://schemas.openxmlformats.org/drawingml/2006/main" noGrp="1"/>
          </p:cNvSpPr>
          <p:nvPr/>
        </p:nvSpPr>
        <p:spPr>
          <a:xfrm xmlns:a="http://schemas.openxmlformats.org/drawingml/2006/main">
            <a:off x="1123950" y="40195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Test réel sur plusieurs semaines</a:t>
            </a:r>
          </a:p>
        </p:txBody>
      </p:sp>
      <p:sp>
        <p:nvSpPr>
          <p:cNvPr id="22" name="">
            <a:extLst xmlns:a="http://schemas.openxmlformats.org/drawingml/2006/main">
              <a:ext uri="{FF2B5EF4-FFF2-40B4-BE49-F238E27FC236}">
                <a16:creationId xmlns:a16="http://schemas.microsoft.com/office/drawing/2014/main" id="{C9676E27-6EE9-49E8-92C0-9A83CE0B7A8E}"/>
              </a:ext>
            </a:extLst>
          </p:cNvPr>
          <p:cNvSpPr>
            <a:spLocks xmlns:a="http://schemas.openxmlformats.org/drawingml/2006/main" noGrp="1"/>
          </p:cNvSpPr>
          <p:nvPr/>
        </p:nvSpPr>
        <p:spPr>
          <a:xfrm xmlns:a="http://schemas.openxmlformats.org/drawingml/2006/main">
            <a:off x="4191000" y="3924300"/>
            <a:ext cx="628650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35041994-EC8C-431A-866E-4C76F4788991}"/>
              </a:ext>
            </a:extLst>
          </p:cNvPr>
          <p:cNvSpPr>
            <a:spLocks xmlns:a="http://schemas.openxmlformats.org/drawingml/2006/main" noGrp="1"/>
          </p:cNvSpPr>
          <p:nvPr/>
        </p:nvSpPr>
        <p:spPr>
          <a:xfrm xmlns:a="http://schemas.openxmlformats.org/drawingml/2006/main">
            <a:off x="4267200" y="40195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Mesurer les alertes, l’éclairage, la stabilité et l’usage opérateur</a:t>
            </a:r>
          </a:p>
        </p:txBody>
      </p:sp>
      <p:sp>
        <p:nvSpPr>
          <p:cNvPr id="24" name="">
            <a:extLst xmlns:a="http://schemas.openxmlformats.org/drawingml/2006/main">
              <a:ext uri="{FF2B5EF4-FFF2-40B4-BE49-F238E27FC236}">
                <a16:creationId xmlns:a16="http://schemas.microsoft.com/office/drawing/2014/main" id="{E9D00771-265D-4CFD-921E-3EFC52B098FC}"/>
              </a:ext>
            </a:extLst>
          </p:cNvPr>
          <p:cNvSpPr>
            <a:spLocks xmlns:a="http://schemas.openxmlformats.org/drawingml/2006/main" noGrp="1"/>
          </p:cNvSpPr>
          <p:nvPr/>
        </p:nvSpPr>
        <p:spPr>
          <a:xfrm xmlns:a="http://schemas.openxmlformats.org/drawingml/2006/main">
            <a:off x="1238250" y="533400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Priorité scientifique : enrichir les données non violentes dynamiques avant de chercher une architecture plus complexe.</a:t>
            </a:r>
          </a:p>
        </p:txBody>
      </p:sp>
      <p:sp>
        <p:nvSpPr>
          <p:cNvPr id="25" name="">
            <a:extLst xmlns:a="http://schemas.openxmlformats.org/drawingml/2006/main">
              <a:ext uri="{FF2B5EF4-FFF2-40B4-BE49-F238E27FC236}">
                <a16:creationId xmlns:a16="http://schemas.microsoft.com/office/drawing/2014/main" id="{B9A74A2E-06F6-4B55-81A1-88B39B7007A3}"/>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Perspectives</a:t>
            </a:r>
          </a:p>
        </p:txBody>
      </p:sp>
      <p:sp>
        <p:nvSpPr>
          <p:cNvPr id="26" name="">
            <a:extLst xmlns:a="http://schemas.openxmlformats.org/drawingml/2006/main">
              <a:ext uri="{FF2B5EF4-FFF2-40B4-BE49-F238E27FC236}">
                <a16:creationId xmlns:a16="http://schemas.microsoft.com/office/drawing/2014/main" id="{5E15DC0D-618B-44E6-A505-5684395DF275}"/>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19 / 21</a:t>
            </a:r>
          </a:p>
        </p:txBody>
      </p:sp>
    </p:spTree>
    <p:extLst>
      <p:ext uri="{BB962C8B-B14F-4D97-AF65-F5344CB8AC3E}">
        <p14:creationId xmlns:p14="http://schemas.microsoft.com/office/powerpoint/2010/main" val="257441554"/>
      </p:ext>
    </p:extLst>
  </p:cSld>
</p:sld>
</file>

<file path=ppt/slides/slide20.xml><?xml version="1.0" encoding="utf-8"?>
<p:sld xmlns:p="http://schemas.openxmlformats.org/presentationml/2006/main">
  <p:cSld>
    <p:bg>
      <p:bgPr>
        <a:solidFill xmlns:a="http://schemas.openxmlformats.org/drawingml/2006/main">
          <a:srgbClr val="203F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7E54D5-3611-4549-A1A2-81A150470581}"/>
              </a:ext>
            </a:extLst>
          </p:cNvPr>
          <p:cNvSpPr>
            <a:spLocks xmlns:a="http://schemas.openxmlformats.org/drawingml/2006/main" noGrp="1"/>
          </p:cNvSpPr>
          <p:nvPr/>
        </p:nvSpPr>
        <p:spPr>
          <a:xfrm xmlns:a="http://schemas.openxmlformats.org/drawingml/2006/main">
            <a:off x="666750" y="59055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FFFFF"/>
                </a:solidFill>
              </a:defRPr>
            </a:pPr>
            <a:r>
              <a:rPr sz="3150" b="1" i="0">
                <a:solidFill>
                  <a:srgbClr val="FFFFFF"/>
                </a:solidFill>
              </a:rPr>
              <a:t>Conclusion</a:t>
            </a:r>
          </a:p>
        </p:txBody>
      </p:sp>
      <p:sp>
        <p:nvSpPr>
          <p:cNvPr id="2" name="">
            <a:extLst xmlns:a="http://schemas.openxmlformats.org/drawingml/2006/main">
              <a:ext uri="{FF2B5EF4-FFF2-40B4-BE49-F238E27FC236}">
                <a16:creationId xmlns:a16="http://schemas.microsoft.com/office/drawing/2014/main" id="{4C7EEA30-946D-4B3D-AABC-E4CE5172CF42}"/>
              </a:ext>
            </a:extLst>
          </p:cNvPr>
          <p:cNvSpPr>
            <a:spLocks xmlns:a="http://schemas.openxmlformats.org/drawingml/2006/main" noGrp="1"/>
          </p:cNvSpPr>
          <p:nvPr/>
        </p:nvSpPr>
        <p:spPr>
          <a:xfrm xmlns:a="http://schemas.openxmlformats.org/drawingml/2006/main">
            <a:off x="666750" y="1219200"/>
            <a:ext cx="114300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7DE368F-0323-4456-A7E0-7BF890A713DF}"/>
              </a:ext>
            </a:extLst>
          </p:cNvPr>
          <p:cNvSpPr>
            <a:spLocks xmlns:a="http://schemas.openxmlformats.org/drawingml/2006/main" noGrp="1"/>
          </p:cNvSpPr>
          <p:nvPr/>
        </p:nvSpPr>
        <p:spPr>
          <a:xfrm xmlns:a="http://schemas.openxmlformats.org/drawingml/2006/main">
            <a:off x="857250" y="16668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4" name="">
            <a:extLst xmlns:a="http://schemas.openxmlformats.org/drawingml/2006/main">
              <a:ext uri="{FF2B5EF4-FFF2-40B4-BE49-F238E27FC236}">
                <a16:creationId xmlns:a16="http://schemas.microsoft.com/office/drawing/2014/main" id="{8BB81741-2906-4C36-BE3F-8D519136E7F0}"/>
              </a:ext>
            </a:extLst>
          </p:cNvPr>
          <p:cNvSpPr>
            <a:spLocks xmlns:a="http://schemas.openxmlformats.org/drawingml/2006/main" noGrp="1"/>
          </p:cNvSpPr>
          <p:nvPr/>
        </p:nvSpPr>
        <p:spPr>
          <a:xfrm xmlns:a="http://schemas.openxmlformats.org/drawingml/2006/main">
            <a:off x="857250" y="17716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5" name="">
            <a:extLst xmlns:a="http://schemas.openxmlformats.org/drawingml/2006/main">
              <a:ext uri="{FF2B5EF4-FFF2-40B4-BE49-F238E27FC236}">
                <a16:creationId xmlns:a16="http://schemas.microsoft.com/office/drawing/2014/main" id="{28AFA72C-B380-4E03-9D7B-B59010580D21}"/>
              </a:ext>
            </a:extLst>
          </p:cNvPr>
          <p:cNvSpPr>
            <a:spLocks xmlns:a="http://schemas.openxmlformats.org/drawingml/2006/main" noGrp="1"/>
          </p:cNvSpPr>
          <p:nvPr/>
        </p:nvSpPr>
        <p:spPr>
          <a:xfrm xmlns:a="http://schemas.openxmlformats.org/drawingml/2006/main">
            <a:off x="1571625" y="17049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SIRCH transforme un modèle en système complet : caméra, inférence, décision, alerte et dashboard.</a:t>
            </a:r>
          </a:p>
        </p:txBody>
      </p:sp>
      <p:sp>
        <p:nvSpPr>
          <p:cNvPr id="6" name="">
            <a:extLst xmlns:a="http://schemas.openxmlformats.org/drawingml/2006/main">
              <a:ext uri="{FF2B5EF4-FFF2-40B4-BE49-F238E27FC236}">
                <a16:creationId xmlns:a16="http://schemas.microsoft.com/office/drawing/2014/main" id="{B1ADC924-EC4B-42A5-890D-0B001C30E275}"/>
              </a:ext>
            </a:extLst>
          </p:cNvPr>
          <p:cNvSpPr>
            <a:spLocks xmlns:a="http://schemas.openxmlformats.org/drawingml/2006/main" noGrp="1"/>
          </p:cNvSpPr>
          <p:nvPr/>
        </p:nvSpPr>
        <p:spPr>
          <a:xfrm xmlns:a="http://schemas.openxmlformats.org/drawingml/2006/main">
            <a:off x="857250" y="25431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7" name="">
            <a:extLst xmlns:a="http://schemas.openxmlformats.org/drawingml/2006/main">
              <a:ext uri="{FF2B5EF4-FFF2-40B4-BE49-F238E27FC236}">
                <a16:creationId xmlns:a16="http://schemas.microsoft.com/office/drawing/2014/main" id="{A1D5AFFC-93F5-467C-A677-ACEF15DA3145}"/>
              </a:ext>
            </a:extLst>
          </p:cNvPr>
          <p:cNvSpPr>
            <a:spLocks xmlns:a="http://schemas.openxmlformats.org/drawingml/2006/main" noGrp="1"/>
          </p:cNvSpPr>
          <p:nvPr/>
        </p:nvSpPr>
        <p:spPr>
          <a:xfrm xmlns:a="http://schemas.openxmlformats.org/drawingml/2006/main">
            <a:off x="857250" y="264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8" name="">
            <a:extLst xmlns:a="http://schemas.openxmlformats.org/drawingml/2006/main">
              <a:ext uri="{FF2B5EF4-FFF2-40B4-BE49-F238E27FC236}">
                <a16:creationId xmlns:a16="http://schemas.microsoft.com/office/drawing/2014/main" id="{1D69D107-9603-4D92-84D7-E054B55E9C75}"/>
              </a:ext>
            </a:extLst>
          </p:cNvPr>
          <p:cNvSpPr>
            <a:spLocks xmlns:a="http://schemas.openxmlformats.org/drawingml/2006/main" noGrp="1"/>
          </p:cNvSpPr>
          <p:nvPr/>
        </p:nvSpPr>
        <p:spPr>
          <a:xfrm xmlns:a="http://schemas.openxmlformats.org/drawingml/2006/main">
            <a:off x="1571625" y="25812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 modèle original atteint 86,81 % d’accuracy, 87,56 % de F1 et une ROC-AUC de 0,9446 sur 599 vidéos.</a:t>
            </a:r>
          </a:p>
        </p:txBody>
      </p:sp>
      <p:sp>
        <p:nvSpPr>
          <p:cNvPr id="9" name="">
            <a:extLst xmlns:a="http://schemas.openxmlformats.org/drawingml/2006/main">
              <a:ext uri="{FF2B5EF4-FFF2-40B4-BE49-F238E27FC236}">
                <a16:creationId xmlns:a16="http://schemas.microsoft.com/office/drawing/2014/main" id="{047C27F0-26C9-4468-A394-FF9186981D4C}"/>
              </a:ext>
            </a:extLst>
          </p:cNvPr>
          <p:cNvSpPr>
            <a:spLocks xmlns:a="http://schemas.openxmlformats.org/drawingml/2006/main" noGrp="1"/>
          </p:cNvSpPr>
          <p:nvPr/>
        </p:nvSpPr>
        <p:spPr>
          <a:xfrm xmlns:a="http://schemas.openxmlformats.org/drawingml/2006/main">
            <a:off x="857250" y="34194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10" name="">
            <a:extLst xmlns:a="http://schemas.openxmlformats.org/drawingml/2006/main">
              <a:ext uri="{FF2B5EF4-FFF2-40B4-BE49-F238E27FC236}">
                <a16:creationId xmlns:a16="http://schemas.microsoft.com/office/drawing/2014/main" id="{79FB5DA6-5EB9-458F-85A2-E7E4BB40CE57}"/>
              </a:ext>
            </a:extLst>
          </p:cNvPr>
          <p:cNvSpPr>
            <a:spLocks xmlns:a="http://schemas.openxmlformats.org/drawingml/2006/main" noGrp="1"/>
          </p:cNvSpPr>
          <p:nvPr/>
        </p:nvSpPr>
        <p:spPr>
          <a:xfrm xmlns:a="http://schemas.openxmlformats.org/drawingml/2006/main">
            <a:off x="857250" y="35242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1" name="">
            <a:extLst xmlns:a="http://schemas.openxmlformats.org/drawingml/2006/main">
              <a:ext uri="{FF2B5EF4-FFF2-40B4-BE49-F238E27FC236}">
                <a16:creationId xmlns:a16="http://schemas.microsoft.com/office/drawing/2014/main" id="{2056EF7F-3483-40C1-AB8B-2F56C21F16F3}"/>
              </a:ext>
            </a:extLst>
          </p:cNvPr>
          <p:cNvSpPr>
            <a:spLocks xmlns:a="http://schemas.openxmlformats.org/drawingml/2006/main" noGrp="1"/>
          </p:cNvSpPr>
          <p:nvPr/>
        </p:nvSpPr>
        <p:spPr>
          <a:xfrm xmlns:a="http://schemas.openxmlformats.org/drawingml/2006/main">
            <a:off x="1571625" y="34575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Les analyses montrent une vraie force sur la détection, mais aussi une limite claire face aux mouvements sportifs ou dansés.</a:t>
            </a:r>
          </a:p>
        </p:txBody>
      </p:sp>
      <p:sp>
        <p:nvSpPr>
          <p:cNvPr id="12" name="">
            <a:extLst xmlns:a="http://schemas.openxmlformats.org/drawingml/2006/main">
              <a:ext uri="{FF2B5EF4-FFF2-40B4-BE49-F238E27FC236}">
                <a16:creationId xmlns:a16="http://schemas.microsoft.com/office/drawing/2014/main" id="{232DC38D-64F8-48A0-971C-A2A558B21762}"/>
              </a:ext>
            </a:extLst>
          </p:cNvPr>
          <p:cNvSpPr>
            <a:spLocks xmlns:a="http://schemas.openxmlformats.org/drawingml/2006/main" noGrp="1"/>
          </p:cNvSpPr>
          <p:nvPr/>
        </p:nvSpPr>
        <p:spPr>
          <a:xfrm xmlns:a="http://schemas.openxmlformats.org/drawingml/2006/main">
            <a:off x="857250" y="42957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13" name="">
            <a:extLst xmlns:a="http://schemas.openxmlformats.org/drawingml/2006/main">
              <a:ext uri="{FF2B5EF4-FFF2-40B4-BE49-F238E27FC236}">
                <a16:creationId xmlns:a16="http://schemas.microsoft.com/office/drawing/2014/main" id="{40DD01F4-BD10-46A1-A135-1FAA5DC6911A}"/>
              </a:ext>
            </a:extLst>
          </p:cNvPr>
          <p:cNvSpPr>
            <a:spLocks xmlns:a="http://schemas.openxmlformats.org/drawingml/2006/main" noGrp="1"/>
          </p:cNvSpPr>
          <p:nvPr/>
        </p:nvSpPr>
        <p:spPr>
          <a:xfrm xmlns:a="http://schemas.openxmlformats.org/drawingml/2006/main">
            <a:off x="857250" y="44005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14" name="">
            <a:extLst xmlns:a="http://schemas.openxmlformats.org/drawingml/2006/main">
              <a:ext uri="{FF2B5EF4-FFF2-40B4-BE49-F238E27FC236}">
                <a16:creationId xmlns:a16="http://schemas.microsoft.com/office/drawing/2014/main" id="{52CBC676-A310-4B97-BE42-C2BF2AFF3816}"/>
              </a:ext>
            </a:extLst>
          </p:cNvPr>
          <p:cNvSpPr>
            <a:spLocks xmlns:a="http://schemas.openxmlformats.org/drawingml/2006/main" noGrp="1"/>
          </p:cNvSpPr>
          <p:nvPr/>
        </p:nvSpPr>
        <p:spPr>
          <a:xfrm xmlns:a="http://schemas.openxmlformats.org/drawingml/2006/main">
            <a:off x="1571625" y="43338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Les perspectives portent sur plus de données non violentes dynamiques, le GRU, la quantification et le déploiement embarqué.</a:t>
            </a:r>
          </a:p>
        </p:txBody>
      </p:sp>
      <p:sp>
        <p:nvSpPr>
          <p:cNvPr id="15" name="">
            <a:extLst xmlns:a="http://schemas.openxmlformats.org/drawingml/2006/main">
              <a:ext uri="{FF2B5EF4-FFF2-40B4-BE49-F238E27FC236}">
                <a16:creationId xmlns:a16="http://schemas.microsoft.com/office/drawing/2014/main" id="{A19FF28A-8DFD-4DC7-B173-5B87AF5B4C2D}"/>
              </a:ext>
            </a:extLst>
          </p:cNvPr>
          <p:cNvSpPr>
            <a:spLocks xmlns:a="http://schemas.openxmlformats.org/drawingml/2006/main" noGrp="1"/>
          </p:cNvSpPr>
          <p:nvPr/>
        </p:nvSpPr>
        <p:spPr>
          <a:xfrm xmlns:a="http://schemas.openxmlformats.org/drawingml/2006/main">
            <a:off x="1714500" y="5476875"/>
            <a:ext cx="8763000" cy="552450"/>
          </a:xfrm>
          <a:prstGeom xmlns:a="http://schemas.openxmlformats.org/drawingml/2006/main" prst="roundRect">
            <a:avLst>
              <a:gd name="adj" fmla="val 13793"/>
            </a:avLst>
          </a:prstGeom>
          <a:solidFill xmlns:a="http://schemas.openxmlformats.org/drawingml/2006/main">
            <a:srgbClr val="2A4D82"/>
          </a:solidFill>
          <a:ln xmlns:a="http://schemas.openxmlformats.org/drawingml/2006/main" w="9525">
            <a:solidFill>
              <a:srgbClr val="5D7DA8"/>
            </a:solidFill>
            <a:prstDash val="solid"/>
          </a:ln>
        </p:spPr>
      </p:sp>
      <p:sp>
        <p:nvSpPr>
          <p:cNvPr id="16" name="">
            <a:extLst xmlns:a="http://schemas.openxmlformats.org/drawingml/2006/main">
              <a:ext uri="{FF2B5EF4-FFF2-40B4-BE49-F238E27FC236}">
                <a16:creationId xmlns:a16="http://schemas.microsoft.com/office/drawing/2014/main" id="{50229579-74D4-465D-A370-E1DB803F52A6}"/>
              </a:ext>
            </a:extLst>
          </p:cNvPr>
          <p:cNvSpPr>
            <a:spLocks xmlns:a="http://schemas.openxmlformats.org/drawingml/2006/main" noGrp="1"/>
          </p:cNvSpPr>
          <p:nvPr/>
        </p:nvSpPr>
        <p:spPr>
          <a:xfrm xmlns:a="http://schemas.openxmlformats.org/drawingml/2006/main">
            <a:off x="2000250" y="56388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1">
                <a:solidFill>
                  <a:srgbClr val="FFFFFF"/>
                </a:solidFill>
              </a:defRPr>
            </a:pPr>
            <a:r>
              <a:rPr sz="1350" b="0" i="1">
                <a:solidFill>
                  <a:srgbClr val="FFFFFF"/>
                </a:solidFill>
              </a:rPr>
              <a:t>Message final : SIRCH ne remplace pas l’agent de sécurité ; il lui donne un signal rapide, mesurable et vérifiable.</a:t>
            </a:r>
          </a:p>
        </p:txBody>
      </p:sp>
      <p:sp>
        <p:nvSpPr>
          <p:cNvPr id="17" name="">
            <a:extLst xmlns:a="http://schemas.openxmlformats.org/drawingml/2006/main">
              <a:ext uri="{FF2B5EF4-FFF2-40B4-BE49-F238E27FC236}">
                <a16:creationId xmlns:a16="http://schemas.microsoft.com/office/drawing/2014/main" id="{87A2F005-5CAC-4CAA-9698-7EC512AFE82D}"/>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D9E6F1"/>
                </a:solidFill>
              </a:defRPr>
            </a:pPr>
            <a:r>
              <a:rPr sz="675" b="0" i="0">
                <a:solidFill>
                  <a:srgbClr val="D9E6F1"/>
                </a:solidFill>
              </a:rPr>
              <a:t>Conclusion</a:t>
            </a:r>
          </a:p>
        </p:txBody>
      </p:sp>
      <p:sp>
        <p:nvSpPr>
          <p:cNvPr id="18" name="">
            <a:extLst xmlns:a="http://schemas.openxmlformats.org/drawingml/2006/main">
              <a:ext uri="{FF2B5EF4-FFF2-40B4-BE49-F238E27FC236}">
                <a16:creationId xmlns:a16="http://schemas.microsoft.com/office/drawing/2014/main" id="{FFF17E82-413E-4632-ADE5-1826F82D29BB}"/>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D9E6F1"/>
                </a:solidFill>
              </a:defRPr>
            </a:pPr>
            <a:r>
              <a:rPr sz="750" b="0" i="0">
                <a:solidFill>
                  <a:srgbClr val="D9E6F1"/>
                </a:solidFill>
              </a:rPr>
              <a:t>20 / 21</a:t>
            </a:r>
          </a:p>
        </p:txBody>
      </p:sp>
    </p:spTree>
    <p:extLst>
      <p:ext uri="{BB962C8B-B14F-4D97-AF65-F5344CB8AC3E}">
        <p14:creationId xmlns:p14="http://schemas.microsoft.com/office/powerpoint/2010/main" val="503272693"/>
      </p:ext>
    </p:extLst>
  </p:cSld>
</p:sld>
</file>

<file path=ppt/slides/slide21.xml><?xml version="1.0" encoding="utf-8"?>
<p:sld xmlns:p="http://schemas.openxmlformats.org/presentationml/2006/main">
  <p:cSld>
    <p:bg>
      <p:bgPr>
        <a:solidFill xmlns:a="http://schemas.openxmlformats.org/drawingml/2006/main">
          <a:srgbClr val="203F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E97D56-13A6-4222-8613-B1E4F38B3B42}"/>
              </a:ext>
            </a:extLst>
          </p:cNvPr>
          <p:cNvSpPr>
            <a:spLocks xmlns:a="http://schemas.openxmlformats.org/drawingml/2006/main" noGrp="1"/>
          </p:cNvSpPr>
          <p:nvPr/>
        </p:nvSpPr>
        <p:spPr>
          <a:xfrm xmlns:a="http://schemas.openxmlformats.org/drawingml/2006/main">
            <a:off x="0" y="2143125"/>
            <a:ext cx="1219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i="0">
                <a:solidFill>
                  <a:srgbClr val="FFFFFF"/>
                </a:solidFill>
              </a:defRPr>
            </a:pPr>
            <a:r>
              <a:rPr sz="3600" b="1" i="0">
                <a:solidFill>
                  <a:srgbClr val="FFFFFF"/>
                </a:solidFill>
              </a:rPr>
              <a:t>Merci pour votre attention</a:t>
            </a:r>
          </a:p>
        </p:txBody>
      </p:sp>
      <p:sp>
        <p:nvSpPr>
          <p:cNvPr id="2" name="">
            <a:extLst xmlns:a="http://schemas.openxmlformats.org/drawingml/2006/main">
              <a:ext uri="{FF2B5EF4-FFF2-40B4-BE49-F238E27FC236}">
                <a16:creationId xmlns:a16="http://schemas.microsoft.com/office/drawing/2014/main" id="{C62D8636-F15C-425F-9A6F-5784DD0E1856}"/>
              </a:ext>
            </a:extLst>
          </p:cNvPr>
          <p:cNvSpPr>
            <a:spLocks xmlns:a="http://schemas.openxmlformats.org/drawingml/2006/main" noGrp="1"/>
          </p:cNvSpPr>
          <p:nvPr/>
        </p:nvSpPr>
        <p:spPr>
          <a:xfrm xmlns:a="http://schemas.openxmlformats.org/drawingml/2006/main">
            <a:off x="4619625" y="3028950"/>
            <a:ext cx="2952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0689CD-301C-41D3-8BD2-DD58647499A0}"/>
              </a:ext>
            </a:extLst>
          </p:cNvPr>
          <p:cNvSpPr>
            <a:spLocks xmlns:a="http://schemas.openxmlformats.org/drawingml/2006/main" noGrp="1"/>
          </p:cNvSpPr>
          <p:nvPr/>
        </p:nvSpPr>
        <p:spPr>
          <a:xfrm xmlns:a="http://schemas.openxmlformats.org/drawingml/2006/main">
            <a:off x="0" y="3381375"/>
            <a:ext cx="1219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D9E6F1"/>
                </a:solidFill>
              </a:defRPr>
            </a:pPr>
            <a:r>
              <a:rPr sz="2100" b="1" i="0">
                <a:solidFill>
                  <a:srgbClr val="D9E6F1"/>
                </a:solidFill>
              </a:rPr>
              <a:t>SIRCH</a:t>
            </a:r>
          </a:p>
        </p:txBody>
      </p:sp>
      <p:sp>
        <p:nvSpPr>
          <p:cNvPr id="4" name="">
            <a:extLst xmlns:a="http://schemas.openxmlformats.org/drawingml/2006/main">
              <a:ext uri="{FF2B5EF4-FFF2-40B4-BE49-F238E27FC236}">
                <a16:creationId xmlns:a16="http://schemas.microsoft.com/office/drawing/2014/main" id="{DA93ECB9-0E06-4D3E-A24F-31823F4D7C0D}"/>
              </a:ext>
            </a:extLst>
          </p:cNvPr>
          <p:cNvSpPr>
            <a:spLocks xmlns:a="http://schemas.openxmlformats.org/drawingml/2006/main" noGrp="1"/>
          </p:cNvSpPr>
          <p:nvPr/>
        </p:nvSpPr>
        <p:spPr>
          <a:xfrm xmlns:a="http://schemas.openxmlformats.org/drawingml/2006/main">
            <a:off x="0" y="3857625"/>
            <a:ext cx="1219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0">
                <a:solidFill>
                  <a:srgbClr val="D9E6F1"/>
                </a:solidFill>
              </a:defRPr>
            </a:pPr>
            <a:r>
              <a:rPr sz="1500" b="0" i="0">
                <a:solidFill>
                  <a:srgbClr val="D9E6F1"/>
                </a:solidFill>
              </a:rPr>
              <a:t>Système intelligent de reconnaissance de comportements humains</a:t>
            </a:r>
          </a:p>
        </p:txBody>
      </p:sp>
      <p:sp>
        <p:nvSpPr>
          <p:cNvPr id="5" name="">
            <a:extLst xmlns:a="http://schemas.openxmlformats.org/drawingml/2006/main">
              <a:ext uri="{FF2B5EF4-FFF2-40B4-BE49-F238E27FC236}">
                <a16:creationId xmlns:a16="http://schemas.microsoft.com/office/drawing/2014/main" id="{827F9691-D52C-4000-A9D0-E0EE817C0831}"/>
              </a:ext>
            </a:extLst>
          </p:cNvPr>
          <p:cNvSpPr>
            <a:spLocks xmlns:a="http://schemas.openxmlformats.org/drawingml/2006/main" noGrp="1"/>
          </p:cNvSpPr>
          <p:nvPr/>
        </p:nvSpPr>
        <p:spPr>
          <a:xfrm xmlns:a="http://schemas.openxmlformats.org/drawingml/2006/main">
            <a:off x="0" y="4572000"/>
            <a:ext cx="1219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Questions et démonstration</a:t>
            </a:r>
          </a:p>
        </p:txBody>
      </p:sp>
      <p:sp>
        <p:nvSpPr>
          <p:cNvPr id="6" name="">
            <a:extLst xmlns:a="http://schemas.openxmlformats.org/drawingml/2006/main">
              <a:ext uri="{FF2B5EF4-FFF2-40B4-BE49-F238E27FC236}">
                <a16:creationId xmlns:a16="http://schemas.microsoft.com/office/drawing/2014/main" id="{42074358-B8A9-4D61-8784-D87D227675F6}"/>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D9E6F1"/>
                </a:solidFill>
              </a:defRPr>
            </a:pPr>
            <a:r>
              <a:rPr sz="675" b="0" i="0">
                <a:solidFill>
                  <a:srgbClr val="D9E6F1"/>
                </a:solidFill>
              </a:rPr>
              <a:t>Remerciements</a:t>
            </a:r>
          </a:p>
        </p:txBody>
      </p:sp>
      <p:sp>
        <p:nvSpPr>
          <p:cNvPr id="7" name="">
            <a:extLst xmlns:a="http://schemas.openxmlformats.org/drawingml/2006/main">
              <a:ext uri="{FF2B5EF4-FFF2-40B4-BE49-F238E27FC236}">
                <a16:creationId xmlns:a16="http://schemas.microsoft.com/office/drawing/2014/main" id="{4EDA60AD-FC33-45A4-9A4D-561BDE1392C2}"/>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D9E6F1"/>
                </a:solidFill>
              </a:defRPr>
            </a:pPr>
            <a:r>
              <a:rPr sz="750" b="0" i="0">
                <a:solidFill>
                  <a:srgbClr val="D9E6F1"/>
                </a:solidFill>
              </a:rPr>
              <a:t>21 / 21</a:t>
            </a:r>
          </a:p>
        </p:txBody>
      </p:sp>
    </p:spTree>
    <p:extLst>
      <p:ext uri="{BB962C8B-B14F-4D97-AF65-F5344CB8AC3E}">
        <p14:creationId xmlns:p14="http://schemas.microsoft.com/office/powerpoint/2010/main" val="1345422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2026-07-08T14:40:06.7270000Z</dcterms:created>
  <dcterms:modified xsi:type="dcterms:W3CDTF">2026-07-08T14:40:06.7270000Z</dcterms:modified>
</coreProperties>
</file>