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dee68cfd8a4585" /><Relationship Type="http://schemas.openxmlformats.org/officeDocument/2006/relationships/extended-properties" Target="/docProps/app.xml" Id="Rda81555bba8a45cc" /><Relationship Type="http://schemas.openxmlformats.org/officeDocument/2006/relationships/officeDocument" Target="/ppt/presentation.xml" Id="R7f8c3f38a14940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777bd181ee4a7c"/>
  </p:sldMasterIdLst>
  <p:notesMasterIdLst>
    <p:notesMasterId xmlns:r="http://schemas.openxmlformats.org/officeDocument/2006/relationships" r:id="Rcd0885211bc445e9"/>
  </p:notesMasterIdLst>
  <p:sldIdLst>
    <p:sldId xmlns:r="http://schemas.openxmlformats.org/officeDocument/2006/relationships" id="256" r:id="Rf7c43fd1a2e6470c"/>
    <p:sldId xmlns:r="http://schemas.openxmlformats.org/officeDocument/2006/relationships" id="257" r:id="R0631d29352b2460d"/>
    <p:sldId xmlns:r="http://schemas.openxmlformats.org/officeDocument/2006/relationships" id="258" r:id="R6201b5a97a904c9f"/>
    <p:sldId xmlns:r="http://schemas.openxmlformats.org/officeDocument/2006/relationships" id="259" r:id="R9bd95932e1164d40"/>
    <p:sldId xmlns:r="http://schemas.openxmlformats.org/officeDocument/2006/relationships" id="260" r:id="Re5e50b7b7d974ea1"/>
    <p:sldId xmlns:r="http://schemas.openxmlformats.org/officeDocument/2006/relationships" id="261" r:id="Re895ba248be14445"/>
    <p:sldId xmlns:r="http://schemas.openxmlformats.org/officeDocument/2006/relationships" id="262" r:id="R708eceeed8584394"/>
    <p:sldId xmlns:r="http://schemas.openxmlformats.org/officeDocument/2006/relationships" id="263" r:id="R7c1ffe75c9c54a35"/>
    <p:sldId xmlns:r="http://schemas.openxmlformats.org/officeDocument/2006/relationships" id="264" r:id="R799211b3efa14805"/>
    <p:sldId xmlns:r="http://schemas.openxmlformats.org/officeDocument/2006/relationships" id="265" r:id="Rc5f49e007ea14684"/>
    <p:sldId xmlns:r="http://schemas.openxmlformats.org/officeDocument/2006/relationships" id="266" r:id="R493b1d9ec22e490e"/>
    <p:sldId xmlns:r="http://schemas.openxmlformats.org/officeDocument/2006/relationships" id="267" r:id="R999355d74c104d1e"/>
    <p:sldId xmlns:r="http://schemas.openxmlformats.org/officeDocument/2006/relationships" id="268" r:id="R1476779051594220"/>
    <p:sldId xmlns:r="http://schemas.openxmlformats.org/officeDocument/2006/relationships" id="269" r:id="Ra03f5b49176e463e"/>
    <p:sldId xmlns:r="http://schemas.openxmlformats.org/officeDocument/2006/relationships" id="270" r:id="R272f0ea16b6f4b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c7b8d544b94445" /><Relationship Type="http://schemas.openxmlformats.org/officeDocument/2006/relationships/slideMaster" Target="/ppt/slideMasters/slideMaster1.xml" Id="Rbf777bd181ee4a7c" /><Relationship Type="http://schemas.openxmlformats.org/officeDocument/2006/relationships/notesMaster" Target="/ppt/notesMasters/notesMaster1.xml" Id="Rcd0885211bc445e9" /><Relationship Type="http://schemas.openxmlformats.org/officeDocument/2006/relationships/presProps" Target="/ppt/presProps.xml" Id="R8948f37361364c3e" /><Relationship Type="http://schemas.openxmlformats.org/officeDocument/2006/relationships/tableStyles" Target="/ppt/tableStyles.xml" Id="Rc06e5f769ba0489a" /><Relationship Type="http://schemas.openxmlformats.org/officeDocument/2006/relationships/slide" Target="/ppt/slides/slide1.xml" Id="Rf7c43fd1a2e6470c" /><Relationship Type="http://schemas.openxmlformats.org/officeDocument/2006/relationships/slide" Target="/ppt/slides/slide2.xml" Id="R0631d29352b2460d" /><Relationship Type="http://schemas.openxmlformats.org/officeDocument/2006/relationships/slide" Target="/ppt/slides/slide3.xml" Id="R6201b5a97a904c9f" /><Relationship Type="http://schemas.openxmlformats.org/officeDocument/2006/relationships/slide" Target="/ppt/slides/slide4.xml" Id="R9bd95932e1164d40" /><Relationship Type="http://schemas.openxmlformats.org/officeDocument/2006/relationships/slide" Target="/ppt/slides/slide5.xml" Id="Re5e50b7b7d974ea1" /><Relationship Type="http://schemas.openxmlformats.org/officeDocument/2006/relationships/slide" Target="/ppt/slides/slide6.xml" Id="Re895ba248be14445" /><Relationship Type="http://schemas.openxmlformats.org/officeDocument/2006/relationships/slide" Target="/ppt/slides/slide7.xml" Id="R708eceeed8584394" /><Relationship Type="http://schemas.openxmlformats.org/officeDocument/2006/relationships/slide" Target="/ppt/slides/slide8.xml" Id="R7c1ffe75c9c54a35" /><Relationship Type="http://schemas.openxmlformats.org/officeDocument/2006/relationships/slide" Target="/ppt/slides/slide9.xml" Id="R799211b3efa14805" /><Relationship Type="http://schemas.openxmlformats.org/officeDocument/2006/relationships/slide" Target="/ppt/slides/slide10.xml" Id="Rc5f49e007ea14684" /><Relationship Type="http://schemas.openxmlformats.org/officeDocument/2006/relationships/slide" Target="/ppt/slides/slide11.xml" Id="R493b1d9ec22e490e" /><Relationship Type="http://schemas.openxmlformats.org/officeDocument/2006/relationships/slide" Target="/ppt/slides/slide12.xml" Id="R999355d74c104d1e" /><Relationship Type="http://schemas.openxmlformats.org/officeDocument/2006/relationships/slide" Target="/ppt/slides/slide13.xml" Id="R1476779051594220" /><Relationship Type="http://schemas.openxmlformats.org/officeDocument/2006/relationships/slide" Target="/ppt/slides/slide14.xml" Id="Ra03f5b49176e463e" /><Relationship Type="http://schemas.openxmlformats.org/officeDocument/2006/relationships/slide" Target="/ppt/slides/slide15.xml" Id="R272f0ea16b6f4b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01b50fa1b04a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2dbabe90024279" /><Relationship Type="http://schemas.openxmlformats.org/officeDocument/2006/relationships/notesMaster" Target="/ppt/notesMasters/notesMaster1.xml" Id="R770d175cf2524a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d26b9291d64a37" /><Relationship Type="http://schemas.openxmlformats.org/officeDocument/2006/relationships/notesMaster" Target="/ppt/notesMasters/notesMaster1.xml" Id="R2925d0c7419847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3a3eec846c4835" /><Relationship Type="http://schemas.openxmlformats.org/officeDocument/2006/relationships/notesMaster" Target="/ppt/notesMasters/notesMaster1.xml" Id="R04586ed8fd1648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c26855127a49ca" /><Relationship Type="http://schemas.openxmlformats.org/officeDocument/2006/relationships/notesMaster" Target="/ppt/notesMasters/notesMaster1.xml" Id="R88dc7c33d39144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4be9e365b74f0f" /><Relationship Type="http://schemas.openxmlformats.org/officeDocument/2006/relationships/notesMaster" Target="/ppt/notesMasters/notesMaster1.xml" Id="R32086614adad46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f3ffc85e854821" /><Relationship Type="http://schemas.openxmlformats.org/officeDocument/2006/relationships/notesMaster" Target="/ppt/notesMasters/notesMaster1.xml" Id="R4938eaa24daf4c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601558c32547b6" /><Relationship Type="http://schemas.openxmlformats.org/officeDocument/2006/relationships/notesMaster" Target="/ppt/notesMasters/notesMaster1.xml" Id="R618cd95e0cde40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7f677dfbac4b0a" /><Relationship Type="http://schemas.openxmlformats.org/officeDocument/2006/relationships/notesMaster" Target="/ppt/notesMasters/notesMaster1.xml" Id="Re66e10834ec242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dbde408c754dcc" /><Relationship Type="http://schemas.openxmlformats.org/officeDocument/2006/relationships/notesMaster" Target="/ppt/notesMasters/notesMaster1.xml" Id="Rcfb3aed40ba54f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1d9cd711984829" /><Relationship Type="http://schemas.openxmlformats.org/officeDocument/2006/relationships/notesMaster" Target="/ppt/notesMasters/notesMaster1.xml" Id="Raf4a63fda50943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bd80b9e968414c" /><Relationship Type="http://schemas.openxmlformats.org/officeDocument/2006/relationships/notesMaster" Target="/ppt/notesMasters/notesMaster1.xml" Id="R5f06b521c2d44f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28f5cbf6a54c8e" /><Relationship Type="http://schemas.openxmlformats.org/officeDocument/2006/relationships/notesMaster" Target="/ppt/notesMasters/notesMaster1.xml" Id="R25baec18848248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335d0934ef4711" /><Relationship Type="http://schemas.openxmlformats.org/officeDocument/2006/relationships/notesMaster" Target="/ppt/notesMasters/notesMaster1.xml" Id="R52495ba657db4d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7bca5d799c498c" /><Relationship Type="http://schemas.openxmlformats.org/officeDocument/2006/relationships/notesMaster" Target="/ppt/notesMasters/notesMaster1.xml" Id="R49ebbd3c06ba40a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12d75e7f6b45cb" /><Relationship Type="http://schemas.openxmlformats.org/officeDocument/2006/relationships/notesMaster" Target="/ppt/notesMasters/notesMaster1.xml" Id="R7e2e2667522249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56ed90da045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610e5d07e946dc" /><Relationship Type="http://schemas.openxmlformats.org/officeDocument/2006/relationships/slideLayout" Target="/ppt/slideLayouts/slideLayout1.xml" Id="R1a43a9a840e440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43a9a840e440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5a00fe51840b4" /><Relationship Type="http://schemas.openxmlformats.org/officeDocument/2006/relationships/notesSlide" Target="/ppt/notesSlides/notesSlide1.xml" Id="R34e126bc216e41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4198ae75948f3" /><Relationship Type="http://schemas.openxmlformats.org/officeDocument/2006/relationships/notesSlide" Target="/ppt/notesSlides/notesSlide2.xml" Id="R6db8a7438e4f41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94f349ef74a53" /><Relationship Type="http://schemas.openxmlformats.org/officeDocument/2006/relationships/image" Target="/ppt/media/image.jpeg" Id="Rb9e4a33661ec49a4" /><Relationship Type="http://schemas.openxmlformats.org/officeDocument/2006/relationships/notesSlide" Target="/ppt/notesSlides/notesSlide3.xml" Id="R4f7c3c4f20024d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2cb7169244d68" /><Relationship Type="http://schemas.openxmlformats.org/officeDocument/2006/relationships/notesSlide" Target="/ppt/notesSlides/notesSlide4.xml" Id="R0c15b6d4c7c34b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189e4c160456b" /><Relationship Type="http://schemas.openxmlformats.org/officeDocument/2006/relationships/image" Target="/ppt/media/image.png" Id="R51f0981599b04a88" /><Relationship Type="http://schemas.openxmlformats.org/officeDocument/2006/relationships/notesSlide" Target="/ppt/notesSlides/notesSlide5.xml" Id="R0f3add93f3b442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5374259bc44ea" /><Relationship Type="http://schemas.openxmlformats.org/officeDocument/2006/relationships/notesSlide" Target="/ppt/notesSlides/notesSlide6.xml" Id="Re260b04a07cf42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3c3eef6e4460e" /><Relationship Type="http://schemas.openxmlformats.org/officeDocument/2006/relationships/image" Target="/ppt/media/image2.png" Id="Ra033f27d2c2f4340" /><Relationship Type="http://schemas.openxmlformats.org/officeDocument/2006/relationships/notesSlide" Target="/ppt/notesSlides/notesSlide7.xml" Id="Rbe7f2ffd603d49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6b071a9ec4c70" /><Relationship Type="http://schemas.openxmlformats.org/officeDocument/2006/relationships/notesSlide" Target="/ppt/notesSlides/notesSlide8.xml" Id="Rd9eb8b2464cb4c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7f9a710404a43" /><Relationship Type="http://schemas.openxmlformats.org/officeDocument/2006/relationships/image" Target="/ppt/media/image3.png" Id="R717215f51183478a" /><Relationship Type="http://schemas.openxmlformats.org/officeDocument/2006/relationships/notesSlide" Target="/ppt/notesSlides/notesSlide9.xml" Id="Rc2a1deaf92de48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ff7140ff2447b" /><Relationship Type="http://schemas.openxmlformats.org/officeDocument/2006/relationships/image" Target="/ppt/media/image4.png" Id="R3e4f24aa24f4471a" /><Relationship Type="http://schemas.openxmlformats.org/officeDocument/2006/relationships/notesSlide" Target="/ppt/notesSlides/notesSlide10.xml" Id="R6b291514697048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b4312ae2d4efa" /><Relationship Type="http://schemas.openxmlformats.org/officeDocument/2006/relationships/image" Target="/ppt/media/image5.png" Id="Rca82e7aabdfe4b71" /><Relationship Type="http://schemas.openxmlformats.org/officeDocument/2006/relationships/image" Target="/ppt/media/image6.png" Id="R3cc850be55c1443f" /><Relationship Type="http://schemas.openxmlformats.org/officeDocument/2006/relationships/image" Target="/ppt/media/image7.png" Id="Rb085c28663aa4df7" /><Relationship Type="http://schemas.openxmlformats.org/officeDocument/2006/relationships/notesSlide" Target="/ppt/notesSlides/notesSlide11.xml" Id="Rdc4e0b5d0de04b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2d326b63c44e4" /><Relationship Type="http://schemas.openxmlformats.org/officeDocument/2006/relationships/image" Target="/ppt/media/image8.png" Id="R73a7e71a36c14e2b" /><Relationship Type="http://schemas.openxmlformats.org/officeDocument/2006/relationships/image" Target="/ppt/media/image9.png" Id="R5c6accd3717d4b5b" /><Relationship Type="http://schemas.openxmlformats.org/officeDocument/2006/relationships/notesSlide" Target="/ppt/notesSlides/notesSlide12.xml" Id="R550d7c2e444346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89b69085d49da" /><Relationship Type="http://schemas.openxmlformats.org/officeDocument/2006/relationships/image" Target="/ppt/media/image10.png" Id="Re1adb6cdb53c4093" /><Relationship Type="http://schemas.openxmlformats.org/officeDocument/2006/relationships/notesSlide" Target="/ppt/notesSlides/notesSlide13.xml" Id="R0a1f24e3e65c48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39eb043d245a4" /><Relationship Type="http://schemas.openxmlformats.org/officeDocument/2006/relationships/notesSlide" Target="/ppt/notesSlides/notesSlide14.xml" Id="R778e272eeac94f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404217b804978" /><Relationship Type="http://schemas.openxmlformats.org/officeDocument/2006/relationships/notesSlide" Target="/ppt/notesSlides/notesSlide15.xml" Id="R1c662dedc72143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F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953F69-73D0-44A9-85C6-7CE464E7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SIRCH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DFDD2-7D90-4EE5-BFA7-953EF3BA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38375"/>
            <a:ext cx="1219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Système Intelligent de Reconnaissance de Comportements Humains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60E83-0094-4864-AD8C-0FDC1AF5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D3FD0-9D23-4DC1-82DB-B50DA713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956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Application à la détection de violence en temps réel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CEBB0-3A2C-442B-A38D-4FC0E493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647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A4D82"/>
          </a:solidFill>
          <a:ln xmlns:a="http://schemas.openxmlformats.org/drawingml/2006/main" w="9525">
            <a:solidFill>
              <a:srgbClr val="5D7D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C0EBC-2318-4779-ADD5-CF3CEB5E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594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Alipade Benzanza Tracy</a:t>
            </a:r>
          </a:p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Université Nouveaux Horizons, Faculté des Sciences Informatiques</a:t>
            </a:r>
          </a:p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Directeur : Prof. Antoine Bagula    Codirecteur : Assistant Landry Mbale</a:t>
            </a:r>
          </a:p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Année académique 2025 à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8C971-82A2-485B-8922-26BE9F88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D9E6F1"/>
                </a:solidFill>
              </a:defRPr>
            </a:pPr>
            <a:r>
              <a:rPr sz="675" b="0" i="0">
                <a:solidFill>
                  <a:srgbClr val="D9E6F1"/>
                </a:solidFill>
              </a:rPr>
              <a:t>Titre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87AF6-BB72-4216-98AC-DDC2DC86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D9E6F1"/>
                </a:solidFill>
              </a:defRPr>
            </a:pPr>
            <a:r>
              <a:rPr sz="750" b="0" i="0">
                <a:solidFill>
                  <a:srgbClr val="D9E6F1"/>
                </a:solidFill>
              </a:rPr>
              <a:t>1 / 13</a:t>
            </a:r>
          </a:p>
        </p:txBody>
      </p:sp>
    </p:spTree>
    <p:extLst>
      <p:ext uri="{BB962C8B-B14F-4D97-AF65-F5344CB8AC3E}">
        <p14:creationId xmlns:p14="http://schemas.microsoft.com/office/powerpoint/2010/main" val="722492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EFE0CC-3849-42A1-A21E-791ECEFD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Plan de la présentation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322DC-A22C-4503-BA8A-B3E9B566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4C0A5-BC72-497F-BBED-A84EF7D2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Une progression courte : du problème scientifique à la validation du système.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89DFF-9F6E-467C-A753-D5511B7A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44867-14D6-440B-85C7-1BE17748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716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F2269-C4AB-40BB-BED1-E77A9CC6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47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37569-63E9-429D-8CB0-244D5012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526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Contexte et problème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42E57-3788-4A8B-A505-4BBA5D80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3837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6B82"/>
                </a:solidFill>
              </a:defRPr>
            </a:pPr>
            <a:r>
              <a:rPr sz="1050" b="0" i="0">
                <a:solidFill>
                  <a:srgbClr val="5A6B82"/>
                </a:solidFill>
              </a:rPr>
              <a:t>Pourquoi automatiser la surveillance vidéo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FAD3A-A27F-43DE-A5C9-B085A472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476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A543A-F692-470A-9A4C-545A5A41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716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FA4AE-B4B5-448F-B3DD-63E03726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1A6EC-A695-4031-AEF7-65440F8D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526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Objectifs et hypothèse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98C17-D9F7-475A-AD53-56BDB87D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3837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6B82"/>
                </a:solidFill>
              </a:defRPr>
            </a:pPr>
            <a:r>
              <a:rPr sz="1050" b="0" i="0">
                <a:solidFill>
                  <a:srgbClr val="5A6B82"/>
                </a:solidFill>
              </a:rPr>
              <a:t>Ce que SIRCH cherche à démontrer.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8C439-86DB-4202-80B1-EF4059B4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476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BDFD8-2B86-4F69-BEEF-FCD19569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992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5C5ED-EF79-40C9-AFBB-1BA802F0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CFA75-FB85-429F-A80A-887CF8F8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90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Méthode et outils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FAD6E-E9B4-4E9E-8079-024D73B2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7662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6B82"/>
                </a:solidFill>
              </a:defRPr>
            </a:pPr>
            <a:r>
              <a:rPr sz="1050" b="0" i="0">
                <a:solidFill>
                  <a:srgbClr val="5A6B82"/>
                </a:solidFill>
              </a:rPr>
              <a:t>Données, modèle, pipeline et technologies.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734A5-A404-4E9A-8EAA-1808ECD0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4476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C711D-8D6D-4203-B297-F20A8C9E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992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D21F16-01D7-4D3B-98C8-A61660EE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EFE60C-7B0D-4A6A-8CBA-5CA7DF01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90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Implémentation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1FCE50-F7FF-435D-8854-D4BCCAF4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7662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6B82"/>
                </a:solidFill>
              </a:defRPr>
            </a:pPr>
            <a:r>
              <a:rPr sz="1050" b="0" i="0">
                <a:solidFill>
                  <a:srgbClr val="5A6B82"/>
                </a:solidFill>
              </a:rPr>
              <a:t>Comment les sept modules fonctionnent ensemble.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16555-7957-4E8C-8105-AEAA0211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476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09503-B8F2-4F10-B655-7071E6E4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41BC4F-CC76-40D7-BDFF-199077BC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24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233216-CC17-4B32-9FD9-CB858F77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29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Résultats et discussion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42E450-9FC4-4EE4-859D-DCEF3D82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1487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6B82"/>
                </a:solidFill>
              </a:defRPr>
            </a:pPr>
            <a:r>
              <a:rPr sz="1050" b="0" i="0">
                <a:solidFill>
                  <a:srgbClr val="5A6B82"/>
                </a:solidFill>
              </a:rPr>
              <a:t>Ce que les métriques disent vraiment sur SIRCH.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0A0702-9E51-407F-953F-36381812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4476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F70DB2-FA7C-490F-BDC9-F038E27A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481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09EAFB-6B17-4821-BBF0-AA940E1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24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12DE96-F7A8-4BFA-823C-1BCA1431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29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Limites et perspectives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554B55-BDBF-4DDE-88E9-FBDAB38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1487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6B82"/>
                </a:solidFill>
              </a:defRPr>
            </a:pPr>
            <a:r>
              <a:rPr sz="1050" b="0" i="0">
                <a:solidFill>
                  <a:srgbClr val="5A6B82"/>
                </a:solidFill>
              </a:rPr>
              <a:t>Ce que le système maîtrise et ce qui reste à améliorer.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111B12-776A-4405-96D5-FE71EE2F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Plan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61188F-E48A-4D4A-AA49-63084969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123898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FA45A4-026B-42F1-8E11-46005DFC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La surveillance vidéo produit trop d’images pour l’œil humain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1A032-402E-4CB9-91E8-F3D2A11D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94B34-6256-4883-9D2E-2611C93F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Le besoin n’est pas seulement de classifier une vidéo, mais d’aider une réaction rapide.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4a33661ec49a4"/>
          <a:srcRect xmlns:a="http://schemas.openxmlformats.org/drawingml/2006/main" l="16816" t="0" r="168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66875"/>
            <a:ext cx="4000500" cy="2476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98EB4-D6CD-4FCD-ABB5-C253D64C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66875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14E9A-DC87-4E87-A4DB-74154FD3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6687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27CB7-A2B5-4266-A97B-000A1F4C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8954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Contexte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56191-178D-482A-B19C-C3A5C3B2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276475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Les caméras se multiplient, mais l’attention humaine reste limitée et se fatigue vite.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2088B-3885-41D9-8445-C825699C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A2FB9-04A4-453D-94DA-AF0B342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D5E32-77FD-4CC1-A1E9-6E01944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954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3F6E"/>
                </a:solidFill>
              </a:defRPr>
            </a:pPr>
            <a:r>
              <a:rPr sz="1350" b="1" i="0">
                <a:solidFill>
                  <a:srgbClr val="203F6E"/>
                </a:solidFill>
              </a:rPr>
              <a:t>Problème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40338-F1D3-446A-94A0-AE6658BD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Les approches existantes confondent souvent violence et activité physique intense.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AA86A-9433-4C14-AE86-A4EDAD97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71875"/>
            <a:ext cx="5762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F3BF7-2E33-440C-82A6-50E58A56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718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C318C-7C55-492C-9BE0-3A521A01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800475"/>
            <a:ext cx="538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5C12"/>
                </a:solidFill>
              </a:defRPr>
            </a:pPr>
            <a:r>
              <a:rPr sz="1350" b="1" i="0">
                <a:solidFill>
                  <a:srgbClr val="C95C12"/>
                </a:solidFill>
              </a:rPr>
              <a:t>Question de recherche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A8C9C-79C1-4702-A4EC-43D6EA3D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181475"/>
            <a:ext cx="5343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Comment reconnaître automatiquement des comportements violents en temps réel, avec de meilleures performances que les approches actuelles, tout en restant déployable sur un ordinateur ordinaire 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B386C-09A7-4059-B3EA-E1A2285E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340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C8B53"/>
                </a:solidFill>
              </a:defRPr>
            </a:pPr>
            <a:r>
              <a:rPr sz="1425" b="1" i="0">
                <a:solidFill>
                  <a:srgbClr val="1C8B53"/>
                </a:solidFill>
              </a:rPr>
              <a:t>Ce que SIRCH cherche à combler : un système complet, local, mesuré sur des données variées et testé aussi sur des scènes sportives ou dansées.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834BA-B3C0-4EBE-9CF2-93BC5F32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Contexte et problématique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B39D9-E734-49B3-8106-860E6DD7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1973619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AD3C18-2F10-42C2-AE90-72E903B7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SIRCH vise un système complet, pas seulement un bon modèle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B1D95-ED47-4446-8767-D66D2630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369E0-4F49-45EA-8F43-0CA6CE91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Les objectifs couvrent la littérature, le modèle, l’évaluation et le déploiement.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89944-2C0F-4636-AE2C-27BFF55D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49F7F-88FA-4A13-A287-54768A09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7C5B0-3C9B-4F4F-A26A-50E9B7DC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954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Objectif général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A4E1C-240F-4B88-8DB2-F278911F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Concevoir et évaluer un système intelligent capable de détecter automatiquement la violence dans une vidéo, en temps réel, sur matériel ordinaire.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2F69C-E01B-4637-A06C-20054950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EFA48-9334-4D57-B1F6-7C5CC23B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49C4B-1DBE-4DBF-8AC6-3C298875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954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3F6E"/>
                </a:solidFill>
              </a:defRPr>
            </a:pPr>
            <a:r>
              <a:rPr sz="1350" b="1" i="0">
                <a:solidFill>
                  <a:srgbClr val="203F6E"/>
                </a:solidFill>
              </a:rPr>
              <a:t>Hypothèse de travail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E6FB4-0DAB-4759-8282-56F5DF2E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7647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Une architecture EfficientNetB0 + LSTM entraînée sur RLVS + RWF-2000 peut reconnaître la violence avec un bon compromis entre performance, rapidité et déployabilité.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F45BD-E66C-4756-B012-9F181ACA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794DB-3BA9-4DCC-B507-E8486ACB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8B53"/>
                </a:solidFill>
              </a:defRPr>
            </a:pPr>
            <a:r>
              <a:rPr sz="1500" b="1" i="0">
                <a:solidFill>
                  <a:srgbClr val="1C8B53"/>
                </a:solidFill>
              </a:rPr>
              <a:t>O1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8C07E-E82C-4583-8630-C5C91298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Analyser les travaux existants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997EE-0E19-4FB1-BCCC-9796DAC7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10527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F6B1C-486D-4E4B-814E-61CCED78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195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C19EB-F702-41F0-B8BF-D689CDDD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790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8B53"/>
                </a:solidFill>
              </a:defRPr>
            </a:pPr>
            <a:r>
              <a:rPr sz="1500" b="1" i="0">
                <a:solidFill>
                  <a:srgbClr val="1C8B53"/>
                </a:solidFill>
              </a:rPr>
              <a:t>O2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5D23C-E310-47F5-8E57-F37CA267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957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Choisir et justifier l’architecture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619C2-8EF7-4CA4-AAD1-C998473A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0527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40138-EE97-49DC-A51C-C0A697F5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195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BE400-91E3-44A8-A8C9-C350BEFA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90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8B53"/>
                </a:solidFill>
              </a:defRPr>
            </a:pPr>
            <a:r>
              <a:rPr sz="1500" b="1" i="0">
                <a:solidFill>
                  <a:srgbClr val="1C8B53"/>
                </a:solidFill>
              </a:rPr>
              <a:t>O3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A9E1F-7889-47B6-B79A-76FEA738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957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Entraîner et évaluer le modèle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27DF0-DDE6-4ACE-A533-396B57DB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10527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EBEB6-1FCE-4D53-B554-BBDC5B6A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6195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DCF60-61A0-4372-B8B4-ED7F8346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90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8B53"/>
                </a:solidFill>
              </a:defRPr>
            </a:pPr>
            <a:r>
              <a:rPr sz="1500" b="1" i="0">
                <a:solidFill>
                  <a:srgbClr val="1C8B53"/>
                </a:solidFill>
              </a:rPr>
              <a:t>O4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A7234-9F82-49FC-8158-EB4E8866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957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Intégrer capture, décision, alertes et 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94050-3F7C-418E-A3C4-6E6AE436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0527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93A886-8673-4CA7-9C49-CF26A403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195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C56512-8D6C-4CFF-BAE8-45113FB9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90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8B53"/>
                </a:solidFill>
              </a:defRPr>
            </a:pPr>
            <a:r>
              <a:rPr sz="1500" b="1" i="0">
                <a:solidFill>
                  <a:srgbClr val="1C8B53"/>
                </a:solidFill>
              </a:rPr>
              <a:t>O5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84C36-89B8-4030-A469-2A63555D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957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Tester les limites : sport, danse et généralisation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A22982-F298-4034-8318-85338B3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Lecture attendue par le jury : le travail n’évalue pas seulement un score, il vérifie si la solution peut devenir un outil utilisable.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C8AC48-740A-407A-BED4-2BABD323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Objectifs et hypothèse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BEC4F6-4F64-4A07-AC93-EE516385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8590296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0332C4-4B13-402E-8241-91DFE4FA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La littérature progresse, mais laisse trois angles morts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9BFCB-1C51-4610-B31E-E8E699EE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CCFFE-25DE-49A4-8286-D2BE1E1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SIRCH part des approches existantes et ajoute l’évaluation des biais et le déploiement.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D0B64-AF23-4852-B9F5-A78B775D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21470-AFD4-400A-9BB8-B41338B2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Approche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5627E-26F6-4F8E-BCC4-F8E8F81A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DEC7B-3D15-49F6-87A9-6F65A35A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621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Force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5A15F-E9E4-4E26-BACE-72884582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A4358-3AB9-4D49-BEE9-0C999379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621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Limite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3F316-04BF-4BF3-8170-501A3CED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8C191-59D9-46CD-A317-89581081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Optical flow classique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65E00-56CF-40C1-A015-C23F8E25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764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9C279-DD2A-4470-BAFB-7336158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717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Rapide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D5228-9CA0-46EA-AEA6-EBB35CBC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7647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34FF1-84F0-406A-8F60-321A6E8D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717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Peu précis sur scènes complexes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0FC7E-FB5A-47AC-A223-92A3938C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C76DA-A378-4D45-893D-F82332E8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CNN 3D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6B996-37E6-4AF8-84DD-8078FD1F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860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2F16E-966A-441F-91EF-EC937FAF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813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Très précis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8CA4F-25DA-414D-8C0B-C3D2D8C2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8607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D9C53-6005-45D4-98F8-A8EBBB6A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813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Trop lourd pour un PC ordinaire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E316E-B0A0-4013-AA53-C01E8833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219FC5-3A79-4481-9A36-A114181B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CNN + LSTM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8707E-B021-4101-A391-94F3B816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1B657E-812B-4128-B017-7A435285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909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Léger et temporel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50551D-978B-4181-9A02-E9056587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9567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3F20FD-B212-4C2E-B09E-ADCADF8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909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Souvent évalué sur un seul dataset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0981599b04a88"/>
          <a:stretch xmlns:a="http://schemas.openxmlformats.org/drawingml/2006/main"/>
        </p:blipFill>
        <p:spPr>
          <a:xfrm xmlns:a="http://schemas.openxmlformats.org/drawingml/2006/main">
            <a:off x="9001125" y="2378534"/>
            <a:ext cx="2000250" cy="957932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623F59-D5D4-4A17-B0B3-391DC4B3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0B4AD3-34C3-4CB8-A257-748815BA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Apport de SIRCH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5B26EC-084F-463C-B873-92325E48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720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Combiner deux datasets, analyser les faux positifs sport/danse et livrer une chaîne complète avec alertes et tableau de bord.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8C1ED-12C9-4FD7-995D-B2133127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Interprétation : le modèle n’est pas jugé uniquement sur sa précision, mais aussi sur son comportement hors laboratoire.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6F188B-797C-469C-9B61-A8A17243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Revue de la littérature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66D099-ACA4-48ED-ACEC-6E303D85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13724792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C673B6-FB52-4C65-8182-6C0638EB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La méthode suit une chaîne scientifique reproductible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00ACE-E123-4204-A34A-33262F4A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2ED41-086F-4D2B-A6E9-25CE2033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Chaque étape répond à une question : quoi apprendre, comment décider, puis comment vérifier.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9B91F-F94C-46CF-91F0-056F6796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15688-0974-4965-AEFD-6ECE936F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C8B53"/>
                </a:solidFill>
              </a:defRPr>
            </a:pPr>
            <a:r>
              <a:rPr sz="1800" b="1" i="0">
                <a:solidFill>
                  <a:srgbClr val="1C8B53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C9880-3FB5-4EBD-ADD2-42B6109B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Analyse du problème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33166-C75A-423E-B0D7-0E10B6F0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7652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4F874-8D62-4887-AF38-F449CCC4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814CB-CDD4-4A65-9EC4-5F1368C6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C8B53"/>
                </a:solidFill>
              </a:defRPr>
            </a:pPr>
            <a:r>
              <a:rPr sz="1800" b="1" i="0">
                <a:solidFill>
                  <a:srgbClr val="1C8B53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01C09-7081-47EF-B740-E5B04AB2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432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Corpus RLVS + RWF-2000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CD155-5847-44E1-8073-600D9C53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7652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CC123-E158-4E56-815D-8B66EFE7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88F7C-EF70-45D7-90E8-7D119B6B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C8B53"/>
                </a:solidFill>
              </a:defRPr>
            </a:pPr>
            <a:r>
              <a:rPr sz="1800" b="1" i="0">
                <a:solidFill>
                  <a:srgbClr val="1C8B53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2D82D-5ADF-42CA-B93B-0985629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Prétraitement N = 20 frames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E0F32-1FE6-4FFB-A170-FBBA3793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7652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A7C87-8F9D-4248-B6A6-10AF86B3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559D6-6027-4206-B8A8-D7259D53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C8B53"/>
                </a:solidFill>
              </a:defRPr>
            </a:pPr>
            <a:r>
              <a:rPr sz="1800" b="1" i="0">
                <a:solidFill>
                  <a:srgbClr val="1C8B5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94DB8-23FF-49C2-AC0D-86DC8D17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EfficientNetB0 + LSTM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33F37-F813-4383-B0F6-5FB63C6D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7652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26AAD-4194-48EF-B01B-C79843E3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1B09C-42CB-492E-BD0D-3EC5BBC0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C8B53"/>
                </a:solidFill>
              </a:defRPr>
            </a:pPr>
            <a:r>
              <a:rPr sz="1800" b="1" i="0">
                <a:solidFill>
                  <a:srgbClr val="1C8B53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010D40-9BB6-4F8E-BE61-DB332E9F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Évaluation test + scénarios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EC25B-36ED-4DB9-A5D1-E4108AA1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652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33DE0-E530-4CDF-811B-EDADC44B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431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F0FD9-4C28-49A9-81E1-93A2D8EA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C8B53"/>
                </a:solidFill>
              </a:defRPr>
            </a:pPr>
            <a:r>
              <a:rPr sz="1800" b="1" i="0">
                <a:solidFill>
                  <a:srgbClr val="1C8B53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C2855-CE44-4832-976C-718C1B08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Déploiement local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099ADB-3676-49DF-AF43-7E37F3F0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4231E-219A-4D72-9280-4037CD7A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86902-A362-4247-8CD7-0FD29977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29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3F6E"/>
                </a:solidFill>
              </a:defRPr>
            </a:pPr>
            <a:r>
              <a:rPr sz="1350" b="1" i="0">
                <a:solidFill>
                  <a:srgbClr val="203F6E"/>
                </a:solidFill>
              </a:rPr>
              <a:t>Décision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A72FD4-1F3B-49EC-916B-C8B6022E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01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Le modèle produit un score par séquence. SIRCH moyenne les K = 5 derniers scores et déclenche une alerte si la moyenne dépasse θ = 0,50.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CC82DF-E1A8-4739-A84A-DAE0975D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61F03C-54EC-451B-B8C0-4051A93B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AA2F7C-5313-4114-8D05-DB54A180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229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Validation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4C0EE8-ED40-4CEA-8FCF-BAF9C32C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101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Les résultats sont analysés par métriques, matrices de confusion, ROC-AUC, PR-AUC, McNemar, ablation et cross-dataset.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C811D0-50FA-49E1-983F-A00D1402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3A1E73-3FFE-4836-BC8F-60801565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A0078A-161B-4C0C-A295-4064CE11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29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5C12"/>
                </a:solidFill>
              </a:defRPr>
            </a:pPr>
            <a:r>
              <a:rPr sz="1350" b="1" i="0">
                <a:solidFill>
                  <a:srgbClr val="C95C12"/>
                </a:solidFill>
              </a:rPr>
              <a:t>Déploiement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DFB1AC-7E29-44CC-B41E-B45F523E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101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La solution tourne localement : webcam ou vidéo, base SQLite, email, Telegram optionnel et dashboard Flask.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40A8A6-7914-4088-9CE2-D25FB358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Méthodologie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81038C-2D20-43FF-BFD0-7B370A18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11096126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0FD67-CF00-440D-BE37-D2E7B389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Le corpus combine deux mondes visuels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544C9-CFEC-41FE-A26B-8FE8B080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C6995-4626-4C27-9D98-FBFDA3B5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RLVS est plus contrôlé, RWF-2000 se rapproche davantage de la vidéosurveillance réelle.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D90EF-99FA-419D-9271-54E8B40C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2E7C9-F03A-4786-8C10-0CEDD773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EECDC-D6A7-4A88-8E47-EE76031E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192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EBA40-34A3-4CE0-9D31-C38CB706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1450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Violence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37E3F-85B6-4849-8199-6DF87AC8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322A5-AADC-4FB4-83F2-58ED31B9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7145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Non-violence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94BED-17ED-4C36-A84E-EA010128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AEB2E-D4BF-41CF-BA68-90D441D5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145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55B69-E699-4779-8B3D-17652787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25B0B-3F8E-437D-BD85-43901410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4C0F4-D16E-4EC6-AC12-E8525925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65C19-4152-4464-9567-F4A0615E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RLVS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AA8B8-42DE-4526-BCC5-F69C9C1D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360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C2405-AA4C-47B0-A79A-7F08531D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288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1 000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F641A-4373-4D45-983F-81BF7833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336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539EB-0841-48C3-A7FE-E3BB7DBC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2885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1 000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06A5A-DA27-4FDD-B5F8-7CAFFC89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18780-A358-438E-9C43-A1083BAA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2 000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8A32A-5DBD-4804-9D59-E622198B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28C61-6968-40B0-9EE9-03D91944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288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Contrôlé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97A31D-15C2-4AF2-AA21-381002BD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F290CC-AFA8-4F03-9709-6A9C378F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RWF-2000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3ACEE9-BC9F-4D73-8C4D-98DF891C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479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9BA11D-5B9C-4FAC-90A1-A7E6035C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4320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991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9AAAFD-4F4B-4D06-8DA8-BB7643DF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7510D5-04DC-488E-9D22-CB4DFE09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432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1 000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07803C-8649-4279-B9CE-3298183C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D7CB1E-E0ED-4BE5-B540-C9B8A850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432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1 991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052AB1-BDBC-4DC4-B632-01C4C5DC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3FF904-73E5-44CC-957A-A70B4CA4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CCTV réel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A38EA8-965F-4D81-B045-C708EABB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E080BE-6ACC-44E9-A347-540EE62A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Total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BB6DA1-8A82-47E6-82C5-DF16062B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149518-9834-45B8-A8A3-31447436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575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1 991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3A3832-5C56-4B4E-8237-786D1AA0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623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4861E8-5FFB-487F-A782-75DCC04C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5755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2 000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0D29C9-6E6F-48C4-8AAC-50209FDE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07CC53-C8E0-471C-8240-8483DC02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3 991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82DA0C-2A66-4FEB-BCD6-D2426D03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733618-EC79-4B84-9E5C-341E09F8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Équilibré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3f27d2c2f4340"/>
          <a:stretch xmlns:a="http://schemas.openxmlformats.org/drawingml/2006/main"/>
        </p:blipFill>
        <p:spPr>
          <a:xfrm xmlns:a="http://schemas.openxmlformats.org/drawingml/2006/main">
            <a:off x="7620000" y="1721147"/>
            <a:ext cx="3429000" cy="1948856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0C345B-F78C-428A-A016-2E56BB42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796806-5568-41F4-821C-CA102297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3F6E"/>
                </a:solidFill>
              </a:defRPr>
            </a:pPr>
            <a:r>
              <a:rPr sz="2250" b="1" i="0">
                <a:solidFill>
                  <a:srgbClr val="203F6E"/>
                </a:solidFill>
              </a:rPr>
              <a:t>2 793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914556-D265-4C5E-BDD9-1E126020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Entraînement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9BF3A8-A0C7-4BE4-B506-A0D94AAD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vidéos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757CA2-3CA5-44C6-A613-1FF282B1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76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1116B1-9ABB-4654-A595-D4139030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672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C8B53"/>
                </a:solidFill>
              </a:defRPr>
            </a:pPr>
            <a:r>
              <a:rPr sz="2250" b="1" i="0">
                <a:solidFill>
                  <a:srgbClr val="1C8B53"/>
                </a:solidFill>
              </a:rPr>
              <a:t>599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70E39D-5965-4BC3-9F96-9ABE3A26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0292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Validation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BCF51C-F15E-4F14-86CD-B6F61363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387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vidéos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E629EF-7812-45A0-BA25-6AB3191C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76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4DE313-D7E4-40AA-9E50-4C6B9D14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672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C95C12"/>
                </a:solidFill>
              </a:defRPr>
            </a:pPr>
            <a:r>
              <a:rPr sz="2250" b="1" i="0">
                <a:solidFill>
                  <a:srgbClr val="C95C12"/>
                </a:solidFill>
              </a:rPr>
              <a:t>599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0BD1D5-58F2-4AA2-B4B3-815536FF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292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Test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915730-A1FF-4AF0-A75F-15F63610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387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vidéos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1C6E13-ADC7-4B2A-B4AA-860BEAF8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3429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B0840A-C030-4473-9E3C-8750B45C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6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Protocole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3639D3-4781-4EC2-8EEE-C7589F8D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53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02033"/>
                </a:solidFill>
              </a:defRPr>
            </a:pPr>
            <a:r>
              <a:rPr sz="1050" b="0" i="0">
                <a:solidFill>
                  <a:srgbClr val="102033"/>
                </a:solidFill>
              </a:rPr>
              <a:t>N = 20 frames, K = 5, θ = 0,50. Split stratifié avec seed = 42 pour garder l’équilibre entre violence et non-violence.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B4D064-3EC7-4824-8B80-0073571D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Données et protocole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D1C55C-51C1-4984-B516-47F853C0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479348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4C103C-D8DB-49B0-96F2-B3C92543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Les outils ont été choisis pour rester local, léger et reproductible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8671C-D206-4D17-AC87-C5D56385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38D2D-B8F5-41DE-97A3-B9BCCEE3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Le choix technique sert la contrainte principale : fonctionner sans infrastructure cloud.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563EC-AA30-4888-B500-9D1E0A23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91B73-B94C-4EB9-984F-B24AABEE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19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E5054-3D69-48ED-988B-44F00EC4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09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Langage principal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8C117-C710-4B11-A276-A9FB06CD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76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A6B82"/>
                </a:solidFill>
              </a:defRPr>
            </a:pPr>
            <a:r>
              <a:rPr sz="975" b="0" i="0">
                <a:solidFill>
                  <a:srgbClr val="5A6B82"/>
                </a:solidFill>
              </a:rPr>
              <a:t>Écosystème IA et vision très riche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B906E-EF30-4BDA-BE1B-F2E8635E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2F30D-0C66-4EB2-ACCB-7410C06B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19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TensorFlow / Keras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20F49-807E-4DF0-A82B-977471E4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Entraînement du modèle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1ADCD-5F64-4AA8-B072-A0DC6B78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A6B82"/>
                </a:solidFill>
              </a:defRPr>
            </a:pPr>
            <a:r>
              <a:rPr sz="975" b="0" i="0">
                <a:solidFill>
                  <a:srgbClr val="5A6B82"/>
                </a:solidFill>
              </a:rPr>
              <a:t>Construction simple d’EfficientNetB0 + LSTM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C7A3E-18E6-4B60-94C1-0FC74FE9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F1C96-EA49-46B3-BCA0-4A52EC3D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62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OpenCV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51FEE-2A23-40AD-AC08-C787EF85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Lecture vidéo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CA7D1-72EF-4D7D-8442-FD031C2A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19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A6B82"/>
                </a:solidFill>
              </a:defRPr>
            </a:pPr>
            <a:r>
              <a:rPr sz="975" b="0" i="0">
                <a:solidFill>
                  <a:srgbClr val="5A6B82"/>
                </a:solidFill>
              </a:rPr>
              <a:t>Capture webcam, frames et prétraitement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21CC0-921E-481B-B038-FAF73C4A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77CE0-DEB4-4748-90BA-03C41B9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62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SQLite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55F20-0FDE-4B4B-B34B-A6D58649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Incidents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9E9E2-3EF8-4DC2-89CB-35E8B099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A6B82"/>
                </a:solidFill>
              </a:defRPr>
            </a:pPr>
            <a:r>
              <a:rPr sz="975" b="0" i="0">
                <a:solidFill>
                  <a:srgbClr val="5A6B82"/>
                </a:solidFill>
              </a:rPr>
              <a:t>Base locale sans serveur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2165D-0792-4E50-B68C-E4BCCC05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C1515-B76C-4E8C-A900-D2099C5F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Flask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317D7-2A5D-4CC3-B718-C3E49E0A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C5437-B41E-4407-A915-66653BE7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62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A6B82"/>
                </a:solidFill>
              </a:defRPr>
            </a:pPr>
            <a:r>
              <a:rPr sz="975" b="0" i="0">
                <a:solidFill>
                  <a:srgbClr val="5A6B82"/>
                </a:solidFill>
              </a:rPr>
              <a:t>Interface Web légère sur localhost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E2A35-D0A2-4CAC-B8D4-5559C4CF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904CC-9970-4A1E-A51D-2CE48B4C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SMTP / Telegram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B0DE7B-1F07-4B8A-9D7C-CD9199B4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Alertes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F6EF1-710C-4E66-9289-7E268B8A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A6B82"/>
                </a:solidFill>
              </a:defRPr>
            </a:pPr>
            <a:r>
              <a:rPr sz="975" b="0" i="0">
                <a:solidFill>
                  <a:srgbClr val="5A6B82"/>
                </a:solidFill>
              </a:rPr>
              <a:t>Notifications opérateur, Telegram optionnel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434DD8-6031-45E3-BDDC-1B5A964C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Interprétation : l’architecture technique est cohérente avec le contexte local de ressources limitées.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789613-3A35-4776-BFD5-B75B1D24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Outils et technologies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65E4FC-2AC7-4D9B-AFBC-05AB96C7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6724177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08233F-77DD-4027-9720-9033FED4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L’implémentation relie sept modules de bout en bout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A6AA8-C969-45D8-A82E-A26DA844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B858E-1512-4E80-A8CC-3FCDEC9D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Le système va de la caméra à la notification et à l’historique des incidents.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02D6F-6379-4C91-A77E-44FAD521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C8B53"/>
          </a:solidFill>
          <a:ln xmlns:a="http://schemas.openxmlformats.org/drawingml/2006/main" w="9525">
            <a:solidFill>
              <a:srgbClr val="1C8B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82FEE-85AB-4B6D-A97B-DE839022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B970E-CDA6-42F0-B4FB-0CF77011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764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4E9D6-5B88-447C-9088-430D6F97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288EB-30CB-4378-A648-CD6C26CF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Prétraitement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A7438-3536-404E-A0F6-FFB52D83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764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29AA4-157D-458A-BEEA-5FBCBAF5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C8D74-54F1-4DD4-B393-952F817F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EfficientNetB0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FC5D0-137C-4063-B7A4-E0CF200B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764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28DE7-07FB-4ED0-835A-D55A4D35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8EFDA-653F-4DAF-9670-BE49D460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LSTM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07A7A-1935-4BF0-97DF-0486A805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764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E390A-36AF-4F86-8851-2A9E5A3E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04043-908F-4D98-A57B-B6B9E8C8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Décision 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B0336-633A-4BF1-991E-52509B09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945E4-922E-4C36-9874-D1342070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A14E9-41BF-4B1B-829D-668A14B8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Alertes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F6122-FEF3-4401-8A4F-94388FFC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0764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E85686-9DE6-4C66-991E-F5BF3110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C8B53"/>
          </a:solidFill>
          <a:ln xmlns:a="http://schemas.openxmlformats.org/drawingml/2006/main" w="9525">
            <a:solidFill>
              <a:srgbClr val="1C8B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0CEC4-0B7A-45B4-9C4D-1AEF6DC9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Dashboard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215f51183478a"/>
          <a:stretch xmlns:a="http://schemas.openxmlformats.org/drawingml/2006/main"/>
        </p:blipFill>
        <p:spPr>
          <a:xfrm xmlns:a="http://schemas.openxmlformats.org/drawingml/2006/main">
            <a:off x="1143000" y="3265666"/>
            <a:ext cx="4572000" cy="1803042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180688-1A99-4E6A-ADB3-8E9B7A05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D85B1F-4C65-41A2-8ADA-68A94F5F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E95689-8B55-48BB-B5C8-D33C510D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3F6E"/>
                </a:solidFill>
              </a:defRPr>
            </a:pPr>
            <a:r>
              <a:rPr sz="1350" b="1" i="0">
                <a:solidFill>
                  <a:srgbClr val="203F6E"/>
                </a:solidFill>
              </a:rPr>
              <a:t>Score vidéo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050A1A-F880-42F7-B69C-838F569F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177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20 frames deviennent 20 vecteurs. Le LSTM produit une probabilité de violence pour la séquence.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EC9899-E61A-4651-8F58-24B8FD73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AEA2A0-7EA1-4851-BA15-9CFD4D84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FE1412-2F0A-467B-943B-023650A0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Incident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FFB1E3-C817-4E44-8EA2-2C23569B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52850"/>
            <a:ext cx="177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Si la moyenne des 5 derniers scores dépasse le seuil, SIRCH enregistre une capture et déclenche l’alerte.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01ED8C-7691-450B-B0B5-5F3A0EF5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Ce point est important pour la soutenance : SIRCH n’est pas un notebook isolé, c’est une application locale exploitable en démonstration.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1638E2-66D1-461C-85B8-89D58BE7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Implémentation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FCABD6-EC08-41AC-9B8C-DEC80175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21092688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A582A-A4FB-4278-81AB-97C82CD0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Le modèle original détecte bien la violence, mais génère encore des fausses alertes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5D9E4-13D4-4C89-8329-74E27FC8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4DAB8-DE19-430B-816C-EA4FD6A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Résultats sur le jeu de test principal de 599 vidéos, θ = 0,50.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D9021-3D05-4BAE-AB76-B165BEA9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93A56-0708-4632-AAF9-D5A7D088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3F6E"/>
                </a:solidFill>
              </a:defRPr>
            </a:pPr>
            <a:r>
              <a:rPr sz="2250" b="1" i="0">
                <a:solidFill>
                  <a:srgbClr val="203F6E"/>
                </a:solidFill>
              </a:rPr>
              <a:t>86,81 %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1C2EE-9FAE-4E4F-AEDA-6378DFBF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5025D-27C4-49ED-B578-D75F0103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599 vidéos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E8360-1400-4166-8135-B0946A7C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020C2-06C0-4CA8-9C82-2E215049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573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C8B53"/>
                </a:solidFill>
              </a:defRPr>
            </a:pPr>
            <a:r>
              <a:rPr sz="2250" b="1" i="0">
                <a:solidFill>
                  <a:srgbClr val="1C8B53"/>
                </a:solidFill>
              </a:rPr>
              <a:t>82,74 %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B8DA6-5997-492C-B8BF-0A06A2EE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193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Précision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DF5D4-E43B-4BEF-9769-DD46CA54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288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fiabilité des alertes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0CF27-3895-4B7D-8A58-B75F674C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668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45985-3283-4E72-B4CC-DBD6385C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573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C95C12"/>
                </a:solidFill>
              </a:defRPr>
            </a:pPr>
            <a:r>
              <a:rPr sz="2250" b="1" i="0">
                <a:solidFill>
                  <a:srgbClr val="C95C12"/>
                </a:solidFill>
              </a:rPr>
              <a:t>92,98 %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36C90-F5E9-4DC9-95B4-04D23520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193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Rappel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8102E-106D-4F99-9A1A-24F65D8C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violences détectées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3D6D0-E80A-4A4C-9FBA-C9DE7484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5214A-3BD9-4A2A-AA01-5DD247D5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573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C8B53"/>
                </a:solidFill>
              </a:defRPr>
            </a:pPr>
            <a:r>
              <a:rPr sz="2250" b="1" i="0">
                <a:solidFill>
                  <a:srgbClr val="1C8B53"/>
                </a:solidFill>
              </a:rPr>
              <a:t>87,56 %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F61B4-C5FD-43E2-BF95-22A19573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193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F1-score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D122B-6BC8-453E-93F8-1A0794F8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équilibre global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263BA-DE9E-4E40-AE80-163D64F8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B80FF-3929-4B21-AFCC-2D258D6B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573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3F6E"/>
                </a:solidFill>
              </a:defRPr>
            </a:pPr>
            <a:r>
              <a:rPr sz="2250" b="1" i="0">
                <a:solidFill>
                  <a:srgbClr val="203F6E"/>
                </a:solidFill>
              </a:rPr>
              <a:t>0,9446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EAE2B-187C-4FAB-8FB6-7A528ED4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193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ROC-AUC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E76DA8-9564-4ED3-862F-9A742ED2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288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séparation forte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f24aa24f4471a"/>
          <a:stretch xmlns:a="http://schemas.openxmlformats.org/drawingml/2006/main"/>
        </p:blipFill>
        <p:spPr>
          <a:xfrm xmlns:a="http://schemas.openxmlformats.org/drawingml/2006/main">
            <a:off x="952500" y="3348055"/>
            <a:ext cx="4238625" cy="1971639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544D0-E02D-4FE6-A3B3-62F63F8D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F30B41-47FC-4C7F-8327-999C9B9D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766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45F"/>
                </a:solidFill>
              </a:defRPr>
            </a:pPr>
            <a:r>
              <a:rPr sz="1500" b="1" i="0">
                <a:solidFill>
                  <a:srgbClr val="17345F"/>
                </a:solidFill>
              </a:rPr>
              <a:t>Ce que dit la matrice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1A44A-CBA8-458F-82FE-A3ABAC01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57625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02033"/>
                </a:solidFill>
              </a:defRPr>
            </a:pPr>
            <a:r>
              <a:rPr sz="1125" b="0" i="0">
                <a:solidFill>
                  <a:srgbClr val="102033"/>
                </a:solidFill>
              </a:rPr>
              <a:t>• Le rappel est élevé : SIRCH rate peu de vraies violences.</a:t>
            </a:r>
          </a:p>
          <a:p xmlns:a="http://schemas.openxmlformats.org/drawingml/2006/main">
            <a:pPr algn="l">
              <a:defRPr sz="1125" b="0" i="0">
                <a:solidFill>
                  <a:srgbClr val="102033"/>
                </a:solidFill>
              </a:defRPr>
            </a:pPr>
            <a:r>
              <a:rPr sz="1125" b="0" i="0">
                <a:solidFill>
                  <a:srgbClr val="102033"/>
                </a:solidFill>
              </a:rPr>
              <a:t>• Les 58 faux positifs montrent que certaines scènes non violentes restent confondues avec la violence.</a:t>
            </a:r>
          </a:p>
          <a:p xmlns:a="http://schemas.openxmlformats.org/drawingml/2006/main">
            <a:pPr algn="l">
              <a:defRPr sz="1125" b="0" i="0">
                <a:solidFill>
                  <a:srgbClr val="102033"/>
                </a:solidFill>
              </a:defRPr>
            </a:pPr>
            <a:r>
              <a:rPr sz="1125" b="0" i="0">
                <a:solidFill>
                  <a:srgbClr val="102033"/>
                </a:solidFill>
              </a:rPr>
              <a:t>• Le score global est donc bon, mais il faut regarder la nature des erreurs.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2F182E-B6BE-4B71-BE20-D76D80F8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Résultats principaux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3777FF-CCDB-4A07-90C9-C7DFD1C3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3849465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F0E773-BB95-4998-B268-88CC1FBC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Les analyses avancées confirment le gain, mais nuancent son usage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6C789-0E04-4D03-9260-5F8F8822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13B94-6D38-448F-B068-6D6F686B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AUC, McNemar et ablation aident à comprendre la fiabilité réelle de SIRCH.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2e7aabdfe4b71"/>
          <a:stretch xmlns:a="http://schemas.openxmlformats.org/drawingml/2006/main"/>
        </p:blipFill>
        <p:spPr>
          <a:xfrm xmlns:a="http://schemas.openxmlformats.org/drawingml/2006/main">
            <a:off x="730250" y="1571625"/>
            <a:ext cx="3111500" cy="233362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850be55c1443f"/>
          <a:stretch xmlns:a="http://schemas.openxmlformats.org/drawingml/2006/main"/>
        </p:blipFill>
        <p:spPr>
          <a:xfrm xmlns:a="http://schemas.openxmlformats.org/drawingml/2006/main">
            <a:off x="4476750" y="2189024"/>
            <a:ext cx="3143250" cy="1098826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5c28663aa4df7"/>
          <a:stretch xmlns:a="http://schemas.openxmlformats.org/drawingml/2006/main"/>
        </p:blipFill>
        <p:spPr>
          <a:xfrm xmlns:a="http://schemas.openxmlformats.org/drawingml/2006/main">
            <a:off x="8191500" y="1771284"/>
            <a:ext cx="3143250" cy="193430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8FFB9-962D-4786-94AA-E005FCCB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7FA4F-E587-4C2C-804D-46D46648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28DD7-2963-4F7E-815D-3C7BA7F7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3F6E"/>
                </a:solidFill>
              </a:defRPr>
            </a:pPr>
            <a:r>
              <a:rPr sz="1350" b="1" i="0">
                <a:solidFill>
                  <a:srgbClr val="203F6E"/>
                </a:solidFill>
              </a:rPr>
              <a:t>AUC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7B38A-CF5A-4562-8EF5-DAAD402E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434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0,9446 signifie que le modèle classe très souvent une vidéo violente au-dessus d’une vidéo non violente. Ce n’est pas une accuracy, c’est une mesure de séparation.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E263C-263E-4B99-B41E-D3B727F0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770F1-A351-4805-B562-DAFA0134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07475-9FA9-4110-971F-8B0EBC0A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624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McNemar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ACBCF-5D7A-4B56-9EDA-70DE987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434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p = 0,000117 : l’écart observé entre original et augmenté n’est pas dû au hasard sur les mêmes vidéos de test.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F99A8-AE61-4ED5-A910-89A508AB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3387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9B517-476F-4428-BDC7-53FA9552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338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B24CC-2021-464F-BEBA-CB30DDEC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5C12"/>
                </a:solidFill>
              </a:defRPr>
            </a:pPr>
            <a:r>
              <a:rPr sz="1350" b="1" i="0">
                <a:solidFill>
                  <a:srgbClr val="C95C12"/>
                </a:solidFill>
              </a:rPr>
              <a:t>Ablation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E3BC5-9FD6-40BE-AD2B-8743246D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434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Le bloc temporel est utile : il réduit les violences manquées. Le GRU devient une perspective prometteuse.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F65C2-28C0-4D4B-8478-3886EC50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Résultats et discussion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56B37-05FE-42F4-A5FC-265221EC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4519423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E80E16-44D7-4F59-9368-8277B477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Le cross-dataset montre que la généralisation est le vrai défi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90995-F1C6-41B3-8149-B959810D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F49B3-CF53-4637-9DC6-00E3C49E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Quand on entraîne sur une source et qu’on teste sur l’autre, les scores chutent fortement.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EECFF-DF0B-47D1-8ADD-9958110B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668DB-D683-4299-AD63-D523BF88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Expérience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52C47-092F-4BE9-8FED-5344F9DC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B05F3-1C5E-4103-A874-6F8CF428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B79EB-4407-415E-B118-0FCA3486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66921-DA55-4937-9A53-14816F28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5A996-B066-4649-BA24-B29571F5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192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C3F19-4D92-43DE-B4B7-29831C8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7145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Précision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4358A-1C93-435A-B1D2-9FD3EC45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764D2-D0CF-483E-8E3F-CB46B5EA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145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Rappel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DB426-C2D8-4874-80FF-005728FF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192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BF978-EE37-4A79-B545-4FB0221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145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BB672-6C7F-4695-A26B-2446E72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EF131-B510-4644-8429-E33EF100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RLVS seul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49AC4-EAA8-4F61-A284-0DE8071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33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0C3CD-7917-40D5-B3A2-B1DB3B80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288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RWF-2000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EFCE2-8174-4401-8382-FEF958E9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5F1D3-1964-48E1-BAE3-F82E46B8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288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54,80 %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22B75-64C2-4CB9-AF82-9F163F78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336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943B3-6E76-44B3-A672-A8DAE1AE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2288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52,96 %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C4484-0377-4925-B900-6E81159C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336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77450C-1A16-4B79-A04D-C0419338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288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82,04 %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7C79C9-8873-44DB-8FBD-D6C33199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336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8608D-A6F0-4CCF-AC54-F3A2A8BF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288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64,37 %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B9B6EF-B604-4A3D-B211-1C009ECF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843976-0073-4867-B031-F1F97DB6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RWF-2000 seul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BDEAE6-B8CB-405D-AC3F-040A385D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7A50B0-8FB7-40AF-A7DC-5AF445FB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RLVS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B8297F-8AB5-4ECF-A239-ADBF7DA3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9D379E-8205-4378-B71F-133B4F7B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74,50 %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699543-5238-4189-B9FD-3C297299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479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E57A5F-4910-4397-9E09-7B74B04F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432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80,10 %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A78B3-974C-4C63-A01D-AFC212F2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479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23257E-73C0-4FF5-BB41-AF765EF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432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65,20 %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74062B-FB3D-4A1E-ABCA-5C2AE164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479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08DB76-0DC6-42AD-B8B3-1B91D9DE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432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71,89 %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65F0B4-5F51-4E8F-98F0-DE078237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27B79A-20C8-48B5-8FE8-93488D2E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Combiné original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3FC34F-64D9-4CD4-A143-5C64F61A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62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D53CE1-3A1B-437C-B936-D086E27B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575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599 vidéos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2F3941-98AD-445F-8B31-F3308D1E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EB1621-8599-4B97-8DFA-36B77F6D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575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86,81 %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7AF40E-DA57-4EF7-BCBF-B98FEBB5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623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5086B6-903D-4331-8163-F0B798C6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575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82,74 %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EA1093-DDED-420D-9E78-0EF428E2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623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7997A8-4031-47B4-8F14-E60B9BA2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92,98 %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713C07-5EFB-409F-B8E0-25D71AC0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623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B0F1AC-4A08-4446-8434-6E5C8FDC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575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87,56 %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7e71a36c14e2b"/>
          <a:stretch xmlns:a="http://schemas.openxmlformats.org/drawingml/2006/main"/>
        </p:blipFill>
        <p:spPr>
          <a:xfrm xmlns:a="http://schemas.openxmlformats.org/drawingml/2006/main">
            <a:off x="1047750" y="4116737"/>
            <a:ext cx="2571750" cy="1196275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accd3717d4b5b"/>
          <a:stretch xmlns:a="http://schemas.openxmlformats.org/drawingml/2006/main"/>
        </p:blipFill>
        <p:spPr>
          <a:xfrm xmlns:a="http://schemas.openxmlformats.org/drawingml/2006/main">
            <a:off x="4095750" y="4116737"/>
            <a:ext cx="2571750" cy="1196275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6FC734-E0B7-4818-940E-D2A21293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967998-F842-4233-BC77-CE874E31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1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45F"/>
                </a:solidFill>
              </a:defRPr>
            </a:pPr>
            <a:r>
              <a:rPr sz="1500" b="1" i="0">
                <a:solidFill>
                  <a:srgbClr val="17345F"/>
                </a:solidFill>
              </a:rPr>
              <a:t>Interprétation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1CC836-994E-44BC-B0CD-41427E07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76750"/>
            <a:ext cx="300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02033"/>
                </a:solidFill>
              </a:defRPr>
            </a:pPr>
            <a:r>
              <a:rPr sz="1125" b="0" i="0">
                <a:solidFill>
                  <a:srgbClr val="102033"/>
                </a:solidFill>
              </a:rPr>
              <a:t>RLVS et RWF-2000 ne représentent pas le même monde visuel. SIRCH devient plus fiable quand il apprend sur les deux sources, car il voit à la fois des scènes contrôlées et des scènes CCTV réelles.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581F09-A9C1-4949-9F0C-E1C78203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Message pour le jury : le gain de SIRCH vient autant de la diversité des données que de l’architecture du réseau.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375639-AC6D-4EA3-8144-3DA6545C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Expériences de généralisation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4A9A4A-9E61-4A3B-B145-360BB92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418747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D8C44-5F7A-4EB7-8874-B4E1BA3A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Les tests sport et danse révèlent la principale limite opérationnelle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E6F26-9A7F-4319-A517-4B43B81A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89332-ED94-49D0-B03C-D112346C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Le système associe parfois mouvement intense et violence, surtout hors contexte de surveillance classique.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db6cdb53c4093"/>
          <a:stretch xmlns:a="http://schemas.openxmlformats.org/drawingml/2006/main"/>
        </p:blipFill>
        <p:spPr>
          <a:xfrm xmlns:a="http://schemas.openxmlformats.org/drawingml/2006/main">
            <a:off x="666750" y="2119313"/>
            <a:ext cx="4000500" cy="1666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1DA87-F847-4CD4-9C8B-85FA5CE7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145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6A6AA-1604-487A-B476-621771FA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097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Scénario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7F776-42CE-48FB-A508-97E25E38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CBB6F-055A-4D72-A72E-C16753DB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8097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Faux positifs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72188-A9B3-4761-967A-F90BCFCE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036DB-CB72-40CE-A388-F6837EC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Taux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A04E1-9F4A-4693-B2B3-DA28269D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288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D7483-6A67-4C34-95F3-8BA82EE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241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Sport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FDD52-745B-471F-8C4E-643B444C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288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1B078-3FBD-45EE-A101-E9BC0705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3241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3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27FD9-C60C-4430-AD81-B049DFF4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71463-9682-4B9D-978A-72E496D3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20,00 %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132CD-A67E-48D8-B6AD-FA3E5FB6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432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6A616-8EB7-4968-B76B-2CED2EFD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38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Danse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AA453-6DFC-4A8F-B380-513CFF90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432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48D026-15E1-49ED-9866-04EFFB83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384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8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55B38-4061-47FB-BA11-2CC78D67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66BB8-6058-45A5-A61F-A70B7DAF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80,00 %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A62BF-E266-404E-B0C2-E7B4526E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575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5E2CA1-73C2-4F39-8E41-305778AA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528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Calme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ADD8D3-0DB1-4C35-BEEE-DDBA3239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575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7E932-0B8D-4FA5-8E5B-B31E5520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528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3 /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E8E5D-D455-42BF-BBC4-28F6744A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14D5A8-F540-4599-B3F7-DBBFE4EC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60,00 %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B469D-7A0F-4404-B6F9-8E97A185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719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5F1BFA-BBDA-4F2B-A184-A690575B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8671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Global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F2E2D2-106A-4C27-A31D-475DB446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719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037012-8A17-4C00-80FA-EEA32643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671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14 / 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B7195B-F229-4AA8-812A-60119F92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734332-AEE6-4AAB-8C96-249EAB57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671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46,67 %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11FA06-18C7-4956-BF49-BA9A045D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096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E1893D-D04D-495A-BAF8-51749547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1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Interprétation pour SIRCH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0D8CB-4256-4490-B59F-2C74761A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720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02033"/>
                </a:solidFill>
              </a:defRPr>
            </a:pPr>
            <a:r>
              <a:rPr sz="1125" b="0" i="0">
                <a:solidFill>
                  <a:srgbClr val="102033"/>
                </a:solidFill>
              </a:rPr>
              <a:t>Ces erreurs ne détruisent pas le système : elles délimitent son bon contexte d’usage. SIRCH convient mieux aux lieux où une activité physique intense n’est pas normale : couloirs, halls, commerces, cours d’école. Une salle de sport exige un réentraînement ciblé.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B55ED7-DCCC-41B3-B309-0BD9AEB3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Limites opérationnelles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C7B05C-D037-4882-88AB-16F96E2B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2195607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BA1DA1-F600-4882-87A2-27F4FA9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Les limites orientent les prochaines améliorations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9256D-B3E8-4009-8316-353833CB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E958A-2DA0-4438-A89A-69E39D86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Elles ne contredisent pas les résultats ; elles définissent le bon périmètre d’usage de SIRCH.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A8AEB-C89A-4A2A-A98E-836A1366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E8938-2DA7-414B-BAD0-E0DC8AB8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C1E09-C23C-418E-A385-5097CECC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02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3F6E"/>
                </a:solidFill>
              </a:defRPr>
            </a:pPr>
            <a:r>
              <a:rPr sz="1350" b="1" i="0">
                <a:solidFill>
                  <a:srgbClr val="203F6E"/>
                </a:solidFill>
              </a:rPr>
              <a:t>Limites méthodologiques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5AFAB-E7F2-417D-BA95-B654B781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2628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N = 20 frames, datasets courts, caméras fixes et absence de test réel prolongé.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787EA-C0AB-4730-B262-C21C653F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F1EEC-9538-4CD0-A500-3B614012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128FF-7961-4080-B5D8-F8873289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02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5C12"/>
                </a:solidFill>
              </a:defRPr>
            </a:pPr>
            <a:r>
              <a:rPr sz="1350" b="1" i="0">
                <a:solidFill>
                  <a:srgbClr val="C95C12"/>
                </a:solidFill>
              </a:rPr>
              <a:t>Limites techniques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7EC7B-4D80-4F1A-B622-3D5A1A12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81225"/>
            <a:ext cx="2628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Entraînement sur CPU, latence de prétraitement, GPU Windows non exploitable.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4A7B2-0AE4-4448-9D1B-952CFD35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EE878-522F-4833-B3B5-6A93803D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ED4D6-E8FC-45AB-9A06-58A0E3AF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02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4B45"/>
                </a:solidFill>
              </a:defRPr>
            </a:pPr>
            <a:r>
              <a:rPr sz="1350" b="1" i="0">
                <a:solidFill>
                  <a:srgbClr val="D94B45"/>
                </a:solidFill>
              </a:rPr>
              <a:t>Limites d’usage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CC726-502C-4BC6-8636-3F7CBAC4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81225"/>
            <a:ext cx="2628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Pas adapté tel quel aux salles de sport, scènes de danse ou milieux à mouvement intense normal.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EF22D-718F-4BE2-A6D1-61B9A428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01884-6E15-49D6-8139-A8FC3C05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Perspective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A0494-7B81-4AFA-9E63-C551489C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628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D79BE-9B29-4D13-8F92-CE3C7AEC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613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Ce que cela améliorerait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19C05-6165-4432-B263-16B88F4C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56816-CC51-455E-B497-31A80B4F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Ajouter 200 à 300 vidéos sport/danse non violentes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F0CE2-41DC-4C92-81F3-1CA139FE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71900"/>
            <a:ext cx="628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A796F-BFE5-40AA-B5B1-356E9D01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613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Réduire la confusion entre mouvement intense et violence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A8A90-0652-4E32-9913-F61A9BA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E509D4-3936-46D2-B26F-CCE39BC2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Tester GRU et hyperparamètres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F88E7F-D906-4BAB-AC92-77CDBAD4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0050"/>
            <a:ext cx="628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5CA44-0409-4948-BAA1-E9A3196F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613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Confirmer l’architecture temporelle la plus efficace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61FEF7-5D19-4D71-AF71-2D76016F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BDFB2C-7C8A-454D-8418-1A134ADA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Quantification TensorFlow Lite ou TensorRT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A0CC4-8CF8-47AF-BC4D-316D9E5E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48200"/>
            <a:ext cx="628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9A79A0-C9E4-4ABB-87B0-8AD1774B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43450"/>
            <a:ext cx="613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Réduire la latence et faciliter le déploiement embarqué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3FDDD3-E435-4316-BAAB-B9B10231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863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5A49C1-0C83-4212-91D1-D8F59A2A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Test réel sur plusieurs semaines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531084-CB25-4C8A-A3CB-EA25A5A8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86350"/>
            <a:ext cx="628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B8BF90-F978-4061-B61D-15A54ABD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81600"/>
            <a:ext cx="613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Mesurer les alertes, l’éclairage, la stabilité et l’usage opérateur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F74C14-2370-4656-8632-B606B000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62625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C8B53"/>
                </a:solidFill>
              </a:defRPr>
            </a:pPr>
            <a:r>
              <a:rPr sz="1200" b="1" i="0">
                <a:solidFill>
                  <a:srgbClr val="1C8B53"/>
                </a:solidFill>
              </a:rPr>
              <a:t>Conclusion : SIRCH est valide pour des lieux où le mouvement violent est anormal ; il doit être spécialisé avant un usage sportif ou événementiel.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B1DDF6-EA99-478C-9813-584D4A20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Limites et perspectives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DB2628-364D-43DF-9E39-7641091D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3755576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03F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4CD19E-750C-480F-BEF1-108976AB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12336-3358-433E-AD67-153B5B8A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C0EB5-E6E8-443E-BE6F-13DE062E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C8B53"/>
          </a:solidFill>
          <a:ln xmlns:a="http://schemas.openxmlformats.org/drawingml/2006/main" w="9525">
            <a:solidFill>
              <a:srgbClr val="1C8B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3F298-BC5D-44B7-98FF-772B1832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A7554-95A8-44C9-A265-4ABC6475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049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SIRCH transforme un modèle en système complet : caméra, inférence, décision, alerte et dashboard.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7CC7E-6CF2-47A4-A036-85246E6C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C8B53"/>
          </a:solidFill>
          <a:ln xmlns:a="http://schemas.openxmlformats.org/drawingml/2006/main" w="9525">
            <a:solidFill>
              <a:srgbClr val="1C8B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58179-2720-4EDB-A740-6EECF5EF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340B7-4087-48AE-8870-D74E6FDD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812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 modèle original atteint 86,81 % d’accuracy, 87,56 % de F1 et une ROC-AUC de 0,9446 sur 599 vidéos.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768D2-4F7F-42E0-B394-B4D0F675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C8B53"/>
          </a:solidFill>
          <a:ln xmlns:a="http://schemas.openxmlformats.org/drawingml/2006/main" w="9525">
            <a:solidFill>
              <a:srgbClr val="1C8B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E5FA1-69A6-4716-A7A8-E68CE254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A9A9E-A424-464D-AE65-51E7E75E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575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Les analyses montrent une vraie force sur la détection, mais aussi une limite claire face aux mouvements sportifs ou dansés.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6A5E2-9FBB-40AD-B75B-96DB5C74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C8B53"/>
          </a:solidFill>
          <a:ln xmlns:a="http://schemas.openxmlformats.org/drawingml/2006/main" w="9525">
            <a:solidFill>
              <a:srgbClr val="1C8B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ACDAD-FFE9-4EFC-9D8F-DE034B06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76627-401D-4373-9806-8F600519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338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Les perspectives portent sur plus de données non violentes dynamiques, le GRU, la quantification et le déploiement embarqué.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9E0AA-D05C-4BE2-9E34-3BCC21C2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A4D82"/>
          </a:solidFill>
          <a:ln xmlns:a="http://schemas.openxmlformats.org/drawingml/2006/main" w="9525">
            <a:solidFill>
              <a:srgbClr val="5D7D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79136-1DF4-4BAA-B9DB-DC4203AD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FFFFFF"/>
                </a:solidFill>
              </a:defRPr>
            </a:pPr>
            <a:r>
              <a:rPr sz="1350" b="0" i="1">
                <a:solidFill>
                  <a:srgbClr val="FFFFFF"/>
                </a:solidFill>
              </a:rPr>
              <a:t>Message final : SIRCH ne remplace pas l’agent de sécurité ; il lui donne un signal rapide, mesurable et vérifiable.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5C09A-944B-47F6-A190-FEE97552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D9E6F1"/>
                </a:solidFill>
              </a:defRPr>
            </a:pPr>
            <a:r>
              <a:rPr sz="675" b="0" i="0">
                <a:solidFill>
                  <a:srgbClr val="D9E6F1"/>
                </a:solidFill>
              </a:rPr>
              <a:t>Conclusion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6BE11-942E-41CD-B9EB-2F754E5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D9E6F1"/>
                </a:solidFill>
              </a:defRPr>
            </a:pPr>
            <a:r>
              <a:rPr sz="750" b="0" i="0">
                <a:solidFill>
                  <a:srgbClr val="D9E6F1"/>
                </a:solidFill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741165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2026-07-08T13:10:29.1490000Z</dcterms:created>
  <dcterms:modified xsi:type="dcterms:W3CDTF">2026-07-08T13:10:29.1490000Z</dcterms:modified>
</coreProperties>
</file>