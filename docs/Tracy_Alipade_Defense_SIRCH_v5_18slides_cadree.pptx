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abf8fec6b4a4edf" /><Relationship Type="http://schemas.openxmlformats.org/officeDocument/2006/relationships/extended-properties" Target="/docProps/app.xml" Id="Rba370e15984244a9" /><Relationship Type="http://schemas.openxmlformats.org/officeDocument/2006/relationships/officeDocument" Target="/ppt/presentation.xml" Id="Rcf69bf4eaec24dfc" /></Relationships>
</file>

<file path=ppt/presentation.xml><?xml version="1.0" encoding="utf-8"?>
<p:presentation xmlns:p="http://schemas.openxmlformats.org/presentationml/2006/main">
  <p:sldMasterIdLst>
    <p:sldMasterId xmlns:r="http://schemas.openxmlformats.org/officeDocument/2006/relationships" id="2147483648" r:id="R560be8276d454d27"/>
  </p:sldMasterIdLst>
  <p:notesMasterIdLst>
    <p:notesMasterId xmlns:r="http://schemas.openxmlformats.org/officeDocument/2006/relationships" r:id="Rc57c1f1424af459d"/>
  </p:notesMasterIdLst>
  <p:sldIdLst>
    <p:sldId xmlns:r="http://schemas.openxmlformats.org/officeDocument/2006/relationships" id="256" r:id="R582a6cabeab3406d"/>
    <p:sldId xmlns:r="http://schemas.openxmlformats.org/officeDocument/2006/relationships" id="257" r:id="R2cc7c711b27d43b7"/>
    <p:sldId xmlns:r="http://schemas.openxmlformats.org/officeDocument/2006/relationships" id="258" r:id="R53f6e8fc73ad4a76"/>
    <p:sldId xmlns:r="http://schemas.openxmlformats.org/officeDocument/2006/relationships" id="259" r:id="R5f10d584a8074114"/>
    <p:sldId xmlns:r="http://schemas.openxmlformats.org/officeDocument/2006/relationships" id="260" r:id="R460f890e6467424f"/>
    <p:sldId xmlns:r="http://schemas.openxmlformats.org/officeDocument/2006/relationships" id="261" r:id="R30163330fb3f428d"/>
    <p:sldId xmlns:r="http://schemas.openxmlformats.org/officeDocument/2006/relationships" id="262" r:id="R425b993d80984419"/>
    <p:sldId xmlns:r="http://schemas.openxmlformats.org/officeDocument/2006/relationships" id="263" r:id="Rc9fd064ed916489d"/>
    <p:sldId xmlns:r="http://schemas.openxmlformats.org/officeDocument/2006/relationships" id="264" r:id="R1d180214e4954b3f"/>
    <p:sldId xmlns:r="http://schemas.openxmlformats.org/officeDocument/2006/relationships" id="265" r:id="R885d44b8c0644959"/>
    <p:sldId xmlns:r="http://schemas.openxmlformats.org/officeDocument/2006/relationships" id="266" r:id="Rb5e8f899e7e14af0"/>
    <p:sldId xmlns:r="http://schemas.openxmlformats.org/officeDocument/2006/relationships" id="267" r:id="R8457634f7adc4e80"/>
    <p:sldId xmlns:r="http://schemas.openxmlformats.org/officeDocument/2006/relationships" id="268" r:id="Rda13fdb8e89e43cb"/>
    <p:sldId xmlns:r="http://schemas.openxmlformats.org/officeDocument/2006/relationships" id="269" r:id="R865131536d384f76"/>
    <p:sldId xmlns:r="http://schemas.openxmlformats.org/officeDocument/2006/relationships" id="270" r:id="R9f59c51e0e374ab3"/>
    <p:sldId xmlns:r="http://schemas.openxmlformats.org/officeDocument/2006/relationships" id="271" r:id="Rfb7bbd86edda4f63"/>
    <p:sldId xmlns:r="http://schemas.openxmlformats.org/officeDocument/2006/relationships" id="272" r:id="R0a96b8af133e4087"/>
    <p:sldId xmlns:r="http://schemas.openxmlformats.org/officeDocument/2006/relationships" id="273" r:id="R27ed54f55fb743cb"/>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77c7d1f98db4ad2" /><Relationship Type="http://schemas.openxmlformats.org/officeDocument/2006/relationships/slideMaster" Target="/ppt/slideMasters/slideMaster1.xml" Id="R560be8276d454d27" /><Relationship Type="http://schemas.openxmlformats.org/officeDocument/2006/relationships/notesMaster" Target="/ppt/notesMasters/notesMaster1.xml" Id="Rc57c1f1424af459d" /><Relationship Type="http://schemas.openxmlformats.org/officeDocument/2006/relationships/presProps" Target="/ppt/presProps.xml" Id="R55785493ba3c4dda" /><Relationship Type="http://schemas.openxmlformats.org/officeDocument/2006/relationships/tableStyles" Target="/ppt/tableStyles.xml" Id="R5b6d0e135fea4a68" /><Relationship Type="http://schemas.openxmlformats.org/officeDocument/2006/relationships/slide" Target="/ppt/slides/slide1.xml" Id="R582a6cabeab3406d" /><Relationship Type="http://schemas.openxmlformats.org/officeDocument/2006/relationships/slide" Target="/ppt/slides/slide2.xml" Id="R2cc7c711b27d43b7" /><Relationship Type="http://schemas.openxmlformats.org/officeDocument/2006/relationships/slide" Target="/ppt/slides/slide3.xml" Id="R53f6e8fc73ad4a76" /><Relationship Type="http://schemas.openxmlformats.org/officeDocument/2006/relationships/slide" Target="/ppt/slides/slide4.xml" Id="R5f10d584a8074114" /><Relationship Type="http://schemas.openxmlformats.org/officeDocument/2006/relationships/slide" Target="/ppt/slides/slide5.xml" Id="R460f890e6467424f" /><Relationship Type="http://schemas.openxmlformats.org/officeDocument/2006/relationships/slide" Target="/ppt/slides/slide6.xml" Id="R30163330fb3f428d" /><Relationship Type="http://schemas.openxmlformats.org/officeDocument/2006/relationships/slide" Target="/ppt/slides/slide7.xml" Id="R425b993d80984419" /><Relationship Type="http://schemas.openxmlformats.org/officeDocument/2006/relationships/slide" Target="/ppt/slides/slide8.xml" Id="Rc9fd064ed916489d" /><Relationship Type="http://schemas.openxmlformats.org/officeDocument/2006/relationships/slide" Target="/ppt/slides/slide9.xml" Id="R1d180214e4954b3f" /><Relationship Type="http://schemas.openxmlformats.org/officeDocument/2006/relationships/slide" Target="/ppt/slides/slide10.xml" Id="R885d44b8c0644959" /><Relationship Type="http://schemas.openxmlformats.org/officeDocument/2006/relationships/slide" Target="/ppt/slides/slide11.xml" Id="Rb5e8f899e7e14af0" /><Relationship Type="http://schemas.openxmlformats.org/officeDocument/2006/relationships/slide" Target="/ppt/slides/slide12.xml" Id="R8457634f7adc4e80" /><Relationship Type="http://schemas.openxmlformats.org/officeDocument/2006/relationships/slide" Target="/ppt/slides/slide13.xml" Id="Rda13fdb8e89e43cb" /><Relationship Type="http://schemas.openxmlformats.org/officeDocument/2006/relationships/slide" Target="/ppt/slides/slide14.xml" Id="R865131536d384f76" /><Relationship Type="http://schemas.openxmlformats.org/officeDocument/2006/relationships/slide" Target="/ppt/slides/slide15.xml" Id="R9f59c51e0e374ab3" /><Relationship Type="http://schemas.openxmlformats.org/officeDocument/2006/relationships/slide" Target="/ppt/slides/slide16.xml" Id="Rfb7bbd86edda4f63" /><Relationship Type="http://schemas.openxmlformats.org/officeDocument/2006/relationships/slide" Target="/ppt/slides/slide17.xml" Id="R0a96b8af133e4087" /><Relationship Type="http://schemas.openxmlformats.org/officeDocument/2006/relationships/slide" Target="/ppt/slides/slide18.xml" Id="R27ed54f55fb743c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4217d9f11124c7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a6b35fd43154417" /><Relationship Type="http://schemas.openxmlformats.org/officeDocument/2006/relationships/notesMaster" Target="/ppt/notesMasters/notesMaster1.xml" Id="R599aa2f630f742fc" /></Relationships>
</file>

<file path=ppt/notesSlides/_rels/notesSlide2.xml.rels>&#65279;<?xml version="1.0" encoding="utf-8"?><Relationships xmlns="http://schemas.openxmlformats.org/package/2006/relationships"><Relationship Type="http://schemas.openxmlformats.org/officeDocument/2006/relationships/slide" Target="/ppt/slides/slide2.xml" Id="Rfcc7e2e551924cf1" /><Relationship Type="http://schemas.openxmlformats.org/officeDocument/2006/relationships/notesMaster" Target="/ppt/notesMasters/notesMaster1.xml" Id="R204c73f7cbd24b05" /></Relationships>
</file>

<file path=ppt/notesSlides/_rels/notesSlide3.xml.rels>&#65279;<?xml version="1.0" encoding="utf-8"?><Relationships xmlns="http://schemas.openxmlformats.org/package/2006/relationships"><Relationship Type="http://schemas.openxmlformats.org/officeDocument/2006/relationships/slide" Target="/ppt/slides/slide3.xml" Id="R6cfe0673157b41d9" /><Relationship Type="http://schemas.openxmlformats.org/officeDocument/2006/relationships/notesMaster" Target="/ppt/notesMasters/notesMaster1.xml" Id="Rf82ad03814854c99" /></Relationships>
</file>

<file path=ppt/notesSlides/_rels/notesSlide4.xml.rels>&#65279;<?xml version="1.0" encoding="utf-8"?><Relationships xmlns="http://schemas.openxmlformats.org/package/2006/relationships"><Relationship Type="http://schemas.openxmlformats.org/officeDocument/2006/relationships/slide" Target="/ppt/slides/slide4.xml" Id="R614b803142f04173" /><Relationship Type="http://schemas.openxmlformats.org/officeDocument/2006/relationships/notesMaster" Target="/ppt/notesMasters/notesMaster1.xml" Id="R139142ac93a44a55" /></Relationships>
</file>

<file path=ppt/notesSlides/_rels/notesSlide5.xml.rels>&#65279;<?xml version="1.0" encoding="utf-8"?><Relationships xmlns="http://schemas.openxmlformats.org/package/2006/relationships"><Relationship Type="http://schemas.openxmlformats.org/officeDocument/2006/relationships/slide" Target="/ppt/slides/slide5.xml" Id="R3a7df42aac7a44e7" /><Relationship Type="http://schemas.openxmlformats.org/officeDocument/2006/relationships/notesMaster" Target="/ppt/notesMasters/notesMaster1.xml" Id="R42d0f71af322453a" /></Relationships>
</file>

<file path=ppt/notesSlides/_rels/notesSlide6.xml.rels>&#65279;<?xml version="1.0" encoding="utf-8"?><Relationships xmlns="http://schemas.openxmlformats.org/package/2006/relationships"><Relationship Type="http://schemas.openxmlformats.org/officeDocument/2006/relationships/slide" Target="/ppt/slides/slide6.xml" Id="R5b0e4de85e8a4510" /><Relationship Type="http://schemas.openxmlformats.org/officeDocument/2006/relationships/notesMaster" Target="/ppt/notesMasters/notesMaster1.xml" Id="Ree8033544f9b49fd" /></Relationships>
</file>

<file path=ppt/notesSlides/_rels/notesSlide7.xml.rels>&#65279;<?xml version="1.0" encoding="utf-8"?><Relationships xmlns="http://schemas.openxmlformats.org/package/2006/relationships"><Relationship Type="http://schemas.openxmlformats.org/officeDocument/2006/relationships/slide" Target="/ppt/slides/slide7.xml" Id="R08ba98a782e648f1" /><Relationship Type="http://schemas.openxmlformats.org/officeDocument/2006/relationships/notesMaster" Target="/ppt/notesMasters/notesMaster1.xml" Id="R661a867575cd4a6b" /></Relationships>
</file>

<file path=ppt/notesSlides/_rels/notesSlide8.xml.rels>&#65279;<?xml version="1.0" encoding="utf-8"?><Relationships xmlns="http://schemas.openxmlformats.org/package/2006/relationships"><Relationship Type="http://schemas.openxmlformats.org/officeDocument/2006/relationships/slide" Target="/ppt/slides/slide8.xml" Id="R4adc13b69fbe4d7f" /><Relationship Type="http://schemas.openxmlformats.org/officeDocument/2006/relationships/notesMaster" Target="/ppt/notesMasters/notesMaster1.xml" Id="Ra382d323f2014dfe" /></Relationships>
</file>

<file path=ppt/notesSlides/_rels/notesSlide9.xml.rels>&#65279;<?xml version="1.0" encoding="utf-8"?><Relationships xmlns="http://schemas.openxmlformats.org/package/2006/relationships"><Relationship Type="http://schemas.openxmlformats.org/officeDocument/2006/relationships/slide" Target="/ppt/slides/slide9.xml" Id="R2b5c05eb59734dd1" /><Relationship Type="http://schemas.openxmlformats.org/officeDocument/2006/relationships/notesMaster" Target="/ppt/notesMasters/notesMaster1.xml" Id="R24cf5c4c0f1e4f2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fb57f57852c4057" /><Relationship Type="http://schemas.openxmlformats.org/officeDocument/2006/relationships/notesMaster" Target="/ppt/notesMasters/notesMaster1.xml" Id="R3ff68cfa819b417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df9d30a500b4d79" /><Relationship Type="http://schemas.openxmlformats.org/officeDocument/2006/relationships/notesMaster" Target="/ppt/notesMasters/notesMaster1.xml" Id="R8c2346893ca8495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7205a69ed55409a" /><Relationship Type="http://schemas.openxmlformats.org/officeDocument/2006/relationships/notesMaster" Target="/ppt/notesMasters/notesMaster1.xml" Id="R64a63378a1c94f3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2003c6e618b4ce6" /><Relationship Type="http://schemas.openxmlformats.org/officeDocument/2006/relationships/notesMaster" Target="/ppt/notesMasters/notesMaster1.xml" Id="Rf6f6adf98abf419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edbd26341924b74" /><Relationship Type="http://schemas.openxmlformats.org/officeDocument/2006/relationships/notesMaster" Target="/ppt/notesMasters/notesMaster1.xml" Id="R8513b82866a0407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ff381fb0c074e24" /><Relationship Type="http://schemas.openxmlformats.org/officeDocument/2006/relationships/notesMaster" Target="/ppt/notesMasters/notesMaster1.xml" Id="Ra203634ed7a3421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fc78b6d32a14727" /><Relationship Type="http://schemas.openxmlformats.org/officeDocument/2006/relationships/notesMaster" Target="/ppt/notesMasters/notesMaster1.xml" Id="R6d346beccf174b9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df6f7dc3be84442" /><Relationship Type="http://schemas.openxmlformats.org/officeDocument/2006/relationships/notesMaster" Target="/ppt/notesMasters/notesMaster1.xml" Id="Rd773927be74f461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c91ffa3a9be427d" /><Relationship Type="http://schemas.openxmlformats.org/officeDocument/2006/relationships/notesMaster" Target="/ppt/notesMasters/notesMaster1.xml" Id="R1e5f926a3982483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5db73a9dea04fe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ccbe85828a842f0" /><Relationship Type="http://schemas.openxmlformats.org/officeDocument/2006/relationships/slideLayout" Target="/ppt/slideLayouts/slideLayout1.xml" Id="R94ff63aa7047413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4ff63aa7047413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9f9d628c06742f2" /><Relationship Type="http://schemas.openxmlformats.org/officeDocument/2006/relationships/notesSlide" Target="/ppt/notesSlides/notesSlide1.xml" Id="R8d504664ced545c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2b690317e824182" /><Relationship Type="http://schemas.openxmlformats.org/officeDocument/2006/relationships/notesSlide" Target="/ppt/notesSlides/notesSlide2.xml" Id="R5616369c1c9a41b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d29ddebb212490c" /><Relationship Type="http://schemas.openxmlformats.org/officeDocument/2006/relationships/image" Target="/ppt/media/image.jpeg" Id="R0f117ad8a11b417b" /><Relationship Type="http://schemas.openxmlformats.org/officeDocument/2006/relationships/notesSlide" Target="/ppt/notesSlides/notesSlide3.xml" Id="Rf54d11bf0d0248c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c1d9d5820e84ebf" /><Relationship Type="http://schemas.openxmlformats.org/officeDocument/2006/relationships/notesSlide" Target="/ppt/notesSlides/notesSlide4.xml" Id="R85827a19884b41f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c0b94a489f742b1" /><Relationship Type="http://schemas.openxmlformats.org/officeDocument/2006/relationships/image" Target="/ppt/media/image.png" Id="R60b0139fea024c83" /><Relationship Type="http://schemas.openxmlformats.org/officeDocument/2006/relationships/notesSlide" Target="/ppt/notesSlides/notesSlide5.xml" Id="Ra04536776bfe4cc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d3c77d73785427e" /><Relationship Type="http://schemas.openxmlformats.org/officeDocument/2006/relationships/notesSlide" Target="/ppt/notesSlides/notesSlide6.xml" Id="Re19fc59a5d974f7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71b1064aada449c" /><Relationship Type="http://schemas.openxmlformats.org/officeDocument/2006/relationships/image" Target="/ppt/media/image2.png" Id="R1f92ea786e4c4438" /><Relationship Type="http://schemas.openxmlformats.org/officeDocument/2006/relationships/notesSlide" Target="/ppt/notesSlides/notesSlide7.xml" Id="Ra12e7700ed544c6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9a3c3d4cdcc4d29" /><Relationship Type="http://schemas.openxmlformats.org/officeDocument/2006/relationships/notesSlide" Target="/ppt/notesSlides/notesSlide8.xml" Id="Rff01ab7058704bd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03b70f3cfb74949" /><Relationship Type="http://schemas.openxmlformats.org/officeDocument/2006/relationships/image" Target="/ppt/media/image3.png" Id="Rd83bca442c5e4625" /><Relationship Type="http://schemas.openxmlformats.org/officeDocument/2006/relationships/notesSlide" Target="/ppt/notesSlides/notesSlide9.xml" Id="Rd5b9ea06ed544e1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145913d0cb243c7" /><Relationship Type="http://schemas.openxmlformats.org/officeDocument/2006/relationships/notesSlide" Target="/ppt/notesSlides/notesSlide10.xml" Id="R46a2c3fb7c95434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1f2a70e65344f35" /><Relationship Type="http://schemas.openxmlformats.org/officeDocument/2006/relationships/image" Target="/ppt/media/image4.png" Id="Rb6face753b874f33" /><Relationship Type="http://schemas.openxmlformats.org/officeDocument/2006/relationships/notesSlide" Target="/ppt/notesSlides/notesSlide11.xml" Id="R9c96cb25ad0c4e3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f9318311cbf49d4" /><Relationship Type="http://schemas.openxmlformats.org/officeDocument/2006/relationships/image" Target="/ppt/media/image5.png" Id="R469097ce5436418f" /><Relationship Type="http://schemas.openxmlformats.org/officeDocument/2006/relationships/notesSlide" Target="/ppt/notesSlides/notesSlide12.xml" Id="R07d963fc0a884f2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3d984eeec3141d6" /><Relationship Type="http://schemas.openxmlformats.org/officeDocument/2006/relationships/image" Target="/ppt/media/image6.png" Id="Rab608ee285a74de2" /><Relationship Type="http://schemas.openxmlformats.org/officeDocument/2006/relationships/image" Target="/ppt/media/image7.png" Id="R6cd3bb0698c84a97" /><Relationship Type="http://schemas.openxmlformats.org/officeDocument/2006/relationships/image" Target="/ppt/media/image8.png" Id="R1c83d1371aa34a78" /><Relationship Type="http://schemas.openxmlformats.org/officeDocument/2006/relationships/notesSlide" Target="/ppt/notesSlides/notesSlide13.xml" Id="Ree5ee457622c46d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0049aace4324d42" /><Relationship Type="http://schemas.openxmlformats.org/officeDocument/2006/relationships/image" Target="/ppt/media/image9.png" Id="Rcd5e449f04e04122" /><Relationship Type="http://schemas.openxmlformats.org/officeDocument/2006/relationships/image" Target="/ppt/media/image10.png" Id="R1c89ecbcd0d14524" /><Relationship Type="http://schemas.openxmlformats.org/officeDocument/2006/relationships/notesSlide" Target="/ppt/notesSlides/notesSlide14.xml" Id="R643f0e1bfd064cd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f8e1ad955f14b54" /><Relationship Type="http://schemas.openxmlformats.org/officeDocument/2006/relationships/image" Target="/ppt/media/image11.png" Id="R849ced180eb34685" /><Relationship Type="http://schemas.openxmlformats.org/officeDocument/2006/relationships/notesSlide" Target="/ppt/notesSlides/notesSlide15.xml" Id="R16340af4c5a7479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2ec1ab95a5f48e8" /><Relationship Type="http://schemas.openxmlformats.org/officeDocument/2006/relationships/notesSlide" Target="/ppt/notesSlides/notesSlide16.xml" Id="Rd636b841421d445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e06b6cad3484217" /><Relationship Type="http://schemas.openxmlformats.org/officeDocument/2006/relationships/notesSlide" Target="/ppt/notesSlides/notesSlide17.xml" Id="R2d00cbae5cc54d5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e676062b9494b2e" /><Relationship Type="http://schemas.openxmlformats.org/officeDocument/2006/relationships/notesSlide" Target="/ppt/notesSlides/notesSlide18.xml" Id="R8e021ed2d82342cb" /></Relationships>
</file>

<file path=ppt/slides/slide1.xml><?xml version="1.0" encoding="utf-8"?>
<p:sld xmlns:p="http://schemas.openxmlformats.org/presentationml/2006/main">
  <p:cSld>
    <p:bg>
      <p:bgPr>
        <a:solidFill xmlns:a="http://schemas.openxmlformats.org/drawingml/2006/main">
          <a:srgbClr val="203F6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50C1CEF-1222-4819-A824-234DD164BD15}"/>
              </a:ext>
            </a:extLst>
          </p:cNvPr>
          <p:cNvSpPr>
            <a:spLocks xmlns:a="http://schemas.openxmlformats.org/drawingml/2006/main" noGrp="1"/>
          </p:cNvSpPr>
          <p:nvPr/>
        </p:nvSpPr>
        <p:spPr>
          <a:xfrm xmlns:a="http://schemas.openxmlformats.org/drawingml/2006/main">
            <a:off x="0" y="1428750"/>
            <a:ext cx="12192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4200" b="1" i="0">
                <a:solidFill>
                  <a:srgbClr val="FFFFFF"/>
                </a:solidFill>
              </a:defRPr>
            </a:pPr>
            <a:r>
              <a:rPr sz="4200" b="1" i="0">
                <a:solidFill>
                  <a:srgbClr val="FFFFFF"/>
                </a:solidFill>
              </a:rPr>
              <a:t>SIRCH</a:t>
            </a:r>
          </a:p>
        </p:txBody>
      </p:sp>
      <p:sp>
        <p:nvSpPr>
          <p:cNvPr id="2" name="">
            <a:extLst xmlns:a="http://schemas.openxmlformats.org/drawingml/2006/main">
              <a:ext uri="{FF2B5EF4-FFF2-40B4-BE49-F238E27FC236}">
                <a16:creationId xmlns:a16="http://schemas.microsoft.com/office/drawing/2014/main" id="{B87045E9-F8F7-4099-91E5-E565A9720EA4}"/>
              </a:ext>
            </a:extLst>
          </p:cNvPr>
          <p:cNvSpPr>
            <a:spLocks xmlns:a="http://schemas.openxmlformats.org/drawingml/2006/main" noGrp="1"/>
          </p:cNvSpPr>
          <p:nvPr/>
        </p:nvSpPr>
        <p:spPr>
          <a:xfrm xmlns:a="http://schemas.openxmlformats.org/drawingml/2006/main">
            <a:off x="0" y="2238375"/>
            <a:ext cx="1219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0" i="0">
                <a:solidFill>
                  <a:srgbClr val="FFFFFF"/>
                </a:solidFill>
              </a:defRPr>
            </a:pPr>
            <a:r>
              <a:rPr sz="1725" b="0" i="0">
                <a:solidFill>
                  <a:srgbClr val="FFFFFF"/>
                </a:solidFill>
              </a:rPr>
              <a:t>Système Intelligent de Reconnaissance de Comportements Humains</a:t>
            </a:r>
          </a:p>
        </p:txBody>
      </p:sp>
      <p:sp>
        <p:nvSpPr>
          <p:cNvPr id="3" name="">
            <a:extLst xmlns:a="http://schemas.openxmlformats.org/drawingml/2006/main">
              <a:ext uri="{FF2B5EF4-FFF2-40B4-BE49-F238E27FC236}">
                <a16:creationId xmlns:a16="http://schemas.microsoft.com/office/drawing/2014/main" id="{D63D7951-2C90-4BDF-B974-F0531A123F90}"/>
              </a:ext>
            </a:extLst>
          </p:cNvPr>
          <p:cNvSpPr>
            <a:spLocks xmlns:a="http://schemas.openxmlformats.org/drawingml/2006/main" noGrp="1"/>
          </p:cNvSpPr>
          <p:nvPr/>
        </p:nvSpPr>
        <p:spPr>
          <a:xfrm xmlns:a="http://schemas.openxmlformats.org/drawingml/2006/main">
            <a:off x="4095750" y="2857500"/>
            <a:ext cx="4000500" cy="47625"/>
          </a:xfrm>
          <a:prstGeom xmlns:a="http://schemas.openxmlformats.org/drawingml/2006/main" prst="rect">
            <a:avLst/>
          </a:prstGeom>
          <a:solidFill xmlns:a="http://schemas.openxmlformats.org/drawingml/2006/main">
            <a:srgbClr val="1C8B5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9C4E95E-D34E-4B25-8BFD-C2530712EE7E}"/>
              </a:ext>
            </a:extLst>
          </p:cNvPr>
          <p:cNvSpPr>
            <a:spLocks xmlns:a="http://schemas.openxmlformats.org/drawingml/2006/main" noGrp="1"/>
          </p:cNvSpPr>
          <p:nvPr/>
        </p:nvSpPr>
        <p:spPr>
          <a:xfrm xmlns:a="http://schemas.openxmlformats.org/drawingml/2006/main">
            <a:off x="2381250" y="3295650"/>
            <a:ext cx="7429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i="0">
                <a:solidFill>
                  <a:srgbClr val="FFFFFF"/>
                </a:solidFill>
              </a:defRPr>
            </a:pPr>
            <a:r>
              <a:rPr sz="2025" b="1" i="0">
                <a:solidFill>
                  <a:srgbClr val="FFFFFF"/>
                </a:solidFill>
              </a:rPr>
              <a:t>Application à la détection de violence en temps réel</a:t>
            </a:r>
          </a:p>
        </p:txBody>
      </p:sp>
      <p:sp>
        <p:nvSpPr>
          <p:cNvPr id="5" name="">
            <a:extLst xmlns:a="http://schemas.openxmlformats.org/drawingml/2006/main">
              <a:ext uri="{FF2B5EF4-FFF2-40B4-BE49-F238E27FC236}">
                <a16:creationId xmlns:a16="http://schemas.microsoft.com/office/drawing/2014/main" id="{036727E5-13C5-48B3-A5D6-F96A376AF214}"/>
              </a:ext>
            </a:extLst>
          </p:cNvPr>
          <p:cNvSpPr>
            <a:spLocks xmlns:a="http://schemas.openxmlformats.org/drawingml/2006/main" noGrp="1"/>
          </p:cNvSpPr>
          <p:nvPr/>
        </p:nvSpPr>
        <p:spPr>
          <a:xfrm xmlns:a="http://schemas.openxmlformats.org/drawingml/2006/main">
            <a:off x="2857500" y="4857750"/>
            <a:ext cx="6477000" cy="914400"/>
          </a:xfrm>
          <a:prstGeom xmlns:a="http://schemas.openxmlformats.org/drawingml/2006/main" prst="roundRect">
            <a:avLst>
              <a:gd name="adj" fmla="val 8333"/>
            </a:avLst>
          </a:prstGeom>
          <a:solidFill xmlns:a="http://schemas.openxmlformats.org/drawingml/2006/main">
            <a:srgbClr val="2A4D82"/>
          </a:solidFill>
          <a:ln xmlns:a="http://schemas.openxmlformats.org/drawingml/2006/main" w="9525">
            <a:solidFill>
              <a:srgbClr val="5D7DA8"/>
            </a:solidFill>
            <a:prstDash val="solid"/>
          </a:ln>
        </p:spPr>
      </p:sp>
      <p:sp>
        <p:nvSpPr>
          <p:cNvPr id="6" name="">
            <a:extLst xmlns:a="http://schemas.openxmlformats.org/drawingml/2006/main">
              <a:ext uri="{FF2B5EF4-FFF2-40B4-BE49-F238E27FC236}">
                <a16:creationId xmlns:a16="http://schemas.microsoft.com/office/drawing/2014/main" id="{BFD660C7-9207-4A1A-8CE4-F8603D283012}"/>
              </a:ext>
            </a:extLst>
          </p:cNvPr>
          <p:cNvSpPr>
            <a:spLocks xmlns:a="http://schemas.openxmlformats.org/drawingml/2006/main" noGrp="1"/>
          </p:cNvSpPr>
          <p:nvPr/>
        </p:nvSpPr>
        <p:spPr>
          <a:xfrm xmlns:a="http://schemas.openxmlformats.org/drawingml/2006/main">
            <a:off x="3124200" y="5010150"/>
            <a:ext cx="5943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i="0">
                <a:solidFill>
                  <a:srgbClr val="FFFFFF"/>
                </a:solidFill>
              </a:defRPr>
            </a:pPr>
            <a:r>
              <a:rPr sz="1125" b="0" i="0">
                <a:solidFill>
                  <a:srgbClr val="FFFFFF"/>
                </a:solidFill>
              </a:rPr>
              <a:t>Alipade Benzanza Tracy</a:t>
            </a:r>
          </a:p>
          <a:p xmlns:a="http://schemas.openxmlformats.org/drawingml/2006/main">
            <a:pPr algn="ctr">
              <a:defRPr sz="1125" b="0" i="0">
                <a:solidFill>
                  <a:srgbClr val="FFFFFF"/>
                </a:solidFill>
              </a:defRPr>
            </a:pPr>
            <a:r>
              <a:rPr sz="1125" b="0" i="0">
                <a:solidFill>
                  <a:srgbClr val="FFFFFF"/>
                </a:solidFill>
              </a:rPr>
              <a:t>Université Nouveaux Horizons, Faculté des Sciences Informatiques</a:t>
            </a:r>
          </a:p>
          <a:p xmlns:a="http://schemas.openxmlformats.org/drawingml/2006/main">
            <a:pPr algn="ctr">
              <a:defRPr sz="1125" b="0" i="0">
                <a:solidFill>
                  <a:srgbClr val="FFFFFF"/>
                </a:solidFill>
              </a:defRPr>
            </a:pPr>
            <a:r>
              <a:rPr sz="1125" b="0" i="0">
                <a:solidFill>
                  <a:srgbClr val="FFFFFF"/>
                </a:solidFill>
              </a:rPr>
              <a:t>Directeur : Prof. Antoine Bagula    Codirecteur : Assistant Landry Mbale</a:t>
            </a:r>
          </a:p>
          <a:p xmlns:a="http://schemas.openxmlformats.org/drawingml/2006/main">
            <a:pPr algn="ctr">
              <a:defRPr sz="1125" b="0" i="0">
                <a:solidFill>
                  <a:srgbClr val="FFFFFF"/>
                </a:solidFill>
              </a:defRPr>
            </a:pPr>
            <a:r>
              <a:rPr sz="1125" b="0" i="0">
                <a:solidFill>
                  <a:srgbClr val="FFFFFF"/>
                </a:solidFill>
              </a:rPr>
              <a:t>Année académique 2025 à 2026</a:t>
            </a:r>
          </a:p>
        </p:txBody>
      </p:sp>
      <p:sp>
        <p:nvSpPr>
          <p:cNvPr id="7" name="">
            <a:extLst xmlns:a="http://schemas.openxmlformats.org/drawingml/2006/main">
              <a:ext uri="{FF2B5EF4-FFF2-40B4-BE49-F238E27FC236}">
                <a16:creationId xmlns:a16="http://schemas.microsoft.com/office/drawing/2014/main" id="{3D281DAC-9B32-481A-82D5-494A64F4C96C}"/>
              </a:ext>
            </a:extLst>
          </p:cNvPr>
          <p:cNvSpPr>
            <a:spLocks xmlns:a="http://schemas.openxmlformats.org/drawingml/2006/main" noGrp="1"/>
          </p:cNvSpPr>
          <p:nvPr/>
        </p:nvSpPr>
        <p:spPr>
          <a:xfrm xmlns:a="http://schemas.openxmlformats.org/drawingml/2006/main">
            <a:off x="552450" y="6362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i="0">
                <a:solidFill>
                  <a:srgbClr val="D9E6F1"/>
                </a:solidFill>
              </a:defRPr>
            </a:pPr>
            <a:r>
              <a:rPr sz="675" b="0" i="0">
                <a:solidFill>
                  <a:srgbClr val="D9E6F1"/>
                </a:solidFill>
              </a:rPr>
              <a:t>Titre</a:t>
            </a:r>
          </a:p>
        </p:txBody>
      </p:sp>
      <p:sp>
        <p:nvSpPr>
          <p:cNvPr id="8" name="">
            <a:extLst xmlns:a="http://schemas.openxmlformats.org/drawingml/2006/main">
              <a:ext uri="{FF2B5EF4-FFF2-40B4-BE49-F238E27FC236}">
                <a16:creationId xmlns:a16="http://schemas.microsoft.com/office/drawing/2014/main" id="{CB8AFAE4-A43E-441A-B00D-AAF87790D700}"/>
              </a:ext>
            </a:extLst>
          </p:cNvPr>
          <p:cNvSpPr>
            <a:spLocks xmlns:a="http://schemas.openxmlformats.org/drawingml/2006/main" noGrp="1"/>
          </p:cNvSpPr>
          <p:nvPr/>
        </p:nvSpPr>
        <p:spPr>
          <a:xfrm xmlns:a="http://schemas.openxmlformats.org/drawingml/2006/main">
            <a:off x="11049000" y="63627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0" i="0">
                <a:solidFill>
                  <a:srgbClr val="D9E6F1"/>
                </a:solidFill>
              </a:defRPr>
            </a:pPr>
            <a:r>
              <a:rPr sz="750" b="0" i="0">
                <a:solidFill>
                  <a:srgbClr val="D9E6F1"/>
                </a:solidFill>
              </a:rPr>
              <a:t>1 / 18</a:t>
            </a:r>
          </a:p>
        </p:txBody>
      </p:sp>
    </p:spTree>
    <p:extLst>
      <p:ext uri="{BB962C8B-B14F-4D97-AF65-F5344CB8AC3E}">
        <p14:creationId xmlns:p14="http://schemas.microsoft.com/office/powerpoint/2010/main" val="8528118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6C9755C-C296-47FB-9F34-9216C17B8060}"/>
              </a:ext>
            </a:extLst>
          </p:cNvPr>
          <p:cNvSpPr>
            <a:spLocks xmlns:a="http://schemas.openxmlformats.org/drawingml/2006/main" noGrp="1"/>
          </p:cNvSpPr>
          <p:nvPr/>
        </p:nvSpPr>
        <p:spPr>
          <a:xfrm xmlns:a="http://schemas.openxmlformats.org/drawingml/2006/main">
            <a:off x="552450" y="419100"/>
            <a:ext cx="933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i="0">
                <a:solidFill>
                  <a:srgbClr val="17345F"/>
                </a:solidFill>
              </a:defRPr>
            </a:pPr>
            <a:r>
              <a:rPr sz="2550" b="1" i="0">
                <a:solidFill>
                  <a:srgbClr val="17345F"/>
                </a:solidFill>
              </a:rPr>
              <a:t>Plan de la présentation</a:t>
            </a:r>
          </a:p>
        </p:txBody>
      </p:sp>
      <p:sp>
        <p:nvSpPr>
          <p:cNvPr id="2" name="">
            <a:extLst xmlns:a="http://schemas.openxmlformats.org/drawingml/2006/main">
              <a:ext uri="{FF2B5EF4-FFF2-40B4-BE49-F238E27FC236}">
                <a16:creationId xmlns:a16="http://schemas.microsoft.com/office/drawing/2014/main" id="{B857A306-A8A1-4E2E-99B5-8BA44EF950DD}"/>
              </a:ext>
            </a:extLst>
          </p:cNvPr>
          <p:cNvSpPr>
            <a:spLocks xmlns:a="http://schemas.openxmlformats.org/drawingml/2006/main" noGrp="1"/>
          </p:cNvSpPr>
          <p:nvPr/>
        </p:nvSpPr>
        <p:spPr>
          <a:xfrm xmlns:a="http://schemas.openxmlformats.org/drawingml/2006/main">
            <a:off x="552450" y="1095375"/>
            <a:ext cx="1047750" cy="47625"/>
          </a:xfrm>
          <a:prstGeom xmlns:a="http://schemas.openxmlformats.org/drawingml/2006/main" prst="rect">
            <a:avLst/>
          </a:prstGeom>
          <a:solidFill xmlns:a="http://schemas.openxmlformats.org/drawingml/2006/main">
            <a:srgbClr val="1C8B53"/>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86C9F2C-2164-4C85-B667-E312B19400B7}"/>
              </a:ext>
            </a:extLst>
          </p:cNvPr>
          <p:cNvSpPr>
            <a:spLocks xmlns:a="http://schemas.openxmlformats.org/drawingml/2006/main" noGrp="1"/>
          </p:cNvSpPr>
          <p:nvPr/>
        </p:nvSpPr>
        <p:spPr>
          <a:xfrm xmlns:a="http://schemas.openxmlformats.org/drawingml/2006/main">
            <a:off x="552450" y="1238250"/>
            <a:ext cx="838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A6B82"/>
                </a:solidFill>
              </a:defRPr>
            </a:pPr>
            <a:r>
              <a:rPr sz="1200" b="0" i="0">
                <a:solidFill>
                  <a:srgbClr val="5A6B82"/>
                </a:solidFill>
              </a:rPr>
              <a:t>Une progression courte : du problème scientifique à la validation du système.</a:t>
            </a:r>
          </a:p>
        </p:txBody>
      </p:sp>
      <p:sp>
        <p:nvSpPr>
          <p:cNvPr id="4" name="">
            <a:extLst xmlns:a="http://schemas.openxmlformats.org/drawingml/2006/main">
              <a:ext uri="{FF2B5EF4-FFF2-40B4-BE49-F238E27FC236}">
                <a16:creationId xmlns:a16="http://schemas.microsoft.com/office/drawing/2014/main" id="{56F7F067-64C2-4CEA-822C-AC9435654C1F}"/>
              </a:ext>
            </a:extLst>
          </p:cNvPr>
          <p:cNvSpPr>
            <a:spLocks xmlns:a="http://schemas.openxmlformats.org/drawingml/2006/main" noGrp="1"/>
          </p:cNvSpPr>
          <p:nvPr/>
        </p:nvSpPr>
        <p:spPr>
          <a:xfrm xmlns:a="http://schemas.openxmlformats.org/drawingml/2006/main">
            <a:off x="857250" y="1762125"/>
            <a:ext cx="4476750" cy="819150"/>
          </a:xfrm>
          <a:prstGeom xmlns:a="http://schemas.openxmlformats.org/drawingml/2006/main" prst="roundRect">
            <a:avLst>
              <a:gd name="adj" fmla="val 9302"/>
            </a:avLst>
          </a:prstGeom>
          <a:solidFill xmlns:a="http://schemas.openxmlformats.org/drawingml/2006/main">
            <a:srgbClr val="EEF5FA"/>
          </a:solidFill>
          <a:ln xmlns:a="http://schemas.openxmlformats.org/drawingml/2006/main" w="9525">
            <a:solidFill>
              <a:srgbClr val="C8D6E4"/>
            </a:solidFill>
            <a:prstDash val="solid"/>
          </a:ln>
        </p:spPr>
      </p:sp>
      <p:sp>
        <p:nvSpPr>
          <p:cNvPr id="5" name="">
            <a:extLst xmlns:a="http://schemas.openxmlformats.org/drawingml/2006/main">
              <a:ext uri="{FF2B5EF4-FFF2-40B4-BE49-F238E27FC236}">
                <a16:creationId xmlns:a16="http://schemas.microsoft.com/office/drawing/2014/main" id="{BEFF6570-3175-4E91-9C37-ADE774A62878}"/>
              </a:ext>
            </a:extLst>
          </p:cNvPr>
          <p:cNvSpPr>
            <a:spLocks xmlns:a="http://schemas.openxmlformats.org/drawingml/2006/main" noGrp="1"/>
          </p:cNvSpPr>
          <p:nvPr/>
        </p:nvSpPr>
        <p:spPr>
          <a:xfrm xmlns:a="http://schemas.openxmlformats.org/drawingml/2006/main">
            <a:off x="1028700" y="1971675"/>
            <a:ext cx="400050" cy="400050"/>
          </a:xfrm>
          <a:prstGeom xmlns:a="http://schemas.openxmlformats.org/drawingml/2006/main" prst="roundRect">
            <a:avLst>
              <a:gd name="adj" fmla="val 14286"/>
            </a:avLst>
          </a:prstGeom>
          <a:solidFill xmlns:a="http://schemas.openxmlformats.org/drawingml/2006/main">
            <a:srgbClr val="203F6E"/>
          </a:solidFill>
          <a:ln xmlns:a="http://schemas.openxmlformats.org/drawingml/2006/main" w="9525">
            <a:solidFill>
              <a:srgbClr val="203F6E"/>
            </a:solidFill>
            <a:prstDash val="solid"/>
          </a:ln>
        </p:spPr>
      </p:sp>
      <p:sp>
        <p:nvSpPr>
          <p:cNvPr id="6" name="">
            <a:extLst xmlns:a="http://schemas.openxmlformats.org/drawingml/2006/main">
              <a:ext uri="{FF2B5EF4-FFF2-40B4-BE49-F238E27FC236}">
                <a16:creationId xmlns:a16="http://schemas.microsoft.com/office/drawing/2014/main" id="{E5C9B47A-CA3B-425C-B616-BF698764B25B}"/>
              </a:ext>
            </a:extLst>
          </p:cNvPr>
          <p:cNvSpPr>
            <a:spLocks xmlns:a="http://schemas.openxmlformats.org/drawingml/2006/main" noGrp="1"/>
          </p:cNvSpPr>
          <p:nvPr/>
        </p:nvSpPr>
        <p:spPr>
          <a:xfrm xmlns:a="http://schemas.openxmlformats.org/drawingml/2006/main">
            <a:off x="1028700" y="204787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1</a:t>
            </a:r>
          </a:p>
        </p:txBody>
      </p:sp>
      <p:sp>
        <p:nvSpPr>
          <p:cNvPr id="7" name="">
            <a:extLst xmlns:a="http://schemas.openxmlformats.org/drawingml/2006/main">
              <a:ext uri="{FF2B5EF4-FFF2-40B4-BE49-F238E27FC236}">
                <a16:creationId xmlns:a16="http://schemas.microsoft.com/office/drawing/2014/main" id="{99323565-3BC7-45CF-B525-65656476A308}"/>
              </a:ext>
            </a:extLst>
          </p:cNvPr>
          <p:cNvSpPr>
            <a:spLocks xmlns:a="http://schemas.openxmlformats.org/drawingml/2006/main" noGrp="1"/>
          </p:cNvSpPr>
          <p:nvPr/>
        </p:nvSpPr>
        <p:spPr>
          <a:xfrm xmlns:a="http://schemas.openxmlformats.org/drawingml/2006/main">
            <a:off x="1600200" y="195262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7345F"/>
                </a:solidFill>
              </a:defRPr>
            </a:pPr>
            <a:r>
              <a:rPr sz="1350" b="1" i="0">
                <a:solidFill>
                  <a:srgbClr val="17345F"/>
                </a:solidFill>
              </a:rPr>
              <a:t>Contexte et problème</a:t>
            </a:r>
          </a:p>
        </p:txBody>
      </p:sp>
      <p:sp>
        <p:nvSpPr>
          <p:cNvPr id="8" name="">
            <a:extLst xmlns:a="http://schemas.openxmlformats.org/drawingml/2006/main">
              <a:ext uri="{FF2B5EF4-FFF2-40B4-BE49-F238E27FC236}">
                <a16:creationId xmlns:a16="http://schemas.microsoft.com/office/drawing/2014/main" id="{6DCDB08F-9FF7-4635-9C51-660DCB83DC03}"/>
              </a:ext>
            </a:extLst>
          </p:cNvPr>
          <p:cNvSpPr>
            <a:spLocks xmlns:a="http://schemas.openxmlformats.org/drawingml/2006/main" noGrp="1"/>
          </p:cNvSpPr>
          <p:nvPr/>
        </p:nvSpPr>
        <p:spPr>
          <a:xfrm xmlns:a="http://schemas.openxmlformats.org/drawingml/2006/main">
            <a:off x="1600200" y="2238375"/>
            <a:ext cx="3476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i="0">
                <a:solidFill>
                  <a:srgbClr val="5A6B82"/>
                </a:solidFill>
              </a:defRPr>
            </a:pPr>
            <a:r>
              <a:rPr sz="1050" b="0" i="0">
                <a:solidFill>
                  <a:srgbClr val="5A6B82"/>
                </a:solidFill>
              </a:rPr>
              <a:t>Pourquoi automatiser la surveillance vidéo ?</a:t>
            </a:r>
          </a:p>
        </p:txBody>
      </p:sp>
      <p:sp>
        <p:nvSpPr>
          <p:cNvPr id="9" name="">
            <a:extLst xmlns:a="http://schemas.openxmlformats.org/drawingml/2006/main">
              <a:ext uri="{FF2B5EF4-FFF2-40B4-BE49-F238E27FC236}">
                <a16:creationId xmlns:a16="http://schemas.microsoft.com/office/drawing/2014/main" id="{AD37CD62-FA93-4786-91C7-BB5DD83BD849}"/>
              </a:ext>
            </a:extLst>
          </p:cNvPr>
          <p:cNvSpPr>
            <a:spLocks xmlns:a="http://schemas.openxmlformats.org/drawingml/2006/main" noGrp="1"/>
          </p:cNvSpPr>
          <p:nvPr/>
        </p:nvSpPr>
        <p:spPr>
          <a:xfrm xmlns:a="http://schemas.openxmlformats.org/drawingml/2006/main">
            <a:off x="6286500" y="1762125"/>
            <a:ext cx="4476750" cy="819150"/>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9525">
            <a:solidFill>
              <a:srgbClr val="C8D6E4"/>
            </a:solidFill>
            <a:prstDash val="solid"/>
          </a:ln>
        </p:spPr>
      </p:sp>
      <p:sp>
        <p:nvSpPr>
          <p:cNvPr id="10" name="">
            <a:extLst xmlns:a="http://schemas.openxmlformats.org/drawingml/2006/main">
              <a:ext uri="{FF2B5EF4-FFF2-40B4-BE49-F238E27FC236}">
                <a16:creationId xmlns:a16="http://schemas.microsoft.com/office/drawing/2014/main" id="{8F7BB0CB-CAFE-42B8-ABF3-7A8E75D9EA12}"/>
              </a:ext>
            </a:extLst>
          </p:cNvPr>
          <p:cNvSpPr>
            <a:spLocks xmlns:a="http://schemas.openxmlformats.org/drawingml/2006/main" noGrp="1"/>
          </p:cNvSpPr>
          <p:nvPr/>
        </p:nvSpPr>
        <p:spPr>
          <a:xfrm xmlns:a="http://schemas.openxmlformats.org/drawingml/2006/main">
            <a:off x="6457950" y="1971675"/>
            <a:ext cx="400050" cy="400050"/>
          </a:xfrm>
          <a:prstGeom xmlns:a="http://schemas.openxmlformats.org/drawingml/2006/main" prst="roundRect">
            <a:avLst>
              <a:gd name="adj" fmla="val 14286"/>
            </a:avLst>
          </a:prstGeom>
          <a:solidFill xmlns:a="http://schemas.openxmlformats.org/drawingml/2006/main">
            <a:srgbClr val="203F6E"/>
          </a:solidFill>
          <a:ln xmlns:a="http://schemas.openxmlformats.org/drawingml/2006/main" w="9525">
            <a:solidFill>
              <a:srgbClr val="203F6E"/>
            </a:solidFill>
            <a:prstDash val="solid"/>
          </a:ln>
        </p:spPr>
      </p:sp>
      <p:sp>
        <p:nvSpPr>
          <p:cNvPr id="11" name="">
            <a:extLst xmlns:a="http://schemas.openxmlformats.org/drawingml/2006/main">
              <a:ext uri="{FF2B5EF4-FFF2-40B4-BE49-F238E27FC236}">
                <a16:creationId xmlns:a16="http://schemas.microsoft.com/office/drawing/2014/main" id="{6B7047CA-24DC-46E4-830B-ADC641406F95}"/>
              </a:ext>
            </a:extLst>
          </p:cNvPr>
          <p:cNvSpPr>
            <a:spLocks xmlns:a="http://schemas.openxmlformats.org/drawingml/2006/main" noGrp="1"/>
          </p:cNvSpPr>
          <p:nvPr/>
        </p:nvSpPr>
        <p:spPr>
          <a:xfrm xmlns:a="http://schemas.openxmlformats.org/drawingml/2006/main">
            <a:off x="6457950" y="204787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2</a:t>
            </a:r>
          </a:p>
        </p:txBody>
      </p:sp>
      <p:sp>
        <p:nvSpPr>
          <p:cNvPr id="12" name="">
            <a:extLst xmlns:a="http://schemas.openxmlformats.org/drawingml/2006/main">
              <a:ext uri="{FF2B5EF4-FFF2-40B4-BE49-F238E27FC236}">
                <a16:creationId xmlns:a16="http://schemas.microsoft.com/office/drawing/2014/main" id="{5C033D75-D59A-4909-BD91-4217FADD6A3C}"/>
              </a:ext>
            </a:extLst>
          </p:cNvPr>
          <p:cNvSpPr>
            <a:spLocks xmlns:a="http://schemas.openxmlformats.org/drawingml/2006/main" noGrp="1"/>
          </p:cNvSpPr>
          <p:nvPr/>
        </p:nvSpPr>
        <p:spPr>
          <a:xfrm xmlns:a="http://schemas.openxmlformats.org/drawingml/2006/main">
            <a:off x="7029450" y="195262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7345F"/>
                </a:solidFill>
              </a:defRPr>
            </a:pPr>
            <a:r>
              <a:rPr sz="1350" b="1" i="0">
                <a:solidFill>
                  <a:srgbClr val="17345F"/>
                </a:solidFill>
              </a:rPr>
              <a:t>Objectifs et hypothèse</a:t>
            </a:r>
          </a:p>
        </p:txBody>
      </p:sp>
      <p:sp>
        <p:nvSpPr>
          <p:cNvPr id="13" name="">
            <a:extLst xmlns:a="http://schemas.openxmlformats.org/drawingml/2006/main">
              <a:ext uri="{FF2B5EF4-FFF2-40B4-BE49-F238E27FC236}">
                <a16:creationId xmlns:a16="http://schemas.microsoft.com/office/drawing/2014/main" id="{B19A3073-D5EF-4001-9046-DAFBFBC045B9}"/>
              </a:ext>
            </a:extLst>
          </p:cNvPr>
          <p:cNvSpPr>
            <a:spLocks xmlns:a="http://schemas.openxmlformats.org/drawingml/2006/main" noGrp="1"/>
          </p:cNvSpPr>
          <p:nvPr/>
        </p:nvSpPr>
        <p:spPr>
          <a:xfrm xmlns:a="http://schemas.openxmlformats.org/drawingml/2006/main">
            <a:off x="7029450" y="2238375"/>
            <a:ext cx="3476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i="0">
                <a:solidFill>
                  <a:srgbClr val="5A6B82"/>
                </a:solidFill>
              </a:defRPr>
            </a:pPr>
            <a:r>
              <a:rPr sz="1050" b="0" i="0">
                <a:solidFill>
                  <a:srgbClr val="5A6B82"/>
                </a:solidFill>
              </a:rPr>
              <a:t>Ce que SIRCH cherche à démontrer.</a:t>
            </a:r>
          </a:p>
        </p:txBody>
      </p:sp>
      <p:sp>
        <p:nvSpPr>
          <p:cNvPr id="14" name="">
            <a:extLst xmlns:a="http://schemas.openxmlformats.org/drawingml/2006/main">
              <a:ext uri="{FF2B5EF4-FFF2-40B4-BE49-F238E27FC236}">
                <a16:creationId xmlns:a16="http://schemas.microsoft.com/office/drawing/2014/main" id="{D47F97F6-C5F6-4819-9FF5-6A0F740010E2}"/>
              </a:ext>
            </a:extLst>
          </p:cNvPr>
          <p:cNvSpPr>
            <a:spLocks xmlns:a="http://schemas.openxmlformats.org/drawingml/2006/main" noGrp="1"/>
          </p:cNvSpPr>
          <p:nvPr/>
        </p:nvSpPr>
        <p:spPr>
          <a:xfrm xmlns:a="http://schemas.openxmlformats.org/drawingml/2006/main">
            <a:off x="857250" y="3000375"/>
            <a:ext cx="4476750" cy="819150"/>
          </a:xfrm>
          <a:prstGeom xmlns:a="http://schemas.openxmlformats.org/drawingml/2006/main" prst="roundRect">
            <a:avLst>
              <a:gd name="adj" fmla="val 9302"/>
            </a:avLst>
          </a:prstGeom>
          <a:solidFill xmlns:a="http://schemas.openxmlformats.org/drawingml/2006/main">
            <a:srgbClr val="EEF5FA"/>
          </a:solidFill>
          <a:ln xmlns:a="http://schemas.openxmlformats.org/drawingml/2006/main" w="9525">
            <a:solidFill>
              <a:srgbClr val="C8D6E4"/>
            </a:solidFill>
            <a:prstDash val="solid"/>
          </a:ln>
        </p:spPr>
      </p:sp>
      <p:sp>
        <p:nvSpPr>
          <p:cNvPr id="15" name="">
            <a:extLst xmlns:a="http://schemas.openxmlformats.org/drawingml/2006/main">
              <a:ext uri="{FF2B5EF4-FFF2-40B4-BE49-F238E27FC236}">
                <a16:creationId xmlns:a16="http://schemas.microsoft.com/office/drawing/2014/main" id="{7162E550-5AF8-4BE7-92FD-0E6EB6EE9CF8}"/>
              </a:ext>
            </a:extLst>
          </p:cNvPr>
          <p:cNvSpPr>
            <a:spLocks xmlns:a="http://schemas.openxmlformats.org/drawingml/2006/main" noGrp="1"/>
          </p:cNvSpPr>
          <p:nvPr/>
        </p:nvSpPr>
        <p:spPr>
          <a:xfrm xmlns:a="http://schemas.openxmlformats.org/drawingml/2006/main">
            <a:off x="1028700" y="3209925"/>
            <a:ext cx="400050" cy="400050"/>
          </a:xfrm>
          <a:prstGeom xmlns:a="http://schemas.openxmlformats.org/drawingml/2006/main" prst="roundRect">
            <a:avLst>
              <a:gd name="adj" fmla="val 14286"/>
            </a:avLst>
          </a:prstGeom>
          <a:solidFill xmlns:a="http://schemas.openxmlformats.org/drawingml/2006/main">
            <a:srgbClr val="203F6E"/>
          </a:solidFill>
          <a:ln xmlns:a="http://schemas.openxmlformats.org/drawingml/2006/main" w="9525">
            <a:solidFill>
              <a:srgbClr val="203F6E"/>
            </a:solidFill>
            <a:prstDash val="solid"/>
          </a:ln>
        </p:spPr>
      </p:sp>
      <p:sp>
        <p:nvSpPr>
          <p:cNvPr id="16" name="">
            <a:extLst xmlns:a="http://schemas.openxmlformats.org/drawingml/2006/main">
              <a:ext uri="{FF2B5EF4-FFF2-40B4-BE49-F238E27FC236}">
                <a16:creationId xmlns:a16="http://schemas.microsoft.com/office/drawing/2014/main" id="{2C3203BB-2E89-4C87-8B18-E9943F9D4F11}"/>
              </a:ext>
            </a:extLst>
          </p:cNvPr>
          <p:cNvSpPr>
            <a:spLocks xmlns:a="http://schemas.openxmlformats.org/drawingml/2006/main" noGrp="1"/>
          </p:cNvSpPr>
          <p:nvPr/>
        </p:nvSpPr>
        <p:spPr>
          <a:xfrm xmlns:a="http://schemas.openxmlformats.org/drawingml/2006/main">
            <a:off x="1028700" y="328612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3</a:t>
            </a:r>
          </a:p>
        </p:txBody>
      </p:sp>
      <p:sp>
        <p:nvSpPr>
          <p:cNvPr id="17" name="">
            <a:extLst xmlns:a="http://schemas.openxmlformats.org/drawingml/2006/main">
              <a:ext uri="{FF2B5EF4-FFF2-40B4-BE49-F238E27FC236}">
                <a16:creationId xmlns:a16="http://schemas.microsoft.com/office/drawing/2014/main" id="{DA73C800-BDAD-43F2-93CE-FAE9BA0ACF57}"/>
              </a:ext>
            </a:extLst>
          </p:cNvPr>
          <p:cNvSpPr>
            <a:spLocks xmlns:a="http://schemas.openxmlformats.org/drawingml/2006/main" noGrp="1"/>
          </p:cNvSpPr>
          <p:nvPr/>
        </p:nvSpPr>
        <p:spPr>
          <a:xfrm xmlns:a="http://schemas.openxmlformats.org/drawingml/2006/main">
            <a:off x="1600200" y="319087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7345F"/>
                </a:solidFill>
              </a:defRPr>
            </a:pPr>
            <a:r>
              <a:rPr sz="1350" b="1" i="0">
                <a:solidFill>
                  <a:srgbClr val="17345F"/>
                </a:solidFill>
              </a:rPr>
              <a:t>Méthode et outils</a:t>
            </a:r>
          </a:p>
        </p:txBody>
      </p:sp>
      <p:sp>
        <p:nvSpPr>
          <p:cNvPr id="18" name="">
            <a:extLst xmlns:a="http://schemas.openxmlformats.org/drawingml/2006/main">
              <a:ext uri="{FF2B5EF4-FFF2-40B4-BE49-F238E27FC236}">
                <a16:creationId xmlns:a16="http://schemas.microsoft.com/office/drawing/2014/main" id="{8469B2B9-DB09-473A-94BC-30A7F615C32F}"/>
              </a:ext>
            </a:extLst>
          </p:cNvPr>
          <p:cNvSpPr>
            <a:spLocks xmlns:a="http://schemas.openxmlformats.org/drawingml/2006/main" noGrp="1"/>
          </p:cNvSpPr>
          <p:nvPr/>
        </p:nvSpPr>
        <p:spPr>
          <a:xfrm xmlns:a="http://schemas.openxmlformats.org/drawingml/2006/main">
            <a:off x="1600200" y="3476625"/>
            <a:ext cx="3476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i="0">
                <a:solidFill>
                  <a:srgbClr val="5A6B82"/>
                </a:solidFill>
              </a:defRPr>
            </a:pPr>
            <a:r>
              <a:rPr sz="1050" b="0" i="0">
                <a:solidFill>
                  <a:srgbClr val="5A6B82"/>
                </a:solidFill>
              </a:rPr>
              <a:t>Données, modèle, pipeline et technologies.</a:t>
            </a:r>
          </a:p>
        </p:txBody>
      </p:sp>
      <p:sp>
        <p:nvSpPr>
          <p:cNvPr id="19" name="">
            <a:extLst xmlns:a="http://schemas.openxmlformats.org/drawingml/2006/main">
              <a:ext uri="{FF2B5EF4-FFF2-40B4-BE49-F238E27FC236}">
                <a16:creationId xmlns:a16="http://schemas.microsoft.com/office/drawing/2014/main" id="{0F20AC74-8903-4F73-B7F3-87F0BD8E181A}"/>
              </a:ext>
            </a:extLst>
          </p:cNvPr>
          <p:cNvSpPr>
            <a:spLocks xmlns:a="http://schemas.openxmlformats.org/drawingml/2006/main" noGrp="1"/>
          </p:cNvSpPr>
          <p:nvPr/>
        </p:nvSpPr>
        <p:spPr>
          <a:xfrm xmlns:a="http://schemas.openxmlformats.org/drawingml/2006/main">
            <a:off x="6286500" y="3000375"/>
            <a:ext cx="4476750" cy="819150"/>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9525">
            <a:solidFill>
              <a:srgbClr val="C8D6E4"/>
            </a:solidFill>
            <a:prstDash val="solid"/>
          </a:ln>
        </p:spPr>
      </p:sp>
      <p:sp>
        <p:nvSpPr>
          <p:cNvPr id="20" name="">
            <a:extLst xmlns:a="http://schemas.openxmlformats.org/drawingml/2006/main">
              <a:ext uri="{FF2B5EF4-FFF2-40B4-BE49-F238E27FC236}">
                <a16:creationId xmlns:a16="http://schemas.microsoft.com/office/drawing/2014/main" id="{C2BB0E4C-3F3A-444A-9183-63CAC66508A3}"/>
              </a:ext>
            </a:extLst>
          </p:cNvPr>
          <p:cNvSpPr>
            <a:spLocks xmlns:a="http://schemas.openxmlformats.org/drawingml/2006/main" noGrp="1"/>
          </p:cNvSpPr>
          <p:nvPr/>
        </p:nvSpPr>
        <p:spPr>
          <a:xfrm xmlns:a="http://schemas.openxmlformats.org/drawingml/2006/main">
            <a:off x="6457950" y="3209925"/>
            <a:ext cx="400050" cy="400050"/>
          </a:xfrm>
          <a:prstGeom xmlns:a="http://schemas.openxmlformats.org/drawingml/2006/main" prst="roundRect">
            <a:avLst>
              <a:gd name="adj" fmla="val 14286"/>
            </a:avLst>
          </a:prstGeom>
          <a:solidFill xmlns:a="http://schemas.openxmlformats.org/drawingml/2006/main">
            <a:srgbClr val="203F6E"/>
          </a:solidFill>
          <a:ln xmlns:a="http://schemas.openxmlformats.org/drawingml/2006/main" w="9525">
            <a:solidFill>
              <a:srgbClr val="203F6E"/>
            </a:solidFill>
            <a:prstDash val="solid"/>
          </a:ln>
        </p:spPr>
      </p:sp>
      <p:sp>
        <p:nvSpPr>
          <p:cNvPr id="21" name="">
            <a:extLst xmlns:a="http://schemas.openxmlformats.org/drawingml/2006/main">
              <a:ext uri="{FF2B5EF4-FFF2-40B4-BE49-F238E27FC236}">
                <a16:creationId xmlns:a16="http://schemas.microsoft.com/office/drawing/2014/main" id="{8EB549BC-0C92-445C-8E6B-37951E8EF091}"/>
              </a:ext>
            </a:extLst>
          </p:cNvPr>
          <p:cNvSpPr>
            <a:spLocks xmlns:a="http://schemas.openxmlformats.org/drawingml/2006/main" noGrp="1"/>
          </p:cNvSpPr>
          <p:nvPr/>
        </p:nvSpPr>
        <p:spPr>
          <a:xfrm xmlns:a="http://schemas.openxmlformats.org/drawingml/2006/main">
            <a:off x="6457950" y="328612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4</a:t>
            </a:r>
          </a:p>
        </p:txBody>
      </p:sp>
      <p:sp>
        <p:nvSpPr>
          <p:cNvPr id="22" name="">
            <a:extLst xmlns:a="http://schemas.openxmlformats.org/drawingml/2006/main">
              <a:ext uri="{FF2B5EF4-FFF2-40B4-BE49-F238E27FC236}">
                <a16:creationId xmlns:a16="http://schemas.microsoft.com/office/drawing/2014/main" id="{34C65E75-F009-42DA-AB82-11E4E8E2BA10}"/>
              </a:ext>
            </a:extLst>
          </p:cNvPr>
          <p:cNvSpPr>
            <a:spLocks xmlns:a="http://schemas.openxmlformats.org/drawingml/2006/main" noGrp="1"/>
          </p:cNvSpPr>
          <p:nvPr/>
        </p:nvSpPr>
        <p:spPr>
          <a:xfrm xmlns:a="http://schemas.openxmlformats.org/drawingml/2006/main">
            <a:off x="7029450" y="319087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7345F"/>
                </a:solidFill>
              </a:defRPr>
            </a:pPr>
            <a:r>
              <a:rPr sz="1350" b="1" i="0">
                <a:solidFill>
                  <a:srgbClr val="17345F"/>
                </a:solidFill>
              </a:rPr>
              <a:t>Implémentation</a:t>
            </a:r>
          </a:p>
        </p:txBody>
      </p:sp>
      <p:sp>
        <p:nvSpPr>
          <p:cNvPr id="23" name="">
            <a:extLst xmlns:a="http://schemas.openxmlformats.org/drawingml/2006/main">
              <a:ext uri="{FF2B5EF4-FFF2-40B4-BE49-F238E27FC236}">
                <a16:creationId xmlns:a16="http://schemas.microsoft.com/office/drawing/2014/main" id="{730DEACE-EED4-4854-898F-D3677C8CE9AC}"/>
              </a:ext>
            </a:extLst>
          </p:cNvPr>
          <p:cNvSpPr>
            <a:spLocks xmlns:a="http://schemas.openxmlformats.org/drawingml/2006/main" noGrp="1"/>
          </p:cNvSpPr>
          <p:nvPr/>
        </p:nvSpPr>
        <p:spPr>
          <a:xfrm xmlns:a="http://schemas.openxmlformats.org/drawingml/2006/main">
            <a:off x="7029450" y="3476625"/>
            <a:ext cx="3476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i="0">
                <a:solidFill>
                  <a:srgbClr val="5A6B82"/>
                </a:solidFill>
              </a:defRPr>
            </a:pPr>
            <a:r>
              <a:rPr sz="1050" b="0" i="0">
                <a:solidFill>
                  <a:srgbClr val="5A6B82"/>
                </a:solidFill>
              </a:rPr>
              <a:t>Comment les sept modules fonctionnent ensemble.</a:t>
            </a:r>
          </a:p>
        </p:txBody>
      </p:sp>
      <p:sp>
        <p:nvSpPr>
          <p:cNvPr id="24" name="">
            <a:extLst xmlns:a="http://schemas.openxmlformats.org/drawingml/2006/main">
              <a:ext uri="{FF2B5EF4-FFF2-40B4-BE49-F238E27FC236}">
                <a16:creationId xmlns:a16="http://schemas.microsoft.com/office/drawing/2014/main" id="{3418C357-D6F4-4930-BBF3-B1F944BBB8E1}"/>
              </a:ext>
            </a:extLst>
          </p:cNvPr>
          <p:cNvSpPr>
            <a:spLocks xmlns:a="http://schemas.openxmlformats.org/drawingml/2006/main" noGrp="1"/>
          </p:cNvSpPr>
          <p:nvPr/>
        </p:nvSpPr>
        <p:spPr>
          <a:xfrm xmlns:a="http://schemas.openxmlformats.org/drawingml/2006/main">
            <a:off x="857250" y="4238625"/>
            <a:ext cx="4476750" cy="819150"/>
          </a:xfrm>
          <a:prstGeom xmlns:a="http://schemas.openxmlformats.org/drawingml/2006/main" prst="roundRect">
            <a:avLst>
              <a:gd name="adj" fmla="val 9302"/>
            </a:avLst>
          </a:prstGeom>
          <a:solidFill xmlns:a="http://schemas.openxmlformats.org/drawingml/2006/main">
            <a:srgbClr val="EEF5FA"/>
          </a:solidFill>
          <a:ln xmlns:a="http://schemas.openxmlformats.org/drawingml/2006/main" w="9525">
            <a:solidFill>
              <a:srgbClr val="C8D6E4"/>
            </a:solidFill>
            <a:prstDash val="solid"/>
          </a:ln>
        </p:spPr>
      </p:sp>
      <p:sp>
        <p:nvSpPr>
          <p:cNvPr id="25" name="">
            <a:extLst xmlns:a="http://schemas.openxmlformats.org/drawingml/2006/main">
              <a:ext uri="{FF2B5EF4-FFF2-40B4-BE49-F238E27FC236}">
                <a16:creationId xmlns:a16="http://schemas.microsoft.com/office/drawing/2014/main" id="{E04C6520-5DDD-49DD-A977-89E26B45C44E}"/>
              </a:ext>
            </a:extLst>
          </p:cNvPr>
          <p:cNvSpPr>
            <a:spLocks xmlns:a="http://schemas.openxmlformats.org/drawingml/2006/main" noGrp="1"/>
          </p:cNvSpPr>
          <p:nvPr/>
        </p:nvSpPr>
        <p:spPr>
          <a:xfrm xmlns:a="http://schemas.openxmlformats.org/drawingml/2006/main">
            <a:off x="1028700" y="4448175"/>
            <a:ext cx="400050" cy="400050"/>
          </a:xfrm>
          <a:prstGeom xmlns:a="http://schemas.openxmlformats.org/drawingml/2006/main" prst="roundRect">
            <a:avLst>
              <a:gd name="adj" fmla="val 14286"/>
            </a:avLst>
          </a:prstGeom>
          <a:solidFill xmlns:a="http://schemas.openxmlformats.org/drawingml/2006/main">
            <a:srgbClr val="203F6E"/>
          </a:solidFill>
          <a:ln xmlns:a="http://schemas.openxmlformats.org/drawingml/2006/main" w="9525">
            <a:solidFill>
              <a:srgbClr val="203F6E"/>
            </a:solidFill>
            <a:prstDash val="solid"/>
          </a:ln>
        </p:spPr>
      </p:sp>
      <p:sp>
        <p:nvSpPr>
          <p:cNvPr id="26" name="">
            <a:extLst xmlns:a="http://schemas.openxmlformats.org/drawingml/2006/main">
              <a:ext uri="{FF2B5EF4-FFF2-40B4-BE49-F238E27FC236}">
                <a16:creationId xmlns:a16="http://schemas.microsoft.com/office/drawing/2014/main" id="{63387A06-7BB1-4ABD-81B2-9B2F260340A6}"/>
              </a:ext>
            </a:extLst>
          </p:cNvPr>
          <p:cNvSpPr>
            <a:spLocks xmlns:a="http://schemas.openxmlformats.org/drawingml/2006/main" noGrp="1"/>
          </p:cNvSpPr>
          <p:nvPr/>
        </p:nvSpPr>
        <p:spPr>
          <a:xfrm xmlns:a="http://schemas.openxmlformats.org/drawingml/2006/main">
            <a:off x="1028700" y="452437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5</a:t>
            </a:r>
          </a:p>
        </p:txBody>
      </p:sp>
      <p:sp>
        <p:nvSpPr>
          <p:cNvPr id="27" name="">
            <a:extLst xmlns:a="http://schemas.openxmlformats.org/drawingml/2006/main">
              <a:ext uri="{FF2B5EF4-FFF2-40B4-BE49-F238E27FC236}">
                <a16:creationId xmlns:a16="http://schemas.microsoft.com/office/drawing/2014/main" id="{E9CA0C9C-1704-4156-864A-313BE3987559}"/>
              </a:ext>
            </a:extLst>
          </p:cNvPr>
          <p:cNvSpPr>
            <a:spLocks xmlns:a="http://schemas.openxmlformats.org/drawingml/2006/main" noGrp="1"/>
          </p:cNvSpPr>
          <p:nvPr/>
        </p:nvSpPr>
        <p:spPr>
          <a:xfrm xmlns:a="http://schemas.openxmlformats.org/drawingml/2006/main">
            <a:off x="1600200" y="442912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7345F"/>
                </a:solidFill>
              </a:defRPr>
            </a:pPr>
            <a:r>
              <a:rPr sz="1350" b="1" i="0">
                <a:solidFill>
                  <a:srgbClr val="17345F"/>
                </a:solidFill>
              </a:rPr>
              <a:t>Résultats et discussion</a:t>
            </a:r>
          </a:p>
        </p:txBody>
      </p:sp>
      <p:sp>
        <p:nvSpPr>
          <p:cNvPr id="28" name="">
            <a:extLst xmlns:a="http://schemas.openxmlformats.org/drawingml/2006/main">
              <a:ext uri="{FF2B5EF4-FFF2-40B4-BE49-F238E27FC236}">
                <a16:creationId xmlns:a16="http://schemas.microsoft.com/office/drawing/2014/main" id="{42FDFAFF-534A-4B38-9C31-53A5939CFF3F}"/>
              </a:ext>
            </a:extLst>
          </p:cNvPr>
          <p:cNvSpPr>
            <a:spLocks xmlns:a="http://schemas.openxmlformats.org/drawingml/2006/main" noGrp="1"/>
          </p:cNvSpPr>
          <p:nvPr/>
        </p:nvSpPr>
        <p:spPr>
          <a:xfrm xmlns:a="http://schemas.openxmlformats.org/drawingml/2006/main">
            <a:off x="1600200" y="4714875"/>
            <a:ext cx="3476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i="0">
                <a:solidFill>
                  <a:srgbClr val="5A6B82"/>
                </a:solidFill>
              </a:defRPr>
            </a:pPr>
            <a:r>
              <a:rPr sz="1050" b="0" i="0">
                <a:solidFill>
                  <a:srgbClr val="5A6B82"/>
                </a:solidFill>
              </a:rPr>
              <a:t>Ce que les métriques disent vraiment sur SIRCH.</a:t>
            </a:r>
          </a:p>
        </p:txBody>
      </p:sp>
      <p:sp>
        <p:nvSpPr>
          <p:cNvPr id="29" name="">
            <a:extLst xmlns:a="http://schemas.openxmlformats.org/drawingml/2006/main">
              <a:ext uri="{FF2B5EF4-FFF2-40B4-BE49-F238E27FC236}">
                <a16:creationId xmlns:a16="http://schemas.microsoft.com/office/drawing/2014/main" id="{FC63575C-FB6C-43ED-8A78-81F8F86C0852}"/>
              </a:ext>
            </a:extLst>
          </p:cNvPr>
          <p:cNvSpPr>
            <a:spLocks xmlns:a="http://schemas.openxmlformats.org/drawingml/2006/main" noGrp="1"/>
          </p:cNvSpPr>
          <p:nvPr/>
        </p:nvSpPr>
        <p:spPr>
          <a:xfrm xmlns:a="http://schemas.openxmlformats.org/drawingml/2006/main">
            <a:off x="6286500" y="4238625"/>
            <a:ext cx="4476750" cy="819150"/>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9525">
            <a:solidFill>
              <a:srgbClr val="C8D6E4"/>
            </a:solidFill>
            <a:prstDash val="solid"/>
          </a:ln>
        </p:spPr>
      </p:sp>
      <p:sp>
        <p:nvSpPr>
          <p:cNvPr id="30" name="">
            <a:extLst xmlns:a="http://schemas.openxmlformats.org/drawingml/2006/main">
              <a:ext uri="{FF2B5EF4-FFF2-40B4-BE49-F238E27FC236}">
                <a16:creationId xmlns:a16="http://schemas.microsoft.com/office/drawing/2014/main" id="{2D629212-BA8A-41CE-94AC-51CD9A845603}"/>
              </a:ext>
            </a:extLst>
          </p:cNvPr>
          <p:cNvSpPr>
            <a:spLocks xmlns:a="http://schemas.openxmlformats.org/drawingml/2006/main" noGrp="1"/>
          </p:cNvSpPr>
          <p:nvPr/>
        </p:nvSpPr>
        <p:spPr>
          <a:xfrm xmlns:a="http://schemas.openxmlformats.org/drawingml/2006/main">
            <a:off x="6457950" y="4448175"/>
            <a:ext cx="400050" cy="400050"/>
          </a:xfrm>
          <a:prstGeom xmlns:a="http://schemas.openxmlformats.org/drawingml/2006/main" prst="roundRect">
            <a:avLst>
              <a:gd name="adj" fmla="val 14286"/>
            </a:avLst>
          </a:prstGeom>
          <a:solidFill xmlns:a="http://schemas.openxmlformats.org/drawingml/2006/main">
            <a:srgbClr val="203F6E"/>
          </a:solidFill>
          <a:ln xmlns:a="http://schemas.openxmlformats.org/drawingml/2006/main" w="9525">
            <a:solidFill>
              <a:srgbClr val="203F6E"/>
            </a:solidFill>
            <a:prstDash val="solid"/>
          </a:ln>
        </p:spPr>
      </p:sp>
      <p:sp>
        <p:nvSpPr>
          <p:cNvPr id="31" name="">
            <a:extLst xmlns:a="http://schemas.openxmlformats.org/drawingml/2006/main">
              <a:ext uri="{FF2B5EF4-FFF2-40B4-BE49-F238E27FC236}">
                <a16:creationId xmlns:a16="http://schemas.microsoft.com/office/drawing/2014/main" id="{12CC9A65-3795-44FF-95BA-8E77DC3C7D61}"/>
              </a:ext>
            </a:extLst>
          </p:cNvPr>
          <p:cNvSpPr>
            <a:spLocks xmlns:a="http://schemas.openxmlformats.org/drawingml/2006/main" noGrp="1"/>
          </p:cNvSpPr>
          <p:nvPr/>
        </p:nvSpPr>
        <p:spPr>
          <a:xfrm xmlns:a="http://schemas.openxmlformats.org/drawingml/2006/main">
            <a:off x="6457950" y="452437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6</a:t>
            </a:r>
          </a:p>
        </p:txBody>
      </p:sp>
      <p:sp>
        <p:nvSpPr>
          <p:cNvPr id="32" name="">
            <a:extLst xmlns:a="http://schemas.openxmlformats.org/drawingml/2006/main">
              <a:ext uri="{FF2B5EF4-FFF2-40B4-BE49-F238E27FC236}">
                <a16:creationId xmlns:a16="http://schemas.microsoft.com/office/drawing/2014/main" id="{BEF3391A-ABDD-4019-859F-F1619F3CDABD}"/>
              </a:ext>
            </a:extLst>
          </p:cNvPr>
          <p:cNvSpPr>
            <a:spLocks xmlns:a="http://schemas.openxmlformats.org/drawingml/2006/main" noGrp="1"/>
          </p:cNvSpPr>
          <p:nvPr/>
        </p:nvSpPr>
        <p:spPr>
          <a:xfrm xmlns:a="http://schemas.openxmlformats.org/drawingml/2006/main">
            <a:off x="7029450" y="442912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7345F"/>
                </a:solidFill>
              </a:defRPr>
            </a:pPr>
            <a:r>
              <a:rPr sz="1350" b="1" i="0">
                <a:solidFill>
                  <a:srgbClr val="17345F"/>
                </a:solidFill>
              </a:rPr>
              <a:t>Limites et perspectives</a:t>
            </a:r>
          </a:p>
        </p:txBody>
      </p:sp>
      <p:sp>
        <p:nvSpPr>
          <p:cNvPr id="33" name="">
            <a:extLst xmlns:a="http://schemas.openxmlformats.org/drawingml/2006/main">
              <a:ext uri="{FF2B5EF4-FFF2-40B4-BE49-F238E27FC236}">
                <a16:creationId xmlns:a16="http://schemas.microsoft.com/office/drawing/2014/main" id="{633D50BB-6AA2-424C-AAAD-6FC90719C281}"/>
              </a:ext>
            </a:extLst>
          </p:cNvPr>
          <p:cNvSpPr>
            <a:spLocks xmlns:a="http://schemas.openxmlformats.org/drawingml/2006/main" noGrp="1"/>
          </p:cNvSpPr>
          <p:nvPr/>
        </p:nvSpPr>
        <p:spPr>
          <a:xfrm xmlns:a="http://schemas.openxmlformats.org/drawingml/2006/main">
            <a:off x="7029450" y="4714875"/>
            <a:ext cx="3476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i="0">
                <a:solidFill>
                  <a:srgbClr val="5A6B82"/>
                </a:solidFill>
              </a:defRPr>
            </a:pPr>
            <a:r>
              <a:rPr sz="1050" b="0" i="0">
                <a:solidFill>
                  <a:srgbClr val="5A6B82"/>
                </a:solidFill>
              </a:rPr>
              <a:t>Ce que le système maîtrise et ce qui reste à améliorer.</a:t>
            </a:r>
          </a:p>
        </p:txBody>
      </p:sp>
      <p:sp>
        <p:nvSpPr>
          <p:cNvPr id="34" name="">
            <a:extLst xmlns:a="http://schemas.openxmlformats.org/drawingml/2006/main">
              <a:ext uri="{FF2B5EF4-FFF2-40B4-BE49-F238E27FC236}">
                <a16:creationId xmlns:a16="http://schemas.microsoft.com/office/drawing/2014/main" id="{5DF17C04-62D8-4086-B32E-A58479687E3D}"/>
              </a:ext>
            </a:extLst>
          </p:cNvPr>
          <p:cNvSpPr>
            <a:spLocks xmlns:a="http://schemas.openxmlformats.org/drawingml/2006/main" noGrp="1"/>
          </p:cNvSpPr>
          <p:nvPr/>
        </p:nvSpPr>
        <p:spPr>
          <a:xfrm xmlns:a="http://schemas.openxmlformats.org/drawingml/2006/main">
            <a:off x="552450" y="6362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i="0">
                <a:solidFill>
                  <a:srgbClr val="5A6B82"/>
                </a:solidFill>
              </a:defRPr>
            </a:pPr>
            <a:r>
              <a:rPr sz="675" b="0" i="0">
                <a:solidFill>
                  <a:srgbClr val="5A6B82"/>
                </a:solidFill>
              </a:rPr>
              <a:t>Plan</a:t>
            </a:r>
          </a:p>
        </p:txBody>
      </p:sp>
      <p:sp>
        <p:nvSpPr>
          <p:cNvPr id="35" name="">
            <a:extLst xmlns:a="http://schemas.openxmlformats.org/drawingml/2006/main">
              <a:ext uri="{FF2B5EF4-FFF2-40B4-BE49-F238E27FC236}">
                <a16:creationId xmlns:a16="http://schemas.microsoft.com/office/drawing/2014/main" id="{CC932749-1686-4FB9-B1A5-CEA70AF7E57F}"/>
              </a:ext>
            </a:extLst>
          </p:cNvPr>
          <p:cNvSpPr>
            <a:spLocks xmlns:a="http://schemas.openxmlformats.org/drawingml/2006/main" noGrp="1"/>
          </p:cNvSpPr>
          <p:nvPr/>
        </p:nvSpPr>
        <p:spPr>
          <a:xfrm xmlns:a="http://schemas.openxmlformats.org/drawingml/2006/main">
            <a:off x="11049000" y="63627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0" i="0">
                <a:solidFill>
                  <a:srgbClr val="5A6B82"/>
                </a:solidFill>
              </a:defRPr>
            </a:pPr>
            <a:r>
              <a:rPr sz="750" b="0" i="0">
                <a:solidFill>
                  <a:srgbClr val="5A6B82"/>
                </a:solidFill>
              </a:rPr>
              <a:t>2 / 18</a:t>
            </a:r>
          </a:p>
        </p:txBody>
      </p:sp>
    </p:spTree>
    <p:extLst>
      <p:ext uri="{BB962C8B-B14F-4D97-AF65-F5344CB8AC3E}">
        <p14:creationId xmlns:p14="http://schemas.microsoft.com/office/powerpoint/2010/main" val="5325017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E8EBF88-C5E5-4477-997F-735C651F6F73}"/>
              </a:ext>
            </a:extLst>
          </p:cNvPr>
          <p:cNvSpPr>
            <a:spLocks xmlns:a="http://schemas.openxmlformats.org/drawingml/2006/main" noGrp="1"/>
          </p:cNvSpPr>
          <p:nvPr/>
        </p:nvSpPr>
        <p:spPr>
          <a:xfrm xmlns:a="http://schemas.openxmlformats.org/drawingml/2006/main">
            <a:off x="552450" y="419100"/>
            <a:ext cx="933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i="0">
                <a:solidFill>
                  <a:srgbClr val="17345F"/>
                </a:solidFill>
              </a:defRPr>
            </a:pPr>
            <a:r>
              <a:rPr sz="2550" b="1" i="0">
                <a:solidFill>
                  <a:srgbClr val="17345F"/>
                </a:solidFill>
              </a:rPr>
              <a:t>La surveillance vidéo produit trop d’images pour l’œil humain</a:t>
            </a:r>
          </a:p>
        </p:txBody>
      </p:sp>
      <p:sp>
        <p:nvSpPr>
          <p:cNvPr id="2" name="">
            <a:extLst xmlns:a="http://schemas.openxmlformats.org/drawingml/2006/main">
              <a:ext uri="{FF2B5EF4-FFF2-40B4-BE49-F238E27FC236}">
                <a16:creationId xmlns:a16="http://schemas.microsoft.com/office/drawing/2014/main" id="{1DB13117-0FC3-4E2B-8A64-6DC965C16CFF}"/>
              </a:ext>
            </a:extLst>
          </p:cNvPr>
          <p:cNvSpPr>
            <a:spLocks xmlns:a="http://schemas.openxmlformats.org/drawingml/2006/main" noGrp="1"/>
          </p:cNvSpPr>
          <p:nvPr/>
        </p:nvSpPr>
        <p:spPr>
          <a:xfrm xmlns:a="http://schemas.openxmlformats.org/drawingml/2006/main">
            <a:off x="552450" y="1095375"/>
            <a:ext cx="1047750" cy="47625"/>
          </a:xfrm>
          <a:prstGeom xmlns:a="http://schemas.openxmlformats.org/drawingml/2006/main" prst="rect">
            <a:avLst/>
          </a:prstGeom>
          <a:solidFill xmlns:a="http://schemas.openxmlformats.org/drawingml/2006/main">
            <a:srgbClr val="1C8B53"/>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A9DD477-3436-4F6F-8BB0-F0378C83702A}"/>
              </a:ext>
            </a:extLst>
          </p:cNvPr>
          <p:cNvSpPr>
            <a:spLocks xmlns:a="http://schemas.openxmlformats.org/drawingml/2006/main" noGrp="1"/>
          </p:cNvSpPr>
          <p:nvPr/>
        </p:nvSpPr>
        <p:spPr>
          <a:xfrm xmlns:a="http://schemas.openxmlformats.org/drawingml/2006/main">
            <a:off x="552450" y="1238250"/>
            <a:ext cx="838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A6B82"/>
                </a:solidFill>
              </a:defRPr>
            </a:pPr>
            <a:r>
              <a:rPr sz="1200" b="0" i="0">
                <a:solidFill>
                  <a:srgbClr val="5A6B82"/>
                </a:solidFill>
              </a:rPr>
              <a:t>Le besoin n’est pas seulement de classifier une vidéo, mais d’aider une réaction rapide.</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0f117ad8a11b417b"/>
          <a:srcRect xmlns:a="http://schemas.openxmlformats.org/drawingml/2006/main" l="16816" t="0" r="16816" b="0"/>
          <a:stretch xmlns:a="http://schemas.openxmlformats.org/drawingml/2006/main">
            <a:fillRect l="0" t="0" r="0" b="0"/>
          </a:stretch>
        </p:blipFill>
        <p:spPr>
          <a:xfrm xmlns:a="http://schemas.openxmlformats.org/drawingml/2006/main">
            <a:off x="666750" y="1666875"/>
            <a:ext cx="4000500" cy="2476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3243EBE-4685-450E-B09B-B9D8A07AA2F4}"/>
              </a:ext>
            </a:extLst>
          </p:cNvPr>
          <p:cNvSpPr>
            <a:spLocks xmlns:a="http://schemas.openxmlformats.org/drawingml/2006/main" noGrp="1"/>
          </p:cNvSpPr>
          <p:nvPr/>
        </p:nvSpPr>
        <p:spPr>
          <a:xfrm xmlns:a="http://schemas.openxmlformats.org/drawingml/2006/main">
            <a:off x="5095875" y="1666875"/>
            <a:ext cx="2667000" cy="1619250"/>
          </a:xfrm>
          <a:prstGeom xmlns:a="http://schemas.openxmlformats.org/drawingml/2006/main" prst="roundRect">
            <a:avLst>
              <a:gd name="adj" fmla="val 4706"/>
            </a:avLst>
          </a:prstGeom>
          <a:solidFill xmlns:a="http://schemas.openxmlformats.org/drawingml/2006/main">
            <a:srgbClr val="FFFFFF"/>
          </a:solidFill>
          <a:ln xmlns:a="http://schemas.openxmlformats.org/drawingml/2006/main" w="9525">
            <a:solidFill>
              <a:srgbClr val="C8D6E4"/>
            </a:solidFill>
            <a:prstDash val="solid"/>
          </a:ln>
        </p:spPr>
      </p:sp>
      <p:sp>
        <p:nvSpPr>
          <p:cNvPr id="6" name="">
            <a:extLst xmlns:a="http://schemas.openxmlformats.org/drawingml/2006/main">
              <a:ext uri="{FF2B5EF4-FFF2-40B4-BE49-F238E27FC236}">
                <a16:creationId xmlns:a16="http://schemas.microsoft.com/office/drawing/2014/main" id="{2FA18F32-C74F-412A-BBAD-4F7B7F091E4B}"/>
              </a:ext>
            </a:extLst>
          </p:cNvPr>
          <p:cNvSpPr>
            <a:spLocks xmlns:a="http://schemas.openxmlformats.org/drawingml/2006/main" noGrp="1"/>
          </p:cNvSpPr>
          <p:nvPr/>
        </p:nvSpPr>
        <p:spPr>
          <a:xfrm xmlns:a="http://schemas.openxmlformats.org/drawingml/2006/main">
            <a:off x="5095875" y="1666875"/>
            <a:ext cx="66675" cy="1619250"/>
          </a:xfrm>
          <a:prstGeom xmlns:a="http://schemas.openxmlformats.org/drawingml/2006/main" prst="rect">
            <a:avLst/>
          </a:prstGeom>
          <a:solidFill xmlns:a="http://schemas.openxmlformats.org/drawingml/2006/main">
            <a:srgbClr val="1C8B53"/>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7CA0D78-C612-4EAB-A96B-F6D433C07298}"/>
              </a:ext>
            </a:extLst>
          </p:cNvPr>
          <p:cNvSpPr>
            <a:spLocks xmlns:a="http://schemas.openxmlformats.org/drawingml/2006/main" noGrp="1"/>
          </p:cNvSpPr>
          <p:nvPr/>
        </p:nvSpPr>
        <p:spPr>
          <a:xfrm xmlns:a="http://schemas.openxmlformats.org/drawingml/2006/main">
            <a:off x="5324475" y="1895475"/>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C8B53"/>
                </a:solidFill>
              </a:defRPr>
            </a:pPr>
            <a:r>
              <a:rPr sz="1350" b="1" i="0">
                <a:solidFill>
                  <a:srgbClr val="1C8B53"/>
                </a:solidFill>
              </a:rPr>
              <a:t>Contexte</a:t>
            </a:r>
          </a:p>
        </p:txBody>
      </p:sp>
      <p:sp>
        <p:nvSpPr>
          <p:cNvPr id="8" name="">
            <a:extLst xmlns:a="http://schemas.openxmlformats.org/drawingml/2006/main">
              <a:ext uri="{FF2B5EF4-FFF2-40B4-BE49-F238E27FC236}">
                <a16:creationId xmlns:a16="http://schemas.microsoft.com/office/drawing/2014/main" id="{D1A86DF4-A59A-4DD4-9D6E-C078DCB16FF8}"/>
              </a:ext>
            </a:extLst>
          </p:cNvPr>
          <p:cNvSpPr>
            <a:spLocks xmlns:a="http://schemas.openxmlformats.org/drawingml/2006/main" noGrp="1"/>
          </p:cNvSpPr>
          <p:nvPr/>
        </p:nvSpPr>
        <p:spPr>
          <a:xfrm xmlns:a="http://schemas.openxmlformats.org/drawingml/2006/main">
            <a:off x="5324475" y="2276475"/>
            <a:ext cx="22479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102033"/>
                </a:solidFill>
              </a:defRPr>
            </a:pPr>
            <a:r>
              <a:rPr sz="1200" b="0" i="0">
                <a:solidFill>
                  <a:srgbClr val="102033"/>
                </a:solidFill>
              </a:rPr>
              <a:t>Les caméras se multiplient, mais l’attention humaine reste limitée et se fatigue vite.</a:t>
            </a:r>
          </a:p>
        </p:txBody>
      </p:sp>
      <p:sp>
        <p:nvSpPr>
          <p:cNvPr id="9" name="">
            <a:extLst xmlns:a="http://schemas.openxmlformats.org/drawingml/2006/main">
              <a:ext uri="{FF2B5EF4-FFF2-40B4-BE49-F238E27FC236}">
                <a16:creationId xmlns:a16="http://schemas.microsoft.com/office/drawing/2014/main" id="{095FE2AB-D945-4AB2-9100-BAB49C2EF7E7}"/>
              </a:ext>
            </a:extLst>
          </p:cNvPr>
          <p:cNvSpPr>
            <a:spLocks xmlns:a="http://schemas.openxmlformats.org/drawingml/2006/main" noGrp="1"/>
          </p:cNvSpPr>
          <p:nvPr/>
        </p:nvSpPr>
        <p:spPr>
          <a:xfrm xmlns:a="http://schemas.openxmlformats.org/drawingml/2006/main">
            <a:off x="8001000" y="1666875"/>
            <a:ext cx="2857500" cy="1619250"/>
          </a:xfrm>
          <a:prstGeom xmlns:a="http://schemas.openxmlformats.org/drawingml/2006/main" prst="roundRect">
            <a:avLst>
              <a:gd name="adj" fmla="val 4706"/>
            </a:avLst>
          </a:prstGeom>
          <a:solidFill xmlns:a="http://schemas.openxmlformats.org/drawingml/2006/main">
            <a:srgbClr val="FFFFFF"/>
          </a:solidFill>
          <a:ln xmlns:a="http://schemas.openxmlformats.org/drawingml/2006/main" w="9525">
            <a:solidFill>
              <a:srgbClr val="C8D6E4"/>
            </a:solidFill>
            <a:prstDash val="solid"/>
          </a:ln>
        </p:spPr>
      </p:sp>
      <p:sp>
        <p:nvSpPr>
          <p:cNvPr id="10" name="">
            <a:extLst xmlns:a="http://schemas.openxmlformats.org/drawingml/2006/main">
              <a:ext uri="{FF2B5EF4-FFF2-40B4-BE49-F238E27FC236}">
                <a16:creationId xmlns:a16="http://schemas.microsoft.com/office/drawing/2014/main" id="{F06053F4-336A-4513-9981-EB6C14E16576}"/>
              </a:ext>
            </a:extLst>
          </p:cNvPr>
          <p:cNvSpPr>
            <a:spLocks xmlns:a="http://schemas.openxmlformats.org/drawingml/2006/main" noGrp="1"/>
          </p:cNvSpPr>
          <p:nvPr/>
        </p:nvSpPr>
        <p:spPr>
          <a:xfrm xmlns:a="http://schemas.openxmlformats.org/drawingml/2006/main">
            <a:off x="8001000" y="1666875"/>
            <a:ext cx="66675" cy="1619250"/>
          </a:xfrm>
          <a:prstGeom xmlns:a="http://schemas.openxmlformats.org/drawingml/2006/main" prst="rect">
            <a:avLst/>
          </a:prstGeom>
          <a:solidFill xmlns:a="http://schemas.openxmlformats.org/drawingml/2006/main">
            <a:srgbClr val="203F6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498482D-8F50-46C2-AEEF-90EAD1E98D36}"/>
              </a:ext>
            </a:extLst>
          </p:cNvPr>
          <p:cNvSpPr>
            <a:spLocks xmlns:a="http://schemas.openxmlformats.org/drawingml/2006/main" noGrp="1"/>
          </p:cNvSpPr>
          <p:nvPr/>
        </p:nvSpPr>
        <p:spPr>
          <a:xfrm xmlns:a="http://schemas.openxmlformats.org/drawingml/2006/main">
            <a:off x="8229600" y="189547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203F6E"/>
                </a:solidFill>
              </a:defRPr>
            </a:pPr>
            <a:r>
              <a:rPr sz="1350" b="1" i="0">
                <a:solidFill>
                  <a:srgbClr val="203F6E"/>
                </a:solidFill>
              </a:rPr>
              <a:t>Problème</a:t>
            </a:r>
          </a:p>
        </p:txBody>
      </p:sp>
      <p:sp>
        <p:nvSpPr>
          <p:cNvPr id="12" name="">
            <a:extLst xmlns:a="http://schemas.openxmlformats.org/drawingml/2006/main">
              <a:ext uri="{FF2B5EF4-FFF2-40B4-BE49-F238E27FC236}">
                <a16:creationId xmlns:a16="http://schemas.microsoft.com/office/drawing/2014/main" id="{099A9A74-26E4-4837-96C9-062D848F5AF4}"/>
              </a:ext>
            </a:extLst>
          </p:cNvPr>
          <p:cNvSpPr>
            <a:spLocks xmlns:a="http://schemas.openxmlformats.org/drawingml/2006/main" noGrp="1"/>
          </p:cNvSpPr>
          <p:nvPr/>
        </p:nvSpPr>
        <p:spPr>
          <a:xfrm xmlns:a="http://schemas.openxmlformats.org/drawingml/2006/main">
            <a:off x="8229600" y="2276475"/>
            <a:ext cx="24384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102033"/>
                </a:solidFill>
              </a:defRPr>
            </a:pPr>
            <a:r>
              <a:rPr sz="1200" b="0" i="0">
                <a:solidFill>
                  <a:srgbClr val="102033"/>
                </a:solidFill>
              </a:rPr>
              <a:t>Les approches existantes confondent souvent violence et activité physique intense.</a:t>
            </a:r>
          </a:p>
        </p:txBody>
      </p:sp>
      <p:sp>
        <p:nvSpPr>
          <p:cNvPr id="13" name="">
            <a:extLst xmlns:a="http://schemas.openxmlformats.org/drawingml/2006/main">
              <a:ext uri="{FF2B5EF4-FFF2-40B4-BE49-F238E27FC236}">
                <a16:creationId xmlns:a16="http://schemas.microsoft.com/office/drawing/2014/main" id="{57A4ED06-4002-4485-8C18-A1E4154CF653}"/>
              </a:ext>
            </a:extLst>
          </p:cNvPr>
          <p:cNvSpPr>
            <a:spLocks xmlns:a="http://schemas.openxmlformats.org/drawingml/2006/main" noGrp="1"/>
          </p:cNvSpPr>
          <p:nvPr/>
        </p:nvSpPr>
        <p:spPr>
          <a:xfrm xmlns:a="http://schemas.openxmlformats.org/drawingml/2006/main">
            <a:off x="5095875" y="3571875"/>
            <a:ext cx="5762625"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C8D6E4"/>
            </a:solidFill>
            <a:prstDash val="solid"/>
          </a:ln>
        </p:spPr>
      </p:sp>
      <p:sp>
        <p:nvSpPr>
          <p:cNvPr id="14" name="">
            <a:extLst xmlns:a="http://schemas.openxmlformats.org/drawingml/2006/main">
              <a:ext uri="{FF2B5EF4-FFF2-40B4-BE49-F238E27FC236}">
                <a16:creationId xmlns:a16="http://schemas.microsoft.com/office/drawing/2014/main" id="{F84BB9B7-34B2-41EC-A9A8-A25B4E4C6B40}"/>
              </a:ext>
            </a:extLst>
          </p:cNvPr>
          <p:cNvSpPr>
            <a:spLocks xmlns:a="http://schemas.openxmlformats.org/drawingml/2006/main" noGrp="1"/>
          </p:cNvSpPr>
          <p:nvPr/>
        </p:nvSpPr>
        <p:spPr>
          <a:xfrm xmlns:a="http://schemas.openxmlformats.org/drawingml/2006/main">
            <a:off x="5095875" y="3571875"/>
            <a:ext cx="66675" cy="1238250"/>
          </a:xfrm>
          <a:prstGeom xmlns:a="http://schemas.openxmlformats.org/drawingml/2006/main" prst="rect">
            <a:avLst/>
          </a:prstGeom>
          <a:solidFill xmlns:a="http://schemas.openxmlformats.org/drawingml/2006/main">
            <a:srgbClr val="C95C1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BBB453A-DD98-4828-AC01-3ED3C0A5904A}"/>
              </a:ext>
            </a:extLst>
          </p:cNvPr>
          <p:cNvSpPr>
            <a:spLocks xmlns:a="http://schemas.openxmlformats.org/drawingml/2006/main" noGrp="1"/>
          </p:cNvSpPr>
          <p:nvPr/>
        </p:nvSpPr>
        <p:spPr>
          <a:xfrm xmlns:a="http://schemas.openxmlformats.org/drawingml/2006/main">
            <a:off x="5324475" y="3800475"/>
            <a:ext cx="5381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C95C12"/>
                </a:solidFill>
              </a:defRPr>
            </a:pPr>
            <a:r>
              <a:rPr sz="1350" b="1" i="0">
                <a:solidFill>
                  <a:srgbClr val="C95C12"/>
                </a:solidFill>
              </a:rPr>
              <a:t>Question de recherche</a:t>
            </a:r>
          </a:p>
        </p:txBody>
      </p:sp>
      <p:sp>
        <p:nvSpPr>
          <p:cNvPr id="16" name="">
            <a:extLst xmlns:a="http://schemas.openxmlformats.org/drawingml/2006/main">
              <a:ext uri="{FF2B5EF4-FFF2-40B4-BE49-F238E27FC236}">
                <a16:creationId xmlns:a16="http://schemas.microsoft.com/office/drawing/2014/main" id="{898CD25F-DE39-460C-A5B6-66943D107643}"/>
              </a:ext>
            </a:extLst>
          </p:cNvPr>
          <p:cNvSpPr>
            <a:spLocks xmlns:a="http://schemas.openxmlformats.org/drawingml/2006/main" noGrp="1"/>
          </p:cNvSpPr>
          <p:nvPr/>
        </p:nvSpPr>
        <p:spPr>
          <a:xfrm xmlns:a="http://schemas.openxmlformats.org/drawingml/2006/main">
            <a:off x="5324475" y="4181475"/>
            <a:ext cx="53435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102033"/>
                </a:solidFill>
              </a:defRPr>
            </a:pPr>
            <a:r>
              <a:rPr sz="1200" b="0" i="0">
                <a:solidFill>
                  <a:srgbClr val="102033"/>
                </a:solidFill>
              </a:rPr>
              <a:t>Comment reconnaître automatiquement des comportements violents en temps réel, avec de meilleures performances que les approches actuelles, tout en restant déployable sur un ordinateur ordinaire ?</a:t>
            </a:r>
          </a:p>
        </p:txBody>
      </p:sp>
      <p:sp>
        <p:nvSpPr>
          <p:cNvPr id="17" name="">
            <a:extLst xmlns:a="http://schemas.openxmlformats.org/drawingml/2006/main">
              <a:ext uri="{FF2B5EF4-FFF2-40B4-BE49-F238E27FC236}">
                <a16:creationId xmlns:a16="http://schemas.microsoft.com/office/drawing/2014/main" id="{F2C8E1E3-A50F-47B5-A3A1-949A209A40DC}"/>
              </a:ext>
            </a:extLst>
          </p:cNvPr>
          <p:cNvSpPr>
            <a:spLocks xmlns:a="http://schemas.openxmlformats.org/drawingml/2006/main" noGrp="1"/>
          </p:cNvSpPr>
          <p:nvPr/>
        </p:nvSpPr>
        <p:spPr>
          <a:xfrm xmlns:a="http://schemas.openxmlformats.org/drawingml/2006/main">
            <a:off x="1285875" y="5334000"/>
            <a:ext cx="9620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i="0">
                <a:solidFill>
                  <a:srgbClr val="1C8B53"/>
                </a:solidFill>
              </a:defRPr>
            </a:pPr>
            <a:r>
              <a:rPr sz="1425" b="1" i="0">
                <a:solidFill>
                  <a:srgbClr val="1C8B53"/>
                </a:solidFill>
              </a:rPr>
              <a:t>Ce que SIRCH cherche à combler : un système complet, local, mesuré sur des données variées et testé aussi sur des scènes sportives ou dansées.</a:t>
            </a:r>
          </a:p>
        </p:txBody>
      </p:sp>
      <p:sp>
        <p:nvSpPr>
          <p:cNvPr id="18" name="">
            <a:extLst xmlns:a="http://schemas.openxmlformats.org/drawingml/2006/main">
              <a:ext uri="{FF2B5EF4-FFF2-40B4-BE49-F238E27FC236}">
                <a16:creationId xmlns:a16="http://schemas.microsoft.com/office/drawing/2014/main" id="{89DC13A5-AE5D-4AF0-9A73-B7115C04852F}"/>
              </a:ext>
            </a:extLst>
          </p:cNvPr>
          <p:cNvSpPr>
            <a:spLocks xmlns:a="http://schemas.openxmlformats.org/drawingml/2006/main" noGrp="1"/>
          </p:cNvSpPr>
          <p:nvPr/>
        </p:nvSpPr>
        <p:spPr>
          <a:xfrm xmlns:a="http://schemas.openxmlformats.org/drawingml/2006/main">
            <a:off x="552450" y="6362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i="0">
                <a:solidFill>
                  <a:srgbClr val="5A6B82"/>
                </a:solidFill>
              </a:defRPr>
            </a:pPr>
            <a:r>
              <a:rPr sz="675" b="0" i="0">
                <a:solidFill>
                  <a:srgbClr val="5A6B82"/>
                </a:solidFill>
              </a:rPr>
              <a:t>Contexte et problématique</a:t>
            </a:r>
          </a:p>
        </p:txBody>
      </p:sp>
      <p:sp>
        <p:nvSpPr>
          <p:cNvPr id="19" name="">
            <a:extLst xmlns:a="http://schemas.openxmlformats.org/drawingml/2006/main">
              <a:ext uri="{FF2B5EF4-FFF2-40B4-BE49-F238E27FC236}">
                <a16:creationId xmlns:a16="http://schemas.microsoft.com/office/drawing/2014/main" id="{D0995A74-28B7-4F0A-8C53-295619E8B255}"/>
              </a:ext>
            </a:extLst>
          </p:cNvPr>
          <p:cNvSpPr>
            <a:spLocks xmlns:a="http://schemas.openxmlformats.org/drawingml/2006/main" noGrp="1"/>
          </p:cNvSpPr>
          <p:nvPr/>
        </p:nvSpPr>
        <p:spPr>
          <a:xfrm xmlns:a="http://schemas.openxmlformats.org/drawingml/2006/main">
            <a:off x="11049000" y="63627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0" i="0">
                <a:solidFill>
                  <a:srgbClr val="5A6B82"/>
                </a:solidFill>
              </a:defRPr>
            </a:pPr>
            <a:r>
              <a:rPr sz="750" b="0" i="0">
                <a:solidFill>
                  <a:srgbClr val="5A6B82"/>
                </a:solidFill>
              </a:rPr>
              <a:t>3 / 18</a:t>
            </a:r>
          </a:p>
        </p:txBody>
      </p:sp>
    </p:spTree>
    <p:extLst>
      <p:ext uri="{BB962C8B-B14F-4D97-AF65-F5344CB8AC3E}">
        <p14:creationId xmlns:p14="http://schemas.microsoft.com/office/powerpoint/2010/main" val="22182914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3C0F235-078F-4436-A0CC-72C4CA29867A}"/>
              </a:ext>
            </a:extLst>
          </p:cNvPr>
          <p:cNvSpPr>
            <a:spLocks xmlns:a="http://schemas.openxmlformats.org/drawingml/2006/main" noGrp="1"/>
          </p:cNvSpPr>
          <p:nvPr/>
        </p:nvSpPr>
        <p:spPr>
          <a:xfrm xmlns:a="http://schemas.openxmlformats.org/drawingml/2006/main">
            <a:off x="552450" y="419100"/>
            <a:ext cx="933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i="0">
                <a:solidFill>
                  <a:srgbClr val="17345F"/>
                </a:solidFill>
              </a:defRPr>
            </a:pPr>
            <a:r>
              <a:rPr sz="2550" b="1" i="0">
                <a:solidFill>
                  <a:srgbClr val="17345F"/>
                </a:solidFill>
              </a:rPr>
              <a:t>SIRCH vise un système complet, pas seulement un bon modèle</a:t>
            </a:r>
          </a:p>
        </p:txBody>
      </p:sp>
      <p:sp>
        <p:nvSpPr>
          <p:cNvPr id="2" name="">
            <a:extLst xmlns:a="http://schemas.openxmlformats.org/drawingml/2006/main">
              <a:ext uri="{FF2B5EF4-FFF2-40B4-BE49-F238E27FC236}">
                <a16:creationId xmlns:a16="http://schemas.microsoft.com/office/drawing/2014/main" id="{3BCF280A-3F4A-483E-B625-C613AFF0B207}"/>
              </a:ext>
            </a:extLst>
          </p:cNvPr>
          <p:cNvSpPr>
            <a:spLocks xmlns:a="http://schemas.openxmlformats.org/drawingml/2006/main" noGrp="1"/>
          </p:cNvSpPr>
          <p:nvPr/>
        </p:nvSpPr>
        <p:spPr>
          <a:xfrm xmlns:a="http://schemas.openxmlformats.org/drawingml/2006/main">
            <a:off x="552450" y="1095375"/>
            <a:ext cx="1047750" cy="47625"/>
          </a:xfrm>
          <a:prstGeom xmlns:a="http://schemas.openxmlformats.org/drawingml/2006/main" prst="rect">
            <a:avLst/>
          </a:prstGeom>
          <a:solidFill xmlns:a="http://schemas.openxmlformats.org/drawingml/2006/main">
            <a:srgbClr val="1C8B53"/>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AA32D4B-F71D-447B-8101-F0E9C92543A3}"/>
              </a:ext>
            </a:extLst>
          </p:cNvPr>
          <p:cNvSpPr>
            <a:spLocks xmlns:a="http://schemas.openxmlformats.org/drawingml/2006/main" noGrp="1"/>
          </p:cNvSpPr>
          <p:nvPr/>
        </p:nvSpPr>
        <p:spPr>
          <a:xfrm xmlns:a="http://schemas.openxmlformats.org/drawingml/2006/main">
            <a:off x="552450" y="1238250"/>
            <a:ext cx="838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A6B82"/>
                </a:solidFill>
              </a:defRPr>
            </a:pPr>
            <a:r>
              <a:rPr sz="1200" b="0" i="0">
                <a:solidFill>
                  <a:srgbClr val="5A6B82"/>
                </a:solidFill>
              </a:rPr>
              <a:t>Les objectifs couvrent la littérature, le modèle, l’évaluation et le déploiement.</a:t>
            </a:r>
          </a:p>
        </p:txBody>
      </p:sp>
      <p:sp>
        <p:nvSpPr>
          <p:cNvPr id="4" name="">
            <a:extLst xmlns:a="http://schemas.openxmlformats.org/drawingml/2006/main">
              <a:ext uri="{FF2B5EF4-FFF2-40B4-BE49-F238E27FC236}">
                <a16:creationId xmlns:a16="http://schemas.microsoft.com/office/drawing/2014/main" id="{CDABEDF9-6F8A-4E79-8422-2286133A55DA}"/>
              </a:ext>
            </a:extLst>
          </p:cNvPr>
          <p:cNvSpPr>
            <a:spLocks xmlns:a="http://schemas.openxmlformats.org/drawingml/2006/main" noGrp="1"/>
          </p:cNvSpPr>
          <p:nvPr/>
        </p:nvSpPr>
        <p:spPr>
          <a:xfrm xmlns:a="http://schemas.openxmlformats.org/drawingml/2006/main">
            <a:off x="666750" y="1666875"/>
            <a:ext cx="4953000" cy="1219200"/>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9525">
            <a:solidFill>
              <a:srgbClr val="C8D6E4"/>
            </a:solidFill>
            <a:prstDash val="solid"/>
          </a:ln>
        </p:spPr>
      </p:sp>
      <p:sp>
        <p:nvSpPr>
          <p:cNvPr id="5" name="">
            <a:extLst xmlns:a="http://schemas.openxmlformats.org/drawingml/2006/main">
              <a:ext uri="{FF2B5EF4-FFF2-40B4-BE49-F238E27FC236}">
                <a16:creationId xmlns:a16="http://schemas.microsoft.com/office/drawing/2014/main" id="{8BFD6526-EE3E-4C4F-A6A3-9A3F3CECE088}"/>
              </a:ext>
            </a:extLst>
          </p:cNvPr>
          <p:cNvSpPr>
            <a:spLocks xmlns:a="http://schemas.openxmlformats.org/drawingml/2006/main" noGrp="1"/>
          </p:cNvSpPr>
          <p:nvPr/>
        </p:nvSpPr>
        <p:spPr>
          <a:xfrm xmlns:a="http://schemas.openxmlformats.org/drawingml/2006/main">
            <a:off x="666750" y="1666875"/>
            <a:ext cx="66675" cy="1219200"/>
          </a:xfrm>
          <a:prstGeom xmlns:a="http://schemas.openxmlformats.org/drawingml/2006/main" prst="rect">
            <a:avLst/>
          </a:prstGeom>
          <a:solidFill xmlns:a="http://schemas.openxmlformats.org/drawingml/2006/main">
            <a:srgbClr val="1C8B53"/>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4870DE5-B55A-41B3-B8CE-60E12FDE5617}"/>
              </a:ext>
            </a:extLst>
          </p:cNvPr>
          <p:cNvSpPr>
            <a:spLocks xmlns:a="http://schemas.openxmlformats.org/drawingml/2006/main" noGrp="1"/>
          </p:cNvSpPr>
          <p:nvPr/>
        </p:nvSpPr>
        <p:spPr>
          <a:xfrm xmlns:a="http://schemas.openxmlformats.org/drawingml/2006/main">
            <a:off x="895350" y="1895475"/>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C8B53"/>
                </a:solidFill>
              </a:defRPr>
            </a:pPr>
            <a:r>
              <a:rPr sz="1350" b="1" i="0">
                <a:solidFill>
                  <a:srgbClr val="1C8B53"/>
                </a:solidFill>
              </a:rPr>
              <a:t>Objectif général</a:t>
            </a:r>
          </a:p>
        </p:txBody>
      </p:sp>
      <p:sp>
        <p:nvSpPr>
          <p:cNvPr id="7" name="">
            <a:extLst xmlns:a="http://schemas.openxmlformats.org/drawingml/2006/main">
              <a:ext uri="{FF2B5EF4-FFF2-40B4-BE49-F238E27FC236}">
                <a16:creationId xmlns:a16="http://schemas.microsoft.com/office/drawing/2014/main" id="{01302169-CCFB-4F8A-8D1B-CEDA6B73707C}"/>
              </a:ext>
            </a:extLst>
          </p:cNvPr>
          <p:cNvSpPr>
            <a:spLocks xmlns:a="http://schemas.openxmlformats.org/drawingml/2006/main" noGrp="1"/>
          </p:cNvSpPr>
          <p:nvPr/>
        </p:nvSpPr>
        <p:spPr>
          <a:xfrm xmlns:a="http://schemas.openxmlformats.org/drawingml/2006/main">
            <a:off x="895350" y="2276475"/>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102033"/>
                </a:solidFill>
              </a:defRPr>
            </a:pPr>
            <a:r>
              <a:rPr sz="1200" b="0" i="0">
                <a:solidFill>
                  <a:srgbClr val="102033"/>
                </a:solidFill>
              </a:rPr>
              <a:t>Concevoir et évaluer un système intelligent capable de détecter automatiquement la violence dans une vidéo, en temps réel, sur matériel ordinaire.</a:t>
            </a:r>
          </a:p>
        </p:txBody>
      </p:sp>
      <p:sp>
        <p:nvSpPr>
          <p:cNvPr id="8" name="">
            <a:extLst xmlns:a="http://schemas.openxmlformats.org/drawingml/2006/main">
              <a:ext uri="{FF2B5EF4-FFF2-40B4-BE49-F238E27FC236}">
                <a16:creationId xmlns:a16="http://schemas.microsoft.com/office/drawing/2014/main" id="{576E700C-DA6D-4B4D-97C0-304DB2DF1A37}"/>
              </a:ext>
            </a:extLst>
          </p:cNvPr>
          <p:cNvSpPr>
            <a:spLocks xmlns:a="http://schemas.openxmlformats.org/drawingml/2006/main" noGrp="1"/>
          </p:cNvSpPr>
          <p:nvPr/>
        </p:nvSpPr>
        <p:spPr>
          <a:xfrm xmlns:a="http://schemas.openxmlformats.org/drawingml/2006/main">
            <a:off x="6191250" y="1666875"/>
            <a:ext cx="4953000" cy="1219200"/>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9525">
            <a:solidFill>
              <a:srgbClr val="C8D6E4"/>
            </a:solidFill>
            <a:prstDash val="solid"/>
          </a:ln>
        </p:spPr>
      </p:sp>
      <p:sp>
        <p:nvSpPr>
          <p:cNvPr id="9" name="">
            <a:extLst xmlns:a="http://schemas.openxmlformats.org/drawingml/2006/main">
              <a:ext uri="{FF2B5EF4-FFF2-40B4-BE49-F238E27FC236}">
                <a16:creationId xmlns:a16="http://schemas.microsoft.com/office/drawing/2014/main" id="{9C5E16F3-E095-45C1-ABDD-684931958D6D}"/>
              </a:ext>
            </a:extLst>
          </p:cNvPr>
          <p:cNvSpPr>
            <a:spLocks xmlns:a="http://schemas.openxmlformats.org/drawingml/2006/main" noGrp="1"/>
          </p:cNvSpPr>
          <p:nvPr/>
        </p:nvSpPr>
        <p:spPr>
          <a:xfrm xmlns:a="http://schemas.openxmlformats.org/drawingml/2006/main">
            <a:off x="6191250" y="1666875"/>
            <a:ext cx="66675" cy="1219200"/>
          </a:xfrm>
          <a:prstGeom xmlns:a="http://schemas.openxmlformats.org/drawingml/2006/main" prst="rect">
            <a:avLst/>
          </a:prstGeom>
          <a:solidFill xmlns:a="http://schemas.openxmlformats.org/drawingml/2006/main">
            <a:srgbClr val="203F6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F4445E6-8F6D-476D-B7E2-AA00FFBBDD70}"/>
              </a:ext>
            </a:extLst>
          </p:cNvPr>
          <p:cNvSpPr>
            <a:spLocks xmlns:a="http://schemas.openxmlformats.org/drawingml/2006/main" noGrp="1"/>
          </p:cNvSpPr>
          <p:nvPr/>
        </p:nvSpPr>
        <p:spPr>
          <a:xfrm xmlns:a="http://schemas.openxmlformats.org/drawingml/2006/main">
            <a:off x="6419850" y="1895475"/>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203F6E"/>
                </a:solidFill>
              </a:defRPr>
            </a:pPr>
            <a:r>
              <a:rPr sz="1350" b="1" i="0">
                <a:solidFill>
                  <a:srgbClr val="203F6E"/>
                </a:solidFill>
              </a:rPr>
              <a:t>Hypothèse de travail</a:t>
            </a:r>
          </a:p>
        </p:txBody>
      </p:sp>
      <p:sp>
        <p:nvSpPr>
          <p:cNvPr id="11" name="">
            <a:extLst xmlns:a="http://schemas.openxmlformats.org/drawingml/2006/main">
              <a:ext uri="{FF2B5EF4-FFF2-40B4-BE49-F238E27FC236}">
                <a16:creationId xmlns:a16="http://schemas.microsoft.com/office/drawing/2014/main" id="{D25FC5D7-93F4-46A6-A720-E1A5D1B7C603}"/>
              </a:ext>
            </a:extLst>
          </p:cNvPr>
          <p:cNvSpPr>
            <a:spLocks xmlns:a="http://schemas.openxmlformats.org/drawingml/2006/main" noGrp="1"/>
          </p:cNvSpPr>
          <p:nvPr/>
        </p:nvSpPr>
        <p:spPr>
          <a:xfrm xmlns:a="http://schemas.openxmlformats.org/drawingml/2006/main">
            <a:off x="6419850" y="2276475"/>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102033"/>
                </a:solidFill>
              </a:defRPr>
            </a:pPr>
            <a:r>
              <a:rPr sz="1200" b="0" i="0">
                <a:solidFill>
                  <a:srgbClr val="102033"/>
                </a:solidFill>
              </a:rPr>
              <a:t>Une architecture EfficientNetB0 + LSTM entraînée sur RLVS + RWF-2000 peut reconnaître la violence avec un bon compromis entre performance, rapidité et déployabilité.</a:t>
            </a:r>
          </a:p>
        </p:txBody>
      </p:sp>
      <p:sp>
        <p:nvSpPr>
          <p:cNvPr id="12" name="">
            <a:extLst xmlns:a="http://schemas.openxmlformats.org/drawingml/2006/main">
              <a:ext uri="{FF2B5EF4-FFF2-40B4-BE49-F238E27FC236}">
                <a16:creationId xmlns:a16="http://schemas.microsoft.com/office/drawing/2014/main" id="{0E0F2E57-BE75-405D-942A-718D893F5EF1}"/>
              </a:ext>
            </a:extLst>
          </p:cNvPr>
          <p:cNvSpPr>
            <a:spLocks xmlns:a="http://schemas.openxmlformats.org/drawingml/2006/main" noGrp="1"/>
          </p:cNvSpPr>
          <p:nvPr/>
        </p:nvSpPr>
        <p:spPr>
          <a:xfrm xmlns:a="http://schemas.openxmlformats.org/drawingml/2006/main">
            <a:off x="819150" y="3619500"/>
            <a:ext cx="16954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C8D6E4"/>
            </a:solidFill>
            <a:prstDash val="solid"/>
          </a:ln>
        </p:spPr>
      </p:sp>
      <p:sp>
        <p:nvSpPr>
          <p:cNvPr id="13" name="">
            <a:extLst xmlns:a="http://schemas.openxmlformats.org/drawingml/2006/main">
              <a:ext uri="{FF2B5EF4-FFF2-40B4-BE49-F238E27FC236}">
                <a16:creationId xmlns:a16="http://schemas.microsoft.com/office/drawing/2014/main" id="{56CEA21E-1045-4BB2-86C8-2B2D2E2718E1}"/>
              </a:ext>
            </a:extLst>
          </p:cNvPr>
          <p:cNvSpPr>
            <a:spLocks xmlns:a="http://schemas.openxmlformats.org/drawingml/2006/main" noGrp="1"/>
          </p:cNvSpPr>
          <p:nvPr/>
        </p:nvSpPr>
        <p:spPr>
          <a:xfrm xmlns:a="http://schemas.openxmlformats.org/drawingml/2006/main">
            <a:off x="819150" y="379095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i="0">
                <a:solidFill>
                  <a:srgbClr val="1C8B53"/>
                </a:solidFill>
              </a:defRPr>
            </a:pPr>
            <a:r>
              <a:rPr sz="1500" b="1" i="0">
                <a:solidFill>
                  <a:srgbClr val="1C8B53"/>
                </a:solidFill>
              </a:rPr>
              <a:t>O1</a:t>
            </a:r>
          </a:p>
        </p:txBody>
      </p:sp>
      <p:sp>
        <p:nvSpPr>
          <p:cNvPr id="14" name="">
            <a:extLst xmlns:a="http://schemas.openxmlformats.org/drawingml/2006/main">
              <a:ext uri="{FF2B5EF4-FFF2-40B4-BE49-F238E27FC236}">
                <a16:creationId xmlns:a16="http://schemas.microsoft.com/office/drawing/2014/main" id="{EA21A592-F655-4AC4-B42F-E59B89C1ED2A}"/>
              </a:ext>
            </a:extLst>
          </p:cNvPr>
          <p:cNvSpPr>
            <a:spLocks xmlns:a="http://schemas.openxmlformats.org/drawingml/2006/main" noGrp="1"/>
          </p:cNvSpPr>
          <p:nvPr/>
        </p:nvSpPr>
        <p:spPr>
          <a:xfrm xmlns:a="http://schemas.openxmlformats.org/drawingml/2006/main">
            <a:off x="971550" y="4095750"/>
            <a:ext cx="1390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102033"/>
                </a:solidFill>
              </a:defRPr>
            </a:pPr>
            <a:r>
              <a:rPr sz="975" b="1" i="0">
                <a:solidFill>
                  <a:srgbClr val="102033"/>
                </a:solidFill>
              </a:rPr>
              <a:t>Analyser les travaux existants</a:t>
            </a:r>
          </a:p>
        </p:txBody>
      </p:sp>
      <p:sp>
        <p:nvSpPr>
          <p:cNvPr id="15" name="">
            <a:extLst xmlns:a="http://schemas.openxmlformats.org/drawingml/2006/main">
              <a:ext uri="{FF2B5EF4-FFF2-40B4-BE49-F238E27FC236}">
                <a16:creationId xmlns:a16="http://schemas.microsoft.com/office/drawing/2014/main" id="{14A0277C-BFEA-4969-8630-5DD0646AA1E0}"/>
              </a:ext>
            </a:extLst>
          </p:cNvPr>
          <p:cNvSpPr>
            <a:spLocks xmlns:a="http://schemas.openxmlformats.org/drawingml/2006/main" noGrp="1"/>
          </p:cNvSpPr>
          <p:nvPr/>
        </p:nvSpPr>
        <p:spPr>
          <a:xfrm xmlns:a="http://schemas.openxmlformats.org/drawingml/2006/main">
            <a:off x="2562225" y="4105275"/>
            <a:ext cx="342900" cy="47625"/>
          </a:xfrm>
          <a:prstGeom xmlns:a="http://schemas.openxmlformats.org/drawingml/2006/main" prst="rect">
            <a:avLst/>
          </a:prstGeom>
          <a:solidFill xmlns:a="http://schemas.openxmlformats.org/drawingml/2006/main">
            <a:srgbClr val="203F6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5406C55-26A9-44A1-91DB-4D0C64D28939}"/>
              </a:ext>
            </a:extLst>
          </p:cNvPr>
          <p:cNvSpPr>
            <a:spLocks xmlns:a="http://schemas.openxmlformats.org/drawingml/2006/main" noGrp="1"/>
          </p:cNvSpPr>
          <p:nvPr/>
        </p:nvSpPr>
        <p:spPr>
          <a:xfrm xmlns:a="http://schemas.openxmlformats.org/drawingml/2006/main">
            <a:off x="2962275" y="3619500"/>
            <a:ext cx="16954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C8D6E4"/>
            </a:solidFill>
            <a:prstDash val="solid"/>
          </a:ln>
        </p:spPr>
      </p:sp>
      <p:sp>
        <p:nvSpPr>
          <p:cNvPr id="17" name="">
            <a:extLst xmlns:a="http://schemas.openxmlformats.org/drawingml/2006/main">
              <a:ext uri="{FF2B5EF4-FFF2-40B4-BE49-F238E27FC236}">
                <a16:creationId xmlns:a16="http://schemas.microsoft.com/office/drawing/2014/main" id="{B7D3CDA4-2AC4-44CD-91DE-84144D89E1EF}"/>
              </a:ext>
            </a:extLst>
          </p:cNvPr>
          <p:cNvSpPr>
            <a:spLocks xmlns:a="http://schemas.openxmlformats.org/drawingml/2006/main" noGrp="1"/>
          </p:cNvSpPr>
          <p:nvPr/>
        </p:nvSpPr>
        <p:spPr>
          <a:xfrm xmlns:a="http://schemas.openxmlformats.org/drawingml/2006/main">
            <a:off x="2962275" y="379095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i="0">
                <a:solidFill>
                  <a:srgbClr val="1C8B53"/>
                </a:solidFill>
              </a:defRPr>
            </a:pPr>
            <a:r>
              <a:rPr sz="1500" b="1" i="0">
                <a:solidFill>
                  <a:srgbClr val="1C8B53"/>
                </a:solidFill>
              </a:rPr>
              <a:t>O2</a:t>
            </a:r>
          </a:p>
        </p:txBody>
      </p:sp>
      <p:sp>
        <p:nvSpPr>
          <p:cNvPr id="18" name="">
            <a:extLst xmlns:a="http://schemas.openxmlformats.org/drawingml/2006/main">
              <a:ext uri="{FF2B5EF4-FFF2-40B4-BE49-F238E27FC236}">
                <a16:creationId xmlns:a16="http://schemas.microsoft.com/office/drawing/2014/main" id="{05D498C6-5F60-48EA-80B0-41FF6D153B48}"/>
              </a:ext>
            </a:extLst>
          </p:cNvPr>
          <p:cNvSpPr>
            <a:spLocks xmlns:a="http://schemas.openxmlformats.org/drawingml/2006/main" noGrp="1"/>
          </p:cNvSpPr>
          <p:nvPr/>
        </p:nvSpPr>
        <p:spPr>
          <a:xfrm xmlns:a="http://schemas.openxmlformats.org/drawingml/2006/main">
            <a:off x="3114675" y="4095750"/>
            <a:ext cx="1390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102033"/>
                </a:solidFill>
              </a:defRPr>
            </a:pPr>
            <a:r>
              <a:rPr sz="975" b="1" i="0">
                <a:solidFill>
                  <a:srgbClr val="102033"/>
                </a:solidFill>
              </a:rPr>
              <a:t>Choisir et justifier l’architecture</a:t>
            </a:r>
          </a:p>
        </p:txBody>
      </p:sp>
      <p:sp>
        <p:nvSpPr>
          <p:cNvPr id="19" name="">
            <a:extLst xmlns:a="http://schemas.openxmlformats.org/drawingml/2006/main">
              <a:ext uri="{FF2B5EF4-FFF2-40B4-BE49-F238E27FC236}">
                <a16:creationId xmlns:a16="http://schemas.microsoft.com/office/drawing/2014/main" id="{4C4280BC-342A-4A71-8CC1-A621D9729D1B}"/>
              </a:ext>
            </a:extLst>
          </p:cNvPr>
          <p:cNvSpPr>
            <a:spLocks xmlns:a="http://schemas.openxmlformats.org/drawingml/2006/main" noGrp="1"/>
          </p:cNvSpPr>
          <p:nvPr/>
        </p:nvSpPr>
        <p:spPr>
          <a:xfrm xmlns:a="http://schemas.openxmlformats.org/drawingml/2006/main">
            <a:off x="4705350" y="4105275"/>
            <a:ext cx="342900" cy="47625"/>
          </a:xfrm>
          <a:prstGeom xmlns:a="http://schemas.openxmlformats.org/drawingml/2006/main" prst="rect">
            <a:avLst/>
          </a:prstGeom>
          <a:solidFill xmlns:a="http://schemas.openxmlformats.org/drawingml/2006/main">
            <a:srgbClr val="203F6E"/>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2BF45AC-D207-4319-999E-C6AD3686C398}"/>
              </a:ext>
            </a:extLst>
          </p:cNvPr>
          <p:cNvSpPr>
            <a:spLocks xmlns:a="http://schemas.openxmlformats.org/drawingml/2006/main" noGrp="1"/>
          </p:cNvSpPr>
          <p:nvPr/>
        </p:nvSpPr>
        <p:spPr>
          <a:xfrm xmlns:a="http://schemas.openxmlformats.org/drawingml/2006/main">
            <a:off x="5105400" y="3619500"/>
            <a:ext cx="16954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C8D6E4"/>
            </a:solidFill>
            <a:prstDash val="solid"/>
          </a:ln>
        </p:spPr>
      </p:sp>
      <p:sp>
        <p:nvSpPr>
          <p:cNvPr id="21" name="">
            <a:extLst xmlns:a="http://schemas.openxmlformats.org/drawingml/2006/main">
              <a:ext uri="{FF2B5EF4-FFF2-40B4-BE49-F238E27FC236}">
                <a16:creationId xmlns:a16="http://schemas.microsoft.com/office/drawing/2014/main" id="{508E0A66-80DC-4D2B-BA24-88325D7705FE}"/>
              </a:ext>
            </a:extLst>
          </p:cNvPr>
          <p:cNvSpPr>
            <a:spLocks xmlns:a="http://schemas.openxmlformats.org/drawingml/2006/main" noGrp="1"/>
          </p:cNvSpPr>
          <p:nvPr/>
        </p:nvSpPr>
        <p:spPr>
          <a:xfrm xmlns:a="http://schemas.openxmlformats.org/drawingml/2006/main">
            <a:off x="5105400" y="379095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i="0">
                <a:solidFill>
                  <a:srgbClr val="1C8B53"/>
                </a:solidFill>
              </a:defRPr>
            </a:pPr>
            <a:r>
              <a:rPr sz="1500" b="1" i="0">
                <a:solidFill>
                  <a:srgbClr val="1C8B53"/>
                </a:solidFill>
              </a:rPr>
              <a:t>O3</a:t>
            </a:r>
          </a:p>
        </p:txBody>
      </p:sp>
      <p:sp>
        <p:nvSpPr>
          <p:cNvPr id="22" name="">
            <a:extLst xmlns:a="http://schemas.openxmlformats.org/drawingml/2006/main">
              <a:ext uri="{FF2B5EF4-FFF2-40B4-BE49-F238E27FC236}">
                <a16:creationId xmlns:a16="http://schemas.microsoft.com/office/drawing/2014/main" id="{50373A9E-5DE8-438E-8F49-E479DCC30B60}"/>
              </a:ext>
            </a:extLst>
          </p:cNvPr>
          <p:cNvSpPr>
            <a:spLocks xmlns:a="http://schemas.openxmlformats.org/drawingml/2006/main" noGrp="1"/>
          </p:cNvSpPr>
          <p:nvPr/>
        </p:nvSpPr>
        <p:spPr>
          <a:xfrm xmlns:a="http://schemas.openxmlformats.org/drawingml/2006/main">
            <a:off x="5257800" y="4095750"/>
            <a:ext cx="1390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102033"/>
                </a:solidFill>
              </a:defRPr>
            </a:pPr>
            <a:r>
              <a:rPr sz="975" b="1" i="0">
                <a:solidFill>
                  <a:srgbClr val="102033"/>
                </a:solidFill>
              </a:rPr>
              <a:t>Entraîner et évaluer le modèle</a:t>
            </a:r>
          </a:p>
        </p:txBody>
      </p:sp>
      <p:sp>
        <p:nvSpPr>
          <p:cNvPr id="23" name="">
            <a:extLst xmlns:a="http://schemas.openxmlformats.org/drawingml/2006/main">
              <a:ext uri="{FF2B5EF4-FFF2-40B4-BE49-F238E27FC236}">
                <a16:creationId xmlns:a16="http://schemas.microsoft.com/office/drawing/2014/main" id="{0189E28B-F39C-4C75-9F6E-7764EED37094}"/>
              </a:ext>
            </a:extLst>
          </p:cNvPr>
          <p:cNvSpPr>
            <a:spLocks xmlns:a="http://schemas.openxmlformats.org/drawingml/2006/main" noGrp="1"/>
          </p:cNvSpPr>
          <p:nvPr/>
        </p:nvSpPr>
        <p:spPr>
          <a:xfrm xmlns:a="http://schemas.openxmlformats.org/drawingml/2006/main">
            <a:off x="6848475" y="4105275"/>
            <a:ext cx="342900" cy="47625"/>
          </a:xfrm>
          <a:prstGeom xmlns:a="http://schemas.openxmlformats.org/drawingml/2006/main" prst="rect">
            <a:avLst/>
          </a:prstGeom>
          <a:solidFill xmlns:a="http://schemas.openxmlformats.org/drawingml/2006/main">
            <a:srgbClr val="203F6E"/>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1390CC05-AADF-4379-B591-18435C331DA7}"/>
              </a:ext>
            </a:extLst>
          </p:cNvPr>
          <p:cNvSpPr>
            <a:spLocks xmlns:a="http://schemas.openxmlformats.org/drawingml/2006/main" noGrp="1"/>
          </p:cNvSpPr>
          <p:nvPr/>
        </p:nvSpPr>
        <p:spPr>
          <a:xfrm xmlns:a="http://schemas.openxmlformats.org/drawingml/2006/main">
            <a:off x="7248525" y="3619500"/>
            <a:ext cx="16954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C8D6E4"/>
            </a:solidFill>
            <a:prstDash val="solid"/>
          </a:ln>
        </p:spPr>
      </p:sp>
      <p:sp>
        <p:nvSpPr>
          <p:cNvPr id="25" name="">
            <a:extLst xmlns:a="http://schemas.openxmlformats.org/drawingml/2006/main">
              <a:ext uri="{FF2B5EF4-FFF2-40B4-BE49-F238E27FC236}">
                <a16:creationId xmlns:a16="http://schemas.microsoft.com/office/drawing/2014/main" id="{2D15B2B0-5350-46DC-9E13-82EC3C3CE258}"/>
              </a:ext>
            </a:extLst>
          </p:cNvPr>
          <p:cNvSpPr>
            <a:spLocks xmlns:a="http://schemas.openxmlformats.org/drawingml/2006/main" noGrp="1"/>
          </p:cNvSpPr>
          <p:nvPr/>
        </p:nvSpPr>
        <p:spPr>
          <a:xfrm xmlns:a="http://schemas.openxmlformats.org/drawingml/2006/main">
            <a:off x="7248525" y="379095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i="0">
                <a:solidFill>
                  <a:srgbClr val="1C8B53"/>
                </a:solidFill>
              </a:defRPr>
            </a:pPr>
            <a:r>
              <a:rPr sz="1500" b="1" i="0">
                <a:solidFill>
                  <a:srgbClr val="1C8B53"/>
                </a:solidFill>
              </a:rPr>
              <a:t>O4</a:t>
            </a:r>
          </a:p>
        </p:txBody>
      </p:sp>
      <p:sp>
        <p:nvSpPr>
          <p:cNvPr id="26" name="">
            <a:extLst xmlns:a="http://schemas.openxmlformats.org/drawingml/2006/main">
              <a:ext uri="{FF2B5EF4-FFF2-40B4-BE49-F238E27FC236}">
                <a16:creationId xmlns:a16="http://schemas.microsoft.com/office/drawing/2014/main" id="{A8B90185-BE1C-4173-8EFF-D09BED1C25C8}"/>
              </a:ext>
            </a:extLst>
          </p:cNvPr>
          <p:cNvSpPr>
            <a:spLocks xmlns:a="http://schemas.openxmlformats.org/drawingml/2006/main" noGrp="1"/>
          </p:cNvSpPr>
          <p:nvPr/>
        </p:nvSpPr>
        <p:spPr>
          <a:xfrm xmlns:a="http://schemas.openxmlformats.org/drawingml/2006/main">
            <a:off x="7400925" y="4095750"/>
            <a:ext cx="1390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102033"/>
                </a:solidFill>
              </a:defRPr>
            </a:pPr>
            <a:r>
              <a:rPr sz="975" b="1" i="0">
                <a:solidFill>
                  <a:srgbClr val="102033"/>
                </a:solidFill>
              </a:rPr>
              <a:t>Intégrer capture, décision, alertes et dashboard</a:t>
            </a:r>
          </a:p>
        </p:txBody>
      </p:sp>
      <p:sp>
        <p:nvSpPr>
          <p:cNvPr id="27" name="">
            <a:extLst xmlns:a="http://schemas.openxmlformats.org/drawingml/2006/main">
              <a:ext uri="{FF2B5EF4-FFF2-40B4-BE49-F238E27FC236}">
                <a16:creationId xmlns:a16="http://schemas.microsoft.com/office/drawing/2014/main" id="{1FBE92BA-37C0-4774-B6C0-060B1DFC01A9}"/>
              </a:ext>
            </a:extLst>
          </p:cNvPr>
          <p:cNvSpPr>
            <a:spLocks xmlns:a="http://schemas.openxmlformats.org/drawingml/2006/main" noGrp="1"/>
          </p:cNvSpPr>
          <p:nvPr/>
        </p:nvSpPr>
        <p:spPr>
          <a:xfrm xmlns:a="http://schemas.openxmlformats.org/drawingml/2006/main">
            <a:off x="8991600" y="4105275"/>
            <a:ext cx="342900" cy="47625"/>
          </a:xfrm>
          <a:prstGeom xmlns:a="http://schemas.openxmlformats.org/drawingml/2006/main" prst="rect">
            <a:avLst/>
          </a:prstGeom>
          <a:solidFill xmlns:a="http://schemas.openxmlformats.org/drawingml/2006/main">
            <a:srgbClr val="203F6E"/>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DEEFB881-D543-43F3-9CF2-E9C386016676}"/>
              </a:ext>
            </a:extLst>
          </p:cNvPr>
          <p:cNvSpPr>
            <a:spLocks xmlns:a="http://schemas.openxmlformats.org/drawingml/2006/main" noGrp="1"/>
          </p:cNvSpPr>
          <p:nvPr/>
        </p:nvSpPr>
        <p:spPr>
          <a:xfrm xmlns:a="http://schemas.openxmlformats.org/drawingml/2006/main">
            <a:off x="9391650" y="3619500"/>
            <a:ext cx="16954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C8D6E4"/>
            </a:solidFill>
            <a:prstDash val="solid"/>
          </a:ln>
        </p:spPr>
      </p:sp>
      <p:sp>
        <p:nvSpPr>
          <p:cNvPr id="29" name="">
            <a:extLst xmlns:a="http://schemas.openxmlformats.org/drawingml/2006/main">
              <a:ext uri="{FF2B5EF4-FFF2-40B4-BE49-F238E27FC236}">
                <a16:creationId xmlns:a16="http://schemas.microsoft.com/office/drawing/2014/main" id="{DF554A7E-F412-46D7-A7E0-4D78E1D10869}"/>
              </a:ext>
            </a:extLst>
          </p:cNvPr>
          <p:cNvSpPr>
            <a:spLocks xmlns:a="http://schemas.openxmlformats.org/drawingml/2006/main" noGrp="1"/>
          </p:cNvSpPr>
          <p:nvPr/>
        </p:nvSpPr>
        <p:spPr>
          <a:xfrm xmlns:a="http://schemas.openxmlformats.org/drawingml/2006/main">
            <a:off x="9391650" y="379095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i="0">
                <a:solidFill>
                  <a:srgbClr val="1C8B53"/>
                </a:solidFill>
              </a:defRPr>
            </a:pPr>
            <a:r>
              <a:rPr sz="1500" b="1" i="0">
                <a:solidFill>
                  <a:srgbClr val="1C8B53"/>
                </a:solidFill>
              </a:rPr>
              <a:t>O5</a:t>
            </a:r>
          </a:p>
        </p:txBody>
      </p:sp>
      <p:sp>
        <p:nvSpPr>
          <p:cNvPr id="30" name="">
            <a:extLst xmlns:a="http://schemas.openxmlformats.org/drawingml/2006/main">
              <a:ext uri="{FF2B5EF4-FFF2-40B4-BE49-F238E27FC236}">
                <a16:creationId xmlns:a16="http://schemas.microsoft.com/office/drawing/2014/main" id="{B6529153-1134-4BBD-BF03-9DC227A991B4}"/>
              </a:ext>
            </a:extLst>
          </p:cNvPr>
          <p:cNvSpPr>
            <a:spLocks xmlns:a="http://schemas.openxmlformats.org/drawingml/2006/main" noGrp="1"/>
          </p:cNvSpPr>
          <p:nvPr/>
        </p:nvSpPr>
        <p:spPr>
          <a:xfrm xmlns:a="http://schemas.openxmlformats.org/drawingml/2006/main">
            <a:off x="9544050" y="4095750"/>
            <a:ext cx="1390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102033"/>
                </a:solidFill>
              </a:defRPr>
            </a:pPr>
            <a:r>
              <a:rPr sz="975" b="1" i="0">
                <a:solidFill>
                  <a:srgbClr val="102033"/>
                </a:solidFill>
              </a:rPr>
              <a:t>Tester les limites : sport, danse et généralisation</a:t>
            </a:r>
          </a:p>
        </p:txBody>
      </p:sp>
      <p:sp>
        <p:nvSpPr>
          <p:cNvPr id="31" name="">
            <a:extLst xmlns:a="http://schemas.openxmlformats.org/drawingml/2006/main">
              <a:ext uri="{FF2B5EF4-FFF2-40B4-BE49-F238E27FC236}">
                <a16:creationId xmlns:a16="http://schemas.microsoft.com/office/drawing/2014/main" id="{DC889492-38AB-4546-8F61-ABFE713CCE5D}"/>
              </a:ext>
            </a:extLst>
          </p:cNvPr>
          <p:cNvSpPr>
            <a:spLocks xmlns:a="http://schemas.openxmlformats.org/drawingml/2006/main" noGrp="1"/>
          </p:cNvSpPr>
          <p:nvPr/>
        </p:nvSpPr>
        <p:spPr>
          <a:xfrm xmlns:a="http://schemas.openxmlformats.org/drawingml/2006/main">
            <a:off x="1333500" y="5334000"/>
            <a:ext cx="952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17345F"/>
                </a:solidFill>
              </a:defRPr>
            </a:pPr>
            <a:r>
              <a:rPr sz="1350" b="1" i="0">
                <a:solidFill>
                  <a:srgbClr val="17345F"/>
                </a:solidFill>
              </a:rPr>
              <a:t>Lecture attendue par le jury : le travail n’évalue pas seulement un score, il vérifie si la solution peut devenir un outil utilisable.</a:t>
            </a:r>
          </a:p>
        </p:txBody>
      </p:sp>
      <p:sp>
        <p:nvSpPr>
          <p:cNvPr id="32" name="">
            <a:extLst xmlns:a="http://schemas.openxmlformats.org/drawingml/2006/main">
              <a:ext uri="{FF2B5EF4-FFF2-40B4-BE49-F238E27FC236}">
                <a16:creationId xmlns:a16="http://schemas.microsoft.com/office/drawing/2014/main" id="{D3F47466-A8D8-4BCB-88D7-BBC5521C1E8A}"/>
              </a:ext>
            </a:extLst>
          </p:cNvPr>
          <p:cNvSpPr>
            <a:spLocks xmlns:a="http://schemas.openxmlformats.org/drawingml/2006/main" noGrp="1"/>
          </p:cNvSpPr>
          <p:nvPr/>
        </p:nvSpPr>
        <p:spPr>
          <a:xfrm xmlns:a="http://schemas.openxmlformats.org/drawingml/2006/main">
            <a:off x="552450" y="6362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i="0">
                <a:solidFill>
                  <a:srgbClr val="5A6B82"/>
                </a:solidFill>
              </a:defRPr>
            </a:pPr>
            <a:r>
              <a:rPr sz="675" b="0" i="0">
                <a:solidFill>
                  <a:srgbClr val="5A6B82"/>
                </a:solidFill>
              </a:rPr>
              <a:t>Objectifs et hypothèse</a:t>
            </a:r>
          </a:p>
        </p:txBody>
      </p:sp>
      <p:sp>
        <p:nvSpPr>
          <p:cNvPr id="33" name="">
            <a:extLst xmlns:a="http://schemas.openxmlformats.org/drawingml/2006/main">
              <a:ext uri="{FF2B5EF4-FFF2-40B4-BE49-F238E27FC236}">
                <a16:creationId xmlns:a16="http://schemas.microsoft.com/office/drawing/2014/main" id="{664B2BF9-FC77-476B-BED4-387DF1677C26}"/>
              </a:ext>
            </a:extLst>
          </p:cNvPr>
          <p:cNvSpPr>
            <a:spLocks xmlns:a="http://schemas.openxmlformats.org/drawingml/2006/main" noGrp="1"/>
          </p:cNvSpPr>
          <p:nvPr/>
        </p:nvSpPr>
        <p:spPr>
          <a:xfrm xmlns:a="http://schemas.openxmlformats.org/drawingml/2006/main">
            <a:off x="11049000" y="63627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0" i="0">
                <a:solidFill>
                  <a:srgbClr val="5A6B82"/>
                </a:solidFill>
              </a:defRPr>
            </a:pPr>
            <a:r>
              <a:rPr sz="750" b="0" i="0">
                <a:solidFill>
                  <a:srgbClr val="5A6B82"/>
                </a:solidFill>
              </a:rPr>
              <a:t>4 / 18</a:t>
            </a:r>
          </a:p>
        </p:txBody>
      </p:sp>
    </p:spTree>
    <p:extLst>
      <p:ext uri="{BB962C8B-B14F-4D97-AF65-F5344CB8AC3E}">
        <p14:creationId xmlns:p14="http://schemas.microsoft.com/office/powerpoint/2010/main" val="190043391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31F4A3A-FE08-43AA-A8F6-8F6B83E9EA3B}"/>
              </a:ext>
            </a:extLst>
          </p:cNvPr>
          <p:cNvSpPr>
            <a:spLocks xmlns:a="http://schemas.openxmlformats.org/drawingml/2006/main" noGrp="1"/>
          </p:cNvSpPr>
          <p:nvPr/>
        </p:nvSpPr>
        <p:spPr>
          <a:xfrm xmlns:a="http://schemas.openxmlformats.org/drawingml/2006/main">
            <a:off x="552450" y="419100"/>
            <a:ext cx="933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i="0">
                <a:solidFill>
                  <a:srgbClr val="17345F"/>
                </a:solidFill>
              </a:defRPr>
            </a:pPr>
            <a:r>
              <a:rPr sz="2550" b="1" i="0">
                <a:solidFill>
                  <a:srgbClr val="17345F"/>
                </a:solidFill>
              </a:rPr>
              <a:t>La littérature progresse, mais laisse trois angles morts</a:t>
            </a:r>
          </a:p>
        </p:txBody>
      </p:sp>
      <p:sp>
        <p:nvSpPr>
          <p:cNvPr id="2" name="">
            <a:extLst xmlns:a="http://schemas.openxmlformats.org/drawingml/2006/main">
              <a:ext uri="{FF2B5EF4-FFF2-40B4-BE49-F238E27FC236}">
                <a16:creationId xmlns:a16="http://schemas.microsoft.com/office/drawing/2014/main" id="{2E600206-1ACF-4834-9879-473C0FE17A1A}"/>
              </a:ext>
            </a:extLst>
          </p:cNvPr>
          <p:cNvSpPr>
            <a:spLocks xmlns:a="http://schemas.openxmlformats.org/drawingml/2006/main" noGrp="1"/>
          </p:cNvSpPr>
          <p:nvPr/>
        </p:nvSpPr>
        <p:spPr>
          <a:xfrm xmlns:a="http://schemas.openxmlformats.org/drawingml/2006/main">
            <a:off x="552450" y="1095375"/>
            <a:ext cx="1047750" cy="47625"/>
          </a:xfrm>
          <a:prstGeom xmlns:a="http://schemas.openxmlformats.org/drawingml/2006/main" prst="rect">
            <a:avLst/>
          </a:prstGeom>
          <a:solidFill xmlns:a="http://schemas.openxmlformats.org/drawingml/2006/main">
            <a:srgbClr val="1C8B53"/>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328FA48-3F7D-4510-9C30-DEEF880F1B8A}"/>
              </a:ext>
            </a:extLst>
          </p:cNvPr>
          <p:cNvSpPr>
            <a:spLocks xmlns:a="http://schemas.openxmlformats.org/drawingml/2006/main" noGrp="1"/>
          </p:cNvSpPr>
          <p:nvPr/>
        </p:nvSpPr>
        <p:spPr>
          <a:xfrm xmlns:a="http://schemas.openxmlformats.org/drawingml/2006/main">
            <a:off x="552450" y="1238250"/>
            <a:ext cx="838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A6B82"/>
                </a:solidFill>
              </a:defRPr>
            </a:pPr>
            <a:r>
              <a:rPr sz="1200" b="0" i="0">
                <a:solidFill>
                  <a:srgbClr val="5A6B82"/>
                </a:solidFill>
              </a:rPr>
              <a:t>SIRCH part des approches existantes et ajoute l’évaluation des biais et le déploiement.</a:t>
            </a:r>
          </a:p>
        </p:txBody>
      </p:sp>
      <p:sp>
        <p:nvSpPr>
          <p:cNvPr id="4" name="">
            <a:extLst xmlns:a="http://schemas.openxmlformats.org/drawingml/2006/main">
              <a:ext uri="{FF2B5EF4-FFF2-40B4-BE49-F238E27FC236}">
                <a16:creationId xmlns:a16="http://schemas.microsoft.com/office/drawing/2014/main" id="{6F15ECAD-20AD-48FB-9AED-14E240E47761}"/>
              </a:ext>
            </a:extLst>
          </p:cNvPr>
          <p:cNvSpPr>
            <a:spLocks xmlns:a="http://schemas.openxmlformats.org/drawingml/2006/main" noGrp="1"/>
          </p:cNvSpPr>
          <p:nvPr/>
        </p:nvSpPr>
        <p:spPr>
          <a:xfrm xmlns:a="http://schemas.openxmlformats.org/drawingml/2006/main">
            <a:off x="666750" y="1666875"/>
            <a:ext cx="2476500" cy="609600"/>
          </a:xfrm>
          <a:prstGeom xmlns:a="http://schemas.openxmlformats.org/drawingml/2006/main" prst="rect">
            <a:avLst/>
          </a:prstGeom>
          <a:solidFill xmlns:a="http://schemas.openxmlformats.org/drawingml/2006/main">
            <a:srgbClr val="203F6E"/>
          </a:solidFill>
          <a:ln xmlns:a="http://schemas.openxmlformats.org/drawingml/2006/main" w="9525">
            <a:solidFill>
              <a:srgbClr val="C8D6E4"/>
            </a:solidFill>
            <a:prstDash val="solid"/>
          </a:ln>
        </p:spPr>
      </p:sp>
      <p:sp>
        <p:nvSpPr>
          <p:cNvPr id="5" name="">
            <a:extLst xmlns:a="http://schemas.openxmlformats.org/drawingml/2006/main">
              <a:ext uri="{FF2B5EF4-FFF2-40B4-BE49-F238E27FC236}">
                <a16:creationId xmlns:a16="http://schemas.microsoft.com/office/drawing/2014/main" id="{9C96DF97-98F8-4765-B969-D0B06D25C529}"/>
              </a:ext>
            </a:extLst>
          </p:cNvPr>
          <p:cNvSpPr>
            <a:spLocks xmlns:a="http://schemas.openxmlformats.org/drawingml/2006/main" noGrp="1"/>
          </p:cNvSpPr>
          <p:nvPr/>
        </p:nvSpPr>
        <p:spPr>
          <a:xfrm xmlns:a="http://schemas.openxmlformats.org/drawingml/2006/main">
            <a:off x="742950" y="1762125"/>
            <a:ext cx="2324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Approche</a:t>
            </a:r>
          </a:p>
        </p:txBody>
      </p:sp>
      <p:sp>
        <p:nvSpPr>
          <p:cNvPr id="6" name="">
            <a:extLst xmlns:a="http://schemas.openxmlformats.org/drawingml/2006/main">
              <a:ext uri="{FF2B5EF4-FFF2-40B4-BE49-F238E27FC236}">
                <a16:creationId xmlns:a16="http://schemas.microsoft.com/office/drawing/2014/main" id="{97AC2E97-5B3F-4130-AC18-103D94580A9C}"/>
              </a:ext>
            </a:extLst>
          </p:cNvPr>
          <p:cNvSpPr>
            <a:spLocks xmlns:a="http://schemas.openxmlformats.org/drawingml/2006/main" noGrp="1"/>
          </p:cNvSpPr>
          <p:nvPr/>
        </p:nvSpPr>
        <p:spPr>
          <a:xfrm xmlns:a="http://schemas.openxmlformats.org/drawingml/2006/main">
            <a:off x="3143250" y="1666875"/>
            <a:ext cx="2476500" cy="609600"/>
          </a:xfrm>
          <a:prstGeom xmlns:a="http://schemas.openxmlformats.org/drawingml/2006/main" prst="rect">
            <a:avLst/>
          </a:prstGeom>
          <a:solidFill xmlns:a="http://schemas.openxmlformats.org/drawingml/2006/main">
            <a:srgbClr val="203F6E"/>
          </a:solidFill>
          <a:ln xmlns:a="http://schemas.openxmlformats.org/drawingml/2006/main" w="9525">
            <a:solidFill>
              <a:srgbClr val="C8D6E4"/>
            </a:solidFill>
            <a:prstDash val="solid"/>
          </a:ln>
        </p:spPr>
      </p:sp>
      <p:sp>
        <p:nvSpPr>
          <p:cNvPr id="7" name="">
            <a:extLst xmlns:a="http://schemas.openxmlformats.org/drawingml/2006/main">
              <a:ext uri="{FF2B5EF4-FFF2-40B4-BE49-F238E27FC236}">
                <a16:creationId xmlns:a16="http://schemas.microsoft.com/office/drawing/2014/main" id="{49EA9D34-CBDC-4E11-9440-A15C0572E741}"/>
              </a:ext>
            </a:extLst>
          </p:cNvPr>
          <p:cNvSpPr>
            <a:spLocks xmlns:a="http://schemas.openxmlformats.org/drawingml/2006/main" noGrp="1"/>
          </p:cNvSpPr>
          <p:nvPr/>
        </p:nvSpPr>
        <p:spPr>
          <a:xfrm xmlns:a="http://schemas.openxmlformats.org/drawingml/2006/main">
            <a:off x="3219450" y="1762125"/>
            <a:ext cx="2324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Force</a:t>
            </a:r>
          </a:p>
        </p:txBody>
      </p:sp>
      <p:sp>
        <p:nvSpPr>
          <p:cNvPr id="8" name="">
            <a:extLst xmlns:a="http://schemas.openxmlformats.org/drawingml/2006/main">
              <a:ext uri="{FF2B5EF4-FFF2-40B4-BE49-F238E27FC236}">
                <a16:creationId xmlns:a16="http://schemas.microsoft.com/office/drawing/2014/main" id="{F29FFFA0-D7DC-49E7-AAA6-436AF45FD41C}"/>
              </a:ext>
            </a:extLst>
          </p:cNvPr>
          <p:cNvSpPr>
            <a:spLocks xmlns:a="http://schemas.openxmlformats.org/drawingml/2006/main" noGrp="1"/>
          </p:cNvSpPr>
          <p:nvPr/>
        </p:nvSpPr>
        <p:spPr>
          <a:xfrm xmlns:a="http://schemas.openxmlformats.org/drawingml/2006/main">
            <a:off x="5619750" y="1666875"/>
            <a:ext cx="3048000" cy="609600"/>
          </a:xfrm>
          <a:prstGeom xmlns:a="http://schemas.openxmlformats.org/drawingml/2006/main" prst="rect">
            <a:avLst/>
          </a:prstGeom>
          <a:solidFill xmlns:a="http://schemas.openxmlformats.org/drawingml/2006/main">
            <a:srgbClr val="203F6E"/>
          </a:solidFill>
          <a:ln xmlns:a="http://schemas.openxmlformats.org/drawingml/2006/main" w="9525">
            <a:solidFill>
              <a:srgbClr val="C8D6E4"/>
            </a:solidFill>
            <a:prstDash val="solid"/>
          </a:ln>
        </p:spPr>
      </p:sp>
      <p:sp>
        <p:nvSpPr>
          <p:cNvPr id="9" name="">
            <a:extLst xmlns:a="http://schemas.openxmlformats.org/drawingml/2006/main">
              <a:ext uri="{FF2B5EF4-FFF2-40B4-BE49-F238E27FC236}">
                <a16:creationId xmlns:a16="http://schemas.microsoft.com/office/drawing/2014/main" id="{3835C0D1-FF91-45B5-AE69-98ACEE6C5DDF}"/>
              </a:ext>
            </a:extLst>
          </p:cNvPr>
          <p:cNvSpPr>
            <a:spLocks xmlns:a="http://schemas.openxmlformats.org/drawingml/2006/main" noGrp="1"/>
          </p:cNvSpPr>
          <p:nvPr/>
        </p:nvSpPr>
        <p:spPr>
          <a:xfrm xmlns:a="http://schemas.openxmlformats.org/drawingml/2006/main">
            <a:off x="5695950" y="1762125"/>
            <a:ext cx="2895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Limite</a:t>
            </a:r>
          </a:p>
        </p:txBody>
      </p:sp>
      <p:sp>
        <p:nvSpPr>
          <p:cNvPr id="10" name="">
            <a:extLst xmlns:a="http://schemas.openxmlformats.org/drawingml/2006/main">
              <a:ext uri="{FF2B5EF4-FFF2-40B4-BE49-F238E27FC236}">
                <a16:creationId xmlns:a16="http://schemas.microsoft.com/office/drawing/2014/main" id="{50D0B8BE-CBAA-4AFD-BEA0-47480E4E4910}"/>
              </a:ext>
            </a:extLst>
          </p:cNvPr>
          <p:cNvSpPr>
            <a:spLocks xmlns:a="http://schemas.openxmlformats.org/drawingml/2006/main" noGrp="1"/>
          </p:cNvSpPr>
          <p:nvPr/>
        </p:nvSpPr>
        <p:spPr>
          <a:xfrm xmlns:a="http://schemas.openxmlformats.org/drawingml/2006/main">
            <a:off x="666750" y="2276475"/>
            <a:ext cx="247650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11" name="">
            <a:extLst xmlns:a="http://schemas.openxmlformats.org/drawingml/2006/main">
              <a:ext uri="{FF2B5EF4-FFF2-40B4-BE49-F238E27FC236}">
                <a16:creationId xmlns:a16="http://schemas.microsoft.com/office/drawing/2014/main" id="{5E819FFF-0042-42A7-B5C0-294BF6FB2D54}"/>
              </a:ext>
            </a:extLst>
          </p:cNvPr>
          <p:cNvSpPr>
            <a:spLocks xmlns:a="http://schemas.openxmlformats.org/drawingml/2006/main" noGrp="1"/>
          </p:cNvSpPr>
          <p:nvPr/>
        </p:nvSpPr>
        <p:spPr>
          <a:xfrm xmlns:a="http://schemas.openxmlformats.org/drawingml/2006/main">
            <a:off x="742950" y="2371725"/>
            <a:ext cx="2324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Optical flow classique</a:t>
            </a:r>
          </a:p>
        </p:txBody>
      </p:sp>
      <p:sp>
        <p:nvSpPr>
          <p:cNvPr id="12" name="">
            <a:extLst xmlns:a="http://schemas.openxmlformats.org/drawingml/2006/main">
              <a:ext uri="{FF2B5EF4-FFF2-40B4-BE49-F238E27FC236}">
                <a16:creationId xmlns:a16="http://schemas.microsoft.com/office/drawing/2014/main" id="{6EFF7A7D-4AE4-410A-A56B-40F903FF36ED}"/>
              </a:ext>
            </a:extLst>
          </p:cNvPr>
          <p:cNvSpPr>
            <a:spLocks xmlns:a="http://schemas.openxmlformats.org/drawingml/2006/main" noGrp="1"/>
          </p:cNvSpPr>
          <p:nvPr/>
        </p:nvSpPr>
        <p:spPr>
          <a:xfrm xmlns:a="http://schemas.openxmlformats.org/drawingml/2006/main">
            <a:off x="3143250" y="2276475"/>
            <a:ext cx="247650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13" name="">
            <a:extLst xmlns:a="http://schemas.openxmlformats.org/drawingml/2006/main">
              <a:ext uri="{FF2B5EF4-FFF2-40B4-BE49-F238E27FC236}">
                <a16:creationId xmlns:a16="http://schemas.microsoft.com/office/drawing/2014/main" id="{F082D46B-9A9A-4B48-AF95-BBFD4010F7F7}"/>
              </a:ext>
            </a:extLst>
          </p:cNvPr>
          <p:cNvSpPr>
            <a:spLocks xmlns:a="http://schemas.openxmlformats.org/drawingml/2006/main" noGrp="1"/>
          </p:cNvSpPr>
          <p:nvPr/>
        </p:nvSpPr>
        <p:spPr>
          <a:xfrm xmlns:a="http://schemas.openxmlformats.org/drawingml/2006/main">
            <a:off x="3219450" y="2371725"/>
            <a:ext cx="2324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Rapide</a:t>
            </a:r>
          </a:p>
        </p:txBody>
      </p:sp>
      <p:sp>
        <p:nvSpPr>
          <p:cNvPr id="14" name="">
            <a:extLst xmlns:a="http://schemas.openxmlformats.org/drawingml/2006/main">
              <a:ext uri="{FF2B5EF4-FFF2-40B4-BE49-F238E27FC236}">
                <a16:creationId xmlns:a16="http://schemas.microsoft.com/office/drawing/2014/main" id="{7430090E-EB44-4FCD-8D44-D9D8DB8EBF86}"/>
              </a:ext>
            </a:extLst>
          </p:cNvPr>
          <p:cNvSpPr>
            <a:spLocks xmlns:a="http://schemas.openxmlformats.org/drawingml/2006/main" noGrp="1"/>
          </p:cNvSpPr>
          <p:nvPr/>
        </p:nvSpPr>
        <p:spPr>
          <a:xfrm xmlns:a="http://schemas.openxmlformats.org/drawingml/2006/main">
            <a:off x="5619750" y="2276475"/>
            <a:ext cx="304800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15" name="">
            <a:extLst xmlns:a="http://schemas.openxmlformats.org/drawingml/2006/main">
              <a:ext uri="{FF2B5EF4-FFF2-40B4-BE49-F238E27FC236}">
                <a16:creationId xmlns:a16="http://schemas.microsoft.com/office/drawing/2014/main" id="{B4A50DEF-D508-4915-ABBA-4B276AB6CA20}"/>
              </a:ext>
            </a:extLst>
          </p:cNvPr>
          <p:cNvSpPr>
            <a:spLocks xmlns:a="http://schemas.openxmlformats.org/drawingml/2006/main" noGrp="1"/>
          </p:cNvSpPr>
          <p:nvPr/>
        </p:nvSpPr>
        <p:spPr>
          <a:xfrm xmlns:a="http://schemas.openxmlformats.org/drawingml/2006/main">
            <a:off x="5695950" y="2371725"/>
            <a:ext cx="2895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Peu précis sur scènes complexes</a:t>
            </a:r>
          </a:p>
        </p:txBody>
      </p:sp>
      <p:sp>
        <p:nvSpPr>
          <p:cNvPr id="16" name="">
            <a:extLst xmlns:a="http://schemas.openxmlformats.org/drawingml/2006/main">
              <a:ext uri="{FF2B5EF4-FFF2-40B4-BE49-F238E27FC236}">
                <a16:creationId xmlns:a16="http://schemas.microsoft.com/office/drawing/2014/main" id="{D24BF443-2191-4F29-9FD3-25E506374A73}"/>
              </a:ext>
            </a:extLst>
          </p:cNvPr>
          <p:cNvSpPr>
            <a:spLocks xmlns:a="http://schemas.openxmlformats.org/drawingml/2006/main" noGrp="1"/>
          </p:cNvSpPr>
          <p:nvPr/>
        </p:nvSpPr>
        <p:spPr>
          <a:xfrm xmlns:a="http://schemas.openxmlformats.org/drawingml/2006/main">
            <a:off x="666750" y="2886075"/>
            <a:ext cx="2476500" cy="609600"/>
          </a:xfrm>
          <a:prstGeom xmlns:a="http://schemas.openxmlformats.org/drawingml/2006/main" prst="rect">
            <a:avLst/>
          </a:prstGeom>
          <a:solidFill xmlns:a="http://schemas.openxmlformats.org/drawingml/2006/main">
            <a:srgbClr val="DCEAF4"/>
          </a:solidFill>
          <a:ln xmlns:a="http://schemas.openxmlformats.org/drawingml/2006/main" w="9525">
            <a:solidFill>
              <a:srgbClr val="C8D6E4"/>
            </a:solidFill>
            <a:prstDash val="solid"/>
          </a:ln>
        </p:spPr>
      </p:sp>
      <p:sp>
        <p:nvSpPr>
          <p:cNvPr id="17" name="">
            <a:extLst xmlns:a="http://schemas.openxmlformats.org/drawingml/2006/main">
              <a:ext uri="{FF2B5EF4-FFF2-40B4-BE49-F238E27FC236}">
                <a16:creationId xmlns:a16="http://schemas.microsoft.com/office/drawing/2014/main" id="{FA5E54DC-A431-4BE7-BD21-3F20C85B320C}"/>
              </a:ext>
            </a:extLst>
          </p:cNvPr>
          <p:cNvSpPr>
            <a:spLocks xmlns:a="http://schemas.openxmlformats.org/drawingml/2006/main" noGrp="1"/>
          </p:cNvSpPr>
          <p:nvPr/>
        </p:nvSpPr>
        <p:spPr>
          <a:xfrm xmlns:a="http://schemas.openxmlformats.org/drawingml/2006/main">
            <a:off x="742950" y="2981325"/>
            <a:ext cx="2324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CNN 3D</a:t>
            </a:r>
          </a:p>
        </p:txBody>
      </p:sp>
      <p:sp>
        <p:nvSpPr>
          <p:cNvPr id="18" name="">
            <a:extLst xmlns:a="http://schemas.openxmlformats.org/drawingml/2006/main">
              <a:ext uri="{FF2B5EF4-FFF2-40B4-BE49-F238E27FC236}">
                <a16:creationId xmlns:a16="http://schemas.microsoft.com/office/drawing/2014/main" id="{69D7E83C-CEE2-4DDB-90D0-B27B5B60D71A}"/>
              </a:ext>
            </a:extLst>
          </p:cNvPr>
          <p:cNvSpPr>
            <a:spLocks xmlns:a="http://schemas.openxmlformats.org/drawingml/2006/main" noGrp="1"/>
          </p:cNvSpPr>
          <p:nvPr/>
        </p:nvSpPr>
        <p:spPr>
          <a:xfrm xmlns:a="http://schemas.openxmlformats.org/drawingml/2006/main">
            <a:off x="3143250" y="2886075"/>
            <a:ext cx="2476500" cy="609600"/>
          </a:xfrm>
          <a:prstGeom xmlns:a="http://schemas.openxmlformats.org/drawingml/2006/main" prst="rect">
            <a:avLst/>
          </a:prstGeom>
          <a:solidFill xmlns:a="http://schemas.openxmlformats.org/drawingml/2006/main">
            <a:srgbClr val="DCEAF4"/>
          </a:solidFill>
          <a:ln xmlns:a="http://schemas.openxmlformats.org/drawingml/2006/main" w="9525">
            <a:solidFill>
              <a:srgbClr val="C8D6E4"/>
            </a:solidFill>
            <a:prstDash val="solid"/>
          </a:ln>
        </p:spPr>
      </p:sp>
      <p:sp>
        <p:nvSpPr>
          <p:cNvPr id="19" name="">
            <a:extLst xmlns:a="http://schemas.openxmlformats.org/drawingml/2006/main">
              <a:ext uri="{FF2B5EF4-FFF2-40B4-BE49-F238E27FC236}">
                <a16:creationId xmlns:a16="http://schemas.microsoft.com/office/drawing/2014/main" id="{7A4D4D0D-A6B6-4AD1-B31F-5637E3A9FA80}"/>
              </a:ext>
            </a:extLst>
          </p:cNvPr>
          <p:cNvSpPr>
            <a:spLocks xmlns:a="http://schemas.openxmlformats.org/drawingml/2006/main" noGrp="1"/>
          </p:cNvSpPr>
          <p:nvPr/>
        </p:nvSpPr>
        <p:spPr>
          <a:xfrm xmlns:a="http://schemas.openxmlformats.org/drawingml/2006/main">
            <a:off x="3219450" y="2981325"/>
            <a:ext cx="2324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Très précis</a:t>
            </a:r>
          </a:p>
        </p:txBody>
      </p:sp>
      <p:sp>
        <p:nvSpPr>
          <p:cNvPr id="20" name="">
            <a:extLst xmlns:a="http://schemas.openxmlformats.org/drawingml/2006/main">
              <a:ext uri="{FF2B5EF4-FFF2-40B4-BE49-F238E27FC236}">
                <a16:creationId xmlns:a16="http://schemas.microsoft.com/office/drawing/2014/main" id="{C6E7DD21-A1F6-46B3-9490-7BB41DB1C551}"/>
              </a:ext>
            </a:extLst>
          </p:cNvPr>
          <p:cNvSpPr>
            <a:spLocks xmlns:a="http://schemas.openxmlformats.org/drawingml/2006/main" noGrp="1"/>
          </p:cNvSpPr>
          <p:nvPr/>
        </p:nvSpPr>
        <p:spPr>
          <a:xfrm xmlns:a="http://schemas.openxmlformats.org/drawingml/2006/main">
            <a:off x="5619750" y="2886075"/>
            <a:ext cx="3048000" cy="609600"/>
          </a:xfrm>
          <a:prstGeom xmlns:a="http://schemas.openxmlformats.org/drawingml/2006/main" prst="rect">
            <a:avLst/>
          </a:prstGeom>
          <a:solidFill xmlns:a="http://schemas.openxmlformats.org/drawingml/2006/main">
            <a:srgbClr val="DCEAF4"/>
          </a:solidFill>
          <a:ln xmlns:a="http://schemas.openxmlformats.org/drawingml/2006/main" w="9525">
            <a:solidFill>
              <a:srgbClr val="C8D6E4"/>
            </a:solidFill>
            <a:prstDash val="solid"/>
          </a:ln>
        </p:spPr>
      </p:sp>
      <p:sp>
        <p:nvSpPr>
          <p:cNvPr id="21" name="">
            <a:extLst xmlns:a="http://schemas.openxmlformats.org/drawingml/2006/main">
              <a:ext uri="{FF2B5EF4-FFF2-40B4-BE49-F238E27FC236}">
                <a16:creationId xmlns:a16="http://schemas.microsoft.com/office/drawing/2014/main" id="{E88BF5A6-F1AA-4D4D-8C9D-85F6DA54B038}"/>
              </a:ext>
            </a:extLst>
          </p:cNvPr>
          <p:cNvSpPr>
            <a:spLocks xmlns:a="http://schemas.openxmlformats.org/drawingml/2006/main" noGrp="1"/>
          </p:cNvSpPr>
          <p:nvPr/>
        </p:nvSpPr>
        <p:spPr>
          <a:xfrm xmlns:a="http://schemas.openxmlformats.org/drawingml/2006/main">
            <a:off x="5695950" y="2981325"/>
            <a:ext cx="2895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Trop lourd pour un PC ordinaire</a:t>
            </a:r>
          </a:p>
        </p:txBody>
      </p:sp>
      <p:sp>
        <p:nvSpPr>
          <p:cNvPr id="22" name="">
            <a:extLst xmlns:a="http://schemas.openxmlformats.org/drawingml/2006/main">
              <a:ext uri="{FF2B5EF4-FFF2-40B4-BE49-F238E27FC236}">
                <a16:creationId xmlns:a16="http://schemas.microsoft.com/office/drawing/2014/main" id="{6C5E15DA-1125-4043-A6DF-721560E1596B}"/>
              </a:ext>
            </a:extLst>
          </p:cNvPr>
          <p:cNvSpPr>
            <a:spLocks xmlns:a="http://schemas.openxmlformats.org/drawingml/2006/main" noGrp="1"/>
          </p:cNvSpPr>
          <p:nvPr/>
        </p:nvSpPr>
        <p:spPr>
          <a:xfrm xmlns:a="http://schemas.openxmlformats.org/drawingml/2006/main">
            <a:off x="666750" y="3495675"/>
            <a:ext cx="247650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23" name="">
            <a:extLst xmlns:a="http://schemas.openxmlformats.org/drawingml/2006/main">
              <a:ext uri="{FF2B5EF4-FFF2-40B4-BE49-F238E27FC236}">
                <a16:creationId xmlns:a16="http://schemas.microsoft.com/office/drawing/2014/main" id="{13505616-3E3E-4278-859B-C24828D97335}"/>
              </a:ext>
            </a:extLst>
          </p:cNvPr>
          <p:cNvSpPr>
            <a:spLocks xmlns:a="http://schemas.openxmlformats.org/drawingml/2006/main" noGrp="1"/>
          </p:cNvSpPr>
          <p:nvPr/>
        </p:nvSpPr>
        <p:spPr>
          <a:xfrm xmlns:a="http://schemas.openxmlformats.org/drawingml/2006/main">
            <a:off x="742950" y="3590925"/>
            <a:ext cx="2324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CNN + LSTM</a:t>
            </a:r>
          </a:p>
        </p:txBody>
      </p:sp>
      <p:sp>
        <p:nvSpPr>
          <p:cNvPr id="24" name="">
            <a:extLst xmlns:a="http://schemas.openxmlformats.org/drawingml/2006/main">
              <a:ext uri="{FF2B5EF4-FFF2-40B4-BE49-F238E27FC236}">
                <a16:creationId xmlns:a16="http://schemas.microsoft.com/office/drawing/2014/main" id="{3F227265-3DC5-4E7F-A693-6336B9B5FD28}"/>
              </a:ext>
            </a:extLst>
          </p:cNvPr>
          <p:cNvSpPr>
            <a:spLocks xmlns:a="http://schemas.openxmlformats.org/drawingml/2006/main" noGrp="1"/>
          </p:cNvSpPr>
          <p:nvPr/>
        </p:nvSpPr>
        <p:spPr>
          <a:xfrm xmlns:a="http://schemas.openxmlformats.org/drawingml/2006/main">
            <a:off x="3143250" y="3495675"/>
            <a:ext cx="247650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25" name="">
            <a:extLst xmlns:a="http://schemas.openxmlformats.org/drawingml/2006/main">
              <a:ext uri="{FF2B5EF4-FFF2-40B4-BE49-F238E27FC236}">
                <a16:creationId xmlns:a16="http://schemas.microsoft.com/office/drawing/2014/main" id="{5FC02345-C025-490F-81F9-5779849BB1D1}"/>
              </a:ext>
            </a:extLst>
          </p:cNvPr>
          <p:cNvSpPr>
            <a:spLocks xmlns:a="http://schemas.openxmlformats.org/drawingml/2006/main" noGrp="1"/>
          </p:cNvSpPr>
          <p:nvPr/>
        </p:nvSpPr>
        <p:spPr>
          <a:xfrm xmlns:a="http://schemas.openxmlformats.org/drawingml/2006/main">
            <a:off x="3219450" y="3590925"/>
            <a:ext cx="2324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Léger et temporel</a:t>
            </a:r>
          </a:p>
        </p:txBody>
      </p:sp>
      <p:sp>
        <p:nvSpPr>
          <p:cNvPr id="26" name="">
            <a:extLst xmlns:a="http://schemas.openxmlformats.org/drawingml/2006/main">
              <a:ext uri="{FF2B5EF4-FFF2-40B4-BE49-F238E27FC236}">
                <a16:creationId xmlns:a16="http://schemas.microsoft.com/office/drawing/2014/main" id="{5EE557BB-D8EE-402B-86DC-CB4E788536F5}"/>
              </a:ext>
            </a:extLst>
          </p:cNvPr>
          <p:cNvSpPr>
            <a:spLocks xmlns:a="http://schemas.openxmlformats.org/drawingml/2006/main" noGrp="1"/>
          </p:cNvSpPr>
          <p:nvPr/>
        </p:nvSpPr>
        <p:spPr>
          <a:xfrm xmlns:a="http://schemas.openxmlformats.org/drawingml/2006/main">
            <a:off x="5619750" y="3495675"/>
            <a:ext cx="304800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27" name="">
            <a:extLst xmlns:a="http://schemas.openxmlformats.org/drawingml/2006/main">
              <a:ext uri="{FF2B5EF4-FFF2-40B4-BE49-F238E27FC236}">
                <a16:creationId xmlns:a16="http://schemas.microsoft.com/office/drawing/2014/main" id="{690F7F10-8326-4E9A-B0CD-3726B5B98BE9}"/>
              </a:ext>
            </a:extLst>
          </p:cNvPr>
          <p:cNvSpPr>
            <a:spLocks xmlns:a="http://schemas.openxmlformats.org/drawingml/2006/main" noGrp="1"/>
          </p:cNvSpPr>
          <p:nvPr/>
        </p:nvSpPr>
        <p:spPr>
          <a:xfrm xmlns:a="http://schemas.openxmlformats.org/drawingml/2006/main">
            <a:off x="5695950" y="3590925"/>
            <a:ext cx="2895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Souvent évalué sur un seul dataset</a:t>
            </a:r>
          </a:p>
        </p:txBody>
      </p:sp>
      <p:pic>
        <p:nvPicPr>
          <p:cNvPr id="62" name=""/>
          <p:cNvPicPr>
            <a:picLocks xmlns:a="http://schemas.openxmlformats.org/drawingml/2006/main" noChangeAspect="1"/>
          </p:cNvPicPr>
          <p:nvPr/>
        </p:nvPicPr>
        <p:blipFill>
          <a:blip xmlns:r="http://schemas.openxmlformats.org/officeDocument/2006/relationships" xmlns:a="http://schemas.openxmlformats.org/drawingml/2006/main" r:embed="R60b0139fea024c83"/>
          <a:stretch xmlns:a="http://schemas.openxmlformats.org/drawingml/2006/main"/>
        </p:blipFill>
        <p:spPr>
          <a:xfrm xmlns:a="http://schemas.openxmlformats.org/drawingml/2006/main">
            <a:off x="9001125" y="2378534"/>
            <a:ext cx="2000250" cy="957932"/>
          </a:xfrm>
          <a:prstGeom xmlns:a="http://schemas.openxmlformats.org/drawingml/2006/main" prst="rect">
            <a:avLst/>
          </a:prstGeom>
        </p:spPr>
      </p:pic>
      <p:sp>
        <p:nvSpPr>
          <p:cNvPr id="29" name="">
            <a:extLst xmlns:a="http://schemas.openxmlformats.org/drawingml/2006/main">
              <a:ext uri="{FF2B5EF4-FFF2-40B4-BE49-F238E27FC236}">
                <a16:creationId xmlns:a16="http://schemas.microsoft.com/office/drawing/2014/main" id="{E4AB043E-47D1-45E6-B8B3-18FB4B319CB6}"/>
              </a:ext>
            </a:extLst>
          </p:cNvPr>
          <p:cNvSpPr>
            <a:spLocks xmlns:a="http://schemas.openxmlformats.org/drawingml/2006/main" noGrp="1"/>
          </p:cNvSpPr>
          <p:nvPr/>
        </p:nvSpPr>
        <p:spPr>
          <a:xfrm xmlns:a="http://schemas.openxmlformats.org/drawingml/2006/main">
            <a:off x="8477250" y="4095750"/>
            <a:ext cx="2857500" cy="971550"/>
          </a:xfrm>
          <a:prstGeom xmlns:a="http://schemas.openxmlformats.org/drawingml/2006/main" prst="roundRect">
            <a:avLst>
              <a:gd name="adj" fmla="val 7843"/>
            </a:avLst>
          </a:prstGeom>
          <a:solidFill xmlns:a="http://schemas.openxmlformats.org/drawingml/2006/main">
            <a:srgbClr val="FFFFFF"/>
          </a:solidFill>
          <a:ln xmlns:a="http://schemas.openxmlformats.org/drawingml/2006/main" w="9525">
            <a:solidFill>
              <a:srgbClr val="C8D6E4"/>
            </a:solidFill>
            <a:prstDash val="solid"/>
          </a:ln>
        </p:spPr>
      </p:sp>
      <p:sp>
        <p:nvSpPr>
          <p:cNvPr id="30" name="">
            <a:extLst xmlns:a="http://schemas.openxmlformats.org/drawingml/2006/main">
              <a:ext uri="{FF2B5EF4-FFF2-40B4-BE49-F238E27FC236}">
                <a16:creationId xmlns:a16="http://schemas.microsoft.com/office/drawing/2014/main" id="{23EBD359-0E83-4213-A569-4B382225B768}"/>
              </a:ext>
            </a:extLst>
          </p:cNvPr>
          <p:cNvSpPr>
            <a:spLocks xmlns:a="http://schemas.openxmlformats.org/drawingml/2006/main" noGrp="1"/>
          </p:cNvSpPr>
          <p:nvPr/>
        </p:nvSpPr>
        <p:spPr>
          <a:xfrm xmlns:a="http://schemas.openxmlformats.org/drawingml/2006/main">
            <a:off x="8705850" y="428625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1C8B53"/>
                </a:solidFill>
              </a:defRPr>
            </a:pPr>
            <a:r>
              <a:rPr sz="1275" b="1" i="0">
                <a:solidFill>
                  <a:srgbClr val="1C8B53"/>
                </a:solidFill>
              </a:rPr>
              <a:t>Apport de SIRCH</a:t>
            </a:r>
          </a:p>
        </p:txBody>
      </p:sp>
      <p:sp>
        <p:nvSpPr>
          <p:cNvPr id="31" name="">
            <a:extLst xmlns:a="http://schemas.openxmlformats.org/drawingml/2006/main">
              <a:ext uri="{FF2B5EF4-FFF2-40B4-BE49-F238E27FC236}">
                <a16:creationId xmlns:a16="http://schemas.microsoft.com/office/drawing/2014/main" id="{FED8DE25-4DDD-46B1-961C-429577E0C268}"/>
              </a:ext>
            </a:extLst>
          </p:cNvPr>
          <p:cNvSpPr>
            <a:spLocks xmlns:a="http://schemas.openxmlformats.org/drawingml/2006/main" noGrp="1"/>
          </p:cNvSpPr>
          <p:nvPr/>
        </p:nvSpPr>
        <p:spPr>
          <a:xfrm xmlns:a="http://schemas.openxmlformats.org/drawingml/2006/main">
            <a:off x="8705850" y="4572000"/>
            <a:ext cx="2362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102033"/>
                </a:solidFill>
              </a:defRPr>
            </a:pPr>
            <a:r>
              <a:rPr sz="975" b="0" i="0">
                <a:solidFill>
                  <a:srgbClr val="102033"/>
                </a:solidFill>
              </a:rPr>
              <a:t>Combiner deux datasets, analyser les faux positifs sport/danse et livrer une chaîne complète avec alertes et tableau de bord.</a:t>
            </a:r>
          </a:p>
        </p:txBody>
      </p:sp>
      <p:sp>
        <p:nvSpPr>
          <p:cNvPr id="32" name="">
            <a:extLst xmlns:a="http://schemas.openxmlformats.org/drawingml/2006/main">
              <a:ext uri="{FF2B5EF4-FFF2-40B4-BE49-F238E27FC236}">
                <a16:creationId xmlns:a16="http://schemas.microsoft.com/office/drawing/2014/main" id="{4C26BD5D-4775-48AA-9238-99CE1A77D906}"/>
              </a:ext>
            </a:extLst>
          </p:cNvPr>
          <p:cNvSpPr>
            <a:spLocks xmlns:a="http://schemas.openxmlformats.org/drawingml/2006/main" noGrp="1"/>
          </p:cNvSpPr>
          <p:nvPr/>
        </p:nvSpPr>
        <p:spPr>
          <a:xfrm xmlns:a="http://schemas.openxmlformats.org/drawingml/2006/main">
            <a:off x="1285875" y="5476875"/>
            <a:ext cx="962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1C8B53"/>
                </a:solidFill>
              </a:defRPr>
            </a:pPr>
            <a:r>
              <a:rPr sz="1350" b="1" i="0">
                <a:solidFill>
                  <a:srgbClr val="1C8B53"/>
                </a:solidFill>
              </a:rPr>
              <a:t>Interprétation : le modèle n’est pas jugé uniquement sur sa précision, mais aussi sur son comportement hors laboratoire.</a:t>
            </a:r>
          </a:p>
        </p:txBody>
      </p:sp>
      <p:sp>
        <p:nvSpPr>
          <p:cNvPr id="33" name="">
            <a:extLst xmlns:a="http://schemas.openxmlformats.org/drawingml/2006/main">
              <a:ext uri="{FF2B5EF4-FFF2-40B4-BE49-F238E27FC236}">
                <a16:creationId xmlns:a16="http://schemas.microsoft.com/office/drawing/2014/main" id="{948E3178-AB2C-4D4A-9120-556D2B514CAA}"/>
              </a:ext>
            </a:extLst>
          </p:cNvPr>
          <p:cNvSpPr>
            <a:spLocks xmlns:a="http://schemas.openxmlformats.org/drawingml/2006/main" noGrp="1"/>
          </p:cNvSpPr>
          <p:nvPr/>
        </p:nvSpPr>
        <p:spPr>
          <a:xfrm xmlns:a="http://schemas.openxmlformats.org/drawingml/2006/main">
            <a:off x="552450" y="6362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i="0">
                <a:solidFill>
                  <a:srgbClr val="5A6B82"/>
                </a:solidFill>
              </a:defRPr>
            </a:pPr>
            <a:r>
              <a:rPr sz="675" b="0" i="0">
                <a:solidFill>
                  <a:srgbClr val="5A6B82"/>
                </a:solidFill>
              </a:rPr>
              <a:t>Revue de la littérature</a:t>
            </a:r>
          </a:p>
        </p:txBody>
      </p:sp>
      <p:sp>
        <p:nvSpPr>
          <p:cNvPr id="34" name="">
            <a:extLst xmlns:a="http://schemas.openxmlformats.org/drawingml/2006/main">
              <a:ext uri="{FF2B5EF4-FFF2-40B4-BE49-F238E27FC236}">
                <a16:creationId xmlns:a16="http://schemas.microsoft.com/office/drawing/2014/main" id="{782003CD-6BC7-457C-9A03-77D25DAE93A0}"/>
              </a:ext>
            </a:extLst>
          </p:cNvPr>
          <p:cNvSpPr>
            <a:spLocks xmlns:a="http://schemas.openxmlformats.org/drawingml/2006/main" noGrp="1"/>
          </p:cNvSpPr>
          <p:nvPr/>
        </p:nvSpPr>
        <p:spPr>
          <a:xfrm xmlns:a="http://schemas.openxmlformats.org/drawingml/2006/main">
            <a:off x="11049000" y="63627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0" i="0">
                <a:solidFill>
                  <a:srgbClr val="5A6B82"/>
                </a:solidFill>
              </a:defRPr>
            </a:pPr>
            <a:r>
              <a:rPr sz="750" b="0" i="0">
                <a:solidFill>
                  <a:srgbClr val="5A6B82"/>
                </a:solidFill>
              </a:rPr>
              <a:t>5 / 18</a:t>
            </a:r>
          </a:p>
        </p:txBody>
      </p:sp>
    </p:spTree>
    <p:extLst>
      <p:ext uri="{BB962C8B-B14F-4D97-AF65-F5344CB8AC3E}">
        <p14:creationId xmlns:p14="http://schemas.microsoft.com/office/powerpoint/2010/main" val="142220168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F305CCB-B214-4C2D-99C8-3F71EE384834}"/>
              </a:ext>
            </a:extLst>
          </p:cNvPr>
          <p:cNvSpPr>
            <a:spLocks xmlns:a="http://schemas.openxmlformats.org/drawingml/2006/main" noGrp="1"/>
          </p:cNvSpPr>
          <p:nvPr/>
        </p:nvSpPr>
        <p:spPr>
          <a:xfrm xmlns:a="http://schemas.openxmlformats.org/drawingml/2006/main">
            <a:off x="552450" y="419100"/>
            <a:ext cx="933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i="0">
                <a:solidFill>
                  <a:srgbClr val="17345F"/>
                </a:solidFill>
              </a:defRPr>
            </a:pPr>
            <a:r>
              <a:rPr sz="2550" b="1" i="0">
                <a:solidFill>
                  <a:srgbClr val="17345F"/>
                </a:solidFill>
              </a:rPr>
              <a:t>La méthode suit une chaîne scientifique reproductible</a:t>
            </a:r>
          </a:p>
        </p:txBody>
      </p:sp>
      <p:sp>
        <p:nvSpPr>
          <p:cNvPr id="2" name="">
            <a:extLst xmlns:a="http://schemas.openxmlformats.org/drawingml/2006/main">
              <a:ext uri="{FF2B5EF4-FFF2-40B4-BE49-F238E27FC236}">
                <a16:creationId xmlns:a16="http://schemas.microsoft.com/office/drawing/2014/main" id="{32B3C57F-A987-4D29-8E24-B866F1B45727}"/>
              </a:ext>
            </a:extLst>
          </p:cNvPr>
          <p:cNvSpPr>
            <a:spLocks xmlns:a="http://schemas.openxmlformats.org/drawingml/2006/main" noGrp="1"/>
          </p:cNvSpPr>
          <p:nvPr/>
        </p:nvSpPr>
        <p:spPr>
          <a:xfrm xmlns:a="http://schemas.openxmlformats.org/drawingml/2006/main">
            <a:off x="552450" y="1095375"/>
            <a:ext cx="1047750" cy="47625"/>
          </a:xfrm>
          <a:prstGeom xmlns:a="http://schemas.openxmlformats.org/drawingml/2006/main" prst="rect">
            <a:avLst/>
          </a:prstGeom>
          <a:solidFill xmlns:a="http://schemas.openxmlformats.org/drawingml/2006/main">
            <a:srgbClr val="1C8B53"/>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E26FB01-A7FC-4160-9036-638E7C409B56}"/>
              </a:ext>
            </a:extLst>
          </p:cNvPr>
          <p:cNvSpPr>
            <a:spLocks xmlns:a="http://schemas.openxmlformats.org/drawingml/2006/main" noGrp="1"/>
          </p:cNvSpPr>
          <p:nvPr/>
        </p:nvSpPr>
        <p:spPr>
          <a:xfrm xmlns:a="http://schemas.openxmlformats.org/drawingml/2006/main">
            <a:off x="552450" y="1238250"/>
            <a:ext cx="838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A6B82"/>
                </a:solidFill>
              </a:defRPr>
            </a:pPr>
            <a:r>
              <a:rPr sz="1200" b="0" i="0">
                <a:solidFill>
                  <a:srgbClr val="5A6B82"/>
                </a:solidFill>
              </a:rPr>
              <a:t>Chaque étape répond à une question : quoi apprendre, comment décider, puis comment vérifier.</a:t>
            </a:r>
          </a:p>
        </p:txBody>
      </p:sp>
      <p:sp>
        <p:nvSpPr>
          <p:cNvPr id="4" name="">
            <a:extLst xmlns:a="http://schemas.openxmlformats.org/drawingml/2006/main">
              <a:ext uri="{FF2B5EF4-FFF2-40B4-BE49-F238E27FC236}">
                <a16:creationId xmlns:a16="http://schemas.microsoft.com/office/drawing/2014/main" id="{CB2DEB83-DAE1-46E7-99EF-378A16898858}"/>
              </a:ext>
            </a:extLst>
          </p:cNvPr>
          <p:cNvSpPr>
            <a:spLocks xmlns:a="http://schemas.openxmlformats.org/drawingml/2006/main" noGrp="1"/>
          </p:cNvSpPr>
          <p:nvPr/>
        </p:nvSpPr>
        <p:spPr>
          <a:xfrm xmlns:a="http://schemas.openxmlformats.org/drawingml/2006/main">
            <a:off x="762000" y="2143125"/>
            <a:ext cx="1428750" cy="1123950"/>
          </a:xfrm>
          <a:prstGeom xmlns:a="http://schemas.openxmlformats.org/drawingml/2006/main" prst="roundRect">
            <a:avLst>
              <a:gd name="adj" fmla="val 6780"/>
            </a:avLst>
          </a:prstGeom>
          <a:solidFill xmlns:a="http://schemas.openxmlformats.org/drawingml/2006/main">
            <a:srgbClr val="EEF5FA"/>
          </a:solidFill>
          <a:ln xmlns:a="http://schemas.openxmlformats.org/drawingml/2006/main" w="9525">
            <a:solidFill>
              <a:srgbClr val="C8D6E4"/>
            </a:solidFill>
            <a:prstDash val="solid"/>
          </a:ln>
        </p:spPr>
      </p:sp>
      <p:sp>
        <p:nvSpPr>
          <p:cNvPr id="5" name="">
            <a:extLst xmlns:a="http://schemas.openxmlformats.org/drawingml/2006/main">
              <a:ext uri="{FF2B5EF4-FFF2-40B4-BE49-F238E27FC236}">
                <a16:creationId xmlns:a16="http://schemas.microsoft.com/office/drawing/2014/main" id="{1A245772-73EB-4479-A828-3D7CE52E10F2}"/>
              </a:ext>
            </a:extLst>
          </p:cNvPr>
          <p:cNvSpPr>
            <a:spLocks xmlns:a="http://schemas.openxmlformats.org/drawingml/2006/main" noGrp="1"/>
          </p:cNvSpPr>
          <p:nvPr/>
        </p:nvSpPr>
        <p:spPr>
          <a:xfrm xmlns:a="http://schemas.openxmlformats.org/drawingml/2006/main">
            <a:off x="762000" y="23431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i="0">
                <a:solidFill>
                  <a:srgbClr val="1C8B53"/>
                </a:solidFill>
              </a:defRPr>
            </a:pPr>
            <a:r>
              <a:rPr sz="1800" b="1" i="0">
                <a:solidFill>
                  <a:srgbClr val="1C8B53"/>
                </a:solidFill>
              </a:rPr>
              <a:t>1</a:t>
            </a:r>
          </a:p>
        </p:txBody>
      </p:sp>
      <p:sp>
        <p:nvSpPr>
          <p:cNvPr id="6" name="">
            <a:extLst xmlns:a="http://schemas.openxmlformats.org/drawingml/2006/main">
              <a:ext uri="{FF2B5EF4-FFF2-40B4-BE49-F238E27FC236}">
                <a16:creationId xmlns:a16="http://schemas.microsoft.com/office/drawing/2014/main" id="{86EDE95C-DA98-45E5-B5E5-6B6BEA541B00}"/>
              </a:ext>
            </a:extLst>
          </p:cNvPr>
          <p:cNvSpPr>
            <a:spLocks xmlns:a="http://schemas.openxmlformats.org/drawingml/2006/main" noGrp="1"/>
          </p:cNvSpPr>
          <p:nvPr/>
        </p:nvSpPr>
        <p:spPr>
          <a:xfrm xmlns:a="http://schemas.openxmlformats.org/drawingml/2006/main">
            <a:off x="895350" y="2743200"/>
            <a:ext cx="1162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102033"/>
                </a:solidFill>
              </a:defRPr>
            </a:pPr>
            <a:r>
              <a:rPr sz="975" b="1" i="0">
                <a:solidFill>
                  <a:srgbClr val="102033"/>
                </a:solidFill>
              </a:rPr>
              <a:t>Analyse du problème</a:t>
            </a:r>
          </a:p>
        </p:txBody>
      </p:sp>
      <p:sp>
        <p:nvSpPr>
          <p:cNvPr id="7" name="">
            <a:extLst xmlns:a="http://schemas.openxmlformats.org/drawingml/2006/main">
              <a:ext uri="{FF2B5EF4-FFF2-40B4-BE49-F238E27FC236}">
                <a16:creationId xmlns:a16="http://schemas.microsoft.com/office/drawing/2014/main" id="{AC2248EF-715E-4DBA-9DC7-79DE00919F42}"/>
              </a:ext>
            </a:extLst>
          </p:cNvPr>
          <p:cNvSpPr>
            <a:spLocks xmlns:a="http://schemas.openxmlformats.org/drawingml/2006/main" noGrp="1"/>
          </p:cNvSpPr>
          <p:nvPr/>
        </p:nvSpPr>
        <p:spPr>
          <a:xfrm xmlns:a="http://schemas.openxmlformats.org/drawingml/2006/main">
            <a:off x="2228850" y="2676525"/>
            <a:ext cx="342900" cy="47625"/>
          </a:xfrm>
          <a:prstGeom xmlns:a="http://schemas.openxmlformats.org/drawingml/2006/main" prst="rect">
            <a:avLst/>
          </a:prstGeom>
          <a:solidFill xmlns:a="http://schemas.openxmlformats.org/drawingml/2006/main">
            <a:srgbClr val="203F6E"/>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2D7C86E-1576-4733-A092-A49FF65FB9BB}"/>
              </a:ext>
            </a:extLst>
          </p:cNvPr>
          <p:cNvSpPr>
            <a:spLocks xmlns:a="http://schemas.openxmlformats.org/drawingml/2006/main" noGrp="1"/>
          </p:cNvSpPr>
          <p:nvPr/>
        </p:nvSpPr>
        <p:spPr>
          <a:xfrm xmlns:a="http://schemas.openxmlformats.org/drawingml/2006/main">
            <a:off x="2571750" y="2143125"/>
            <a:ext cx="142875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9525">
            <a:solidFill>
              <a:srgbClr val="C8D6E4"/>
            </a:solidFill>
            <a:prstDash val="solid"/>
          </a:ln>
        </p:spPr>
      </p:sp>
      <p:sp>
        <p:nvSpPr>
          <p:cNvPr id="9" name="">
            <a:extLst xmlns:a="http://schemas.openxmlformats.org/drawingml/2006/main">
              <a:ext uri="{FF2B5EF4-FFF2-40B4-BE49-F238E27FC236}">
                <a16:creationId xmlns:a16="http://schemas.microsoft.com/office/drawing/2014/main" id="{E659DEBA-0A54-4D75-986B-E50A9D988964}"/>
              </a:ext>
            </a:extLst>
          </p:cNvPr>
          <p:cNvSpPr>
            <a:spLocks xmlns:a="http://schemas.openxmlformats.org/drawingml/2006/main" noGrp="1"/>
          </p:cNvSpPr>
          <p:nvPr/>
        </p:nvSpPr>
        <p:spPr>
          <a:xfrm xmlns:a="http://schemas.openxmlformats.org/drawingml/2006/main">
            <a:off x="2571750" y="23431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i="0">
                <a:solidFill>
                  <a:srgbClr val="1C8B53"/>
                </a:solidFill>
              </a:defRPr>
            </a:pPr>
            <a:r>
              <a:rPr sz="1800" b="1" i="0">
                <a:solidFill>
                  <a:srgbClr val="1C8B53"/>
                </a:solidFill>
              </a:rPr>
              <a:t>2</a:t>
            </a:r>
          </a:p>
        </p:txBody>
      </p:sp>
      <p:sp>
        <p:nvSpPr>
          <p:cNvPr id="10" name="">
            <a:extLst xmlns:a="http://schemas.openxmlformats.org/drawingml/2006/main">
              <a:ext uri="{FF2B5EF4-FFF2-40B4-BE49-F238E27FC236}">
                <a16:creationId xmlns:a16="http://schemas.microsoft.com/office/drawing/2014/main" id="{9D97D291-D269-4CA9-860D-86ABEDF9887B}"/>
              </a:ext>
            </a:extLst>
          </p:cNvPr>
          <p:cNvSpPr>
            <a:spLocks xmlns:a="http://schemas.openxmlformats.org/drawingml/2006/main" noGrp="1"/>
          </p:cNvSpPr>
          <p:nvPr/>
        </p:nvSpPr>
        <p:spPr>
          <a:xfrm xmlns:a="http://schemas.openxmlformats.org/drawingml/2006/main">
            <a:off x="2705100" y="2743200"/>
            <a:ext cx="1162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102033"/>
                </a:solidFill>
              </a:defRPr>
            </a:pPr>
            <a:r>
              <a:rPr sz="975" b="1" i="0">
                <a:solidFill>
                  <a:srgbClr val="102033"/>
                </a:solidFill>
              </a:rPr>
              <a:t>Corpus RLVS + RWF-2000</a:t>
            </a:r>
          </a:p>
        </p:txBody>
      </p:sp>
      <p:sp>
        <p:nvSpPr>
          <p:cNvPr id="11" name="">
            <a:extLst xmlns:a="http://schemas.openxmlformats.org/drawingml/2006/main">
              <a:ext uri="{FF2B5EF4-FFF2-40B4-BE49-F238E27FC236}">
                <a16:creationId xmlns:a16="http://schemas.microsoft.com/office/drawing/2014/main" id="{DF5811C9-A544-4247-AAE7-8156520CCF13}"/>
              </a:ext>
            </a:extLst>
          </p:cNvPr>
          <p:cNvSpPr>
            <a:spLocks xmlns:a="http://schemas.openxmlformats.org/drawingml/2006/main" noGrp="1"/>
          </p:cNvSpPr>
          <p:nvPr/>
        </p:nvSpPr>
        <p:spPr>
          <a:xfrm xmlns:a="http://schemas.openxmlformats.org/drawingml/2006/main">
            <a:off x="4038600" y="2676525"/>
            <a:ext cx="342900" cy="47625"/>
          </a:xfrm>
          <a:prstGeom xmlns:a="http://schemas.openxmlformats.org/drawingml/2006/main" prst="rect">
            <a:avLst/>
          </a:prstGeom>
          <a:solidFill xmlns:a="http://schemas.openxmlformats.org/drawingml/2006/main">
            <a:srgbClr val="203F6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7434C55-EA81-46F6-8909-A406823C1312}"/>
              </a:ext>
            </a:extLst>
          </p:cNvPr>
          <p:cNvSpPr>
            <a:spLocks xmlns:a="http://schemas.openxmlformats.org/drawingml/2006/main" noGrp="1"/>
          </p:cNvSpPr>
          <p:nvPr/>
        </p:nvSpPr>
        <p:spPr>
          <a:xfrm xmlns:a="http://schemas.openxmlformats.org/drawingml/2006/main">
            <a:off x="4381500" y="2143125"/>
            <a:ext cx="1428750" cy="1123950"/>
          </a:xfrm>
          <a:prstGeom xmlns:a="http://schemas.openxmlformats.org/drawingml/2006/main" prst="roundRect">
            <a:avLst>
              <a:gd name="adj" fmla="val 6780"/>
            </a:avLst>
          </a:prstGeom>
          <a:solidFill xmlns:a="http://schemas.openxmlformats.org/drawingml/2006/main">
            <a:srgbClr val="EEF5FA"/>
          </a:solidFill>
          <a:ln xmlns:a="http://schemas.openxmlformats.org/drawingml/2006/main" w="9525">
            <a:solidFill>
              <a:srgbClr val="C8D6E4"/>
            </a:solidFill>
            <a:prstDash val="solid"/>
          </a:ln>
        </p:spPr>
      </p:sp>
      <p:sp>
        <p:nvSpPr>
          <p:cNvPr id="13" name="">
            <a:extLst xmlns:a="http://schemas.openxmlformats.org/drawingml/2006/main">
              <a:ext uri="{FF2B5EF4-FFF2-40B4-BE49-F238E27FC236}">
                <a16:creationId xmlns:a16="http://schemas.microsoft.com/office/drawing/2014/main" id="{2109D8F7-4A8C-48CA-A76C-53BC6105E995}"/>
              </a:ext>
            </a:extLst>
          </p:cNvPr>
          <p:cNvSpPr>
            <a:spLocks xmlns:a="http://schemas.openxmlformats.org/drawingml/2006/main" noGrp="1"/>
          </p:cNvSpPr>
          <p:nvPr/>
        </p:nvSpPr>
        <p:spPr>
          <a:xfrm xmlns:a="http://schemas.openxmlformats.org/drawingml/2006/main">
            <a:off x="4381500" y="23431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i="0">
                <a:solidFill>
                  <a:srgbClr val="1C8B53"/>
                </a:solidFill>
              </a:defRPr>
            </a:pPr>
            <a:r>
              <a:rPr sz="1800" b="1" i="0">
                <a:solidFill>
                  <a:srgbClr val="1C8B53"/>
                </a:solidFill>
              </a:rPr>
              <a:t>3</a:t>
            </a:r>
          </a:p>
        </p:txBody>
      </p:sp>
      <p:sp>
        <p:nvSpPr>
          <p:cNvPr id="14" name="">
            <a:extLst xmlns:a="http://schemas.openxmlformats.org/drawingml/2006/main">
              <a:ext uri="{FF2B5EF4-FFF2-40B4-BE49-F238E27FC236}">
                <a16:creationId xmlns:a16="http://schemas.microsoft.com/office/drawing/2014/main" id="{15E84423-0016-44A3-A621-A5B1F3E51410}"/>
              </a:ext>
            </a:extLst>
          </p:cNvPr>
          <p:cNvSpPr>
            <a:spLocks xmlns:a="http://schemas.openxmlformats.org/drawingml/2006/main" noGrp="1"/>
          </p:cNvSpPr>
          <p:nvPr/>
        </p:nvSpPr>
        <p:spPr>
          <a:xfrm xmlns:a="http://schemas.openxmlformats.org/drawingml/2006/main">
            <a:off x="4514850" y="2743200"/>
            <a:ext cx="1162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102033"/>
                </a:solidFill>
              </a:defRPr>
            </a:pPr>
            <a:r>
              <a:rPr sz="975" b="1" i="0">
                <a:solidFill>
                  <a:srgbClr val="102033"/>
                </a:solidFill>
              </a:rPr>
              <a:t>Prétraitement N = 20 frames</a:t>
            </a:r>
          </a:p>
        </p:txBody>
      </p:sp>
      <p:sp>
        <p:nvSpPr>
          <p:cNvPr id="15" name="">
            <a:extLst xmlns:a="http://schemas.openxmlformats.org/drawingml/2006/main">
              <a:ext uri="{FF2B5EF4-FFF2-40B4-BE49-F238E27FC236}">
                <a16:creationId xmlns:a16="http://schemas.microsoft.com/office/drawing/2014/main" id="{77BD1F6A-6D25-41D0-9FCF-FC6C73195072}"/>
              </a:ext>
            </a:extLst>
          </p:cNvPr>
          <p:cNvSpPr>
            <a:spLocks xmlns:a="http://schemas.openxmlformats.org/drawingml/2006/main" noGrp="1"/>
          </p:cNvSpPr>
          <p:nvPr/>
        </p:nvSpPr>
        <p:spPr>
          <a:xfrm xmlns:a="http://schemas.openxmlformats.org/drawingml/2006/main">
            <a:off x="5848350" y="2676525"/>
            <a:ext cx="342900" cy="47625"/>
          </a:xfrm>
          <a:prstGeom xmlns:a="http://schemas.openxmlformats.org/drawingml/2006/main" prst="rect">
            <a:avLst/>
          </a:prstGeom>
          <a:solidFill xmlns:a="http://schemas.openxmlformats.org/drawingml/2006/main">
            <a:srgbClr val="203F6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E5C20CC-D4ED-45DE-A3B9-712C17C97BAA}"/>
              </a:ext>
            </a:extLst>
          </p:cNvPr>
          <p:cNvSpPr>
            <a:spLocks xmlns:a="http://schemas.openxmlformats.org/drawingml/2006/main" noGrp="1"/>
          </p:cNvSpPr>
          <p:nvPr/>
        </p:nvSpPr>
        <p:spPr>
          <a:xfrm xmlns:a="http://schemas.openxmlformats.org/drawingml/2006/main">
            <a:off x="6191250" y="2143125"/>
            <a:ext cx="142875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9525">
            <a:solidFill>
              <a:srgbClr val="C8D6E4"/>
            </a:solidFill>
            <a:prstDash val="solid"/>
          </a:ln>
        </p:spPr>
      </p:sp>
      <p:sp>
        <p:nvSpPr>
          <p:cNvPr id="17" name="">
            <a:extLst xmlns:a="http://schemas.openxmlformats.org/drawingml/2006/main">
              <a:ext uri="{FF2B5EF4-FFF2-40B4-BE49-F238E27FC236}">
                <a16:creationId xmlns:a16="http://schemas.microsoft.com/office/drawing/2014/main" id="{63D39785-265A-4912-9261-C4548CC95857}"/>
              </a:ext>
            </a:extLst>
          </p:cNvPr>
          <p:cNvSpPr>
            <a:spLocks xmlns:a="http://schemas.openxmlformats.org/drawingml/2006/main" noGrp="1"/>
          </p:cNvSpPr>
          <p:nvPr/>
        </p:nvSpPr>
        <p:spPr>
          <a:xfrm xmlns:a="http://schemas.openxmlformats.org/drawingml/2006/main">
            <a:off x="6191250" y="23431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i="0">
                <a:solidFill>
                  <a:srgbClr val="1C8B53"/>
                </a:solidFill>
              </a:defRPr>
            </a:pPr>
            <a:r>
              <a:rPr sz="1800" b="1" i="0">
                <a:solidFill>
                  <a:srgbClr val="1C8B53"/>
                </a:solidFill>
              </a:rPr>
              <a:t>4</a:t>
            </a:r>
          </a:p>
        </p:txBody>
      </p:sp>
      <p:sp>
        <p:nvSpPr>
          <p:cNvPr id="18" name="">
            <a:extLst xmlns:a="http://schemas.openxmlformats.org/drawingml/2006/main">
              <a:ext uri="{FF2B5EF4-FFF2-40B4-BE49-F238E27FC236}">
                <a16:creationId xmlns:a16="http://schemas.microsoft.com/office/drawing/2014/main" id="{03059A2F-657E-43BE-83AB-65C7D1968E99}"/>
              </a:ext>
            </a:extLst>
          </p:cNvPr>
          <p:cNvSpPr>
            <a:spLocks xmlns:a="http://schemas.openxmlformats.org/drawingml/2006/main" noGrp="1"/>
          </p:cNvSpPr>
          <p:nvPr/>
        </p:nvSpPr>
        <p:spPr>
          <a:xfrm xmlns:a="http://schemas.openxmlformats.org/drawingml/2006/main">
            <a:off x="6324600" y="2743200"/>
            <a:ext cx="1162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102033"/>
                </a:solidFill>
              </a:defRPr>
            </a:pPr>
            <a:r>
              <a:rPr sz="975" b="1" i="0">
                <a:solidFill>
                  <a:srgbClr val="102033"/>
                </a:solidFill>
              </a:rPr>
              <a:t>EfficientNetB0 + LSTM</a:t>
            </a:r>
          </a:p>
        </p:txBody>
      </p:sp>
      <p:sp>
        <p:nvSpPr>
          <p:cNvPr id="19" name="">
            <a:extLst xmlns:a="http://schemas.openxmlformats.org/drawingml/2006/main">
              <a:ext uri="{FF2B5EF4-FFF2-40B4-BE49-F238E27FC236}">
                <a16:creationId xmlns:a16="http://schemas.microsoft.com/office/drawing/2014/main" id="{547EE92E-24C6-4692-A791-91B6E5CCE501}"/>
              </a:ext>
            </a:extLst>
          </p:cNvPr>
          <p:cNvSpPr>
            <a:spLocks xmlns:a="http://schemas.openxmlformats.org/drawingml/2006/main" noGrp="1"/>
          </p:cNvSpPr>
          <p:nvPr/>
        </p:nvSpPr>
        <p:spPr>
          <a:xfrm xmlns:a="http://schemas.openxmlformats.org/drawingml/2006/main">
            <a:off x="7658100" y="2676525"/>
            <a:ext cx="342900" cy="47625"/>
          </a:xfrm>
          <a:prstGeom xmlns:a="http://schemas.openxmlformats.org/drawingml/2006/main" prst="rect">
            <a:avLst/>
          </a:prstGeom>
          <a:solidFill xmlns:a="http://schemas.openxmlformats.org/drawingml/2006/main">
            <a:srgbClr val="203F6E"/>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9321B2A-4348-47FB-8A18-144090175841}"/>
              </a:ext>
            </a:extLst>
          </p:cNvPr>
          <p:cNvSpPr>
            <a:spLocks xmlns:a="http://schemas.openxmlformats.org/drawingml/2006/main" noGrp="1"/>
          </p:cNvSpPr>
          <p:nvPr/>
        </p:nvSpPr>
        <p:spPr>
          <a:xfrm xmlns:a="http://schemas.openxmlformats.org/drawingml/2006/main">
            <a:off x="8001000" y="2143125"/>
            <a:ext cx="1428750" cy="1123950"/>
          </a:xfrm>
          <a:prstGeom xmlns:a="http://schemas.openxmlformats.org/drawingml/2006/main" prst="roundRect">
            <a:avLst>
              <a:gd name="adj" fmla="val 6780"/>
            </a:avLst>
          </a:prstGeom>
          <a:solidFill xmlns:a="http://schemas.openxmlformats.org/drawingml/2006/main">
            <a:srgbClr val="EEF5FA"/>
          </a:solidFill>
          <a:ln xmlns:a="http://schemas.openxmlformats.org/drawingml/2006/main" w="9525">
            <a:solidFill>
              <a:srgbClr val="C8D6E4"/>
            </a:solidFill>
            <a:prstDash val="solid"/>
          </a:ln>
        </p:spPr>
      </p:sp>
      <p:sp>
        <p:nvSpPr>
          <p:cNvPr id="21" name="">
            <a:extLst xmlns:a="http://schemas.openxmlformats.org/drawingml/2006/main">
              <a:ext uri="{FF2B5EF4-FFF2-40B4-BE49-F238E27FC236}">
                <a16:creationId xmlns:a16="http://schemas.microsoft.com/office/drawing/2014/main" id="{2EB420B9-0621-484D-96DE-AB8A0E121174}"/>
              </a:ext>
            </a:extLst>
          </p:cNvPr>
          <p:cNvSpPr>
            <a:spLocks xmlns:a="http://schemas.openxmlformats.org/drawingml/2006/main" noGrp="1"/>
          </p:cNvSpPr>
          <p:nvPr/>
        </p:nvSpPr>
        <p:spPr>
          <a:xfrm xmlns:a="http://schemas.openxmlformats.org/drawingml/2006/main">
            <a:off x="8001000" y="23431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i="0">
                <a:solidFill>
                  <a:srgbClr val="1C8B53"/>
                </a:solidFill>
              </a:defRPr>
            </a:pPr>
            <a:r>
              <a:rPr sz="1800" b="1" i="0">
                <a:solidFill>
                  <a:srgbClr val="1C8B53"/>
                </a:solidFill>
              </a:rPr>
              <a:t>5</a:t>
            </a:r>
          </a:p>
        </p:txBody>
      </p:sp>
      <p:sp>
        <p:nvSpPr>
          <p:cNvPr id="22" name="">
            <a:extLst xmlns:a="http://schemas.openxmlformats.org/drawingml/2006/main">
              <a:ext uri="{FF2B5EF4-FFF2-40B4-BE49-F238E27FC236}">
                <a16:creationId xmlns:a16="http://schemas.microsoft.com/office/drawing/2014/main" id="{143464F9-24C9-4E36-81C6-1805921F31E8}"/>
              </a:ext>
            </a:extLst>
          </p:cNvPr>
          <p:cNvSpPr>
            <a:spLocks xmlns:a="http://schemas.openxmlformats.org/drawingml/2006/main" noGrp="1"/>
          </p:cNvSpPr>
          <p:nvPr/>
        </p:nvSpPr>
        <p:spPr>
          <a:xfrm xmlns:a="http://schemas.openxmlformats.org/drawingml/2006/main">
            <a:off x="8134350" y="2743200"/>
            <a:ext cx="1162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102033"/>
                </a:solidFill>
              </a:defRPr>
            </a:pPr>
            <a:r>
              <a:rPr sz="975" b="1" i="0">
                <a:solidFill>
                  <a:srgbClr val="102033"/>
                </a:solidFill>
              </a:rPr>
              <a:t>Évaluation test + scénarios</a:t>
            </a:r>
          </a:p>
        </p:txBody>
      </p:sp>
      <p:sp>
        <p:nvSpPr>
          <p:cNvPr id="23" name="">
            <a:extLst xmlns:a="http://schemas.openxmlformats.org/drawingml/2006/main">
              <a:ext uri="{FF2B5EF4-FFF2-40B4-BE49-F238E27FC236}">
                <a16:creationId xmlns:a16="http://schemas.microsoft.com/office/drawing/2014/main" id="{0CA8C039-E1D1-483E-BD0B-2F79D0BF9948}"/>
              </a:ext>
            </a:extLst>
          </p:cNvPr>
          <p:cNvSpPr>
            <a:spLocks xmlns:a="http://schemas.openxmlformats.org/drawingml/2006/main" noGrp="1"/>
          </p:cNvSpPr>
          <p:nvPr/>
        </p:nvSpPr>
        <p:spPr>
          <a:xfrm xmlns:a="http://schemas.openxmlformats.org/drawingml/2006/main">
            <a:off x="9467850" y="2676525"/>
            <a:ext cx="342900" cy="47625"/>
          </a:xfrm>
          <a:prstGeom xmlns:a="http://schemas.openxmlformats.org/drawingml/2006/main" prst="rect">
            <a:avLst/>
          </a:prstGeom>
          <a:solidFill xmlns:a="http://schemas.openxmlformats.org/drawingml/2006/main">
            <a:srgbClr val="203F6E"/>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97F8F131-0993-4893-9D4F-D09BA1AC17ED}"/>
              </a:ext>
            </a:extLst>
          </p:cNvPr>
          <p:cNvSpPr>
            <a:spLocks xmlns:a="http://schemas.openxmlformats.org/drawingml/2006/main" noGrp="1"/>
          </p:cNvSpPr>
          <p:nvPr/>
        </p:nvSpPr>
        <p:spPr>
          <a:xfrm xmlns:a="http://schemas.openxmlformats.org/drawingml/2006/main">
            <a:off x="9810750" y="2143125"/>
            <a:ext cx="142875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9525">
            <a:solidFill>
              <a:srgbClr val="C8D6E4"/>
            </a:solidFill>
            <a:prstDash val="solid"/>
          </a:ln>
        </p:spPr>
      </p:sp>
      <p:sp>
        <p:nvSpPr>
          <p:cNvPr id="25" name="">
            <a:extLst xmlns:a="http://schemas.openxmlformats.org/drawingml/2006/main">
              <a:ext uri="{FF2B5EF4-FFF2-40B4-BE49-F238E27FC236}">
                <a16:creationId xmlns:a16="http://schemas.microsoft.com/office/drawing/2014/main" id="{52F61BDA-EA82-43A9-AD14-2726D2B52216}"/>
              </a:ext>
            </a:extLst>
          </p:cNvPr>
          <p:cNvSpPr>
            <a:spLocks xmlns:a="http://schemas.openxmlformats.org/drawingml/2006/main" noGrp="1"/>
          </p:cNvSpPr>
          <p:nvPr/>
        </p:nvSpPr>
        <p:spPr>
          <a:xfrm xmlns:a="http://schemas.openxmlformats.org/drawingml/2006/main">
            <a:off x="9810750" y="23431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i="0">
                <a:solidFill>
                  <a:srgbClr val="1C8B53"/>
                </a:solidFill>
              </a:defRPr>
            </a:pPr>
            <a:r>
              <a:rPr sz="1800" b="1" i="0">
                <a:solidFill>
                  <a:srgbClr val="1C8B53"/>
                </a:solidFill>
              </a:rPr>
              <a:t>6</a:t>
            </a:r>
          </a:p>
        </p:txBody>
      </p:sp>
      <p:sp>
        <p:nvSpPr>
          <p:cNvPr id="26" name="">
            <a:extLst xmlns:a="http://schemas.openxmlformats.org/drawingml/2006/main">
              <a:ext uri="{FF2B5EF4-FFF2-40B4-BE49-F238E27FC236}">
                <a16:creationId xmlns:a16="http://schemas.microsoft.com/office/drawing/2014/main" id="{47153E19-2A74-49C9-944C-4059A521C36D}"/>
              </a:ext>
            </a:extLst>
          </p:cNvPr>
          <p:cNvSpPr>
            <a:spLocks xmlns:a="http://schemas.openxmlformats.org/drawingml/2006/main" noGrp="1"/>
          </p:cNvSpPr>
          <p:nvPr/>
        </p:nvSpPr>
        <p:spPr>
          <a:xfrm xmlns:a="http://schemas.openxmlformats.org/drawingml/2006/main">
            <a:off x="9944100" y="2743200"/>
            <a:ext cx="1162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i="0">
                <a:solidFill>
                  <a:srgbClr val="102033"/>
                </a:solidFill>
              </a:defRPr>
            </a:pPr>
            <a:r>
              <a:rPr sz="975" b="1" i="0">
                <a:solidFill>
                  <a:srgbClr val="102033"/>
                </a:solidFill>
              </a:rPr>
              <a:t>Déploiement local</a:t>
            </a:r>
          </a:p>
        </p:txBody>
      </p:sp>
      <p:sp>
        <p:nvSpPr>
          <p:cNvPr id="27" name="">
            <a:extLst xmlns:a="http://schemas.openxmlformats.org/drawingml/2006/main">
              <a:ext uri="{FF2B5EF4-FFF2-40B4-BE49-F238E27FC236}">
                <a16:creationId xmlns:a16="http://schemas.microsoft.com/office/drawing/2014/main" id="{34586C3B-E9AD-4B8E-B5A8-A60175F9066E}"/>
              </a:ext>
            </a:extLst>
          </p:cNvPr>
          <p:cNvSpPr>
            <a:spLocks xmlns:a="http://schemas.openxmlformats.org/drawingml/2006/main" noGrp="1"/>
          </p:cNvSpPr>
          <p:nvPr/>
        </p:nvSpPr>
        <p:spPr>
          <a:xfrm xmlns:a="http://schemas.openxmlformats.org/drawingml/2006/main">
            <a:off x="1047750" y="4000500"/>
            <a:ext cx="31432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C8D6E4"/>
            </a:solidFill>
            <a:prstDash val="solid"/>
          </a:ln>
        </p:spPr>
      </p:sp>
      <p:sp>
        <p:nvSpPr>
          <p:cNvPr id="28" name="">
            <a:extLst xmlns:a="http://schemas.openxmlformats.org/drawingml/2006/main">
              <a:ext uri="{FF2B5EF4-FFF2-40B4-BE49-F238E27FC236}">
                <a16:creationId xmlns:a16="http://schemas.microsoft.com/office/drawing/2014/main" id="{605833D2-2013-4064-9B46-B9F041D88631}"/>
              </a:ext>
            </a:extLst>
          </p:cNvPr>
          <p:cNvSpPr>
            <a:spLocks xmlns:a="http://schemas.openxmlformats.org/drawingml/2006/main" noGrp="1"/>
          </p:cNvSpPr>
          <p:nvPr/>
        </p:nvSpPr>
        <p:spPr>
          <a:xfrm xmlns:a="http://schemas.openxmlformats.org/drawingml/2006/main">
            <a:off x="1047750" y="4000500"/>
            <a:ext cx="66675" cy="1104900"/>
          </a:xfrm>
          <a:prstGeom xmlns:a="http://schemas.openxmlformats.org/drawingml/2006/main" prst="rect">
            <a:avLst/>
          </a:prstGeom>
          <a:solidFill xmlns:a="http://schemas.openxmlformats.org/drawingml/2006/main">
            <a:srgbClr val="203F6E"/>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3CF8BE75-AE21-4E64-8C3B-B4518E000ABE}"/>
              </a:ext>
            </a:extLst>
          </p:cNvPr>
          <p:cNvSpPr>
            <a:spLocks xmlns:a="http://schemas.openxmlformats.org/drawingml/2006/main" noGrp="1"/>
          </p:cNvSpPr>
          <p:nvPr/>
        </p:nvSpPr>
        <p:spPr>
          <a:xfrm xmlns:a="http://schemas.openxmlformats.org/drawingml/2006/main">
            <a:off x="1276350" y="422910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203F6E"/>
                </a:solidFill>
              </a:defRPr>
            </a:pPr>
            <a:r>
              <a:rPr sz="1350" b="1" i="0">
                <a:solidFill>
                  <a:srgbClr val="203F6E"/>
                </a:solidFill>
              </a:rPr>
              <a:t>Décision</a:t>
            </a:r>
          </a:p>
        </p:txBody>
      </p:sp>
      <p:sp>
        <p:nvSpPr>
          <p:cNvPr id="30" name="">
            <a:extLst xmlns:a="http://schemas.openxmlformats.org/drawingml/2006/main">
              <a:ext uri="{FF2B5EF4-FFF2-40B4-BE49-F238E27FC236}">
                <a16:creationId xmlns:a16="http://schemas.microsoft.com/office/drawing/2014/main" id="{F27AE027-7CF7-4623-9F46-7E76F7D59C94}"/>
              </a:ext>
            </a:extLst>
          </p:cNvPr>
          <p:cNvSpPr>
            <a:spLocks xmlns:a="http://schemas.openxmlformats.org/drawingml/2006/main" noGrp="1"/>
          </p:cNvSpPr>
          <p:nvPr/>
        </p:nvSpPr>
        <p:spPr>
          <a:xfrm xmlns:a="http://schemas.openxmlformats.org/drawingml/2006/main">
            <a:off x="1276350" y="4610100"/>
            <a:ext cx="2724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102033"/>
                </a:solidFill>
              </a:defRPr>
            </a:pPr>
            <a:r>
              <a:rPr sz="1200" b="0" i="0">
                <a:solidFill>
                  <a:srgbClr val="102033"/>
                </a:solidFill>
              </a:rPr>
              <a:t>Le modèle produit un score par séquence. SIRCH moyenne les K = 5 derniers scores et déclenche une alerte si la moyenne dépasse θ = 0,50.</a:t>
            </a:r>
          </a:p>
        </p:txBody>
      </p:sp>
      <p:sp>
        <p:nvSpPr>
          <p:cNvPr id="31" name="">
            <a:extLst xmlns:a="http://schemas.openxmlformats.org/drawingml/2006/main">
              <a:ext uri="{FF2B5EF4-FFF2-40B4-BE49-F238E27FC236}">
                <a16:creationId xmlns:a16="http://schemas.microsoft.com/office/drawing/2014/main" id="{4EC74687-9DC4-4505-A15C-D7987956509F}"/>
              </a:ext>
            </a:extLst>
          </p:cNvPr>
          <p:cNvSpPr>
            <a:spLocks xmlns:a="http://schemas.openxmlformats.org/drawingml/2006/main" noGrp="1"/>
          </p:cNvSpPr>
          <p:nvPr/>
        </p:nvSpPr>
        <p:spPr>
          <a:xfrm xmlns:a="http://schemas.openxmlformats.org/drawingml/2006/main">
            <a:off x="4524375" y="4000500"/>
            <a:ext cx="31432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C8D6E4"/>
            </a:solidFill>
            <a:prstDash val="solid"/>
          </a:ln>
        </p:spPr>
      </p:sp>
      <p:sp>
        <p:nvSpPr>
          <p:cNvPr id="32" name="">
            <a:extLst xmlns:a="http://schemas.openxmlformats.org/drawingml/2006/main">
              <a:ext uri="{FF2B5EF4-FFF2-40B4-BE49-F238E27FC236}">
                <a16:creationId xmlns:a16="http://schemas.microsoft.com/office/drawing/2014/main" id="{E3103D55-7907-4036-9D2F-D6C96A345BC5}"/>
              </a:ext>
            </a:extLst>
          </p:cNvPr>
          <p:cNvSpPr>
            <a:spLocks xmlns:a="http://schemas.openxmlformats.org/drawingml/2006/main" noGrp="1"/>
          </p:cNvSpPr>
          <p:nvPr/>
        </p:nvSpPr>
        <p:spPr>
          <a:xfrm xmlns:a="http://schemas.openxmlformats.org/drawingml/2006/main">
            <a:off x="4524375" y="4000500"/>
            <a:ext cx="66675" cy="1104900"/>
          </a:xfrm>
          <a:prstGeom xmlns:a="http://schemas.openxmlformats.org/drawingml/2006/main" prst="rect">
            <a:avLst/>
          </a:prstGeom>
          <a:solidFill xmlns:a="http://schemas.openxmlformats.org/drawingml/2006/main">
            <a:srgbClr val="1C8B53"/>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26A1AAB8-E2BD-4A43-A87C-4BB1F5C38181}"/>
              </a:ext>
            </a:extLst>
          </p:cNvPr>
          <p:cNvSpPr>
            <a:spLocks xmlns:a="http://schemas.openxmlformats.org/drawingml/2006/main" noGrp="1"/>
          </p:cNvSpPr>
          <p:nvPr/>
        </p:nvSpPr>
        <p:spPr>
          <a:xfrm xmlns:a="http://schemas.openxmlformats.org/drawingml/2006/main">
            <a:off x="4752975" y="422910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C8B53"/>
                </a:solidFill>
              </a:defRPr>
            </a:pPr>
            <a:r>
              <a:rPr sz="1350" b="1" i="0">
                <a:solidFill>
                  <a:srgbClr val="1C8B53"/>
                </a:solidFill>
              </a:rPr>
              <a:t>Validation</a:t>
            </a:r>
          </a:p>
        </p:txBody>
      </p:sp>
      <p:sp>
        <p:nvSpPr>
          <p:cNvPr id="34" name="">
            <a:extLst xmlns:a="http://schemas.openxmlformats.org/drawingml/2006/main">
              <a:ext uri="{FF2B5EF4-FFF2-40B4-BE49-F238E27FC236}">
                <a16:creationId xmlns:a16="http://schemas.microsoft.com/office/drawing/2014/main" id="{A2339281-B4C1-477A-8EA5-9035D42583A9}"/>
              </a:ext>
            </a:extLst>
          </p:cNvPr>
          <p:cNvSpPr>
            <a:spLocks xmlns:a="http://schemas.openxmlformats.org/drawingml/2006/main" noGrp="1"/>
          </p:cNvSpPr>
          <p:nvPr/>
        </p:nvSpPr>
        <p:spPr>
          <a:xfrm xmlns:a="http://schemas.openxmlformats.org/drawingml/2006/main">
            <a:off x="4752975" y="4610100"/>
            <a:ext cx="2724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102033"/>
                </a:solidFill>
              </a:defRPr>
            </a:pPr>
            <a:r>
              <a:rPr sz="1200" b="0" i="0">
                <a:solidFill>
                  <a:srgbClr val="102033"/>
                </a:solidFill>
              </a:rPr>
              <a:t>Les résultats sont analysés par métriques, matrices de confusion, ROC-AUC, PR-AUC, McNemar, ablation et cross-dataset.</a:t>
            </a:r>
          </a:p>
        </p:txBody>
      </p:sp>
      <p:sp>
        <p:nvSpPr>
          <p:cNvPr id="35" name="">
            <a:extLst xmlns:a="http://schemas.openxmlformats.org/drawingml/2006/main">
              <a:ext uri="{FF2B5EF4-FFF2-40B4-BE49-F238E27FC236}">
                <a16:creationId xmlns:a16="http://schemas.microsoft.com/office/drawing/2014/main" id="{6F5851C7-2917-4BBF-95C9-6CFF8E0B9043}"/>
              </a:ext>
            </a:extLst>
          </p:cNvPr>
          <p:cNvSpPr>
            <a:spLocks xmlns:a="http://schemas.openxmlformats.org/drawingml/2006/main" noGrp="1"/>
          </p:cNvSpPr>
          <p:nvPr/>
        </p:nvSpPr>
        <p:spPr>
          <a:xfrm xmlns:a="http://schemas.openxmlformats.org/drawingml/2006/main">
            <a:off x="8001000" y="4000500"/>
            <a:ext cx="31432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C8D6E4"/>
            </a:solidFill>
            <a:prstDash val="solid"/>
          </a:ln>
        </p:spPr>
      </p:sp>
      <p:sp>
        <p:nvSpPr>
          <p:cNvPr id="36" name="">
            <a:extLst xmlns:a="http://schemas.openxmlformats.org/drawingml/2006/main">
              <a:ext uri="{FF2B5EF4-FFF2-40B4-BE49-F238E27FC236}">
                <a16:creationId xmlns:a16="http://schemas.microsoft.com/office/drawing/2014/main" id="{26EBEF50-9AFD-40B0-BB8C-66D2B3CA3F79}"/>
              </a:ext>
            </a:extLst>
          </p:cNvPr>
          <p:cNvSpPr>
            <a:spLocks xmlns:a="http://schemas.openxmlformats.org/drawingml/2006/main" noGrp="1"/>
          </p:cNvSpPr>
          <p:nvPr/>
        </p:nvSpPr>
        <p:spPr>
          <a:xfrm xmlns:a="http://schemas.openxmlformats.org/drawingml/2006/main">
            <a:off x="8001000" y="4000500"/>
            <a:ext cx="66675" cy="1104900"/>
          </a:xfrm>
          <a:prstGeom xmlns:a="http://schemas.openxmlformats.org/drawingml/2006/main" prst="rect">
            <a:avLst/>
          </a:prstGeom>
          <a:solidFill xmlns:a="http://schemas.openxmlformats.org/drawingml/2006/main">
            <a:srgbClr val="C95C12"/>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AD2650F4-C816-4657-A8E8-252982E4D5F4}"/>
              </a:ext>
            </a:extLst>
          </p:cNvPr>
          <p:cNvSpPr>
            <a:spLocks xmlns:a="http://schemas.openxmlformats.org/drawingml/2006/main" noGrp="1"/>
          </p:cNvSpPr>
          <p:nvPr/>
        </p:nvSpPr>
        <p:spPr>
          <a:xfrm xmlns:a="http://schemas.openxmlformats.org/drawingml/2006/main">
            <a:off x="8229600" y="422910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C95C12"/>
                </a:solidFill>
              </a:defRPr>
            </a:pPr>
            <a:r>
              <a:rPr sz="1350" b="1" i="0">
                <a:solidFill>
                  <a:srgbClr val="C95C12"/>
                </a:solidFill>
              </a:rPr>
              <a:t>Déploiement</a:t>
            </a:r>
          </a:p>
        </p:txBody>
      </p:sp>
      <p:sp>
        <p:nvSpPr>
          <p:cNvPr id="38" name="">
            <a:extLst xmlns:a="http://schemas.openxmlformats.org/drawingml/2006/main">
              <a:ext uri="{FF2B5EF4-FFF2-40B4-BE49-F238E27FC236}">
                <a16:creationId xmlns:a16="http://schemas.microsoft.com/office/drawing/2014/main" id="{659A0C2B-2061-4486-AF4A-94EFBB0F7CA3}"/>
              </a:ext>
            </a:extLst>
          </p:cNvPr>
          <p:cNvSpPr>
            <a:spLocks xmlns:a="http://schemas.openxmlformats.org/drawingml/2006/main" noGrp="1"/>
          </p:cNvSpPr>
          <p:nvPr/>
        </p:nvSpPr>
        <p:spPr>
          <a:xfrm xmlns:a="http://schemas.openxmlformats.org/drawingml/2006/main">
            <a:off x="8229600" y="4610100"/>
            <a:ext cx="2724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102033"/>
                </a:solidFill>
              </a:defRPr>
            </a:pPr>
            <a:r>
              <a:rPr sz="1200" b="0" i="0">
                <a:solidFill>
                  <a:srgbClr val="102033"/>
                </a:solidFill>
              </a:rPr>
              <a:t>La solution tourne localement : webcam ou vidéo, base SQLite, email, Telegram optionnel et dashboard Flask.</a:t>
            </a:r>
          </a:p>
        </p:txBody>
      </p:sp>
      <p:sp>
        <p:nvSpPr>
          <p:cNvPr id="39" name="">
            <a:extLst xmlns:a="http://schemas.openxmlformats.org/drawingml/2006/main">
              <a:ext uri="{FF2B5EF4-FFF2-40B4-BE49-F238E27FC236}">
                <a16:creationId xmlns:a16="http://schemas.microsoft.com/office/drawing/2014/main" id="{8317943B-A8D5-4AA9-A59C-619F47C684FE}"/>
              </a:ext>
            </a:extLst>
          </p:cNvPr>
          <p:cNvSpPr>
            <a:spLocks xmlns:a="http://schemas.openxmlformats.org/drawingml/2006/main" noGrp="1"/>
          </p:cNvSpPr>
          <p:nvPr/>
        </p:nvSpPr>
        <p:spPr>
          <a:xfrm xmlns:a="http://schemas.openxmlformats.org/drawingml/2006/main">
            <a:off x="552450" y="6362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i="0">
                <a:solidFill>
                  <a:srgbClr val="5A6B82"/>
                </a:solidFill>
              </a:defRPr>
            </a:pPr>
            <a:r>
              <a:rPr sz="675" b="0" i="0">
                <a:solidFill>
                  <a:srgbClr val="5A6B82"/>
                </a:solidFill>
              </a:rPr>
              <a:t>Méthodologie</a:t>
            </a:r>
          </a:p>
        </p:txBody>
      </p:sp>
      <p:sp>
        <p:nvSpPr>
          <p:cNvPr id="40" name="">
            <a:extLst xmlns:a="http://schemas.openxmlformats.org/drawingml/2006/main">
              <a:ext uri="{FF2B5EF4-FFF2-40B4-BE49-F238E27FC236}">
                <a16:creationId xmlns:a16="http://schemas.microsoft.com/office/drawing/2014/main" id="{53D6F222-F2F6-4AB0-BD4E-C50FDE1919E0}"/>
              </a:ext>
            </a:extLst>
          </p:cNvPr>
          <p:cNvSpPr>
            <a:spLocks xmlns:a="http://schemas.openxmlformats.org/drawingml/2006/main" noGrp="1"/>
          </p:cNvSpPr>
          <p:nvPr/>
        </p:nvSpPr>
        <p:spPr>
          <a:xfrm xmlns:a="http://schemas.openxmlformats.org/drawingml/2006/main">
            <a:off x="11049000" y="63627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0" i="0">
                <a:solidFill>
                  <a:srgbClr val="5A6B82"/>
                </a:solidFill>
              </a:defRPr>
            </a:pPr>
            <a:r>
              <a:rPr sz="750" b="0" i="0">
                <a:solidFill>
                  <a:srgbClr val="5A6B82"/>
                </a:solidFill>
              </a:rPr>
              <a:t>6 / 18</a:t>
            </a:r>
          </a:p>
        </p:txBody>
      </p:sp>
    </p:spTree>
    <p:extLst>
      <p:ext uri="{BB962C8B-B14F-4D97-AF65-F5344CB8AC3E}">
        <p14:creationId xmlns:p14="http://schemas.microsoft.com/office/powerpoint/2010/main" val="120777491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553AEBE-2B47-4877-B0BA-9F0BF93C43B7}"/>
              </a:ext>
            </a:extLst>
          </p:cNvPr>
          <p:cNvSpPr>
            <a:spLocks xmlns:a="http://schemas.openxmlformats.org/drawingml/2006/main" noGrp="1"/>
          </p:cNvSpPr>
          <p:nvPr/>
        </p:nvSpPr>
        <p:spPr>
          <a:xfrm xmlns:a="http://schemas.openxmlformats.org/drawingml/2006/main">
            <a:off x="552450" y="419100"/>
            <a:ext cx="933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i="0">
                <a:solidFill>
                  <a:srgbClr val="17345F"/>
                </a:solidFill>
              </a:defRPr>
            </a:pPr>
            <a:r>
              <a:rPr sz="2550" b="1" i="0">
                <a:solidFill>
                  <a:srgbClr val="17345F"/>
                </a:solidFill>
              </a:rPr>
              <a:t>Le corpus combine deux mondes visuels</a:t>
            </a:r>
          </a:p>
        </p:txBody>
      </p:sp>
      <p:sp>
        <p:nvSpPr>
          <p:cNvPr id="2" name="">
            <a:extLst xmlns:a="http://schemas.openxmlformats.org/drawingml/2006/main">
              <a:ext uri="{FF2B5EF4-FFF2-40B4-BE49-F238E27FC236}">
                <a16:creationId xmlns:a16="http://schemas.microsoft.com/office/drawing/2014/main" id="{325925A0-69DC-4AB7-9F43-C41D7BC2C763}"/>
              </a:ext>
            </a:extLst>
          </p:cNvPr>
          <p:cNvSpPr>
            <a:spLocks xmlns:a="http://schemas.openxmlformats.org/drawingml/2006/main" noGrp="1"/>
          </p:cNvSpPr>
          <p:nvPr/>
        </p:nvSpPr>
        <p:spPr>
          <a:xfrm xmlns:a="http://schemas.openxmlformats.org/drawingml/2006/main">
            <a:off x="552450" y="1095375"/>
            <a:ext cx="1047750" cy="47625"/>
          </a:xfrm>
          <a:prstGeom xmlns:a="http://schemas.openxmlformats.org/drawingml/2006/main" prst="rect">
            <a:avLst/>
          </a:prstGeom>
          <a:solidFill xmlns:a="http://schemas.openxmlformats.org/drawingml/2006/main">
            <a:srgbClr val="1C8B53"/>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8CB3BC2-EB05-4C21-95FE-C2A5F44DC0AF}"/>
              </a:ext>
            </a:extLst>
          </p:cNvPr>
          <p:cNvSpPr>
            <a:spLocks xmlns:a="http://schemas.openxmlformats.org/drawingml/2006/main" noGrp="1"/>
          </p:cNvSpPr>
          <p:nvPr/>
        </p:nvSpPr>
        <p:spPr>
          <a:xfrm xmlns:a="http://schemas.openxmlformats.org/drawingml/2006/main">
            <a:off x="552450" y="1238250"/>
            <a:ext cx="838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A6B82"/>
                </a:solidFill>
              </a:defRPr>
            </a:pPr>
            <a:r>
              <a:rPr sz="1200" b="0" i="0">
                <a:solidFill>
                  <a:srgbClr val="5A6B82"/>
                </a:solidFill>
              </a:rPr>
              <a:t>RLVS est plus contrôlé, RWF-2000 se rapproche davantage de la vidéosurveillance réelle.</a:t>
            </a:r>
          </a:p>
        </p:txBody>
      </p:sp>
      <p:sp>
        <p:nvSpPr>
          <p:cNvPr id="4" name="">
            <a:extLst xmlns:a="http://schemas.openxmlformats.org/drawingml/2006/main">
              <a:ext uri="{FF2B5EF4-FFF2-40B4-BE49-F238E27FC236}">
                <a16:creationId xmlns:a16="http://schemas.microsoft.com/office/drawing/2014/main" id="{81A68415-1684-42DD-8DF0-BA4FABD28116}"/>
              </a:ext>
            </a:extLst>
          </p:cNvPr>
          <p:cNvSpPr>
            <a:spLocks xmlns:a="http://schemas.openxmlformats.org/drawingml/2006/main" noGrp="1"/>
          </p:cNvSpPr>
          <p:nvPr/>
        </p:nvSpPr>
        <p:spPr>
          <a:xfrm xmlns:a="http://schemas.openxmlformats.org/drawingml/2006/main">
            <a:off x="666750" y="1619250"/>
            <a:ext cx="1619250" cy="514350"/>
          </a:xfrm>
          <a:prstGeom xmlns:a="http://schemas.openxmlformats.org/drawingml/2006/main" prst="rect">
            <a:avLst/>
          </a:prstGeom>
          <a:solidFill xmlns:a="http://schemas.openxmlformats.org/drawingml/2006/main">
            <a:srgbClr val="203F6E"/>
          </a:solidFill>
          <a:ln xmlns:a="http://schemas.openxmlformats.org/drawingml/2006/main" w="9525">
            <a:solidFill>
              <a:srgbClr val="C8D6E4"/>
            </a:solidFill>
            <a:prstDash val="solid"/>
          </a:ln>
        </p:spPr>
      </p:sp>
      <p:sp>
        <p:nvSpPr>
          <p:cNvPr id="5" name="">
            <a:extLst xmlns:a="http://schemas.openxmlformats.org/drawingml/2006/main">
              <a:ext uri="{FF2B5EF4-FFF2-40B4-BE49-F238E27FC236}">
                <a16:creationId xmlns:a16="http://schemas.microsoft.com/office/drawing/2014/main" id="{0D715306-A7E8-4A88-8E5C-F003BC15F6CF}"/>
              </a:ext>
            </a:extLst>
          </p:cNvPr>
          <p:cNvSpPr>
            <a:spLocks xmlns:a="http://schemas.openxmlformats.org/drawingml/2006/main" noGrp="1"/>
          </p:cNvSpPr>
          <p:nvPr/>
        </p:nvSpPr>
        <p:spPr>
          <a:xfrm xmlns:a="http://schemas.openxmlformats.org/drawingml/2006/main">
            <a:off x="742950" y="1714500"/>
            <a:ext cx="146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Dataset</a:t>
            </a:r>
          </a:p>
        </p:txBody>
      </p:sp>
      <p:sp>
        <p:nvSpPr>
          <p:cNvPr id="6" name="">
            <a:extLst xmlns:a="http://schemas.openxmlformats.org/drawingml/2006/main">
              <a:ext uri="{FF2B5EF4-FFF2-40B4-BE49-F238E27FC236}">
                <a16:creationId xmlns:a16="http://schemas.microsoft.com/office/drawing/2014/main" id="{BF7F575E-A18F-43BB-A009-437F05ECE323}"/>
              </a:ext>
            </a:extLst>
          </p:cNvPr>
          <p:cNvSpPr>
            <a:spLocks xmlns:a="http://schemas.openxmlformats.org/drawingml/2006/main" noGrp="1"/>
          </p:cNvSpPr>
          <p:nvPr/>
        </p:nvSpPr>
        <p:spPr>
          <a:xfrm xmlns:a="http://schemas.openxmlformats.org/drawingml/2006/main">
            <a:off x="2286000" y="1619250"/>
            <a:ext cx="1333500" cy="514350"/>
          </a:xfrm>
          <a:prstGeom xmlns:a="http://schemas.openxmlformats.org/drawingml/2006/main" prst="rect">
            <a:avLst/>
          </a:prstGeom>
          <a:solidFill xmlns:a="http://schemas.openxmlformats.org/drawingml/2006/main">
            <a:srgbClr val="203F6E"/>
          </a:solidFill>
          <a:ln xmlns:a="http://schemas.openxmlformats.org/drawingml/2006/main" w="9525">
            <a:solidFill>
              <a:srgbClr val="C8D6E4"/>
            </a:solidFill>
            <a:prstDash val="solid"/>
          </a:ln>
        </p:spPr>
      </p:sp>
      <p:sp>
        <p:nvSpPr>
          <p:cNvPr id="7" name="">
            <a:extLst xmlns:a="http://schemas.openxmlformats.org/drawingml/2006/main">
              <a:ext uri="{FF2B5EF4-FFF2-40B4-BE49-F238E27FC236}">
                <a16:creationId xmlns:a16="http://schemas.microsoft.com/office/drawing/2014/main" id="{7283540A-FCB0-4F36-850C-9753A0EFB4F0}"/>
              </a:ext>
            </a:extLst>
          </p:cNvPr>
          <p:cNvSpPr>
            <a:spLocks xmlns:a="http://schemas.openxmlformats.org/drawingml/2006/main" noGrp="1"/>
          </p:cNvSpPr>
          <p:nvPr/>
        </p:nvSpPr>
        <p:spPr>
          <a:xfrm xmlns:a="http://schemas.openxmlformats.org/drawingml/2006/main">
            <a:off x="2362200" y="1714500"/>
            <a:ext cx="1181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Violence</a:t>
            </a:r>
          </a:p>
        </p:txBody>
      </p:sp>
      <p:sp>
        <p:nvSpPr>
          <p:cNvPr id="8" name="">
            <a:extLst xmlns:a="http://schemas.openxmlformats.org/drawingml/2006/main">
              <a:ext uri="{FF2B5EF4-FFF2-40B4-BE49-F238E27FC236}">
                <a16:creationId xmlns:a16="http://schemas.microsoft.com/office/drawing/2014/main" id="{5BC93291-7A83-446A-A538-D75C3DE55558}"/>
              </a:ext>
            </a:extLst>
          </p:cNvPr>
          <p:cNvSpPr>
            <a:spLocks xmlns:a="http://schemas.openxmlformats.org/drawingml/2006/main" noGrp="1"/>
          </p:cNvSpPr>
          <p:nvPr/>
        </p:nvSpPr>
        <p:spPr>
          <a:xfrm xmlns:a="http://schemas.openxmlformats.org/drawingml/2006/main">
            <a:off x="3619500" y="1619250"/>
            <a:ext cx="1428750" cy="514350"/>
          </a:xfrm>
          <a:prstGeom xmlns:a="http://schemas.openxmlformats.org/drawingml/2006/main" prst="rect">
            <a:avLst/>
          </a:prstGeom>
          <a:solidFill xmlns:a="http://schemas.openxmlformats.org/drawingml/2006/main">
            <a:srgbClr val="203F6E"/>
          </a:solidFill>
          <a:ln xmlns:a="http://schemas.openxmlformats.org/drawingml/2006/main" w="9525">
            <a:solidFill>
              <a:srgbClr val="C8D6E4"/>
            </a:solidFill>
            <a:prstDash val="solid"/>
          </a:ln>
        </p:spPr>
      </p:sp>
      <p:sp>
        <p:nvSpPr>
          <p:cNvPr id="9" name="">
            <a:extLst xmlns:a="http://schemas.openxmlformats.org/drawingml/2006/main">
              <a:ext uri="{FF2B5EF4-FFF2-40B4-BE49-F238E27FC236}">
                <a16:creationId xmlns:a16="http://schemas.microsoft.com/office/drawing/2014/main" id="{EDA8E892-F0C8-44BB-8110-8DB091B48F07}"/>
              </a:ext>
            </a:extLst>
          </p:cNvPr>
          <p:cNvSpPr>
            <a:spLocks xmlns:a="http://schemas.openxmlformats.org/drawingml/2006/main" noGrp="1"/>
          </p:cNvSpPr>
          <p:nvPr/>
        </p:nvSpPr>
        <p:spPr>
          <a:xfrm xmlns:a="http://schemas.openxmlformats.org/drawingml/2006/main">
            <a:off x="3695700" y="1714500"/>
            <a:ext cx="1276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Non-violence</a:t>
            </a:r>
          </a:p>
        </p:txBody>
      </p:sp>
      <p:sp>
        <p:nvSpPr>
          <p:cNvPr id="10" name="">
            <a:extLst xmlns:a="http://schemas.openxmlformats.org/drawingml/2006/main">
              <a:ext uri="{FF2B5EF4-FFF2-40B4-BE49-F238E27FC236}">
                <a16:creationId xmlns:a16="http://schemas.microsoft.com/office/drawing/2014/main" id="{B4B0D245-B5F6-4DF9-81C3-FA6C33C44015}"/>
              </a:ext>
            </a:extLst>
          </p:cNvPr>
          <p:cNvSpPr>
            <a:spLocks xmlns:a="http://schemas.openxmlformats.org/drawingml/2006/main" noGrp="1"/>
          </p:cNvSpPr>
          <p:nvPr/>
        </p:nvSpPr>
        <p:spPr>
          <a:xfrm xmlns:a="http://schemas.openxmlformats.org/drawingml/2006/main">
            <a:off x="5048250" y="1619250"/>
            <a:ext cx="1428750" cy="514350"/>
          </a:xfrm>
          <a:prstGeom xmlns:a="http://schemas.openxmlformats.org/drawingml/2006/main" prst="rect">
            <a:avLst/>
          </a:prstGeom>
          <a:solidFill xmlns:a="http://schemas.openxmlformats.org/drawingml/2006/main">
            <a:srgbClr val="203F6E"/>
          </a:solidFill>
          <a:ln xmlns:a="http://schemas.openxmlformats.org/drawingml/2006/main" w="9525">
            <a:solidFill>
              <a:srgbClr val="C8D6E4"/>
            </a:solidFill>
            <a:prstDash val="solid"/>
          </a:ln>
        </p:spPr>
      </p:sp>
      <p:sp>
        <p:nvSpPr>
          <p:cNvPr id="11" name="">
            <a:extLst xmlns:a="http://schemas.openxmlformats.org/drawingml/2006/main">
              <a:ext uri="{FF2B5EF4-FFF2-40B4-BE49-F238E27FC236}">
                <a16:creationId xmlns:a16="http://schemas.microsoft.com/office/drawing/2014/main" id="{C0BD4E41-6AF9-4D54-ACCF-91BE6EADBC46}"/>
              </a:ext>
            </a:extLst>
          </p:cNvPr>
          <p:cNvSpPr>
            <a:spLocks xmlns:a="http://schemas.openxmlformats.org/drawingml/2006/main" noGrp="1"/>
          </p:cNvSpPr>
          <p:nvPr/>
        </p:nvSpPr>
        <p:spPr>
          <a:xfrm xmlns:a="http://schemas.openxmlformats.org/drawingml/2006/main">
            <a:off x="5124450" y="1714500"/>
            <a:ext cx="1276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Total</a:t>
            </a:r>
          </a:p>
        </p:txBody>
      </p:sp>
      <p:sp>
        <p:nvSpPr>
          <p:cNvPr id="12" name="">
            <a:extLst xmlns:a="http://schemas.openxmlformats.org/drawingml/2006/main">
              <a:ext uri="{FF2B5EF4-FFF2-40B4-BE49-F238E27FC236}">
                <a16:creationId xmlns:a16="http://schemas.microsoft.com/office/drawing/2014/main" id="{6442CF3C-C45A-4E5F-A271-7F80F059019B}"/>
              </a:ext>
            </a:extLst>
          </p:cNvPr>
          <p:cNvSpPr>
            <a:spLocks xmlns:a="http://schemas.openxmlformats.org/drawingml/2006/main" noGrp="1"/>
          </p:cNvSpPr>
          <p:nvPr/>
        </p:nvSpPr>
        <p:spPr>
          <a:xfrm xmlns:a="http://schemas.openxmlformats.org/drawingml/2006/main">
            <a:off x="6477000" y="1619250"/>
            <a:ext cx="1524000" cy="514350"/>
          </a:xfrm>
          <a:prstGeom xmlns:a="http://schemas.openxmlformats.org/drawingml/2006/main" prst="rect">
            <a:avLst/>
          </a:prstGeom>
          <a:solidFill xmlns:a="http://schemas.openxmlformats.org/drawingml/2006/main">
            <a:srgbClr val="203F6E"/>
          </a:solidFill>
          <a:ln xmlns:a="http://schemas.openxmlformats.org/drawingml/2006/main" w="9525">
            <a:solidFill>
              <a:srgbClr val="C8D6E4"/>
            </a:solidFill>
            <a:prstDash val="solid"/>
          </a:ln>
        </p:spPr>
      </p:sp>
      <p:sp>
        <p:nvSpPr>
          <p:cNvPr id="13" name="">
            <a:extLst xmlns:a="http://schemas.openxmlformats.org/drawingml/2006/main">
              <a:ext uri="{FF2B5EF4-FFF2-40B4-BE49-F238E27FC236}">
                <a16:creationId xmlns:a16="http://schemas.microsoft.com/office/drawing/2014/main" id="{21395615-AAC1-40A4-8841-CE37AAF2522C}"/>
              </a:ext>
            </a:extLst>
          </p:cNvPr>
          <p:cNvSpPr>
            <a:spLocks xmlns:a="http://schemas.openxmlformats.org/drawingml/2006/main" noGrp="1"/>
          </p:cNvSpPr>
          <p:nvPr/>
        </p:nvSpPr>
        <p:spPr>
          <a:xfrm xmlns:a="http://schemas.openxmlformats.org/drawingml/2006/main">
            <a:off x="6553200" y="1714500"/>
            <a:ext cx="137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Style</a:t>
            </a:r>
          </a:p>
        </p:txBody>
      </p:sp>
      <p:sp>
        <p:nvSpPr>
          <p:cNvPr id="14" name="">
            <a:extLst xmlns:a="http://schemas.openxmlformats.org/drawingml/2006/main">
              <a:ext uri="{FF2B5EF4-FFF2-40B4-BE49-F238E27FC236}">
                <a16:creationId xmlns:a16="http://schemas.microsoft.com/office/drawing/2014/main" id="{77383127-D757-48FF-B930-E5C3838C8476}"/>
              </a:ext>
            </a:extLst>
          </p:cNvPr>
          <p:cNvSpPr>
            <a:spLocks xmlns:a="http://schemas.openxmlformats.org/drawingml/2006/main" noGrp="1"/>
          </p:cNvSpPr>
          <p:nvPr/>
        </p:nvSpPr>
        <p:spPr>
          <a:xfrm xmlns:a="http://schemas.openxmlformats.org/drawingml/2006/main">
            <a:off x="666750" y="2133600"/>
            <a:ext cx="16192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15" name="">
            <a:extLst xmlns:a="http://schemas.openxmlformats.org/drawingml/2006/main">
              <a:ext uri="{FF2B5EF4-FFF2-40B4-BE49-F238E27FC236}">
                <a16:creationId xmlns:a16="http://schemas.microsoft.com/office/drawing/2014/main" id="{2FC9B64E-EE47-46F5-AE58-04163C6B109B}"/>
              </a:ext>
            </a:extLst>
          </p:cNvPr>
          <p:cNvSpPr>
            <a:spLocks xmlns:a="http://schemas.openxmlformats.org/drawingml/2006/main" noGrp="1"/>
          </p:cNvSpPr>
          <p:nvPr/>
        </p:nvSpPr>
        <p:spPr>
          <a:xfrm xmlns:a="http://schemas.openxmlformats.org/drawingml/2006/main">
            <a:off x="742950" y="2228850"/>
            <a:ext cx="146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RLVS</a:t>
            </a:r>
          </a:p>
        </p:txBody>
      </p:sp>
      <p:sp>
        <p:nvSpPr>
          <p:cNvPr id="16" name="">
            <a:extLst xmlns:a="http://schemas.openxmlformats.org/drawingml/2006/main">
              <a:ext uri="{FF2B5EF4-FFF2-40B4-BE49-F238E27FC236}">
                <a16:creationId xmlns:a16="http://schemas.microsoft.com/office/drawing/2014/main" id="{27E06FDF-F11B-4DDB-B0F9-5FE526937A13}"/>
              </a:ext>
            </a:extLst>
          </p:cNvPr>
          <p:cNvSpPr>
            <a:spLocks xmlns:a="http://schemas.openxmlformats.org/drawingml/2006/main" noGrp="1"/>
          </p:cNvSpPr>
          <p:nvPr/>
        </p:nvSpPr>
        <p:spPr>
          <a:xfrm xmlns:a="http://schemas.openxmlformats.org/drawingml/2006/main">
            <a:off x="2286000" y="2133600"/>
            <a:ext cx="13335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17" name="">
            <a:extLst xmlns:a="http://schemas.openxmlformats.org/drawingml/2006/main">
              <a:ext uri="{FF2B5EF4-FFF2-40B4-BE49-F238E27FC236}">
                <a16:creationId xmlns:a16="http://schemas.microsoft.com/office/drawing/2014/main" id="{908D65C0-257A-4131-9FFE-33EE29A90E1B}"/>
              </a:ext>
            </a:extLst>
          </p:cNvPr>
          <p:cNvSpPr>
            <a:spLocks xmlns:a="http://schemas.openxmlformats.org/drawingml/2006/main" noGrp="1"/>
          </p:cNvSpPr>
          <p:nvPr/>
        </p:nvSpPr>
        <p:spPr>
          <a:xfrm xmlns:a="http://schemas.openxmlformats.org/drawingml/2006/main">
            <a:off x="2362200" y="2228850"/>
            <a:ext cx="1181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1 000</a:t>
            </a:r>
          </a:p>
        </p:txBody>
      </p:sp>
      <p:sp>
        <p:nvSpPr>
          <p:cNvPr id="18" name="">
            <a:extLst xmlns:a="http://schemas.openxmlformats.org/drawingml/2006/main">
              <a:ext uri="{FF2B5EF4-FFF2-40B4-BE49-F238E27FC236}">
                <a16:creationId xmlns:a16="http://schemas.microsoft.com/office/drawing/2014/main" id="{6AA165DD-AD76-423D-9D5E-660FF8FA78AF}"/>
              </a:ext>
            </a:extLst>
          </p:cNvPr>
          <p:cNvSpPr>
            <a:spLocks xmlns:a="http://schemas.openxmlformats.org/drawingml/2006/main" noGrp="1"/>
          </p:cNvSpPr>
          <p:nvPr/>
        </p:nvSpPr>
        <p:spPr>
          <a:xfrm xmlns:a="http://schemas.openxmlformats.org/drawingml/2006/main">
            <a:off x="3619500" y="2133600"/>
            <a:ext cx="14287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19" name="">
            <a:extLst xmlns:a="http://schemas.openxmlformats.org/drawingml/2006/main">
              <a:ext uri="{FF2B5EF4-FFF2-40B4-BE49-F238E27FC236}">
                <a16:creationId xmlns:a16="http://schemas.microsoft.com/office/drawing/2014/main" id="{8ECC41B4-205E-42C7-A9A7-0BFBD9BE27F1}"/>
              </a:ext>
            </a:extLst>
          </p:cNvPr>
          <p:cNvSpPr>
            <a:spLocks xmlns:a="http://schemas.openxmlformats.org/drawingml/2006/main" noGrp="1"/>
          </p:cNvSpPr>
          <p:nvPr/>
        </p:nvSpPr>
        <p:spPr>
          <a:xfrm xmlns:a="http://schemas.openxmlformats.org/drawingml/2006/main">
            <a:off x="3695700" y="2228850"/>
            <a:ext cx="1276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1 000</a:t>
            </a:r>
          </a:p>
        </p:txBody>
      </p:sp>
      <p:sp>
        <p:nvSpPr>
          <p:cNvPr id="20" name="">
            <a:extLst xmlns:a="http://schemas.openxmlformats.org/drawingml/2006/main">
              <a:ext uri="{FF2B5EF4-FFF2-40B4-BE49-F238E27FC236}">
                <a16:creationId xmlns:a16="http://schemas.microsoft.com/office/drawing/2014/main" id="{9483B898-887C-493A-A712-6531472EC43D}"/>
              </a:ext>
            </a:extLst>
          </p:cNvPr>
          <p:cNvSpPr>
            <a:spLocks xmlns:a="http://schemas.openxmlformats.org/drawingml/2006/main" noGrp="1"/>
          </p:cNvSpPr>
          <p:nvPr/>
        </p:nvSpPr>
        <p:spPr>
          <a:xfrm xmlns:a="http://schemas.openxmlformats.org/drawingml/2006/main">
            <a:off x="5048250" y="2133600"/>
            <a:ext cx="14287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21" name="">
            <a:extLst xmlns:a="http://schemas.openxmlformats.org/drawingml/2006/main">
              <a:ext uri="{FF2B5EF4-FFF2-40B4-BE49-F238E27FC236}">
                <a16:creationId xmlns:a16="http://schemas.microsoft.com/office/drawing/2014/main" id="{C15E5453-F427-4463-A4CE-093C98819CA2}"/>
              </a:ext>
            </a:extLst>
          </p:cNvPr>
          <p:cNvSpPr>
            <a:spLocks xmlns:a="http://schemas.openxmlformats.org/drawingml/2006/main" noGrp="1"/>
          </p:cNvSpPr>
          <p:nvPr/>
        </p:nvSpPr>
        <p:spPr>
          <a:xfrm xmlns:a="http://schemas.openxmlformats.org/drawingml/2006/main">
            <a:off x="5124450" y="2228850"/>
            <a:ext cx="1276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2 000</a:t>
            </a:r>
          </a:p>
        </p:txBody>
      </p:sp>
      <p:sp>
        <p:nvSpPr>
          <p:cNvPr id="22" name="">
            <a:extLst xmlns:a="http://schemas.openxmlformats.org/drawingml/2006/main">
              <a:ext uri="{FF2B5EF4-FFF2-40B4-BE49-F238E27FC236}">
                <a16:creationId xmlns:a16="http://schemas.microsoft.com/office/drawing/2014/main" id="{7837C93D-253F-49D5-9C44-ED302ED2117F}"/>
              </a:ext>
            </a:extLst>
          </p:cNvPr>
          <p:cNvSpPr>
            <a:spLocks xmlns:a="http://schemas.openxmlformats.org/drawingml/2006/main" noGrp="1"/>
          </p:cNvSpPr>
          <p:nvPr/>
        </p:nvSpPr>
        <p:spPr>
          <a:xfrm xmlns:a="http://schemas.openxmlformats.org/drawingml/2006/main">
            <a:off x="6477000" y="2133600"/>
            <a:ext cx="15240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23" name="">
            <a:extLst xmlns:a="http://schemas.openxmlformats.org/drawingml/2006/main">
              <a:ext uri="{FF2B5EF4-FFF2-40B4-BE49-F238E27FC236}">
                <a16:creationId xmlns:a16="http://schemas.microsoft.com/office/drawing/2014/main" id="{B5E9A7CE-A118-402A-BBEE-82BF42EBF961}"/>
              </a:ext>
            </a:extLst>
          </p:cNvPr>
          <p:cNvSpPr>
            <a:spLocks xmlns:a="http://schemas.openxmlformats.org/drawingml/2006/main" noGrp="1"/>
          </p:cNvSpPr>
          <p:nvPr/>
        </p:nvSpPr>
        <p:spPr>
          <a:xfrm xmlns:a="http://schemas.openxmlformats.org/drawingml/2006/main">
            <a:off x="6553200" y="2228850"/>
            <a:ext cx="137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Contrôlé</a:t>
            </a:r>
          </a:p>
        </p:txBody>
      </p:sp>
      <p:sp>
        <p:nvSpPr>
          <p:cNvPr id="24" name="">
            <a:extLst xmlns:a="http://schemas.openxmlformats.org/drawingml/2006/main">
              <a:ext uri="{FF2B5EF4-FFF2-40B4-BE49-F238E27FC236}">
                <a16:creationId xmlns:a16="http://schemas.microsoft.com/office/drawing/2014/main" id="{9B3C2470-381E-42C4-8D7F-560DF472CBCF}"/>
              </a:ext>
            </a:extLst>
          </p:cNvPr>
          <p:cNvSpPr>
            <a:spLocks xmlns:a="http://schemas.openxmlformats.org/drawingml/2006/main" noGrp="1"/>
          </p:cNvSpPr>
          <p:nvPr/>
        </p:nvSpPr>
        <p:spPr>
          <a:xfrm xmlns:a="http://schemas.openxmlformats.org/drawingml/2006/main">
            <a:off x="666750" y="2647950"/>
            <a:ext cx="1619250" cy="514350"/>
          </a:xfrm>
          <a:prstGeom xmlns:a="http://schemas.openxmlformats.org/drawingml/2006/main" prst="rect">
            <a:avLst/>
          </a:prstGeom>
          <a:solidFill xmlns:a="http://schemas.openxmlformats.org/drawingml/2006/main">
            <a:srgbClr val="DCEAF4"/>
          </a:solidFill>
          <a:ln xmlns:a="http://schemas.openxmlformats.org/drawingml/2006/main" w="9525">
            <a:solidFill>
              <a:srgbClr val="C8D6E4"/>
            </a:solidFill>
            <a:prstDash val="solid"/>
          </a:ln>
        </p:spPr>
      </p:sp>
      <p:sp>
        <p:nvSpPr>
          <p:cNvPr id="25" name="">
            <a:extLst xmlns:a="http://schemas.openxmlformats.org/drawingml/2006/main">
              <a:ext uri="{FF2B5EF4-FFF2-40B4-BE49-F238E27FC236}">
                <a16:creationId xmlns:a16="http://schemas.microsoft.com/office/drawing/2014/main" id="{F7778298-C509-4BF0-9EC1-C887EF210034}"/>
              </a:ext>
            </a:extLst>
          </p:cNvPr>
          <p:cNvSpPr>
            <a:spLocks xmlns:a="http://schemas.openxmlformats.org/drawingml/2006/main" noGrp="1"/>
          </p:cNvSpPr>
          <p:nvPr/>
        </p:nvSpPr>
        <p:spPr>
          <a:xfrm xmlns:a="http://schemas.openxmlformats.org/drawingml/2006/main">
            <a:off x="742950" y="2743200"/>
            <a:ext cx="146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RWF-2000</a:t>
            </a:r>
          </a:p>
        </p:txBody>
      </p:sp>
      <p:sp>
        <p:nvSpPr>
          <p:cNvPr id="26" name="">
            <a:extLst xmlns:a="http://schemas.openxmlformats.org/drawingml/2006/main">
              <a:ext uri="{FF2B5EF4-FFF2-40B4-BE49-F238E27FC236}">
                <a16:creationId xmlns:a16="http://schemas.microsoft.com/office/drawing/2014/main" id="{AD0E66DA-939D-4E35-BC8C-B8EAF17E000A}"/>
              </a:ext>
            </a:extLst>
          </p:cNvPr>
          <p:cNvSpPr>
            <a:spLocks xmlns:a="http://schemas.openxmlformats.org/drawingml/2006/main" noGrp="1"/>
          </p:cNvSpPr>
          <p:nvPr/>
        </p:nvSpPr>
        <p:spPr>
          <a:xfrm xmlns:a="http://schemas.openxmlformats.org/drawingml/2006/main">
            <a:off x="2286000" y="2647950"/>
            <a:ext cx="1333500" cy="514350"/>
          </a:xfrm>
          <a:prstGeom xmlns:a="http://schemas.openxmlformats.org/drawingml/2006/main" prst="rect">
            <a:avLst/>
          </a:prstGeom>
          <a:solidFill xmlns:a="http://schemas.openxmlformats.org/drawingml/2006/main">
            <a:srgbClr val="DCEAF4"/>
          </a:solidFill>
          <a:ln xmlns:a="http://schemas.openxmlformats.org/drawingml/2006/main" w="9525">
            <a:solidFill>
              <a:srgbClr val="C8D6E4"/>
            </a:solidFill>
            <a:prstDash val="solid"/>
          </a:ln>
        </p:spPr>
      </p:sp>
      <p:sp>
        <p:nvSpPr>
          <p:cNvPr id="27" name="">
            <a:extLst xmlns:a="http://schemas.openxmlformats.org/drawingml/2006/main">
              <a:ext uri="{FF2B5EF4-FFF2-40B4-BE49-F238E27FC236}">
                <a16:creationId xmlns:a16="http://schemas.microsoft.com/office/drawing/2014/main" id="{3260F3B8-837E-4CBA-A2C4-D899FBE3DF4B}"/>
              </a:ext>
            </a:extLst>
          </p:cNvPr>
          <p:cNvSpPr>
            <a:spLocks xmlns:a="http://schemas.openxmlformats.org/drawingml/2006/main" noGrp="1"/>
          </p:cNvSpPr>
          <p:nvPr/>
        </p:nvSpPr>
        <p:spPr>
          <a:xfrm xmlns:a="http://schemas.openxmlformats.org/drawingml/2006/main">
            <a:off x="2362200" y="2743200"/>
            <a:ext cx="1181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991</a:t>
            </a:r>
          </a:p>
        </p:txBody>
      </p:sp>
      <p:sp>
        <p:nvSpPr>
          <p:cNvPr id="28" name="">
            <a:extLst xmlns:a="http://schemas.openxmlformats.org/drawingml/2006/main">
              <a:ext uri="{FF2B5EF4-FFF2-40B4-BE49-F238E27FC236}">
                <a16:creationId xmlns:a16="http://schemas.microsoft.com/office/drawing/2014/main" id="{CE9A9E4E-F3FD-42C7-84A5-6FF5615EA7F7}"/>
              </a:ext>
            </a:extLst>
          </p:cNvPr>
          <p:cNvSpPr>
            <a:spLocks xmlns:a="http://schemas.openxmlformats.org/drawingml/2006/main" noGrp="1"/>
          </p:cNvSpPr>
          <p:nvPr/>
        </p:nvSpPr>
        <p:spPr>
          <a:xfrm xmlns:a="http://schemas.openxmlformats.org/drawingml/2006/main">
            <a:off x="3619500" y="2647950"/>
            <a:ext cx="1428750" cy="514350"/>
          </a:xfrm>
          <a:prstGeom xmlns:a="http://schemas.openxmlformats.org/drawingml/2006/main" prst="rect">
            <a:avLst/>
          </a:prstGeom>
          <a:solidFill xmlns:a="http://schemas.openxmlformats.org/drawingml/2006/main">
            <a:srgbClr val="DCEAF4"/>
          </a:solidFill>
          <a:ln xmlns:a="http://schemas.openxmlformats.org/drawingml/2006/main" w="9525">
            <a:solidFill>
              <a:srgbClr val="C8D6E4"/>
            </a:solidFill>
            <a:prstDash val="solid"/>
          </a:ln>
        </p:spPr>
      </p:sp>
      <p:sp>
        <p:nvSpPr>
          <p:cNvPr id="29" name="">
            <a:extLst xmlns:a="http://schemas.openxmlformats.org/drawingml/2006/main">
              <a:ext uri="{FF2B5EF4-FFF2-40B4-BE49-F238E27FC236}">
                <a16:creationId xmlns:a16="http://schemas.microsoft.com/office/drawing/2014/main" id="{12830276-3C4B-4A3C-8C12-E72D8D55A4BF}"/>
              </a:ext>
            </a:extLst>
          </p:cNvPr>
          <p:cNvSpPr>
            <a:spLocks xmlns:a="http://schemas.openxmlformats.org/drawingml/2006/main" noGrp="1"/>
          </p:cNvSpPr>
          <p:nvPr/>
        </p:nvSpPr>
        <p:spPr>
          <a:xfrm xmlns:a="http://schemas.openxmlformats.org/drawingml/2006/main">
            <a:off x="3695700" y="2743200"/>
            <a:ext cx="1276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1 000</a:t>
            </a:r>
          </a:p>
        </p:txBody>
      </p:sp>
      <p:sp>
        <p:nvSpPr>
          <p:cNvPr id="30" name="">
            <a:extLst xmlns:a="http://schemas.openxmlformats.org/drawingml/2006/main">
              <a:ext uri="{FF2B5EF4-FFF2-40B4-BE49-F238E27FC236}">
                <a16:creationId xmlns:a16="http://schemas.microsoft.com/office/drawing/2014/main" id="{5B5FF4CD-2E46-4A42-8BE0-644D69DA6B04}"/>
              </a:ext>
            </a:extLst>
          </p:cNvPr>
          <p:cNvSpPr>
            <a:spLocks xmlns:a="http://schemas.openxmlformats.org/drawingml/2006/main" noGrp="1"/>
          </p:cNvSpPr>
          <p:nvPr/>
        </p:nvSpPr>
        <p:spPr>
          <a:xfrm xmlns:a="http://schemas.openxmlformats.org/drawingml/2006/main">
            <a:off x="5048250" y="2647950"/>
            <a:ext cx="1428750" cy="514350"/>
          </a:xfrm>
          <a:prstGeom xmlns:a="http://schemas.openxmlformats.org/drawingml/2006/main" prst="rect">
            <a:avLst/>
          </a:prstGeom>
          <a:solidFill xmlns:a="http://schemas.openxmlformats.org/drawingml/2006/main">
            <a:srgbClr val="DCEAF4"/>
          </a:solidFill>
          <a:ln xmlns:a="http://schemas.openxmlformats.org/drawingml/2006/main" w="9525">
            <a:solidFill>
              <a:srgbClr val="C8D6E4"/>
            </a:solidFill>
            <a:prstDash val="solid"/>
          </a:ln>
        </p:spPr>
      </p:sp>
      <p:sp>
        <p:nvSpPr>
          <p:cNvPr id="31" name="">
            <a:extLst xmlns:a="http://schemas.openxmlformats.org/drawingml/2006/main">
              <a:ext uri="{FF2B5EF4-FFF2-40B4-BE49-F238E27FC236}">
                <a16:creationId xmlns:a16="http://schemas.microsoft.com/office/drawing/2014/main" id="{0E97CF7A-0E62-42EA-A779-EF829DB3D34A}"/>
              </a:ext>
            </a:extLst>
          </p:cNvPr>
          <p:cNvSpPr>
            <a:spLocks xmlns:a="http://schemas.openxmlformats.org/drawingml/2006/main" noGrp="1"/>
          </p:cNvSpPr>
          <p:nvPr/>
        </p:nvSpPr>
        <p:spPr>
          <a:xfrm xmlns:a="http://schemas.openxmlformats.org/drawingml/2006/main">
            <a:off x="5124450" y="2743200"/>
            <a:ext cx="1276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1 991</a:t>
            </a:r>
          </a:p>
        </p:txBody>
      </p:sp>
      <p:sp>
        <p:nvSpPr>
          <p:cNvPr id="32" name="">
            <a:extLst xmlns:a="http://schemas.openxmlformats.org/drawingml/2006/main">
              <a:ext uri="{FF2B5EF4-FFF2-40B4-BE49-F238E27FC236}">
                <a16:creationId xmlns:a16="http://schemas.microsoft.com/office/drawing/2014/main" id="{84FCE21F-A956-4335-A547-9741AB8E705B}"/>
              </a:ext>
            </a:extLst>
          </p:cNvPr>
          <p:cNvSpPr>
            <a:spLocks xmlns:a="http://schemas.openxmlformats.org/drawingml/2006/main" noGrp="1"/>
          </p:cNvSpPr>
          <p:nvPr/>
        </p:nvSpPr>
        <p:spPr>
          <a:xfrm xmlns:a="http://schemas.openxmlformats.org/drawingml/2006/main">
            <a:off x="6477000" y="2647950"/>
            <a:ext cx="1524000" cy="514350"/>
          </a:xfrm>
          <a:prstGeom xmlns:a="http://schemas.openxmlformats.org/drawingml/2006/main" prst="rect">
            <a:avLst/>
          </a:prstGeom>
          <a:solidFill xmlns:a="http://schemas.openxmlformats.org/drawingml/2006/main">
            <a:srgbClr val="DCEAF4"/>
          </a:solidFill>
          <a:ln xmlns:a="http://schemas.openxmlformats.org/drawingml/2006/main" w="9525">
            <a:solidFill>
              <a:srgbClr val="C8D6E4"/>
            </a:solidFill>
            <a:prstDash val="solid"/>
          </a:ln>
        </p:spPr>
      </p:sp>
      <p:sp>
        <p:nvSpPr>
          <p:cNvPr id="33" name="">
            <a:extLst xmlns:a="http://schemas.openxmlformats.org/drawingml/2006/main">
              <a:ext uri="{FF2B5EF4-FFF2-40B4-BE49-F238E27FC236}">
                <a16:creationId xmlns:a16="http://schemas.microsoft.com/office/drawing/2014/main" id="{22A1FF0C-400A-4468-A404-FC91803BB285}"/>
              </a:ext>
            </a:extLst>
          </p:cNvPr>
          <p:cNvSpPr>
            <a:spLocks xmlns:a="http://schemas.openxmlformats.org/drawingml/2006/main" noGrp="1"/>
          </p:cNvSpPr>
          <p:nvPr/>
        </p:nvSpPr>
        <p:spPr>
          <a:xfrm xmlns:a="http://schemas.openxmlformats.org/drawingml/2006/main">
            <a:off x="6553200" y="2743200"/>
            <a:ext cx="137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CCTV réel</a:t>
            </a:r>
          </a:p>
        </p:txBody>
      </p:sp>
      <p:sp>
        <p:nvSpPr>
          <p:cNvPr id="34" name="">
            <a:extLst xmlns:a="http://schemas.openxmlformats.org/drawingml/2006/main">
              <a:ext uri="{FF2B5EF4-FFF2-40B4-BE49-F238E27FC236}">
                <a16:creationId xmlns:a16="http://schemas.microsoft.com/office/drawing/2014/main" id="{722D7F45-A717-4C27-8670-A8CA236F313F}"/>
              </a:ext>
            </a:extLst>
          </p:cNvPr>
          <p:cNvSpPr>
            <a:spLocks xmlns:a="http://schemas.openxmlformats.org/drawingml/2006/main" noGrp="1"/>
          </p:cNvSpPr>
          <p:nvPr/>
        </p:nvSpPr>
        <p:spPr>
          <a:xfrm xmlns:a="http://schemas.openxmlformats.org/drawingml/2006/main">
            <a:off x="666750" y="3162300"/>
            <a:ext cx="16192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35" name="">
            <a:extLst xmlns:a="http://schemas.openxmlformats.org/drawingml/2006/main">
              <a:ext uri="{FF2B5EF4-FFF2-40B4-BE49-F238E27FC236}">
                <a16:creationId xmlns:a16="http://schemas.microsoft.com/office/drawing/2014/main" id="{70E55F0B-911B-48A7-8AD7-86EE1A6A0304}"/>
              </a:ext>
            </a:extLst>
          </p:cNvPr>
          <p:cNvSpPr>
            <a:spLocks xmlns:a="http://schemas.openxmlformats.org/drawingml/2006/main" noGrp="1"/>
          </p:cNvSpPr>
          <p:nvPr/>
        </p:nvSpPr>
        <p:spPr>
          <a:xfrm xmlns:a="http://schemas.openxmlformats.org/drawingml/2006/main">
            <a:off x="742950" y="3257550"/>
            <a:ext cx="146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Total</a:t>
            </a:r>
          </a:p>
        </p:txBody>
      </p:sp>
      <p:sp>
        <p:nvSpPr>
          <p:cNvPr id="36" name="">
            <a:extLst xmlns:a="http://schemas.openxmlformats.org/drawingml/2006/main">
              <a:ext uri="{FF2B5EF4-FFF2-40B4-BE49-F238E27FC236}">
                <a16:creationId xmlns:a16="http://schemas.microsoft.com/office/drawing/2014/main" id="{83895907-628F-4365-B770-7BBBADFAC1C7}"/>
              </a:ext>
            </a:extLst>
          </p:cNvPr>
          <p:cNvSpPr>
            <a:spLocks xmlns:a="http://schemas.openxmlformats.org/drawingml/2006/main" noGrp="1"/>
          </p:cNvSpPr>
          <p:nvPr/>
        </p:nvSpPr>
        <p:spPr>
          <a:xfrm xmlns:a="http://schemas.openxmlformats.org/drawingml/2006/main">
            <a:off x="2286000" y="3162300"/>
            <a:ext cx="13335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37" name="">
            <a:extLst xmlns:a="http://schemas.openxmlformats.org/drawingml/2006/main">
              <a:ext uri="{FF2B5EF4-FFF2-40B4-BE49-F238E27FC236}">
                <a16:creationId xmlns:a16="http://schemas.microsoft.com/office/drawing/2014/main" id="{9F127B2A-CC03-45F1-BD7A-F2614B826C73}"/>
              </a:ext>
            </a:extLst>
          </p:cNvPr>
          <p:cNvSpPr>
            <a:spLocks xmlns:a="http://schemas.openxmlformats.org/drawingml/2006/main" noGrp="1"/>
          </p:cNvSpPr>
          <p:nvPr/>
        </p:nvSpPr>
        <p:spPr>
          <a:xfrm xmlns:a="http://schemas.openxmlformats.org/drawingml/2006/main">
            <a:off x="2362200" y="3257550"/>
            <a:ext cx="1181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1 991</a:t>
            </a:r>
          </a:p>
        </p:txBody>
      </p:sp>
      <p:sp>
        <p:nvSpPr>
          <p:cNvPr id="38" name="">
            <a:extLst xmlns:a="http://schemas.openxmlformats.org/drawingml/2006/main">
              <a:ext uri="{FF2B5EF4-FFF2-40B4-BE49-F238E27FC236}">
                <a16:creationId xmlns:a16="http://schemas.microsoft.com/office/drawing/2014/main" id="{C1FBEFEA-25D8-4300-8AA8-59228082C753}"/>
              </a:ext>
            </a:extLst>
          </p:cNvPr>
          <p:cNvSpPr>
            <a:spLocks xmlns:a="http://schemas.openxmlformats.org/drawingml/2006/main" noGrp="1"/>
          </p:cNvSpPr>
          <p:nvPr/>
        </p:nvSpPr>
        <p:spPr>
          <a:xfrm xmlns:a="http://schemas.openxmlformats.org/drawingml/2006/main">
            <a:off x="3619500" y="3162300"/>
            <a:ext cx="14287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39" name="">
            <a:extLst xmlns:a="http://schemas.openxmlformats.org/drawingml/2006/main">
              <a:ext uri="{FF2B5EF4-FFF2-40B4-BE49-F238E27FC236}">
                <a16:creationId xmlns:a16="http://schemas.microsoft.com/office/drawing/2014/main" id="{184F510F-543E-4581-9425-86C324D641DC}"/>
              </a:ext>
            </a:extLst>
          </p:cNvPr>
          <p:cNvSpPr>
            <a:spLocks xmlns:a="http://schemas.openxmlformats.org/drawingml/2006/main" noGrp="1"/>
          </p:cNvSpPr>
          <p:nvPr/>
        </p:nvSpPr>
        <p:spPr>
          <a:xfrm xmlns:a="http://schemas.openxmlformats.org/drawingml/2006/main">
            <a:off x="3695700" y="3257550"/>
            <a:ext cx="1276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2 000</a:t>
            </a:r>
          </a:p>
        </p:txBody>
      </p:sp>
      <p:sp>
        <p:nvSpPr>
          <p:cNvPr id="40" name="">
            <a:extLst xmlns:a="http://schemas.openxmlformats.org/drawingml/2006/main">
              <a:ext uri="{FF2B5EF4-FFF2-40B4-BE49-F238E27FC236}">
                <a16:creationId xmlns:a16="http://schemas.microsoft.com/office/drawing/2014/main" id="{A11F3E73-6F4C-47BC-A81B-65DC04B361AE}"/>
              </a:ext>
            </a:extLst>
          </p:cNvPr>
          <p:cNvSpPr>
            <a:spLocks xmlns:a="http://schemas.openxmlformats.org/drawingml/2006/main" noGrp="1"/>
          </p:cNvSpPr>
          <p:nvPr/>
        </p:nvSpPr>
        <p:spPr>
          <a:xfrm xmlns:a="http://schemas.openxmlformats.org/drawingml/2006/main">
            <a:off x="5048250" y="3162300"/>
            <a:ext cx="14287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41" name="">
            <a:extLst xmlns:a="http://schemas.openxmlformats.org/drawingml/2006/main">
              <a:ext uri="{FF2B5EF4-FFF2-40B4-BE49-F238E27FC236}">
                <a16:creationId xmlns:a16="http://schemas.microsoft.com/office/drawing/2014/main" id="{1D12ACC5-4710-4308-99B4-74EEFF4D98AD}"/>
              </a:ext>
            </a:extLst>
          </p:cNvPr>
          <p:cNvSpPr>
            <a:spLocks xmlns:a="http://schemas.openxmlformats.org/drawingml/2006/main" noGrp="1"/>
          </p:cNvSpPr>
          <p:nvPr/>
        </p:nvSpPr>
        <p:spPr>
          <a:xfrm xmlns:a="http://schemas.openxmlformats.org/drawingml/2006/main">
            <a:off x="5124450" y="3257550"/>
            <a:ext cx="1276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3 991</a:t>
            </a:r>
          </a:p>
        </p:txBody>
      </p:sp>
      <p:sp>
        <p:nvSpPr>
          <p:cNvPr id="42" name="">
            <a:extLst xmlns:a="http://schemas.openxmlformats.org/drawingml/2006/main">
              <a:ext uri="{FF2B5EF4-FFF2-40B4-BE49-F238E27FC236}">
                <a16:creationId xmlns:a16="http://schemas.microsoft.com/office/drawing/2014/main" id="{B46D7A16-346C-4D44-AE28-E54298842B48}"/>
              </a:ext>
            </a:extLst>
          </p:cNvPr>
          <p:cNvSpPr>
            <a:spLocks xmlns:a="http://schemas.openxmlformats.org/drawingml/2006/main" noGrp="1"/>
          </p:cNvSpPr>
          <p:nvPr/>
        </p:nvSpPr>
        <p:spPr>
          <a:xfrm xmlns:a="http://schemas.openxmlformats.org/drawingml/2006/main">
            <a:off x="6477000" y="3162300"/>
            <a:ext cx="15240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43" name="">
            <a:extLst xmlns:a="http://schemas.openxmlformats.org/drawingml/2006/main">
              <a:ext uri="{FF2B5EF4-FFF2-40B4-BE49-F238E27FC236}">
                <a16:creationId xmlns:a16="http://schemas.microsoft.com/office/drawing/2014/main" id="{C4631272-8546-4E7A-A3C7-A437D9D382EA}"/>
              </a:ext>
            </a:extLst>
          </p:cNvPr>
          <p:cNvSpPr>
            <a:spLocks xmlns:a="http://schemas.openxmlformats.org/drawingml/2006/main" noGrp="1"/>
          </p:cNvSpPr>
          <p:nvPr/>
        </p:nvSpPr>
        <p:spPr>
          <a:xfrm xmlns:a="http://schemas.openxmlformats.org/drawingml/2006/main">
            <a:off x="6553200" y="3257550"/>
            <a:ext cx="137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Équilibré</a:t>
            </a:r>
          </a:p>
        </p:txBody>
      </p:sp>
      <p:pic>
        <p:nvPicPr>
          <p:cNvPr id="105" name=""/>
          <p:cNvPicPr>
            <a:picLocks xmlns:a="http://schemas.openxmlformats.org/drawingml/2006/main" noChangeAspect="1"/>
          </p:cNvPicPr>
          <p:nvPr/>
        </p:nvPicPr>
        <p:blipFill>
          <a:blip xmlns:r="http://schemas.openxmlformats.org/officeDocument/2006/relationships" xmlns:a="http://schemas.openxmlformats.org/drawingml/2006/main" r:embed="R1f92ea786e4c4438"/>
          <a:stretch xmlns:a="http://schemas.openxmlformats.org/drawingml/2006/main"/>
        </p:blipFill>
        <p:spPr>
          <a:xfrm xmlns:a="http://schemas.openxmlformats.org/drawingml/2006/main">
            <a:off x="7620000" y="1721147"/>
            <a:ext cx="3429000" cy="1948856"/>
          </a:xfrm>
          <a:prstGeom xmlns:a="http://schemas.openxmlformats.org/drawingml/2006/main" prst="rect">
            <a:avLst/>
          </a:prstGeom>
        </p:spPr>
      </p:pic>
      <p:sp>
        <p:nvSpPr>
          <p:cNvPr id="45" name="">
            <a:extLst xmlns:a="http://schemas.openxmlformats.org/drawingml/2006/main">
              <a:ext uri="{FF2B5EF4-FFF2-40B4-BE49-F238E27FC236}">
                <a16:creationId xmlns:a16="http://schemas.microsoft.com/office/drawing/2014/main" id="{E0689BEA-A7E6-4A2F-911E-C802BED576DE}"/>
              </a:ext>
            </a:extLst>
          </p:cNvPr>
          <p:cNvSpPr>
            <a:spLocks xmlns:a="http://schemas.openxmlformats.org/drawingml/2006/main" noGrp="1"/>
          </p:cNvSpPr>
          <p:nvPr/>
        </p:nvSpPr>
        <p:spPr>
          <a:xfrm xmlns:a="http://schemas.openxmlformats.org/drawingml/2006/main">
            <a:off x="952500" y="4476750"/>
            <a:ext cx="18097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C8D6E4"/>
            </a:solidFill>
            <a:prstDash val="solid"/>
          </a:ln>
        </p:spPr>
      </p:sp>
      <p:sp>
        <p:nvSpPr>
          <p:cNvPr id="46" name="">
            <a:extLst xmlns:a="http://schemas.openxmlformats.org/drawingml/2006/main">
              <a:ext uri="{FF2B5EF4-FFF2-40B4-BE49-F238E27FC236}">
                <a16:creationId xmlns:a16="http://schemas.microsoft.com/office/drawing/2014/main" id="{72D773CB-D540-4361-96A6-B7F7E1A21AF6}"/>
              </a:ext>
            </a:extLst>
          </p:cNvPr>
          <p:cNvSpPr>
            <a:spLocks xmlns:a="http://schemas.openxmlformats.org/drawingml/2006/main" noGrp="1"/>
          </p:cNvSpPr>
          <p:nvPr/>
        </p:nvSpPr>
        <p:spPr>
          <a:xfrm xmlns:a="http://schemas.openxmlformats.org/drawingml/2006/main">
            <a:off x="1123950" y="4667250"/>
            <a:ext cx="1466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i="0">
                <a:solidFill>
                  <a:srgbClr val="203F6E"/>
                </a:solidFill>
              </a:defRPr>
            </a:pPr>
            <a:r>
              <a:rPr sz="2250" b="1" i="0">
                <a:solidFill>
                  <a:srgbClr val="203F6E"/>
                </a:solidFill>
              </a:rPr>
              <a:t>2 793</a:t>
            </a:r>
          </a:p>
        </p:txBody>
      </p:sp>
      <p:sp>
        <p:nvSpPr>
          <p:cNvPr id="47" name="">
            <a:extLst xmlns:a="http://schemas.openxmlformats.org/drawingml/2006/main">
              <a:ext uri="{FF2B5EF4-FFF2-40B4-BE49-F238E27FC236}">
                <a16:creationId xmlns:a16="http://schemas.microsoft.com/office/drawing/2014/main" id="{8DF53C02-32CA-4079-8572-0F3507466433}"/>
              </a:ext>
            </a:extLst>
          </p:cNvPr>
          <p:cNvSpPr>
            <a:spLocks xmlns:a="http://schemas.openxmlformats.org/drawingml/2006/main" noGrp="1"/>
          </p:cNvSpPr>
          <p:nvPr/>
        </p:nvSpPr>
        <p:spPr>
          <a:xfrm xmlns:a="http://schemas.openxmlformats.org/drawingml/2006/main">
            <a:off x="1123950" y="5029200"/>
            <a:ext cx="1466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17345F"/>
                </a:solidFill>
              </a:defRPr>
            </a:pPr>
            <a:r>
              <a:rPr sz="1050" b="1" i="0">
                <a:solidFill>
                  <a:srgbClr val="17345F"/>
                </a:solidFill>
              </a:rPr>
              <a:t>Entraînement</a:t>
            </a:r>
          </a:p>
        </p:txBody>
      </p:sp>
      <p:sp>
        <p:nvSpPr>
          <p:cNvPr id="48" name="">
            <a:extLst xmlns:a="http://schemas.openxmlformats.org/drawingml/2006/main">
              <a:ext uri="{FF2B5EF4-FFF2-40B4-BE49-F238E27FC236}">
                <a16:creationId xmlns:a16="http://schemas.microsoft.com/office/drawing/2014/main" id="{E69EB74E-A37E-468D-BF09-254183BDFC5E}"/>
              </a:ext>
            </a:extLst>
          </p:cNvPr>
          <p:cNvSpPr>
            <a:spLocks xmlns:a="http://schemas.openxmlformats.org/drawingml/2006/main" noGrp="1"/>
          </p:cNvSpPr>
          <p:nvPr/>
        </p:nvSpPr>
        <p:spPr>
          <a:xfrm xmlns:a="http://schemas.openxmlformats.org/drawingml/2006/main">
            <a:off x="1123950" y="5238750"/>
            <a:ext cx="1466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5A6B82"/>
                </a:solidFill>
              </a:defRPr>
            </a:pPr>
            <a:r>
              <a:rPr sz="750" b="0" i="0">
                <a:solidFill>
                  <a:srgbClr val="5A6B82"/>
                </a:solidFill>
              </a:rPr>
              <a:t>vidéos</a:t>
            </a:r>
          </a:p>
        </p:txBody>
      </p:sp>
      <p:sp>
        <p:nvSpPr>
          <p:cNvPr id="49" name="">
            <a:extLst xmlns:a="http://schemas.openxmlformats.org/drawingml/2006/main">
              <a:ext uri="{FF2B5EF4-FFF2-40B4-BE49-F238E27FC236}">
                <a16:creationId xmlns:a16="http://schemas.microsoft.com/office/drawing/2014/main" id="{145513F0-03D7-453A-9C4A-B90B2A3A112B}"/>
              </a:ext>
            </a:extLst>
          </p:cNvPr>
          <p:cNvSpPr>
            <a:spLocks xmlns:a="http://schemas.openxmlformats.org/drawingml/2006/main" noGrp="1"/>
          </p:cNvSpPr>
          <p:nvPr/>
        </p:nvSpPr>
        <p:spPr>
          <a:xfrm xmlns:a="http://schemas.openxmlformats.org/drawingml/2006/main">
            <a:off x="3095625" y="4476750"/>
            <a:ext cx="18097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C8D6E4"/>
            </a:solidFill>
            <a:prstDash val="solid"/>
          </a:ln>
        </p:spPr>
      </p:sp>
      <p:sp>
        <p:nvSpPr>
          <p:cNvPr id="50" name="">
            <a:extLst xmlns:a="http://schemas.openxmlformats.org/drawingml/2006/main">
              <a:ext uri="{FF2B5EF4-FFF2-40B4-BE49-F238E27FC236}">
                <a16:creationId xmlns:a16="http://schemas.microsoft.com/office/drawing/2014/main" id="{D42833AD-247A-41B4-AE3E-B196B4035F56}"/>
              </a:ext>
            </a:extLst>
          </p:cNvPr>
          <p:cNvSpPr>
            <a:spLocks xmlns:a="http://schemas.openxmlformats.org/drawingml/2006/main" noGrp="1"/>
          </p:cNvSpPr>
          <p:nvPr/>
        </p:nvSpPr>
        <p:spPr>
          <a:xfrm xmlns:a="http://schemas.openxmlformats.org/drawingml/2006/main">
            <a:off x="3267075" y="4667250"/>
            <a:ext cx="1466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i="0">
                <a:solidFill>
                  <a:srgbClr val="1C8B53"/>
                </a:solidFill>
              </a:defRPr>
            </a:pPr>
            <a:r>
              <a:rPr sz="2250" b="1" i="0">
                <a:solidFill>
                  <a:srgbClr val="1C8B53"/>
                </a:solidFill>
              </a:rPr>
              <a:t>599</a:t>
            </a:r>
          </a:p>
        </p:txBody>
      </p:sp>
      <p:sp>
        <p:nvSpPr>
          <p:cNvPr id="51" name="">
            <a:extLst xmlns:a="http://schemas.openxmlformats.org/drawingml/2006/main">
              <a:ext uri="{FF2B5EF4-FFF2-40B4-BE49-F238E27FC236}">
                <a16:creationId xmlns:a16="http://schemas.microsoft.com/office/drawing/2014/main" id="{B2252539-7D2C-4DE1-A00D-E555DD2688B7}"/>
              </a:ext>
            </a:extLst>
          </p:cNvPr>
          <p:cNvSpPr>
            <a:spLocks xmlns:a="http://schemas.openxmlformats.org/drawingml/2006/main" noGrp="1"/>
          </p:cNvSpPr>
          <p:nvPr/>
        </p:nvSpPr>
        <p:spPr>
          <a:xfrm xmlns:a="http://schemas.openxmlformats.org/drawingml/2006/main">
            <a:off x="3267075" y="5029200"/>
            <a:ext cx="1466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17345F"/>
                </a:solidFill>
              </a:defRPr>
            </a:pPr>
            <a:r>
              <a:rPr sz="1050" b="1" i="0">
                <a:solidFill>
                  <a:srgbClr val="17345F"/>
                </a:solidFill>
              </a:rPr>
              <a:t>Validation</a:t>
            </a:r>
          </a:p>
        </p:txBody>
      </p:sp>
      <p:sp>
        <p:nvSpPr>
          <p:cNvPr id="52" name="">
            <a:extLst xmlns:a="http://schemas.openxmlformats.org/drawingml/2006/main">
              <a:ext uri="{FF2B5EF4-FFF2-40B4-BE49-F238E27FC236}">
                <a16:creationId xmlns:a16="http://schemas.microsoft.com/office/drawing/2014/main" id="{8A806739-18D9-4E7D-AD9D-E324F8641ACF}"/>
              </a:ext>
            </a:extLst>
          </p:cNvPr>
          <p:cNvSpPr>
            <a:spLocks xmlns:a="http://schemas.openxmlformats.org/drawingml/2006/main" noGrp="1"/>
          </p:cNvSpPr>
          <p:nvPr/>
        </p:nvSpPr>
        <p:spPr>
          <a:xfrm xmlns:a="http://schemas.openxmlformats.org/drawingml/2006/main">
            <a:off x="3267075" y="5238750"/>
            <a:ext cx="1466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5A6B82"/>
                </a:solidFill>
              </a:defRPr>
            </a:pPr>
            <a:r>
              <a:rPr sz="750" b="0" i="0">
                <a:solidFill>
                  <a:srgbClr val="5A6B82"/>
                </a:solidFill>
              </a:rPr>
              <a:t>vidéos</a:t>
            </a:r>
          </a:p>
        </p:txBody>
      </p:sp>
      <p:sp>
        <p:nvSpPr>
          <p:cNvPr id="53" name="">
            <a:extLst xmlns:a="http://schemas.openxmlformats.org/drawingml/2006/main">
              <a:ext uri="{FF2B5EF4-FFF2-40B4-BE49-F238E27FC236}">
                <a16:creationId xmlns:a16="http://schemas.microsoft.com/office/drawing/2014/main" id="{61601FE5-3489-4344-A239-AADD130ECCCA}"/>
              </a:ext>
            </a:extLst>
          </p:cNvPr>
          <p:cNvSpPr>
            <a:spLocks xmlns:a="http://schemas.openxmlformats.org/drawingml/2006/main" noGrp="1"/>
          </p:cNvSpPr>
          <p:nvPr/>
        </p:nvSpPr>
        <p:spPr>
          <a:xfrm xmlns:a="http://schemas.openxmlformats.org/drawingml/2006/main">
            <a:off x="5238750" y="4476750"/>
            <a:ext cx="18097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C8D6E4"/>
            </a:solidFill>
            <a:prstDash val="solid"/>
          </a:ln>
        </p:spPr>
      </p:sp>
      <p:sp>
        <p:nvSpPr>
          <p:cNvPr id="54" name="">
            <a:extLst xmlns:a="http://schemas.openxmlformats.org/drawingml/2006/main">
              <a:ext uri="{FF2B5EF4-FFF2-40B4-BE49-F238E27FC236}">
                <a16:creationId xmlns:a16="http://schemas.microsoft.com/office/drawing/2014/main" id="{B826FCC3-1D94-4CD5-9931-9548AD558669}"/>
              </a:ext>
            </a:extLst>
          </p:cNvPr>
          <p:cNvSpPr>
            <a:spLocks xmlns:a="http://schemas.openxmlformats.org/drawingml/2006/main" noGrp="1"/>
          </p:cNvSpPr>
          <p:nvPr/>
        </p:nvSpPr>
        <p:spPr>
          <a:xfrm xmlns:a="http://schemas.openxmlformats.org/drawingml/2006/main">
            <a:off x="5410200" y="4667250"/>
            <a:ext cx="1466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i="0">
                <a:solidFill>
                  <a:srgbClr val="C95C12"/>
                </a:solidFill>
              </a:defRPr>
            </a:pPr>
            <a:r>
              <a:rPr sz="2250" b="1" i="0">
                <a:solidFill>
                  <a:srgbClr val="C95C12"/>
                </a:solidFill>
              </a:rPr>
              <a:t>599</a:t>
            </a:r>
          </a:p>
        </p:txBody>
      </p:sp>
      <p:sp>
        <p:nvSpPr>
          <p:cNvPr id="55" name="">
            <a:extLst xmlns:a="http://schemas.openxmlformats.org/drawingml/2006/main">
              <a:ext uri="{FF2B5EF4-FFF2-40B4-BE49-F238E27FC236}">
                <a16:creationId xmlns:a16="http://schemas.microsoft.com/office/drawing/2014/main" id="{35A6199D-C944-4BFB-B63B-67D27D92E7EF}"/>
              </a:ext>
            </a:extLst>
          </p:cNvPr>
          <p:cNvSpPr>
            <a:spLocks xmlns:a="http://schemas.openxmlformats.org/drawingml/2006/main" noGrp="1"/>
          </p:cNvSpPr>
          <p:nvPr/>
        </p:nvSpPr>
        <p:spPr>
          <a:xfrm xmlns:a="http://schemas.openxmlformats.org/drawingml/2006/main">
            <a:off x="5410200" y="5029200"/>
            <a:ext cx="1466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17345F"/>
                </a:solidFill>
              </a:defRPr>
            </a:pPr>
            <a:r>
              <a:rPr sz="1050" b="1" i="0">
                <a:solidFill>
                  <a:srgbClr val="17345F"/>
                </a:solidFill>
              </a:rPr>
              <a:t>Test</a:t>
            </a:r>
          </a:p>
        </p:txBody>
      </p:sp>
      <p:sp>
        <p:nvSpPr>
          <p:cNvPr id="56" name="">
            <a:extLst xmlns:a="http://schemas.openxmlformats.org/drawingml/2006/main">
              <a:ext uri="{FF2B5EF4-FFF2-40B4-BE49-F238E27FC236}">
                <a16:creationId xmlns:a16="http://schemas.microsoft.com/office/drawing/2014/main" id="{2936FE6B-72CB-4C76-8492-5CAECC932FE0}"/>
              </a:ext>
            </a:extLst>
          </p:cNvPr>
          <p:cNvSpPr>
            <a:spLocks xmlns:a="http://schemas.openxmlformats.org/drawingml/2006/main" noGrp="1"/>
          </p:cNvSpPr>
          <p:nvPr/>
        </p:nvSpPr>
        <p:spPr>
          <a:xfrm xmlns:a="http://schemas.openxmlformats.org/drawingml/2006/main">
            <a:off x="5410200" y="5238750"/>
            <a:ext cx="1466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5A6B82"/>
                </a:solidFill>
              </a:defRPr>
            </a:pPr>
            <a:r>
              <a:rPr sz="750" b="0" i="0">
                <a:solidFill>
                  <a:srgbClr val="5A6B82"/>
                </a:solidFill>
              </a:rPr>
              <a:t>vidéos</a:t>
            </a:r>
          </a:p>
        </p:txBody>
      </p:sp>
      <p:sp>
        <p:nvSpPr>
          <p:cNvPr id="57" name="">
            <a:extLst xmlns:a="http://schemas.openxmlformats.org/drawingml/2006/main">
              <a:ext uri="{FF2B5EF4-FFF2-40B4-BE49-F238E27FC236}">
                <a16:creationId xmlns:a16="http://schemas.microsoft.com/office/drawing/2014/main" id="{10EAEEBE-062C-4969-AEE9-524F3330FD5C}"/>
              </a:ext>
            </a:extLst>
          </p:cNvPr>
          <p:cNvSpPr>
            <a:spLocks xmlns:a="http://schemas.openxmlformats.org/drawingml/2006/main" noGrp="1"/>
          </p:cNvSpPr>
          <p:nvPr/>
        </p:nvSpPr>
        <p:spPr>
          <a:xfrm xmlns:a="http://schemas.openxmlformats.org/drawingml/2006/main">
            <a:off x="7620000" y="4476750"/>
            <a:ext cx="3429000" cy="1028700"/>
          </a:xfrm>
          <a:prstGeom xmlns:a="http://schemas.openxmlformats.org/drawingml/2006/main" prst="roundRect">
            <a:avLst>
              <a:gd name="adj" fmla="val 7407"/>
            </a:avLst>
          </a:prstGeom>
          <a:solidFill xmlns:a="http://schemas.openxmlformats.org/drawingml/2006/main">
            <a:srgbClr val="EEF5FA"/>
          </a:solidFill>
          <a:ln xmlns:a="http://schemas.openxmlformats.org/drawingml/2006/main" w="9525">
            <a:solidFill>
              <a:srgbClr val="C8D6E4"/>
            </a:solidFill>
            <a:prstDash val="solid"/>
          </a:ln>
        </p:spPr>
      </p:sp>
      <p:sp>
        <p:nvSpPr>
          <p:cNvPr id="58" name="">
            <a:extLst xmlns:a="http://schemas.openxmlformats.org/drawingml/2006/main">
              <a:ext uri="{FF2B5EF4-FFF2-40B4-BE49-F238E27FC236}">
                <a16:creationId xmlns:a16="http://schemas.microsoft.com/office/drawing/2014/main" id="{2F01E748-A217-443E-8269-5961565B450B}"/>
              </a:ext>
            </a:extLst>
          </p:cNvPr>
          <p:cNvSpPr>
            <a:spLocks xmlns:a="http://schemas.openxmlformats.org/drawingml/2006/main" noGrp="1"/>
          </p:cNvSpPr>
          <p:nvPr/>
        </p:nvSpPr>
        <p:spPr>
          <a:xfrm xmlns:a="http://schemas.openxmlformats.org/drawingml/2006/main">
            <a:off x="7858125" y="46672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7345F"/>
                </a:solidFill>
              </a:defRPr>
            </a:pPr>
            <a:r>
              <a:rPr sz="1350" b="1" i="0">
                <a:solidFill>
                  <a:srgbClr val="17345F"/>
                </a:solidFill>
              </a:rPr>
              <a:t>Protocole</a:t>
            </a:r>
          </a:p>
        </p:txBody>
      </p:sp>
      <p:sp>
        <p:nvSpPr>
          <p:cNvPr id="59" name="">
            <a:extLst xmlns:a="http://schemas.openxmlformats.org/drawingml/2006/main">
              <a:ext uri="{FF2B5EF4-FFF2-40B4-BE49-F238E27FC236}">
                <a16:creationId xmlns:a16="http://schemas.microsoft.com/office/drawing/2014/main" id="{0910403D-1F2B-4008-8344-28BB3E8C0B72}"/>
              </a:ext>
            </a:extLst>
          </p:cNvPr>
          <p:cNvSpPr>
            <a:spLocks xmlns:a="http://schemas.openxmlformats.org/drawingml/2006/main" noGrp="1"/>
          </p:cNvSpPr>
          <p:nvPr/>
        </p:nvSpPr>
        <p:spPr>
          <a:xfrm xmlns:a="http://schemas.openxmlformats.org/drawingml/2006/main">
            <a:off x="7858125" y="495300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i="0">
                <a:solidFill>
                  <a:srgbClr val="102033"/>
                </a:solidFill>
              </a:defRPr>
            </a:pPr>
            <a:r>
              <a:rPr sz="1050" b="0" i="0">
                <a:solidFill>
                  <a:srgbClr val="102033"/>
                </a:solidFill>
              </a:rPr>
              <a:t>N = 20 frames, K = 5, θ = 0,50. Split stratifié avec seed = 42 pour garder l’équilibre entre violence et non-violence.</a:t>
            </a:r>
          </a:p>
        </p:txBody>
      </p:sp>
      <p:sp>
        <p:nvSpPr>
          <p:cNvPr id="60" name="">
            <a:extLst xmlns:a="http://schemas.openxmlformats.org/drawingml/2006/main">
              <a:ext uri="{FF2B5EF4-FFF2-40B4-BE49-F238E27FC236}">
                <a16:creationId xmlns:a16="http://schemas.microsoft.com/office/drawing/2014/main" id="{295F6C41-AF96-431C-8A6B-67155733E815}"/>
              </a:ext>
            </a:extLst>
          </p:cNvPr>
          <p:cNvSpPr>
            <a:spLocks xmlns:a="http://schemas.openxmlformats.org/drawingml/2006/main" noGrp="1"/>
          </p:cNvSpPr>
          <p:nvPr/>
        </p:nvSpPr>
        <p:spPr>
          <a:xfrm xmlns:a="http://schemas.openxmlformats.org/drawingml/2006/main">
            <a:off x="552450" y="6362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i="0">
                <a:solidFill>
                  <a:srgbClr val="5A6B82"/>
                </a:solidFill>
              </a:defRPr>
            </a:pPr>
            <a:r>
              <a:rPr sz="675" b="0" i="0">
                <a:solidFill>
                  <a:srgbClr val="5A6B82"/>
                </a:solidFill>
              </a:rPr>
              <a:t>Données et protocole</a:t>
            </a:r>
          </a:p>
        </p:txBody>
      </p:sp>
      <p:sp>
        <p:nvSpPr>
          <p:cNvPr id="61" name="">
            <a:extLst xmlns:a="http://schemas.openxmlformats.org/drawingml/2006/main">
              <a:ext uri="{FF2B5EF4-FFF2-40B4-BE49-F238E27FC236}">
                <a16:creationId xmlns:a16="http://schemas.microsoft.com/office/drawing/2014/main" id="{FAF06726-43FE-4F55-88A2-238025BEAE34}"/>
              </a:ext>
            </a:extLst>
          </p:cNvPr>
          <p:cNvSpPr>
            <a:spLocks xmlns:a="http://schemas.openxmlformats.org/drawingml/2006/main" noGrp="1"/>
          </p:cNvSpPr>
          <p:nvPr/>
        </p:nvSpPr>
        <p:spPr>
          <a:xfrm xmlns:a="http://schemas.openxmlformats.org/drawingml/2006/main">
            <a:off x="11049000" y="63627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0" i="0">
                <a:solidFill>
                  <a:srgbClr val="5A6B82"/>
                </a:solidFill>
              </a:defRPr>
            </a:pPr>
            <a:r>
              <a:rPr sz="750" b="0" i="0">
                <a:solidFill>
                  <a:srgbClr val="5A6B82"/>
                </a:solidFill>
              </a:rPr>
              <a:t>7 / 18</a:t>
            </a:r>
          </a:p>
        </p:txBody>
      </p:sp>
    </p:spTree>
    <p:extLst>
      <p:ext uri="{BB962C8B-B14F-4D97-AF65-F5344CB8AC3E}">
        <p14:creationId xmlns:p14="http://schemas.microsoft.com/office/powerpoint/2010/main" val="181456434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9C2D616-0A45-4283-95E2-5C661E9E06DF}"/>
              </a:ext>
            </a:extLst>
          </p:cNvPr>
          <p:cNvSpPr>
            <a:spLocks xmlns:a="http://schemas.openxmlformats.org/drawingml/2006/main" noGrp="1"/>
          </p:cNvSpPr>
          <p:nvPr/>
        </p:nvSpPr>
        <p:spPr>
          <a:xfrm xmlns:a="http://schemas.openxmlformats.org/drawingml/2006/main">
            <a:off x="552450" y="419100"/>
            <a:ext cx="933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i="0">
                <a:solidFill>
                  <a:srgbClr val="17345F"/>
                </a:solidFill>
              </a:defRPr>
            </a:pPr>
            <a:r>
              <a:rPr sz="2550" b="1" i="0">
                <a:solidFill>
                  <a:srgbClr val="17345F"/>
                </a:solidFill>
              </a:rPr>
              <a:t>Les outils ont été choisis pour rester local, léger et reproductible</a:t>
            </a:r>
          </a:p>
        </p:txBody>
      </p:sp>
      <p:sp>
        <p:nvSpPr>
          <p:cNvPr id="2" name="">
            <a:extLst xmlns:a="http://schemas.openxmlformats.org/drawingml/2006/main">
              <a:ext uri="{FF2B5EF4-FFF2-40B4-BE49-F238E27FC236}">
                <a16:creationId xmlns:a16="http://schemas.microsoft.com/office/drawing/2014/main" id="{3D96C3E9-C2DD-4FB6-B6C6-8A9B5623CA10}"/>
              </a:ext>
            </a:extLst>
          </p:cNvPr>
          <p:cNvSpPr>
            <a:spLocks xmlns:a="http://schemas.openxmlformats.org/drawingml/2006/main" noGrp="1"/>
          </p:cNvSpPr>
          <p:nvPr/>
        </p:nvSpPr>
        <p:spPr>
          <a:xfrm xmlns:a="http://schemas.openxmlformats.org/drawingml/2006/main">
            <a:off x="552450" y="1095375"/>
            <a:ext cx="1047750" cy="47625"/>
          </a:xfrm>
          <a:prstGeom xmlns:a="http://schemas.openxmlformats.org/drawingml/2006/main" prst="rect">
            <a:avLst/>
          </a:prstGeom>
          <a:solidFill xmlns:a="http://schemas.openxmlformats.org/drawingml/2006/main">
            <a:srgbClr val="1C8B53"/>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D03D9DA-BC50-4834-A636-EB00B430F18F}"/>
              </a:ext>
            </a:extLst>
          </p:cNvPr>
          <p:cNvSpPr>
            <a:spLocks xmlns:a="http://schemas.openxmlformats.org/drawingml/2006/main" noGrp="1"/>
          </p:cNvSpPr>
          <p:nvPr/>
        </p:nvSpPr>
        <p:spPr>
          <a:xfrm xmlns:a="http://schemas.openxmlformats.org/drawingml/2006/main">
            <a:off x="552450" y="1238250"/>
            <a:ext cx="838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A6B82"/>
                </a:solidFill>
              </a:defRPr>
            </a:pPr>
            <a:r>
              <a:rPr sz="1200" b="0" i="0">
                <a:solidFill>
                  <a:srgbClr val="5A6B82"/>
                </a:solidFill>
              </a:rPr>
              <a:t>Le choix technique sert la contrainte principale : fonctionner sans infrastructure cloud.</a:t>
            </a:r>
          </a:p>
        </p:txBody>
      </p:sp>
      <p:sp>
        <p:nvSpPr>
          <p:cNvPr id="4" name="">
            <a:extLst xmlns:a="http://schemas.openxmlformats.org/drawingml/2006/main">
              <a:ext uri="{FF2B5EF4-FFF2-40B4-BE49-F238E27FC236}">
                <a16:creationId xmlns:a16="http://schemas.microsoft.com/office/drawing/2014/main" id="{9033554F-CA41-4A4A-9F15-C53047E798E6}"/>
              </a:ext>
            </a:extLst>
          </p:cNvPr>
          <p:cNvSpPr>
            <a:spLocks xmlns:a="http://schemas.openxmlformats.org/drawingml/2006/main" noGrp="1"/>
          </p:cNvSpPr>
          <p:nvPr/>
        </p:nvSpPr>
        <p:spPr>
          <a:xfrm xmlns:a="http://schemas.openxmlformats.org/drawingml/2006/main">
            <a:off x="762000" y="1666875"/>
            <a:ext cx="4953000" cy="781050"/>
          </a:xfrm>
          <a:prstGeom xmlns:a="http://schemas.openxmlformats.org/drawingml/2006/main" prst="roundRect">
            <a:avLst>
              <a:gd name="adj" fmla="val 9756"/>
            </a:avLst>
          </a:prstGeom>
          <a:solidFill xmlns:a="http://schemas.openxmlformats.org/drawingml/2006/main">
            <a:srgbClr val="EEF5FA"/>
          </a:solidFill>
          <a:ln xmlns:a="http://schemas.openxmlformats.org/drawingml/2006/main" w="9525">
            <a:solidFill>
              <a:srgbClr val="C8D6E4"/>
            </a:solidFill>
            <a:prstDash val="solid"/>
          </a:ln>
        </p:spPr>
      </p:sp>
      <p:sp>
        <p:nvSpPr>
          <p:cNvPr id="5" name="">
            <a:extLst xmlns:a="http://schemas.openxmlformats.org/drawingml/2006/main">
              <a:ext uri="{FF2B5EF4-FFF2-40B4-BE49-F238E27FC236}">
                <a16:creationId xmlns:a16="http://schemas.microsoft.com/office/drawing/2014/main" id="{88879D24-5947-4775-B2C7-AAF35BA27238}"/>
              </a:ext>
            </a:extLst>
          </p:cNvPr>
          <p:cNvSpPr>
            <a:spLocks xmlns:a="http://schemas.openxmlformats.org/drawingml/2006/main" noGrp="1"/>
          </p:cNvSpPr>
          <p:nvPr/>
        </p:nvSpPr>
        <p:spPr>
          <a:xfrm xmlns:a="http://schemas.openxmlformats.org/drawingml/2006/main">
            <a:off x="971550" y="181927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1C8B53"/>
                </a:solidFill>
              </a:defRPr>
            </a:pPr>
            <a:r>
              <a:rPr sz="1275" b="1" i="0">
                <a:solidFill>
                  <a:srgbClr val="1C8B53"/>
                </a:solidFill>
              </a:rPr>
              <a:t>Python</a:t>
            </a:r>
          </a:p>
        </p:txBody>
      </p:sp>
      <p:sp>
        <p:nvSpPr>
          <p:cNvPr id="6" name="">
            <a:extLst xmlns:a="http://schemas.openxmlformats.org/drawingml/2006/main">
              <a:ext uri="{FF2B5EF4-FFF2-40B4-BE49-F238E27FC236}">
                <a16:creationId xmlns:a16="http://schemas.microsoft.com/office/drawing/2014/main" id="{816A8351-6DE0-4165-A239-86628D2C212F}"/>
              </a:ext>
            </a:extLst>
          </p:cNvPr>
          <p:cNvSpPr>
            <a:spLocks xmlns:a="http://schemas.openxmlformats.org/drawingml/2006/main" noGrp="1"/>
          </p:cNvSpPr>
          <p:nvPr/>
        </p:nvSpPr>
        <p:spPr>
          <a:xfrm xmlns:a="http://schemas.openxmlformats.org/drawingml/2006/main">
            <a:off x="2552700" y="180975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17345F"/>
                </a:solidFill>
              </a:defRPr>
            </a:pPr>
            <a:r>
              <a:rPr sz="1050" b="1" i="0">
                <a:solidFill>
                  <a:srgbClr val="17345F"/>
                </a:solidFill>
              </a:rPr>
              <a:t>Langage principal</a:t>
            </a:r>
          </a:p>
        </p:txBody>
      </p:sp>
      <p:sp>
        <p:nvSpPr>
          <p:cNvPr id="7" name="">
            <a:extLst xmlns:a="http://schemas.openxmlformats.org/drawingml/2006/main">
              <a:ext uri="{FF2B5EF4-FFF2-40B4-BE49-F238E27FC236}">
                <a16:creationId xmlns:a16="http://schemas.microsoft.com/office/drawing/2014/main" id="{C1A4340E-4B76-4C1B-8389-B3025CE2AB79}"/>
              </a:ext>
            </a:extLst>
          </p:cNvPr>
          <p:cNvSpPr>
            <a:spLocks xmlns:a="http://schemas.openxmlformats.org/drawingml/2006/main" noGrp="1"/>
          </p:cNvSpPr>
          <p:nvPr/>
        </p:nvSpPr>
        <p:spPr>
          <a:xfrm xmlns:a="http://schemas.openxmlformats.org/drawingml/2006/main">
            <a:off x="2552700" y="20764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5A6B82"/>
                </a:solidFill>
              </a:defRPr>
            </a:pPr>
            <a:r>
              <a:rPr sz="975" b="0" i="0">
                <a:solidFill>
                  <a:srgbClr val="5A6B82"/>
                </a:solidFill>
              </a:rPr>
              <a:t>Écosystème IA et vision très riche</a:t>
            </a:r>
          </a:p>
        </p:txBody>
      </p:sp>
      <p:sp>
        <p:nvSpPr>
          <p:cNvPr id="8" name="">
            <a:extLst xmlns:a="http://schemas.openxmlformats.org/drawingml/2006/main">
              <a:ext uri="{FF2B5EF4-FFF2-40B4-BE49-F238E27FC236}">
                <a16:creationId xmlns:a16="http://schemas.microsoft.com/office/drawing/2014/main" id="{2B3B2F06-28D8-4FD8-9C8C-527FF7BFD9A4}"/>
              </a:ext>
            </a:extLst>
          </p:cNvPr>
          <p:cNvSpPr>
            <a:spLocks xmlns:a="http://schemas.openxmlformats.org/drawingml/2006/main" noGrp="1"/>
          </p:cNvSpPr>
          <p:nvPr/>
        </p:nvSpPr>
        <p:spPr>
          <a:xfrm xmlns:a="http://schemas.openxmlformats.org/drawingml/2006/main">
            <a:off x="6477000" y="1666875"/>
            <a:ext cx="49530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C8D6E4"/>
            </a:solidFill>
            <a:prstDash val="solid"/>
          </a:ln>
        </p:spPr>
      </p:sp>
      <p:sp>
        <p:nvSpPr>
          <p:cNvPr id="9" name="">
            <a:extLst xmlns:a="http://schemas.openxmlformats.org/drawingml/2006/main">
              <a:ext uri="{FF2B5EF4-FFF2-40B4-BE49-F238E27FC236}">
                <a16:creationId xmlns:a16="http://schemas.microsoft.com/office/drawing/2014/main" id="{063A0908-CB66-4740-BCC1-5668D77A75C2}"/>
              </a:ext>
            </a:extLst>
          </p:cNvPr>
          <p:cNvSpPr>
            <a:spLocks xmlns:a="http://schemas.openxmlformats.org/drawingml/2006/main" noGrp="1"/>
          </p:cNvSpPr>
          <p:nvPr/>
        </p:nvSpPr>
        <p:spPr>
          <a:xfrm xmlns:a="http://schemas.openxmlformats.org/drawingml/2006/main">
            <a:off x="6686550" y="181927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1C8B53"/>
                </a:solidFill>
              </a:defRPr>
            </a:pPr>
            <a:r>
              <a:rPr sz="1275" b="1" i="0">
                <a:solidFill>
                  <a:srgbClr val="1C8B53"/>
                </a:solidFill>
              </a:rPr>
              <a:t>TensorFlow / Keras</a:t>
            </a:r>
          </a:p>
        </p:txBody>
      </p:sp>
      <p:sp>
        <p:nvSpPr>
          <p:cNvPr id="10" name="">
            <a:extLst xmlns:a="http://schemas.openxmlformats.org/drawingml/2006/main">
              <a:ext uri="{FF2B5EF4-FFF2-40B4-BE49-F238E27FC236}">
                <a16:creationId xmlns:a16="http://schemas.microsoft.com/office/drawing/2014/main" id="{E7FF5E43-FF1A-43C0-A3EB-74A7F3D98BE6}"/>
              </a:ext>
            </a:extLst>
          </p:cNvPr>
          <p:cNvSpPr>
            <a:spLocks xmlns:a="http://schemas.openxmlformats.org/drawingml/2006/main" noGrp="1"/>
          </p:cNvSpPr>
          <p:nvPr/>
        </p:nvSpPr>
        <p:spPr>
          <a:xfrm xmlns:a="http://schemas.openxmlformats.org/drawingml/2006/main">
            <a:off x="8267700" y="180975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17345F"/>
                </a:solidFill>
              </a:defRPr>
            </a:pPr>
            <a:r>
              <a:rPr sz="1050" b="1" i="0">
                <a:solidFill>
                  <a:srgbClr val="17345F"/>
                </a:solidFill>
              </a:rPr>
              <a:t>Entraînement du modèle</a:t>
            </a:r>
          </a:p>
        </p:txBody>
      </p:sp>
      <p:sp>
        <p:nvSpPr>
          <p:cNvPr id="11" name="">
            <a:extLst xmlns:a="http://schemas.openxmlformats.org/drawingml/2006/main">
              <a:ext uri="{FF2B5EF4-FFF2-40B4-BE49-F238E27FC236}">
                <a16:creationId xmlns:a16="http://schemas.microsoft.com/office/drawing/2014/main" id="{978133F1-341E-4D96-A47D-9E9C66A7CBEA}"/>
              </a:ext>
            </a:extLst>
          </p:cNvPr>
          <p:cNvSpPr>
            <a:spLocks xmlns:a="http://schemas.openxmlformats.org/drawingml/2006/main" noGrp="1"/>
          </p:cNvSpPr>
          <p:nvPr/>
        </p:nvSpPr>
        <p:spPr>
          <a:xfrm xmlns:a="http://schemas.openxmlformats.org/drawingml/2006/main">
            <a:off x="8267700" y="20764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5A6B82"/>
                </a:solidFill>
              </a:defRPr>
            </a:pPr>
            <a:r>
              <a:rPr sz="975" b="0" i="0">
                <a:solidFill>
                  <a:srgbClr val="5A6B82"/>
                </a:solidFill>
              </a:rPr>
              <a:t>Construction simple d’EfficientNetB0 + LSTM</a:t>
            </a:r>
          </a:p>
        </p:txBody>
      </p:sp>
      <p:sp>
        <p:nvSpPr>
          <p:cNvPr id="12" name="">
            <a:extLst xmlns:a="http://schemas.openxmlformats.org/drawingml/2006/main">
              <a:ext uri="{FF2B5EF4-FFF2-40B4-BE49-F238E27FC236}">
                <a16:creationId xmlns:a16="http://schemas.microsoft.com/office/drawing/2014/main" id="{4F1DA9DE-C87B-44DF-A734-DDD7734E74C1}"/>
              </a:ext>
            </a:extLst>
          </p:cNvPr>
          <p:cNvSpPr>
            <a:spLocks xmlns:a="http://schemas.openxmlformats.org/drawingml/2006/main" noGrp="1"/>
          </p:cNvSpPr>
          <p:nvPr/>
        </p:nvSpPr>
        <p:spPr>
          <a:xfrm xmlns:a="http://schemas.openxmlformats.org/drawingml/2006/main">
            <a:off x="762000" y="2809875"/>
            <a:ext cx="4953000" cy="781050"/>
          </a:xfrm>
          <a:prstGeom xmlns:a="http://schemas.openxmlformats.org/drawingml/2006/main" prst="roundRect">
            <a:avLst>
              <a:gd name="adj" fmla="val 9756"/>
            </a:avLst>
          </a:prstGeom>
          <a:solidFill xmlns:a="http://schemas.openxmlformats.org/drawingml/2006/main">
            <a:srgbClr val="EEF5FA"/>
          </a:solidFill>
          <a:ln xmlns:a="http://schemas.openxmlformats.org/drawingml/2006/main" w="9525">
            <a:solidFill>
              <a:srgbClr val="C8D6E4"/>
            </a:solidFill>
            <a:prstDash val="solid"/>
          </a:ln>
        </p:spPr>
      </p:sp>
      <p:sp>
        <p:nvSpPr>
          <p:cNvPr id="13" name="">
            <a:extLst xmlns:a="http://schemas.openxmlformats.org/drawingml/2006/main">
              <a:ext uri="{FF2B5EF4-FFF2-40B4-BE49-F238E27FC236}">
                <a16:creationId xmlns:a16="http://schemas.microsoft.com/office/drawing/2014/main" id="{21F86718-2A12-4CE7-8874-0A9E60DBFBDF}"/>
              </a:ext>
            </a:extLst>
          </p:cNvPr>
          <p:cNvSpPr>
            <a:spLocks xmlns:a="http://schemas.openxmlformats.org/drawingml/2006/main" noGrp="1"/>
          </p:cNvSpPr>
          <p:nvPr/>
        </p:nvSpPr>
        <p:spPr>
          <a:xfrm xmlns:a="http://schemas.openxmlformats.org/drawingml/2006/main">
            <a:off x="971550" y="296227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1C8B53"/>
                </a:solidFill>
              </a:defRPr>
            </a:pPr>
            <a:r>
              <a:rPr sz="1275" b="1" i="0">
                <a:solidFill>
                  <a:srgbClr val="1C8B53"/>
                </a:solidFill>
              </a:rPr>
              <a:t>OpenCV</a:t>
            </a:r>
          </a:p>
        </p:txBody>
      </p:sp>
      <p:sp>
        <p:nvSpPr>
          <p:cNvPr id="14" name="">
            <a:extLst xmlns:a="http://schemas.openxmlformats.org/drawingml/2006/main">
              <a:ext uri="{FF2B5EF4-FFF2-40B4-BE49-F238E27FC236}">
                <a16:creationId xmlns:a16="http://schemas.microsoft.com/office/drawing/2014/main" id="{E19E7947-BA57-4D20-9194-0350D3A3E72A}"/>
              </a:ext>
            </a:extLst>
          </p:cNvPr>
          <p:cNvSpPr>
            <a:spLocks xmlns:a="http://schemas.openxmlformats.org/drawingml/2006/main" noGrp="1"/>
          </p:cNvSpPr>
          <p:nvPr/>
        </p:nvSpPr>
        <p:spPr>
          <a:xfrm xmlns:a="http://schemas.openxmlformats.org/drawingml/2006/main">
            <a:off x="2552700" y="295275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17345F"/>
                </a:solidFill>
              </a:defRPr>
            </a:pPr>
            <a:r>
              <a:rPr sz="1050" b="1" i="0">
                <a:solidFill>
                  <a:srgbClr val="17345F"/>
                </a:solidFill>
              </a:rPr>
              <a:t>Lecture vidéo</a:t>
            </a:r>
          </a:p>
        </p:txBody>
      </p:sp>
      <p:sp>
        <p:nvSpPr>
          <p:cNvPr id="15" name="">
            <a:extLst xmlns:a="http://schemas.openxmlformats.org/drawingml/2006/main">
              <a:ext uri="{FF2B5EF4-FFF2-40B4-BE49-F238E27FC236}">
                <a16:creationId xmlns:a16="http://schemas.microsoft.com/office/drawing/2014/main" id="{CD5BCD74-5F14-460E-82A7-4CB2469B1985}"/>
              </a:ext>
            </a:extLst>
          </p:cNvPr>
          <p:cNvSpPr>
            <a:spLocks xmlns:a="http://schemas.openxmlformats.org/drawingml/2006/main" noGrp="1"/>
          </p:cNvSpPr>
          <p:nvPr/>
        </p:nvSpPr>
        <p:spPr>
          <a:xfrm xmlns:a="http://schemas.openxmlformats.org/drawingml/2006/main">
            <a:off x="2552700" y="32194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5A6B82"/>
                </a:solidFill>
              </a:defRPr>
            </a:pPr>
            <a:r>
              <a:rPr sz="975" b="0" i="0">
                <a:solidFill>
                  <a:srgbClr val="5A6B82"/>
                </a:solidFill>
              </a:rPr>
              <a:t>Capture webcam, frames et prétraitement</a:t>
            </a:r>
          </a:p>
        </p:txBody>
      </p:sp>
      <p:sp>
        <p:nvSpPr>
          <p:cNvPr id="16" name="">
            <a:extLst xmlns:a="http://schemas.openxmlformats.org/drawingml/2006/main">
              <a:ext uri="{FF2B5EF4-FFF2-40B4-BE49-F238E27FC236}">
                <a16:creationId xmlns:a16="http://schemas.microsoft.com/office/drawing/2014/main" id="{4A5802C4-7318-4BFD-9562-671A85C48D29}"/>
              </a:ext>
            </a:extLst>
          </p:cNvPr>
          <p:cNvSpPr>
            <a:spLocks xmlns:a="http://schemas.openxmlformats.org/drawingml/2006/main" noGrp="1"/>
          </p:cNvSpPr>
          <p:nvPr/>
        </p:nvSpPr>
        <p:spPr>
          <a:xfrm xmlns:a="http://schemas.openxmlformats.org/drawingml/2006/main">
            <a:off x="6477000" y="2809875"/>
            <a:ext cx="49530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C8D6E4"/>
            </a:solidFill>
            <a:prstDash val="solid"/>
          </a:ln>
        </p:spPr>
      </p:sp>
      <p:sp>
        <p:nvSpPr>
          <p:cNvPr id="17" name="">
            <a:extLst xmlns:a="http://schemas.openxmlformats.org/drawingml/2006/main">
              <a:ext uri="{FF2B5EF4-FFF2-40B4-BE49-F238E27FC236}">
                <a16:creationId xmlns:a16="http://schemas.microsoft.com/office/drawing/2014/main" id="{78C0621B-5525-423E-A565-B5E45565B4BB}"/>
              </a:ext>
            </a:extLst>
          </p:cNvPr>
          <p:cNvSpPr>
            <a:spLocks xmlns:a="http://schemas.openxmlformats.org/drawingml/2006/main" noGrp="1"/>
          </p:cNvSpPr>
          <p:nvPr/>
        </p:nvSpPr>
        <p:spPr>
          <a:xfrm xmlns:a="http://schemas.openxmlformats.org/drawingml/2006/main">
            <a:off x="6686550" y="296227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1C8B53"/>
                </a:solidFill>
              </a:defRPr>
            </a:pPr>
            <a:r>
              <a:rPr sz="1275" b="1" i="0">
                <a:solidFill>
                  <a:srgbClr val="1C8B53"/>
                </a:solidFill>
              </a:rPr>
              <a:t>SQLite</a:t>
            </a:r>
          </a:p>
        </p:txBody>
      </p:sp>
      <p:sp>
        <p:nvSpPr>
          <p:cNvPr id="18" name="">
            <a:extLst xmlns:a="http://schemas.openxmlformats.org/drawingml/2006/main">
              <a:ext uri="{FF2B5EF4-FFF2-40B4-BE49-F238E27FC236}">
                <a16:creationId xmlns:a16="http://schemas.microsoft.com/office/drawing/2014/main" id="{5D7762E3-7209-493C-A33F-3B9719FA661A}"/>
              </a:ext>
            </a:extLst>
          </p:cNvPr>
          <p:cNvSpPr>
            <a:spLocks xmlns:a="http://schemas.openxmlformats.org/drawingml/2006/main" noGrp="1"/>
          </p:cNvSpPr>
          <p:nvPr/>
        </p:nvSpPr>
        <p:spPr>
          <a:xfrm xmlns:a="http://schemas.openxmlformats.org/drawingml/2006/main">
            <a:off x="8267700" y="295275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17345F"/>
                </a:solidFill>
              </a:defRPr>
            </a:pPr>
            <a:r>
              <a:rPr sz="1050" b="1" i="0">
                <a:solidFill>
                  <a:srgbClr val="17345F"/>
                </a:solidFill>
              </a:rPr>
              <a:t>Incidents</a:t>
            </a:r>
          </a:p>
        </p:txBody>
      </p:sp>
      <p:sp>
        <p:nvSpPr>
          <p:cNvPr id="19" name="">
            <a:extLst xmlns:a="http://schemas.openxmlformats.org/drawingml/2006/main">
              <a:ext uri="{FF2B5EF4-FFF2-40B4-BE49-F238E27FC236}">
                <a16:creationId xmlns:a16="http://schemas.microsoft.com/office/drawing/2014/main" id="{44AA8E9A-EBA5-404A-9DEA-F32FF9AA32C5}"/>
              </a:ext>
            </a:extLst>
          </p:cNvPr>
          <p:cNvSpPr>
            <a:spLocks xmlns:a="http://schemas.openxmlformats.org/drawingml/2006/main" noGrp="1"/>
          </p:cNvSpPr>
          <p:nvPr/>
        </p:nvSpPr>
        <p:spPr>
          <a:xfrm xmlns:a="http://schemas.openxmlformats.org/drawingml/2006/main">
            <a:off x="8267700" y="32194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5A6B82"/>
                </a:solidFill>
              </a:defRPr>
            </a:pPr>
            <a:r>
              <a:rPr sz="975" b="0" i="0">
                <a:solidFill>
                  <a:srgbClr val="5A6B82"/>
                </a:solidFill>
              </a:rPr>
              <a:t>Base locale sans serveur</a:t>
            </a:r>
          </a:p>
        </p:txBody>
      </p:sp>
      <p:sp>
        <p:nvSpPr>
          <p:cNvPr id="20" name="">
            <a:extLst xmlns:a="http://schemas.openxmlformats.org/drawingml/2006/main">
              <a:ext uri="{FF2B5EF4-FFF2-40B4-BE49-F238E27FC236}">
                <a16:creationId xmlns:a16="http://schemas.microsoft.com/office/drawing/2014/main" id="{8809DA5D-422C-4BF3-BE2A-44DF15733C3D}"/>
              </a:ext>
            </a:extLst>
          </p:cNvPr>
          <p:cNvSpPr>
            <a:spLocks xmlns:a="http://schemas.openxmlformats.org/drawingml/2006/main" noGrp="1"/>
          </p:cNvSpPr>
          <p:nvPr/>
        </p:nvSpPr>
        <p:spPr>
          <a:xfrm xmlns:a="http://schemas.openxmlformats.org/drawingml/2006/main">
            <a:off x="762000" y="3952875"/>
            <a:ext cx="4953000" cy="781050"/>
          </a:xfrm>
          <a:prstGeom xmlns:a="http://schemas.openxmlformats.org/drawingml/2006/main" prst="roundRect">
            <a:avLst>
              <a:gd name="adj" fmla="val 9756"/>
            </a:avLst>
          </a:prstGeom>
          <a:solidFill xmlns:a="http://schemas.openxmlformats.org/drawingml/2006/main">
            <a:srgbClr val="EEF5FA"/>
          </a:solidFill>
          <a:ln xmlns:a="http://schemas.openxmlformats.org/drawingml/2006/main" w="9525">
            <a:solidFill>
              <a:srgbClr val="C8D6E4"/>
            </a:solidFill>
            <a:prstDash val="solid"/>
          </a:ln>
        </p:spPr>
      </p:sp>
      <p:sp>
        <p:nvSpPr>
          <p:cNvPr id="21" name="">
            <a:extLst xmlns:a="http://schemas.openxmlformats.org/drawingml/2006/main">
              <a:ext uri="{FF2B5EF4-FFF2-40B4-BE49-F238E27FC236}">
                <a16:creationId xmlns:a16="http://schemas.microsoft.com/office/drawing/2014/main" id="{87B0F7C5-CF98-4E11-8048-A073D6A304B0}"/>
              </a:ext>
            </a:extLst>
          </p:cNvPr>
          <p:cNvSpPr>
            <a:spLocks xmlns:a="http://schemas.openxmlformats.org/drawingml/2006/main" noGrp="1"/>
          </p:cNvSpPr>
          <p:nvPr/>
        </p:nvSpPr>
        <p:spPr>
          <a:xfrm xmlns:a="http://schemas.openxmlformats.org/drawingml/2006/main">
            <a:off x="971550" y="410527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1C8B53"/>
                </a:solidFill>
              </a:defRPr>
            </a:pPr>
            <a:r>
              <a:rPr sz="1275" b="1" i="0">
                <a:solidFill>
                  <a:srgbClr val="1C8B53"/>
                </a:solidFill>
              </a:rPr>
              <a:t>Flask</a:t>
            </a:r>
          </a:p>
        </p:txBody>
      </p:sp>
      <p:sp>
        <p:nvSpPr>
          <p:cNvPr id="22" name="">
            <a:extLst xmlns:a="http://schemas.openxmlformats.org/drawingml/2006/main">
              <a:ext uri="{FF2B5EF4-FFF2-40B4-BE49-F238E27FC236}">
                <a16:creationId xmlns:a16="http://schemas.microsoft.com/office/drawing/2014/main" id="{235A9F4E-BAAF-4CF4-B9BE-9BBE5F39D255}"/>
              </a:ext>
            </a:extLst>
          </p:cNvPr>
          <p:cNvSpPr>
            <a:spLocks xmlns:a="http://schemas.openxmlformats.org/drawingml/2006/main" noGrp="1"/>
          </p:cNvSpPr>
          <p:nvPr/>
        </p:nvSpPr>
        <p:spPr>
          <a:xfrm xmlns:a="http://schemas.openxmlformats.org/drawingml/2006/main">
            <a:off x="2552700" y="409575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17345F"/>
                </a:solidFill>
              </a:defRPr>
            </a:pPr>
            <a:r>
              <a:rPr sz="1050" b="1" i="0">
                <a:solidFill>
                  <a:srgbClr val="17345F"/>
                </a:solidFill>
              </a:rPr>
              <a:t>Dashboard</a:t>
            </a:r>
          </a:p>
        </p:txBody>
      </p:sp>
      <p:sp>
        <p:nvSpPr>
          <p:cNvPr id="23" name="">
            <a:extLst xmlns:a="http://schemas.openxmlformats.org/drawingml/2006/main">
              <a:ext uri="{FF2B5EF4-FFF2-40B4-BE49-F238E27FC236}">
                <a16:creationId xmlns:a16="http://schemas.microsoft.com/office/drawing/2014/main" id="{8A805EFF-DF50-4FAC-AAD1-8793C280C4EE}"/>
              </a:ext>
            </a:extLst>
          </p:cNvPr>
          <p:cNvSpPr>
            <a:spLocks xmlns:a="http://schemas.openxmlformats.org/drawingml/2006/main" noGrp="1"/>
          </p:cNvSpPr>
          <p:nvPr/>
        </p:nvSpPr>
        <p:spPr>
          <a:xfrm xmlns:a="http://schemas.openxmlformats.org/drawingml/2006/main">
            <a:off x="2552700" y="43624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5A6B82"/>
                </a:solidFill>
              </a:defRPr>
            </a:pPr>
            <a:r>
              <a:rPr sz="975" b="0" i="0">
                <a:solidFill>
                  <a:srgbClr val="5A6B82"/>
                </a:solidFill>
              </a:rPr>
              <a:t>Interface Web légère sur localhost</a:t>
            </a:r>
          </a:p>
        </p:txBody>
      </p:sp>
      <p:sp>
        <p:nvSpPr>
          <p:cNvPr id="24" name="">
            <a:extLst xmlns:a="http://schemas.openxmlformats.org/drawingml/2006/main">
              <a:ext uri="{FF2B5EF4-FFF2-40B4-BE49-F238E27FC236}">
                <a16:creationId xmlns:a16="http://schemas.microsoft.com/office/drawing/2014/main" id="{C5AC79BC-3B17-4079-A6BA-CCA7D44EC909}"/>
              </a:ext>
            </a:extLst>
          </p:cNvPr>
          <p:cNvSpPr>
            <a:spLocks xmlns:a="http://schemas.openxmlformats.org/drawingml/2006/main" noGrp="1"/>
          </p:cNvSpPr>
          <p:nvPr/>
        </p:nvSpPr>
        <p:spPr>
          <a:xfrm xmlns:a="http://schemas.openxmlformats.org/drawingml/2006/main">
            <a:off x="6477000" y="3952875"/>
            <a:ext cx="49530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C8D6E4"/>
            </a:solidFill>
            <a:prstDash val="solid"/>
          </a:ln>
        </p:spPr>
      </p:sp>
      <p:sp>
        <p:nvSpPr>
          <p:cNvPr id="25" name="">
            <a:extLst xmlns:a="http://schemas.openxmlformats.org/drawingml/2006/main">
              <a:ext uri="{FF2B5EF4-FFF2-40B4-BE49-F238E27FC236}">
                <a16:creationId xmlns:a16="http://schemas.microsoft.com/office/drawing/2014/main" id="{E702B7BD-670B-471D-BF7B-194B60A2869A}"/>
              </a:ext>
            </a:extLst>
          </p:cNvPr>
          <p:cNvSpPr>
            <a:spLocks xmlns:a="http://schemas.openxmlformats.org/drawingml/2006/main" noGrp="1"/>
          </p:cNvSpPr>
          <p:nvPr/>
        </p:nvSpPr>
        <p:spPr>
          <a:xfrm xmlns:a="http://schemas.openxmlformats.org/drawingml/2006/main">
            <a:off x="6686550" y="410527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1C8B53"/>
                </a:solidFill>
              </a:defRPr>
            </a:pPr>
            <a:r>
              <a:rPr sz="1275" b="1" i="0">
                <a:solidFill>
                  <a:srgbClr val="1C8B53"/>
                </a:solidFill>
              </a:rPr>
              <a:t>SMTP / Telegram</a:t>
            </a:r>
          </a:p>
        </p:txBody>
      </p:sp>
      <p:sp>
        <p:nvSpPr>
          <p:cNvPr id="26" name="">
            <a:extLst xmlns:a="http://schemas.openxmlformats.org/drawingml/2006/main">
              <a:ext uri="{FF2B5EF4-FFF2-40B4-BE49-F238E27FC236}">
                <a16:creationId xmlns:a16="http://schemas.microsoft.com/office/drawing/2014/main" id="{9C811328-7457-452F-AA22-D45DDB12F88D}"/>
              </a:ext>
            </a:extLst>
          </p:cNvPr>
          <p:cNvSpPr>
            <a:spLocks xmlns:a="http://schemas.openxmlformats.org/drawingml/2006/main" noGrp="1"/>
          </p:cNvSpPr>
          <p:nvPr/>
        </p:nvSpPr>
        <p:spPr>
          <a:xfrm xmlns:a="http://schemas.openxmlformats.org/drawingml/2006/main">
            <a:off x="8267700" y="409575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17345F"/>
                </a:solidFill>
              </a:defRPr>
            </a:pPr>
            <a:r>
              <a:rPr sz="1050" b="1" i="0">
                <a:solidFill>
                  <a:srgbClr val="17345F"/>
                </a:solidFill>
              </a:rPr>
              <a:t>Alertes</a:t>
            </a:r>
          </a:p>
        </p:txBody>
      </p:sp>
      <p:sp>
        <p:nvSpPr>
          <p:cNvPr id="27" name="">
            <a:extLst xmlns:a="http://schemas.openxmlformats.org/drawingml/2006/main">
              <a:ext uri="{FF2B5EF4-FFF2-40B4-BE49-F238E27FC236}">
                <a16:creationId xmlns:a16="http://schemas.microsoft.com/office/drawing/2014/main" id="{FAED3F45-6C0E-4400-AF37-A8200F30179B}"/>
              </a:ext>
            </a:extLst>
          </p:cNvPr>
          <p:cNvSpPr>
            <a:spLocks xmlns:a="http://schemas.openxmlformats.org/drawingml/2006/main" noGrp="1"/>
          </p:cNvSpPr>
          <p:nvPr/>
        </p:nvSpPr>
        <p:spPr>
          <a:xfrm xmlns:a="http://schemas.openxmlformats.org/drawingml/2006/main">
            <a:off x="8267700" y="43624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5A6B82"/>
                </a:solidFill>
              </a:defRPr>
            </a:pPr>
            <a:r>
              <a:rPr sz="975" b="0" i="0">
                <a:solidFill>
                  <a:srgbClr val="5A6B82"/>
                </a:solidFill>
              </a:rPr>
              <a:t>Notifications opérateur, Telegram optionnel</a:t>
            </a:r>
          </a:p>
        </p:txBody>
      </p:sp>
      <p:sp>
        <p:nvSpPr>
          <p:cNvPr id="28" name="">
            <a:extLst xmlns:a="http://schemas.openxmlformats.org/drawingml/2006/main">
              <a:ext uri="{FF2B5EF4-FFF2-40B4-BE49-F238E27FC236}">
                <a16:creationId xmlns:a16="http://schemas.microsoft.com/office/drawing/2014/main" id="{1C243C26-1883-48E4-8843-913B49FC3D0B}"/>
              </a:ext>
            </a:extLst>
          </p:cNvPr>
          <p:cNvSpPr>
            <a:spLocks xmlns:a="http://schemas.openxmlformats.org/drawingml/2006/main" noGrp="1"/>
          </p:cNvSpPr>
          <p:nvPr/>
        </p:nvSpPr>
        <p:spPr>
          <a:xfrm xmlns:a="http://schemas.openxmlformats.org/drawingml/2006/main">
            <a:off x="1428750" y="5476875"/>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1C8B53"/>
                </a:solidFill>
              </a:defRPr>
            </a:pPr>
            <a:r>
              <a:rPr sz="1350" b="1" i="0">
                <a:solidFill>
                  <a:srgbClr val="1C8B53"/>
                </a:solidFill>
              </a:rPr>
              <a:t>Interprétation : l’architecture technique est cohérente avec le contexte local de ressources limitées.</a:t>
            </a:r>
          </a:p>
        </p:txBody>
      </p:sp>
      <p:sp>
        <p:nvSpPr>
          <p:cNvPr id="29" name="">
            <a:extLst xmlns:a="http://schemas.openxmlformats.org/drawingml/2006/main">
              <a:ext uri="{FF2B5EF4-FFF2-40B4-BE49-F238E27FC236}">
                <a16:creationId xmlns:a16="http://schemas.microsoft.com/office/drawing/2014/main" id="{8EC38075-6B98-47D2-9641-D1FB04D8B4EC}"/>
              </a:ext>
            </a:extLst>
          </p:cNvPr>
          <p:cNvSpPr>
            <a:spLocks xmlns:a="http://schemas.openxmlformats.org/drawingml/2006/main" noGrp="1"/>
          </p:cNvSpPr>
          <p:nvPr/>
        </p:nvSpPr>
        <p:spPr>
          <a:xfrm xmlns:a="http://schemas.openxmlformats.org/drawingml/2006/main">
            <a:off x="552450" y="6362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i="0">
                <a:solidFill>
                  <a:srgbClr val="5A6B82"/>
                </a:solidFill>
              </a:defRPr>
            </a:pPr>
            <a:r>
              <a:rPr sz="675" b="0" i="0">
                <a:solidFill>
                  <a:srgbClr val="5A6B82"/>
                </a:solidFill>
              </a:rPr>
              <a:t>Outils et technologies</a:t>
            </a:r>
          </a:p>
        </p:txBody>
      </p:sp>
      <p:sp>
        <p:nvSpPr>
          <p:cNvPr id="30" name="">
            <a:extLst xmlns:a="http://schemas.openxmlformats.org/drawingml/2006/main">
              <a:ext uri="{FF2B5EF4-FFF2-40B4-BE49-F238E27FC236}">
                <a16:creationId xmlns:a16="http://schemas.microsoft.com/office/drawing/2014/main" id="{89A2F14B-5026-4CC6-BFE2-90B2A53ABB8C}"/>
              </a:ext>
            </a:extLst>
          </p:cNvPr>
          <p:cNvSpPr>
            <a:spLocks xmlns:a="http://schemas.openxmlformats.org/drawingml/2006/main" noGrp="1"/>
          </p:cNvSpPr>
          <p:nvPr/>
        </p:nvSpPr>
        <p:spPr>
          <a:xfrm xmlns:a="http://schemas.openxmlformats.org/drawingml/2006/main">
            <a:off x="11049000" y="63627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0" i="0">
                <a:solidFill>
                  <a:srgbClr val="5A6B82"/>
                </a:solidFill>
              </a:defRPr>
            </a:pPr>
            <a:r>
              <a:rPr sz="750" b="0" i="0">
                <a:solidFill>
                  <a:srgbClr val="5A6B82"/>
                </a:solidFill>
              </a:rPr>
              <a:t>8 / 18</a:t>
            </a:r>
          </a:p>
        </p:txBody>
      </p:sp>
    </p:spTree>
    <p:extLst>
      <p:ext uri="{BB962C8B-B14F-4D97-AF65-F5344CB8AC3E}">
        <p14:creationId xmlns:p14="http://schemas.microsoft.com/office/powerpoint/2010/main" val="142297574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B84CD2A-AB4F-4CB8-AA33-8FF954C96846}"/>
              </a:ext>
            </a:extLst>
          </p:cNvPr>
          <p:cNvSpPr>
            <a:spLocks xmlns:a="http://schemas.openxmlformats.org/drawingml/2006/main" noGrp="1"/>
          </p:cNvSpPr>
          <p:nvPr/>
        </p:nvSpPr>
        <p:spPr>
          <a:xfrm xmlns:a="http://schemas.openxmlformats.org/drawingml/2006/main">
            <a:off x="552450" y="419100"/>
            <a:ext cx="933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i="0">
                <a:solidFill>
                  <a:srgbClr val="17345F"/>
                </a:solidFill>
              </a:defRPr>
            </a:pPr>
            <a:r>
              <a:rPr sz="2550" b="1" i="0">
                <a:solidFill>
                  <a:srgbClr val="17345F"/>
                </a:solidFill>
              </a:rPr>
              <a:t>L’implémentation relie sept modules de bout en bout</a:t>
            </a:r>
          </a:p>
        </p:txBody>
      </p:sp>
      <p:sp>
        <p:nvSpPr>
          <p:cNvPr id="2" name="">
            <a:extLst xmlns:a="http://schemas.openxmlformats.org/drawingml/2006/main">
              <a:ext uri="{FF2B5EF4-FFF2-40B4-BE49-F238E27FC236}">
                <a16:creationId xmlns:a16="http://schemas.microsoft.com/office/drawing/2014/main" id="{5E7DD396-BBB6-4308-BAD7-0822A97DB126}"/>
              </a:ext>
            </a:extLst>
          </p:cNvPr>
          <p:cNvSpPr>
            <a:spLocks xmlns:a="http://schemas.openxmlformats.org/drawingml/2006/main" noGrp="1"/>
          </p:cNvSpPr>
          <p:nvPr/>
        </p:nvSpPr>
        <p:spPr>
          <a:xfrm xmlns:a="http://schemas.openxmlformats.org/drawingml/2006/main">
            <a:off x="552450" y="1095375"/>
            <a:ext cx="1047750" cy="47625"/>
          </a:xfrm>
          <a:prstGeom xmlns:a="http://schemas.openxmlformats.org/drawingml/2006/main" prst="rect">
            <a:avLst/>
          </a:prstGeom>
          <a:solidFill xmlns:a="http://schemas.openxmlformats.org/drawingml/2006/main">
            <a:srgbClr val="1C8B53"/>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6282B5E-0ED8-466D-A147-CDAED67E9F4E}"/>
              </a:ext>
            </a:extLst>
          </p:cNvPr>
          <p:cNvSpPr>
            <a:spLocks xmlns:a="http://schemas.openxmlformats.org/drawingml/2006/main" noGrp="1"/>
          </p:cNvSpPr>
          <p:nvPr/>
        </p:nvSpPr>
        <p:spPr>
          <a:xfrm xmlns:a="http://schemas.openxmlformats.org/drawingml/2006/main">
            <a:off x="552450" y="1238250"/>
            <a:ext cx="838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A6B82"/>
                </a:solidFill>
              </a:defRPr>
            </a:pPr>
            <a:r>
              <a:rPr sz="1200" b="0" i="0">
                <a:solidFill>
                  <a:srgbClr val="5A6B82"/>
                </a:solidFill>
              </a:rPr>
              <a:t>Le système va de la caméra à la notification et à l’historique des incidents.</a:t>
            </a:r>
          </a:p>
        </p:txBody>
      </p:sp>
      <p:sp>
        <p:nvSpPr>
          <p:cNvPr id="4" name="">
            <a:extLst xmlns:a="http://schemas.openxmlformats.org/drawingml/2006/main">
              <a:ext uri="{FF2B5EF4-FFF2-40B4-BE49-F238E27FC236}">
                <a16:creationId xmlns:a16="http://schemas.microsoft.com/office/drawing/2014/main" id="{D49A4DF3-425B-4F2C-AD35-B9BDF9DD422B}"/>
              </a:ext>
            </a:extLst>
          </p:cNvPr>
          <p:cNvSpPr>
            <a:spLocks xmlns:a="http://schemas.openxmlformats.org/drawingml/2006/main" noGrp="1"/>
          </p:cNvSpPr>
          <p:nvPr/>
        </p:nvSpPr>
        <p:spPr>
          <a:xfrm xmlns:a="http://schemas.openxmlformats.org/drawingml/2006/main">
            <a:off x="609600" y="1809750"/>
            <a:ext cx="1238250" cy="552450"/>
          </a:xfrm>
          <a:prstGeom xmlns:a="http://schemas.openxmlformats.org/drawingml/2006/main" prst="roundRect">
            <a:avLst>
              <a:gd name="adj" fmla="val 10345"/>
            </a:avLst>
          </a:prstGeom>
          <a:solidFill xmlns:a="http://schemas.openxmlformats.org/drawingml/2006/main">
            <a:srgbClr val="1C8B53"/>
          </a:solidFill>
          <a:ln xmlns:a="http://schemas.openxmlformats.org/drawingml/2006/main" w="9525">
            <a:solidFill>
              <a:srgbClr val="1C8B53"/>
            </a:solidFill>
            <a:prstDash val="solid"/>
          </a:ln>
        </p:spPr>
      </p:sp>
      <p:sp>
        <p:nvSpPr>
          <p:cNvPr id="5" name="">
            <a:extLst xmlns:a="http://schemas.openxmlformats.org/drawingml/2006/main">
              <a:ext uri="{FF2B5EF4-FFF2-40B4-BE49-F238E27FC236}">
                <a16:creationId xmlns:a16="http://schemas.microsoft.com/office/drawing/2014/main" id="{80F2720A-C43B-440F-ABCF-66C6FAF0DDED}"/>
              </a:ext>
            </a:extLst>
          </p:cNvPr>
          <p:cNvSpPr>
            <a:spLocks xmlns:a="http://schemas.openxmlformats.org/drawingml/2006/main" noGrp="1"/>
          </p:cNvSpPr>
          <p:nvPr/>
        </p:nvSpPr>
        <p:spPr>
          <a:xfrm xmlns:a="http://schemas.openxmlformats.org/drawingml/2006/main">
            <a:off x="666750" y="20002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i="0">
                <a:solidFill>
                  <a:srgbClr val="FFFFFF"/>
                </a:solidFill>
              </a:defRPr>
            </a:pPr>
            <a:r>
              <a:rPr sz="900" b="1" i="0">
                <a:solidFill>
                  <a:srgbClr val="FFFFFF"/>
                </a:solidFill>
              </a:rPr>
              <a:t>Capture</a:t>
            </a:r>
          </a:p>
        </p:txBody>
      </p:sp>
      <p:sp>
        <p:nvSpPr>
          <p:cNvPr id="6" name="">
            <a:extLst xmlns:a="http://schemas.openxmlformats.org/drawingml/2006/main">
              <a:ext uri="{FF2B5EF4-FFF2-40B4-BE49-F238E27FC236}">
                <a16:creationId xmlns:a16="http://schemas.microsoft.com/office/drawing/2014/main" id="{DA37A76B-3946-40CC-A67C-E5AFF7417099}"/>
              </a:ext>
            </a:extLst>
          </p:cNvPr>
          <p:cNvSpPr>
            <a:spLocks xmlns:a="http://schemas.openxmlformats.org/drawingml/2006/main" noGrp="1"/>
          </p:cNvSpPr>
          <p:nvPr/>
        </p:nvSpPr>
        <p:spPr>
          <a:xfrm xmlns:a="http://schemas.openxmlformats.org/drawingml/2006/main">
            <a:off x="1885950" y="2076450"/>
            <a:ext cx="304800" cy="47625"/>
          </a:xfrm>
          <a:prstGeom xmlns:a="http://schemas.openxmlformats.org/drawingml/2006/main" prst="rect">
            <a:avLst/>
          </a:prstGeom>
          <a:solidFill xmlns:a="http://schemas.openxmlformats.org/drawingml/2006/main">
            <a:srgbClr val="C95C12"/>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F7A05AC-FF65-4731-A81D-B54F698782CC}"/>
              </a:ext>
            </a:extLst>
          </p:cNvPr>
          <p:cNvSpPr>
            <a:spLocks xmlns:a="http://schemas.openxmlformats.org/drawingml/2006/main" noGrp="1"/>
          </p:cNvSpPr>
          <p:nvPr/>
        </p:nvSpPr>
        <p:spPr>
          <a:xfrm xmlns:a="http://schemas.openxmlformats.org/drawingml/2006/main">
            <a:off x="2181225" y="1809750"/>
            <a:ext cx="1238250" cy="552450"/>
          </a:xfrm>
          <a:prstGeom xmlns:a="http://schemas.openxmlformats.org/drawingml/2006/main" prst="roundRect">
            <a:avLst>
              <a:gd name="adj" fmla="val 10345"/>
            </a:avLst>
          </a:prstGeom>
          <a:solidFill xmlns:a="http://schemas.openxmlformats.org/drawingml/2006/main">
            <a:srgbClr val="203F6E"/>
          </a:solidFill>
          <a:ln xmlns:a="http://schemas.openxmlformats.org/drawingml/2006/main" w="9525">
            <a:solidFill>
              <a:srgbClr val="203F6E"/>
            </a:solidFill>
            <a:prstDash val="solid"/>
          </a:ln>
        </p:spPr>
      </p:sp>
      <p:sp>
        <p:nvSpPr>
          <p:cNvPr id="8" name="">
            <a:extLst xmlns:a="http://schemas.openxmlformats.org/drawingml/2006/main">
              <a:ext uri="{FF2B5EF4-FFF2-40B4-BE49-F238E27FC236}">
                <a16:creationId xmlns:a16="http://schemas.microsoft.com/office/drawing/2014/main" id="{660C38F0-8EAE-4F04-A505-F766903BD7E8}"/>
              </a:ext>
            </a:extLst>
          </p:cNvPr>
          <p:cNvSpPr>
            <a:spLocks xmlns:a="http://schemas.openxmlformats.org/drawingml/2006/main" noGrp="1"/>
          </p:cNvSpPr>
          <p:nvPr/>
        </p:nvSpPr>
        <p:spPr>
          <a:xfrm xmlns:a="http://schemas.openxmlformats.org/drawingml/2006/main">
            <a:off x="2238375" y="20002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i="0">
                <a:solidFill>
                  <a:srgbClr val="FFFFFF"/>
                </a:solidFill>
              </a:defRPr>
            </a:pPr>
            <a:r>
              <a:rPr sz="900" b="1" i="0">
                <a:solidFill>
                  <a:srgbClr val="FFFFFF"/>
                </a:solidFill>
              </a:rPr>
              <a:t>Prétraitement</a:t>
            </a:r>
          </a:p>
        </p:txBody>
      </p:sp>
      <p:sp>
        <p:nvSpPr>
          <p:cNvPr id="9" name="">
            <a:extLst xmlns:a="http://schemas.openxmlformats.org/drawingml/2006/main">
              <a:ext uri="{FF2B5EF4-FFF2-40B4-BE49-F238E27FC236}">
                <a16:creationId xmlns:a16="http://schemas.microsoft.com/office/drawing/2014/main" id="{15ECA275-EB83-42D5-9539-5AF98C5D6239}"/>
              </a:ext>
            </a:extLst>
          </p:cNvPr>
          <p:cNvSpPr>
            <a:spLocks xmlns:a="http://schemas.openxmlformats.org/drawingml/2006/main" noGrp="1"/>
          </p:cNvSpPr>
          <p:nvPr/>
        </p:nvSpPr>
        <p:spPr>
          <a:xfrm xmlns:a="http://schemas.openxmlformats.org/drawingml/2006/main">
            <a:off x="3457575" y="2076450"/>
            <a:ext cx="304800" cy="47625"/>
          </a:xfrm>
          <a:prstGeom xmlns:a="http://schemas.openxmlformats.org/drawingml/2006/main" prst="rect">
            <a:avLst/>
          </a:prstGeom>
          <a:solidFill xmlns:a="http://schemas.openxmlformats.org/drawingml/2006/main">
            <a:srgbClr val="C95C1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C345E33-3887-44F7-B13D-CAFE4E575016}"/>
              </a:ext>
            </a:extLst>
          </p:cNvPr>
          <p:cNvSpPr>
            <a:spLocks xmlns:a="http://schemas.openxmlformats.org/drawingml/2006/main" noGrp="1"/>
          </p:cNvSpPr>
          <p:nvPr/>
        </p:nvSpPr>
        <p:spPr>
          <a:xfrm xmlns:a="http://schemas.openxmlformats.org/drawingml/2006/main">
            <a:off x="3752850" y="1809750"/>
            <a:ext cx="1238250" cy="552450"/>
          </a:xfrm>
          <a:prstGeom xmlns:a="http://schemas.openxmlformats.org/drawingml/2006/main" prst="roundRect">
            <a:avLst>
              <a:gd name="adj" fmla="val 10345"/>
            </a:avLst>
          </a:prstGeom>
          <a:solidFill xmlns:a="http://schemas.openxmlformats.org/drawingml/2006/main">
            <a:srgbClr val="203F6E"/>
          </a:solidFill>
          <a:ln xmlns:a="http://schemas.openxmlformats.org/drawingml/2006/main" w="9525">
            <a:solidFill>
              <a:srgbClr val="203F6E"/>
            </a:solidFill>
            <a:prstDash val="solid"/>
          </a:ln>
        </p:spPr>
      </p:sp>
      <p:sp>
        <p:nvSpPr>
          <p:cNvPr id="11" name="">
            <a:extLst xmlns:a="http://schemas.openxmlformats.org/drawingml/2006/main">
              <a:ext uri="{FF2B5EF4-FFF2-40B4-BE49-F238E27FC236}">
                <a16:creationId xmlns:a16="http://schemas.microsoft.com/office/drawing/2014/main" id="{34BC5A88-F209-43F8-B630-8BA3D9E17FE2}"/>
              </a:ext>
            </a:extLst>
          </p:cNvPr>
          <p:cNvSpPr>
            <a:spLocks xmlns:a="http://schemas.openxmlformats.org/drawingml/2006/main" noGrp="1"/>
          </p:cNvSpPr>
          <p:nvPr/>
        </p:nvSpPr>
        <p:spPr>
          <a:xfrm xmlns:a="http://schemas.openxmlformats.org/drawingml/2006/main">
            <a:off x="3810000" y="20002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i="0">
                <a:solidFill>
                  <a:srgbClr val="FFFFFF"/>
                </a:solidFill>
              </a:defRPr>
            </a:pPr>
            <a:r>
              <a:rPr sz="900" b="1" i="0">
                <a:solidFill>
                  <a:srgbClr val="FFFFFF"/>
                </a:solidFill>
              </a:rPr>
              <a:t>EfficientNetB0</a:t>
            </a:r>
          </a:p>
        </p:txBody>
      </p:sp>
      <p:sp>
        <p:nvSpPr>
          <p:cNvPr id="12" name="">
            <a:extLst xmlns:a="http://schemas.openxmlformats.org/drawingml/2006/main">
              <a:ext uri="{FF2B5EF4-FFF2-40B4-BE49-F238E27FC236}">
                <a16:creationId xmlns:a16="http://schemas.microsoft.com/office/drawing/2014/main" id="{0E9EFDC0-2EF9-402B-A204-9DB0EEC0BEB3}"/>
              </a:ext>
            </a:extLst>
          </p:cNvPr>
          <p:cNvSpPr>
            <a:spLocks xmlns:a="http://schemas.openxmlformats.org/drawingml/2006/main" noGrp="1"/>
          </p:cNvSpPr>
          <p:nvPr/>
        </p:nvSpPr>
        <p:spPr>
          <a:xfrm xmlns:a="http://schemas.openxmlformats.org/drawingml/2006/main">
            <a:off x="5029200" y="2076450"/>
            <a:ext cx="304800" cy="47625"/>
          </a:xfrm>
          <a:prstGeom xmlns:a="http://schemas.openxmlformats.org/drawingml/2006/main" prst="rect">
            <a:avLst/>
          </a:prstGeom>
          <a:solidFill xmlns:a="http://schemas.openxmlformats.org/drawingml/2006/main">
            <a:srgbClr val="C95C12"/>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EF22C5A-0249-4F2E-9C3A-C0E734BB6CEF}"/>
              </a:ext>
            </a:extLst>
          </p:cNvPr>
          <p:cNvSpPr>
            <a:spLocks xmlns:a="http://schemas.openxmlformats.org/drawingml/2006/main" noGrp="1"/>
          </p:cNvSpPr>
          <p:nvPr/>
        </p:nvSpPr>
        <p:spPr>
          <a:xfrm xmlns:a="http://schemas.openxmlformats.org/drawingml/2006/main">
            <a:off x="5324475" y="1809750"/>
            <a:ext cx="1238250" cy="552450"/>
          </a:xfrm>
          <a:prstGeom xmlns:a="http://schemas.openxmlformats.org/drawingml/2006/main" prst="roundRect">
            <a:avLst>
              <a:gd name="adj" fmla="val 10345"/>
            </a:avLst>
          </a:prstGeom>
          <a:solidFill xmlns:a="http://schemas.openxmlformats.org/drawingml/2006/main">
            <a:srgbClr val="203F6E"/>
          </a:solidFill>
          <a:ln xmlns:a="http://schemas.openxmlformats.org/drawingml/2006/main" w="9525">
            <a:solidFill>
              <a:srgbClr val="203F6E"/>
            </a:solidFill>
            <a:prstDash val="solid"/>
          </a:ln>
        </p:spPr>
      </p:sp>
      <p:sp>
        <p:nvSpPr>
          <p:cNvPr id="14" name="">
            <a:extLst xmlns:a="http://schemas.openxmlformats.org/drawingml/2006/main">
              <a:ext uri="{FF2B5EF4-FFF2-40B4-BE49-F238E27FC236}">
                <a16:creationId xmlns:a16="http://schemas.microsoft.com/office/drawing/2014/main" id="{E11C3CF6-85D9-4445-98AB-70FCC0BDADCB}"/>
              </a:ext>
            </a:extLst>
          </p:cNvPr>
          <p:cNvSpPr>
            <a:spLocks xmlns:a="http://schemas.openxmlformats.org/drawingml/2006/main" noGrp="1"/>
          </p:cNvSpPr>
          <p:nvPr/>
        </p:nvSpPr>
        <p:spPr>
          <a:xfrm xmlns:a="http://schemas.openxmlformats.org/drawingml/2006/main">
            <a:off x="5381625" y="20002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i="0">
                <a:solidFill>
                  <a:srgbClr val="FFFFFF"/>
                </a:solidFill>
              </a:defRPr>
            </a:pPr>
            <a:r>
              <a:rPr sz="900" b="1" i="0">
                <a:solidFill>
                  <a:srgbClr val="FFFFFF"/>
                </a:solidFill>
              </a:rPr>
              <a:t>LSTM</a:t>
            </a:r>
          </a:p>
        </p:txBody>
      </p:sp>
      <p:sp>
        <p:nvSpPr>
          <p:cNvPr id="15" name="">
            <a:extLst xmlns:a="http://schemas.openxmlformats.org/drawingml/2006/main">
              <a:ext uri="{FF2B5EF4-FFF2-40B4-BE49-F238E27FC236}">
                <a16:creationId xmlns:a16="http://schemas.microsoft.com/office/drawing/2014/main" id="{F5790EEF-929B-4DC0-9A4F-A439049F241B}"/>
              </a:ext>
            </a:extLst>
          </p:cNvPr>
          <p:cNvSpPr>
            <a:spLocks xmlns:a="http://schemas.openxmlformats.org/drawingml/2006/main" noGrp="1"/>
          </p:cNvSpPr>
          <p:nvPr/>
        </p:nvSpPr>
        <p:spPr>
          <a:xfrm xmlns:a="http://schemas.openxmlformats.org/drawingml/2006/main">
            <a:off x="6600825" y="2076450"/>
            <a:ext cx="304800" cy="47625"/>
          </a:xfrm>
          <a:prstGeom xmlns:a="http://schemas.openxmlformats.org/drawingml/2006/main" prst="rect">
            <a:avLst/>
          </a:prstGeom>
          <a:solidFill xmlns:a="http://schemas.openxmlformats.org/drawingml/2006/main">
            <a:srgbClr val="C95C12"/>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1B43FE8-250D-448E-9D4E-59B46987C410}"/>
              </a:ext>
            </a:extLst>
          </p:cNvPr>
          <p:cNvSpPr>
            <a:spLocks xmlns:a="http://schemas.openxmlformats.org/drawingml/2006/main" noGrp="1"/>
          </p:cNvSpPr>
          <p:nvPr/>
        </p:nvSpPr>
        <p:spPr>
          <a:xfrm xmlns:a="http://schemas.openxmlformats.org/drawingml/2006/main">
            <a:off x="6896100" y="1809750"/>
            <a:ext cx="1238250" cy="552450"/>
          </a:xfrm>
          <a:prstGeom xmlns:a="http://schemas.openxmlformats.org/drawingml/2006/main" prst="roundRect">
            <a:avLst>
              <a:gd name="adj" fmla="val 10345"/>
            </a:avLst>
          </a:prstGeom>
          <a:solidFill xmlns:a="http://schemas.openxmlformats.org/drawingml/2006/main">
            <a:srgbClr val="203F6E"/>
          </a:solidFill>
          <a:ln xmlns:a="http://schemas.openxmlformats.org/drawingml/2006/main" w="9525">
            <a:solidFill>
              <a:srgbClr val="203F6E"/>
            </a:solidFill>
            <a:prstDash val="solid"/>
          </a:ln>
        </p:spPr>
      </p:sp>
      <p:sp>
        <p:nvSpPr>
          <p:cNvPr id="17" name="">
            <a:extLst xmlns:a="http://schemas.openxmlformats.org/drawingml/2006/main">
              <a:ext uri="{FF2B5EF4-FFF2-40B4-BE49-F238E27FC236}">
                <a16:creationId xmlns:a16="http://schemas.microsoft.com/office/drawing/2014/main" id="{A22E7377-672F-459A-B65C-B6C40C35F1E2}"/>
              </a:ext>
            </a:extLst>
          </p:cNvPr>
          <p:cNvSpPr>
            <a:spLocks xmlns:a="http://schemas.openxmlformats.org/drawingml/2006/main" noGrp="1"/>
          </p:cNvSpPr>
          <p:nvPr/>
        </p:nvSpPr>
        <p:spPr>
          <a:xfrm xmlns:a="http://schemas.openxmlformats.org/drawingml/2006/main">
            <a:off x="6953250" y="20002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i="0">
                <a:solidFill>
                  <a:srgbClr val="FFFFFF"/>
                </a:solidFill>
              </a:defRPr>
            </a:pPr>
            <a:r>
              <a:rPr sz="900" b="1" i="0">
                <a:solidFill>
                  <a:srgbClr val="FFFFFF"/>
                </a:solidFill>
              </a:rPr>
              <a:t>Décision K</a:t>
            </a:r>
          </a:p>
        </p:txBody>
      </p:sp>
      <p:sp>
        <p:nvSpPr>
          <p:cNvPr id="18" name="">
            <a:extLst xmlns:a="http://schemas.openxmlformats.org/drawingml/2006/main">
              <a:ext uri="{FF2B5EF4-FFF2-40B4-BE49-F238E27FC236}">
                <a16:creationId xmlns:a16="http://schemas.microsoft.com/office/drawing/2014/main" id="{AE0C0D34-B6EE-4827-ACA9-4D2D92F46151}"/>
              </a:ext>
            </a:extLst>
          </p:cNvPr>
          <p:cNvSpPr>
            <a:spLocks xmlns:a="http://schemas.openxmlformats.org/drawingml/2006/main" noGrp="1"/>
          </p:cNvSpPr>
          <p:nvPr/>
        </p:nvSpPr>
        <p:spPr>
          <a:xfrm xmlns:a="http://schemas.openxmlformats.org/drawingml/2006/main">
            <a:off x="8172450" y="2076450"/>
            <a:ext cx="304800" cy="47625"/>
          </a:xfrm>
          <a:prstGeom xmlns:a="http://schemas.openxmlformats.org/drawingml/2006/main" prst="rect">
            <a:avLst/>
          </a:prstGeom>
          <a:solidFill xmlns:a="http://schemas.openxmlformats.org/drawingml/2006/main">
            <a:srgbClr val="C95C12"/>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BD1CC16-FD3C-46C3-8BCC-D5AF0228223F}"/>
              </a:ext>
            </a:extLst>
          </p:cNvPr>
          <p:cNvSpPr>
            <a:spLocks xmlns:a="http://schemas.openxmlformats.org/drawingml/2006/main" noGrp="1"/>
          </p:cNvSpPr>
          <p:nvPr/>
        </p:nvSpPr>
        <p:spPr>
          <a:xfrm xmlns:a="http://schemas.openxmlformats.org/drawingml/2006/main">
            <a:off x="8467725" y="1809750"/>
            <a:ext cx="1238250" cy="552450"/>
          </a:xfrm>
          <a:prstGeom xmlns:a="http://schemas.openxmlformats.org/drawingml/2006/main" prst="roundRect">
            <a:avLst>
              <a:gd name="adj" fmla="val 10345"/>
            </a:avLst>
          </a:prstGeom>
          <a:solidFill xmlns:a="http://schemas.openxmlformats.org/drawingml/2006/main">
            <a:srgbClr val="203F6E"/>
          </a:solidFill>
          <a:ln xmlns:a="http://schemas.openxmlformats.org/drawingml/2006/main" w="9525">
            <a:solidFill>
              <a:srgbClr val="203F6E"/>
            </a:solidFill>
            <a:prstDash val="solid"/>
          </a:ln>
        </p:spPr>
      </p:sp>
      <p:sp>
        <p:nvSpPr>
          <p:cNvPr id="20" name="">
            <a:extLst xmlns:a="http://schemas.openxmlformats.org/drawingml/2006/main">
              <a:ext uri="{FF2B5EF4-FFF2-40B4-BE49-F238E27FC236}">
                <a16:creationId xmlns:a16="http://schemas.microsoft.com/office/drawing/2014/main" id="{15AB8C78-B5C3-4A72-9F59-8A2CD670965B}"/>
              </a:ext>
            </a:extLst>
          </p:cNvPr>
          <p:cNvSpPr>
            <a:spLocks xmlns:a="http://schemas.openxmlformats.org/drawingml/2006/main" noGrp="1"/>
          </p:cNvSpPr>
          <p:nvPr/>
        </p:nvSpPr>
        <p:spPr>
          <a:xfrm xmlns:a="http://schemas.openxmlformats.org/drawingml/2006/main">
            <a:off x="8524875" y="20002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i="0">
                <a:solidFill>
                  <a:srgbClr val="FFFFFF"/>
                </a:solidFill>
              </a:defRPr>
            </a:pPr>
            <a:r>
              <a:rPr sz="900" b="1" i="0">
                <a:solidFill>
                  <a:srgbClr val="FFFFFF"/>
                </a:solidFill>
              </a:rPr>
              <a:t>Alertes</a:t>
            </a:r>
          </a:p>
        </p:txBody>
      </p:sp>
      <p:sp>
        <p:nvSpPr>
          <p:cNvPr id="21" name="">
            <a:extLst xmlns:a="http://schemas.openxmlformats.org/drawingml/2006/main">
              <a:ext uri="{FF2B5EF4-FFF2-40B4-BE49-F238E27FC236}">
                <a16:creationId xmlns:a16="http://schemas.microsoft.com/office/drawing/2014/main" id="{FC8E0FC8-EEC3-44FC-94FD-A69D3411B38B}"/>
              </a:ext>
            </a:extLst>
          </p:cNvPr>
          <p:cNvSpPr>
            <a:spLocks xmlns:a="http://schemas.openxmlformats.org/drawingml/2006/main" noGrp="1"/>
          </p:cNvSpPr>
          <p:nvPr/>
        </p:nvSpPr>
        <p:spPr>
          <a:xfrm xmlns:a="http://schemas.openxmlformats.org/drawingml/2006/main">
            <a:off x="9744075" y="2076450"/>
            <a:ext cx="304800" cy="47625"/>
          </a:xfrm>
          <a:prstGeom xmlns:a="http://schemas.openxmlformats.org/drawingml/2006/main" prst="rect">
            <a:avLst/>
          </a:prstGeom>
          <a:solidFill xmlns:a="http://schemas.openxmlformats.org/drawingml/2006/main">
            <a:srgbClr val="C95C12"/>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51229275-EB08-4C1E-B0A9-9EE0367BB8D9}"/>
              </a:ext>
            </a:extLst>
          </p:cNvPr>
          <p:cNvSpPr>
            <a:spLocks xmlns:a="http://schemas.openxmlformats.org/drawingml/2006/main" noGrp="1"/>
          </p:cNvSpPr>
          <p:nvPr/>
        </p:nvSpPr>
        <p:spPr>
          <a:xfrm xmlns:a="http://schemas.openxmlformats.org/drawingml/2006/main">
            <a:off x="10039350" y="1809750"/>
            <a:ext cx="1238250" cy="552450"/>
          </a:xfrm>
          <a:prstGeom xmlns:a="http://schemas.openxmlformats.org/drawingml/2006/main" prst="roundRect">
            <a:avLst>
              <a:gd name="adj" fmla="val 10345"/>
            </a:avLst>
          </a:prstGeom>
          <a:solidFill xmlns:a="http://schemas.openxmlformats.org/drawingml/2006/main">
            <a:srgbClr val="1C8B53"/>
          </a:solidFill>
          <a:ln xmlns:a="http://schemas.openxmlformats.org/drawingml/2006/main" w="9525">
            <a:solidFill>
              <a:srgbClr val="1C8B53"/>
            </a:solidFill>
            <a:prstDash val="solid"/>
          </a:ln>
        </p:spPr>
      </p:sp>
      <p:sp>
        <p:nvSpPr>
          <p:cNvPr id="23" name="">
            <a:extLst xmlns:a="http://schemas.openxmlformats.org/drawingml/2006/main">
              <a:ext uri="{FF2B5EF4-FFF2-40B4-BE49-F238E27FC236}">
                <a16:creationId xmlns:a16="http://schemas.microsoft.com/office/drawing/2014/main" id="{04BE7463-2FBC-4A0C-8589-D1EBF90C85C8}"/>
              </a:ext>
            </a:extLst>
          </p:cNvPr>
          <p:cNvSpPr>
            <a:spLocks xmlns:a="http://schemas.openxmlformats.org/drawingml/2006/main" noGrp="1"/>
          </p:cNvSpPr>
          <p:nvPr/>
        </p:nvSpPr>
        <p:spPr>
          <a:xfrm xmlns:a="http://schemas.openxmlformats.org/drawingml/2006/main">
            <a:off x="10096500" y="20002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i="0">
                <a:solidFill>
                  <a:srgbClr val="FFFFFF"/>
                </a:solidFill>
              </a:defRPr>
            </a:pPr>
            <a:r>
              <a:rPr sz="900" b="1" i="0">
                <a:solidFill>
                  <a:srgbClr val="FFFFFF"/>
                </a:solidFill>
              </a:rPr>
              <a:t>Dashboard</a:t>
            </a:r>
          </a:p>
        </p:txBody>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d83bca442c5e4625"/>
          <a:stretch xmlns:a="http://schemas.openxmlformats.org/drawingml/2006/main"/>
        </p:blipFill>
        <p:spPr>
          <a:xfrm xmlns:a="http://schemas.openxmlformats.org/drawingml/2006/main">
            <a:off x="1143000" y="3265666"/>
            <a:ext cx="4572000" cy="1803042"/>
          </a:xfrm>
          <a:prstGeom xmlns:a="http://schemas.openxmlformats.org/drawingml/2006/main" prst="rect">
            <a:avLst/>
          </a:prstGeom>
        </p:spPr>
      </p:pic>
      <p:sp>
        <p:nvSpPr>
          <p:cNvPr id="25" name="">
            <a:extLst xmlns:a="http://schemas.openxmlformats.org/drawingml/2006/main">
              <a:ext uri="{FF2B5EF4-FFF2-40B4-BE49-F238E27FC236}">
                <a16:creationId xmlns:a16="http://schemas.microsoft.com/office/drawing/2014/main" id="{5035052B-CB0A-44D4-9871-27E06A44FA40}"/>
              </a:ext>
            </a:extLst>
          </p:cNvPr>
          <p:cNvSpPr>
            <a:spLocks xmlns:a="http://schemas.openxmlformats.org/drawingml/2006/main" noGrp="1"/>
          </p:cNvSpPr>
          <p:nvPr/>
        </p:nvSpPr>
        <p:spPr>
          <a:xfrm xmlns:a="http://schemas.openxmlformats.org/drawingml/2006/main">
            <a:off x="6429375" y="3143250"/>
            <a:ext cx="219075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8D6E4"/>
            </a:solidFill>
            <a:prstDash val="solid"/>
          </a:ln>
        </p:spPr>
      </p:sp>
      <p:sp>
        <p:nvSpPr>
          <p:cNvPr id="26" name="">
            <a:extLst xmlns:a="http://schemas.openxmlformats.org/drawingml/2006/main">
              <a:ext uri="{FF2B5EF4-FFF2-40B4-BE49-F238E27FC236}">
                <a16:creationId xmlns:a16="http://schemas.microsoft.com/office/drawing/2014/main" id="{C3B2822B-0602-4883-952D-D079517C252E}"/>
              </a:ext>
            </a:extLst>
          </p:cNvPr>
          <p:cNvSpPr>
            <a:spLocks xmlns:a="http://schemas.openxmlformats.org/drawingml/2006/main" noGrp="1"/>
          </p:cNvSpPr>
          <p:nvPr/>
        </p:nvSpPr>
        <p:spPr>
          <a:xfrm xmlns:a="http://schemas.openxmlformats.org/drawingml/2006/main">
            <a:off x="6429375" y="3143250"/>
            <a:ext cx="66675" cy="1428750"/>
          </a:xfrm>
          <a:prstGeom xmlns:a="http://schemas.openxmlformats.org/drawingml/2006/main" prst="rect">
            <a:avLst/>
          </a:prstGeom>
          <a:solidFill xmlns:a="http://schemas.openxmlformats.org/drawingml/2006/main">
            <a:srgbClr val="203F6E"/>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CAD99189-957F-4C33-B604-0D6189C2049B}"/>
              </a:ext>
            </a:extLst>
          </p:cNvPr>
          <p:cNvSpPr>
            <a:spLocks xmlns:a="http://schemas.openxmlformats.org/drawingml/2006/main" noGrp="1"/>
          </p:cNvSpPr>
          <p:nvPr/>
        </p:nvSpPr>
        <p:spPr>
          <a:xfrm xmlns:a="http://schemas.openxmlformats.org/drawingml/2006/main">
            <a:off x="6657975" y="33718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203F6E"/>
                </a:solidFill>
              </a:defRPr>
            </a:pPr>
            <a:r>
              <a:rPr sz="1350" b="1" i="0">
                <a:solidFill>
                  <a:srgbClr val="203F6E"/>
                </a:solidFill>
              </a:rPr>
              <a:t>Score vidéo</a:t>
            </a:r>
          </a:p>
        </p:txBody>
      </p:sp>
      <p:sp>
        <p:nvSpPr>
          <p:cNvPr id="28" name="">
            <a:extLst xmlns:a="http://schemas.openxmlformats.org/drawingml/2006/main">
              <a:ext uri="{FF2B5EF4-FFF2-40B4-BE49-F238E27FC236}">
                <a16:creationId xmlns:a16="http://schemas.microsoft.com/office/drawing/2014/main" id="{0E65D041-5CE7-4246-AE63-C89695D0A3EB}"/>
              </a:ext>
            </a:extLst>
          </p:cNvPr>
          <p:cNvSpPr>
            <a:spLocks xmlns:a="http://schemas.openxmlformats.org/drawingml/2006/main" noGrp="1"/>
          </p:cNvSpPr>
          <p:nvPr/>
        </p:nvSpPr>
        <p:spPr>
          <a:xfrm xmlns:a="http://schemas.openxmlformats.org/drawingml/2006/main">
            <a:off x="6657975" y="3752850"/>
            <a:ext cx="1771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102033"/>
                </a:solidFill>
              </a:defRPr>
            </a:pPr>
            <a:r>
              <a:rPr sz="1200" b="0" i="0">
                <a:solidFill>
                  <a:srgbClr val="102033"/>
                </a:solidFill>
              </a:rPr>
              <a:t>20 frames deviennent 20 vecteurs. Le LSTM produit une probabilité de violence pour la séquence.</a:t>
            </a:r>
          </a:p>
        </p:txBody>
      </p:sp>
      <p:sp>
        <p:nvSpPr>
          <p:cNvPr id="29" name="">
            <a:extLst xmlns:a="http://schemas.openxmlformats.org/drawingml/2006/main">
              <a:ext uri="{FF2B5EF4-FFF2-40B4-BE49-F238E27FC236}">
                <a16:creationId xmlns:a16="http://schemas.microsoft.com/office/drawing/2014/main" id="{C70BC245-A176-4D85-851C-EDFFBB8D4D24}"/>
              </a:ext>
            </a:extLst>
          </p:cNvPr>
          <p:cNvSpPr>
            <a:spLocks xmlns:a="http://schemas.openxmlformats.org/drawingml/2006/main" noGrp="1"/>
          </p:cNvSpPr>
          <p:nvPr/>
        </p:nvSpPr>
        <p:spPr>
          <a:xfrm xmlns:a="http://schemas.openxmlformats.org/drawingml/2006/main">
            <a:off x="8858250" y="3143250"/>
            <a:ext cx="219075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8D6E4"/>
            </a:solidFill>
            <a:prstDash val="solid"/>
          </a:ln>
        </p:spPr>
      </p:sp>
      <p:sp>
        <p:nvSpPr>
          <p:cNvPr id="30" name="">
            <a:extLst xmlns:a="http://schemas.openxmlformats.org/drawingml/2006/main">
              <a:ext uri="{FF2B5EF4-FFF2-40B4-BE49-F238E27FC236}">
                <a16:creationId xmlns:a16="http://schemas.microsoft.com/office/drawing/2014/main" id="{836F9FD5-423F-48BE-94D4-2B343A63B0E1}"/>
              </a:ext>
            </a:extLst>
          </p:cNvPr>
          <p:cNvSpPr>
            <a:spLocks xmlns:a="http://schemas.openxmlformats.org/drawingml/2006/main" noGrp="1"/>
          </p:cNvSpPr>
          <p:nvPr/>
        </p:nvSpPr>
        <p:spPr>
          <a:xfrm xmlns:a="http://schemas.openxmlformats.org/drawingml/2006/main">
            <a:off x="8858250" y="3143250"/>
            <a:ext cx="66675" cy="1428750"/>
          </a:xfrm>
          <a:prstGeom xmlns:a="http://schemas.openxmlformats.org/drawingml/2006/main" prst="rect">
            <a:avLst/>
          </a:prstGeom>
          <a:solidFill xmlns:a="http://schemas.openxmlformats.org/drawingml/2006/main">
            <a:srgbClr val="1C8B53"/>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93A8635F-6C92-4664-98AF-34491EEE3281}"/>
              </a:ext>
            </a:extLst>
          </p:cNvPr>
          <p:cNvSpPr>
            <a:spLocks xmlns:a="http://schemas.openxmlformats.org/drawingml/2006/main" noGrp="1"/>
          </p:cNvSpPr>
          <p:nvPr/>
        </p:nvSpPr>
        <p:spPr>
          <a:xfrm xmlns:a="http://schemas.openxmlformats.org/drawingml/2006/main">
            <a:off x="9086850" y="33718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C8B53"/>
                </a:solidFill>
              </a:defRPr>
            </a:pPr>
            <a:r>
              <a:rPr sz="1350" b="1" i="0">
                <a:solidFill>
                  <a:srgbClr val="1C8B53"/>
                </a:solidFill>
              </a:rPr>
              <a:t>Incident</a:t>
            </a:r>
          </a:p>
        </p:txBody>
      </p:sp>
      <p:sp>
        <p:nvSpPr>
          <p:cNvPr id="32" name="">
            <a:extLst xmlns:a="http://schemas.openxmlformats.org/drawingml/2006/main">
              <a:ext uri="{FF2B5EF4-FFF2-40B4-BE49-F238E27FC236}">
                <a16:creationId xmlns:a16="http://schemas.microsoft.com/office/drawing/2014/main" id="{2F95FC88-FDDB-47A6-BDD8-7E2D09F6AB65}"/>
              </a:ext>
            </a:extLst>
          </p:cNvPr>
          <p:cNvSpPr>
            <a:spLocks xmlns:a="http://schemas.openxmlformats.org/drawingml/2006/main" noGrp="1"/>
          </p:cNvSpPr>
          <p:nvPr/>
        </p:nvSpPr>
        <p:spPr>
          <a:xfrm xmlns:a="http://schemas.openxmlformats.org/drawingml/2006/main">
            <a:off x="9086850" y="3752850"/>
            <a:ext cx="1771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102033"/>
                </a:solidFill>
              </a:defRPr>
            </a:pPr>
            <a:r>
              <a:rPr sz="1200" b="0" i="0">
                <a:solidFill>
                  <a:srgbClr val="102033"/>
                </a:solidFill>
              </a:rPr>
              <a:t>Si la moyenne des 5 derniers scores dépasse le seuil, SIRCH enregistre une capture et déclenche l’alerte.</a:t>
            </a:r>
          </a:p>
        </p:txBody>
      </p:sp>
      <p:sp>
        <p:nvSpPr>
          <p:cNvPr id="33" name="">
            <a:extLst xmlns:a="http://schemas.openxmlformats.org/drawingml/2006/main">
              <a:ext uri="{FF2B5EF4-FFF2-40B4-BE49-F238E27FC236}">
                <a16:creationId xmlns:a16="http://schemas.microsoft.com/office/drawing/2014/main" id="{EDC2CE66-B49E-43BF-BB37-8D9E6ED189AA}"/>
              </a:ext>
            </a:extLst>
          </p:cNvPr>
          <p:cNvSpPr>
            <a:spLocks xmlns:a="http://schemas.openxmlformats.org/drawingml/2006/main" noGrp="1"/>
          </p:cNvSpPr>
          <p:nvPr/>
        </p:nvSpPr>
        <p:spPr>
          <a:xfrm xmlns:a="http://schemas.openxmlformats.org/drawingml/2006/main">
            <a:off x="1238250" y="5476875"/>
            <a:ext cx="971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1C8B53"/>
                </a:solidFill>
              </a:defRPr>
            </a:pPr>
            <a:r>
              <a:rPr sz="1275" b="1" i="0">
                <a:solidFill>
                  <a:srgbClr val="1C8B53"/>
                </a:solidFill>
              </a:rPr>
              <a:t>Ce point est important pour la soutenance : SIRCH n’est pas un notebook isolé, c’est une application locale exploitable en démonstration.</a:t>
            </a:r>
          </a:p>
        </p:txBody>
      </p:sp>
      <p:sp>
        <p:nvSpPr>
          <p:cNvPr id="34" name="">
            <a:extLst xmlns:a="http://schemas.openxmlformats.org/drawingml/2006/main">
              <a:ext uri="{FF2B5EF4-FFF2-40B4-BE49-F238E27FC236}">
                <a16:creationId xmlns:a16="http://schemas.microsoft.com/office/drawing/2014/main" id="{1CBCFA45-CF2C-46A3-BB78-46F26CB29E8A}"/>
              </a:ext>
            </a:extLst>
          </p:cNvPr>
          <p:cNvSpPr>
            <a:spLocks xmlns:a="http://schemas.openxmlformats.org/drawingml/2006/main" noGrp="1"/>
          </p:cNvSpPr>
          <p:nvPr/>
        </p:nvSpPr>
        <p:spPr>
          <a:xfrm xmlns:a="http://schemas.openxmlformats.org/drawingml/2006/main">
            <a:off x="552450" y="6362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i="0">
                <a:solidFill>
                  <a:srgbClr val="5A6B82"/>
                </a:solidFill>
              </a:defRPr>
            </a:pPr>
            <a:r>
              <a:rPr sz="675" b="0" i="0">
                <a:solidFill>
                  <a:srgbClr val="5A6B82"/>
                </a:solidFill>
              </a:rPr>
              <a:t>Implémentation</a:t>
            </a:r>
          </a:p>
        </p:txBody>
      </p:sp>
      <p:sp>
        <p:nvSpPr>
          <p:cNvPr id="35" name="">
            <a:extLst xmlns:a="http://schemas.openxmlformats.org/drawingml/2006/main">
              <a:ext uri="{FF2B5EF4-FFF2-40B4-BE49-F238E27FC236}">
                <a16:creationId xmlns:a16="http://schemas.microsoft.com/office/drawing/2014/main" id="{CE933F1B-EAAD-47C2-80E3-16A47ACCD6A9}"/>
              </a:ext>
            </a:extLst>
          </p:cNvPr>
          <p:cNvSpPr>
            <a:spLocks xmlns:a="http://schemas.openxmlformats.org/drawingml/2006/main" noGrp="1"/>
          </p:cNvSpPr>
          <p:nvPr/>
        </p:nvSpPr>
        <p:spPr>
          <a:xfrm xmlns:a="http://schemas.openxmlformats.org/drawingml/2006/main">
            <a:off x="11049000" y="63627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0" i="0">
                <a:solidFill>
                  <a:srgbClr val="5A6B82"/>
                </a:solidFill>
              </a:defRPr>
            </a:pPr>
            <a:r>
              <a:rPr sz="750" b="0" i="0">
                <a:solidFill>
                  <a:srgbClr val="5A6B82"/>
                </a:solidFill>
              </a:rPr>
              <a:t>9 / 18</a:t>
            </a:r>
          </a:p>
        </p:txBody>
      </p:sp>
    </p:spTree>
    <p:extLst>
      <p:ext uri="{BB962C8B-B14F-4D97-AF65-F5344CB8AC3E}">
        <p14:creationId xmlns:p14="http://schemas.microsoft.com/office/powerpoint/2010/main" val="172634745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A1450D1-8EFE-49A1-86D9-FE285B04FA9A}"/>
              </a:ext>
            </a:extLst>
          </p:cNvPr>
          <p:cNvSpPr>
            <a:spLocks xmlns:a="http://schemas.openxmlformats.org/drawingml/2006/main" noGrp="1"/>
          </p:cNvSpPr>
          <p:nvPr/>
        </p:nvSpPr>
        <p:spPr>
          <a:xfrm xmlns:a="http://schemas.openxmlformats.org/drawingml/2006/main">
            <a:off x="552450" y="419100"/>
            <a:ext cx="933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i="0">
                <a:solidFill>
                  <a:srgbClr val="17345F"/>
                </a:solidFill>
              </a:defRPr>
            </a:pPr>
            <a:r>
              <a:rPr sz="2550" b="1" i="0">
                <a:solidFill>
                  <a:srgbClr val="17345F"/>
                </a:solidFill>
              </a:rPr>
              <a:t>L’entraînement local a été encadré pour éviter le surapprentissage</a:t>
            </a:r>
          </a:p>
        </p:txBody>
      </p:sp>
      <p:sp>
        <p:nvSpPr>
          <p:cNvPr id="2" name="">
            <a:extLst xmlns:a="http://schemas.openxmlformats.org/drawingml/2006/main">
              <a:ext uri="{FF2B5EF4-FFF2-40B4-BE49-F238E27FC236}">
                <a16:creationId xmlns:a16="http://schemas.microsoft.com/office/drawing/2014/main" id="{287886A7-8600-4066-AC2A-9355ED7890AD}"/>
              </a:ext>
            </a:extLst>
          </p:cNvPr>
          <p:cNvSpPr>
            <a:spLocks xmlns:a="http://schemas.openxmlformats.org/drawingml/2006/main" noGrp="1"/>
          </p:cNvSpPr>
          <p:nvPr/>
        </p:nvSpPr>
        <p:spPr>
          <a:xfrm xmlns:a="http://schemas.openxmlformats.org/drawingml/2006/main">
            <a:off x="552450" y="1095375"/>
            <a:ext cx="1047750" cy="47625"/>
          </a:xfrm>
          <a:prstGeom xmlns:a="http://schemas.openxmlformats.org/drawingml/2006/main" prst="rect">
            <a:avLst/>
          </a:prstGeom>
          <a:solidFill xmlns:a="http://schemas.openxmlformats.org/drawingml/2006/main">
            <a:srgbClr val="1C8B53"/>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9E90818-EE70-4E3B-BE82-F2E65EE56F52}"/>
              </a:ext>
            </a:extLst>
          </p:cNvPr>
          <p:cNvSpPr>
            <a:spLocks xmlns:a="http://schemas.openxmlformats.org/drawingml/2006/main" noGrp="1"/>
          </p:cNvSpPr>
          <p:nvPr/>
        </p:nvSpPr>
        <p:spPr>
          <a:xfrm xmlns:a="http://schemas.openxmlformats.org/drawingml/2006/main">
            <a:off x="552450" y="1238250"/>
            <a:ext cx="838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A6B82"/>
                </a:solidFill>
              </a:defRPr>
            </a:pPr>
            <a:r>
              <a:rPr sz="1200" b="0" i="0">
                <a:solidFill>
                  <a:srgbClr val="5A6B82"/>
                </a:solidFill>
              </a:rPr>
              <a:t>Les garde-fous expliquent pourquoi le meilleur modèle retenu est celui de l’epoch 4.</a:t>
            </a:r>
          </a:p>
        </p:txBody>
      </p:sp>
      <p:sp>
        <p:nvSpPr>
          <p:cNvPr id="4" name="">
            <a:extLst xmlns:a="http://schemas.openxmlformats.org/drawingml/2006/main">
              <a:ext uri="{FF2B5EF4-FFF2-40B4-BE49-F238E27FC236}">
                <a16:creationId xmlns:a16="http://schemas.microsoft.com/office/drawing/2014/main" id="{592BD899-FAFD-4857-9F55-04CDB379A69B}"/>
              </a:ext>
            </a:extLst>
          </p:cNvPr>
          <p:cNvSpPr>
            <a:spLocks xmlns:a="http://schemas.openxmlformats.org/drawingml/2006/main" noGrp="1"/>
          </p:cNvSpPr>
          <p:nvPr/>
        </p:nvSpPr>
        <p:spPr>
          <a:xfrm xmlns:a="http://schemas.openxmlformats.org/drawingml/2006/main">
            <a:off x="762000" y="1666875"/>
            <a:ext cx="19050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C8D6E4"/>
            </a:solidFill>
            <a:prstDash val="solid"/>
          </a:ln>
        </p:spPr>
      </p:sp>
      <p:sp>
        <p:nvSpPr>
          <p:cNvPr id="5" name="">
            <a:extLst xmlns:a="http://schemas.openxmlformats.org/drawingml/2006/main">
              <a:ext uri="{FF2B5EF4-FFF2-40B4-BE49-F238E27FC236}">
                <a16:creationId xmlns:a16="http://schemas.microsoft.com/office/drawing/2014/main" id="{8DEA4CE9-0CA0-4E53-9239-1A8BAD88D059}"/>
              </a:ext>
            </a:extLst>
          </p:cNvPr>
          <p:cNvSpPr>
            <a:spLocks xmlns:a="http://schemas.openxmlformats.org/drawingml/2006/main" noGrp="1"/>
          </p:cNvSpPr>
          <p:nvPr/>
        </p:nvSpPr>
        <p:spPr>
          <a:xfrm xmlns:a="http://schemas.openxmlformats.org/drawingml/2006/main">
            <a:off x="933450" y="1857375"/>
            <a:ext cx="1562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i="0">
                <a:solidFill>
                  <a:srgbClr val="203F6E"/>
                </a:solidFill>
              </a:defRPr>
            </a:pPr>
            <a:r>
              <a:rPr sz="2250" b="1" i="0">
                <a:solidFill>
                  <a:srgbClr val="203F6E"/>
                </a:solidFill>
              </a:rPr>
              <a:t>Adam</a:t>
            </a:r>
          </a:p>
        </p:txBody>
      </p:sp>
      <p:sp>
        <p:nvSpPr>
          <p:cNvPr id="6" name="">
            <a:extLst xmlns:a="http://schemas.openxmlformats.org/drawingml/2006/main">
              <a:ext uri="{FF2B5EF4-FFF2-40B4-BE49-F238E27FC236}">
                <a16:creationId xmlns:a16="http://schemas.microsoft.com/office/drawing/2014/main" id="{1D69AE1B-B8F5-4E43-9618-32B6E0441A9C}"/>
              </a:ext>
            </a:extLst>
          </p:cNvPr>
          <p:cNvSpPr>
            <a:spLocks xmlns:a="http://schemas.openxmlformats.org/drawingml/2006/main" noGrp="1"/>
          </p:cNvSpPr>
          <p:nvPr/>
        </p:nvSpPr>
        <p:spPr>
          <a:xfrm xmlns:a="http://schemas.openxmlformats.org/drawingml/2006/main">
            <a:off x="933450" y="2219325"/>
            <a:ext cx="1562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17345F"/>
                </a:solidFill>
              </a:defRPr>
            </a:pPr>
            <a:r>
              <a:rPr sz="1050" b="1" i="0">
                <a:solidFill>
                  <a:srgbClr val="17345F"/>
                </a:solidFill>
              </a:rPr>
              <a:t>Optimiseur</a:t>
            </a:r>
          </a:p>
        </p:txBody>
      </p:sp>
      <p:sp>
        <p:nvSpPr>
          <p:cNvPr id="7" name="">
            <a:extLst xmlns:a="http://schemas.openxmlformats.org/drawingml/2006/main">
              <a:ext uri="{FF2B5EF4-FFF2-40B4-BE49-F238E27FC236}">
                <a16:creationId xmlns:a16="http://schemas.microsoft.com/office/drawing/2014/main" id="{3F688F63-E6C0-42C4-9FCD-FAFF2F9D0868}"/>
              </a:ext>
            </a:extLst>
          </p:cNvPr>
          <p:cNvSpPr>
            <a:spLocks xmlns:a="http://schemas.openxmlformats.org/drawingml/2006/main" noGrp="1"/>
          </p:cNvSpPr>
          <p:nvPr/>
        </p:nvSpPr>
        <p:spPr>
          <a:xfrm xmlns:a="http://schemas.openxmlformats.org/drawingml/2006/main">
            <a:off x="933450" y="2428875"/>
            <a:ext cx="1562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5A6B82"/>
                </a:solidFill>
              </a:defRPr>
            </a:pPr>
            <a:r>
              <a:rPr sz="750" b="0" i="0">
                <a:solidFill>
                  <a:srgbClr val="5A6B82"/>
                </a:solidFill>
              </a:rPr>
              <a:t>learning rate = 1e-4</a:t>
            </a:r>
          </a:p>
        </p:txBody>
      </p:sp>
      <p:sp>
        <p:nvSpPr>
          <p:cNvPr id="8" name="">
            <a:extLst xmlns:a="http://schemas.openxmlformats.org/drawingml/2006/main">
              <a:ext uri="{FF2B5EF4-FFF2-40B4-BE49-F238E27FC236}">
                <a16:creationId xmlns:a16="http://schemas.microsoft.com/office/drawing/2014/main" id="{86186F53-E6D3-4D1E-8375-7A78EF164566}"/>
              </a:ext>
            </a:extLst>
          </p:cNvPr>
          <p:cNvSpPr>
            <a:spLocks xmlns:a="http://schemas.openxmlformats.org/drawingml/2006/main" noGrp="1"/>
          </p:cNvSpPr>
          <p:nvPr/>
        </p:nvSpPr>
        <p:spPr>
          <a:xfrm xmlns:a="http://schemas.openxmlformats.org/drawingml/2006/main">
            <a:off x="3000375" y="1666875"/>
            <a:ext cx="19050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C8D6E4"/>
            </a:solidFill>
            <a:prstDash val="solid"/>
          </a:ln>
        </p:spPr>
      </p:sp>
      <p:sp>
        <p:nvSpPr>
          <p:cNvPr id="9" name="">
            <a:extLst xmlns:a="http://schemas.openxmlformats.org/drawingml/2006/main">
              <a:ext uri="{FF2B5EF4-FFF2-40B4-BE49-F238E27FC236}">
                <a16:creationId xmlns:a16="http://schemas.microsoft.com/office/drawing/2014/main" id="{B287B5DA-D2BC-465E-A332-B51F95A9E40B}"/>
              </a:ext>
            </a:extLst>
          </p:cNvPr>
          <p:cNvSpPr>
            <a:spLocks xmlns:a="http://schemas.openxmlformats.org/drawingml/2006/main" noGrp="1"/>
          </p:cNvSpPr>
          <p:nvPr/>
        </p:nvSpPr>
        <p:spPr>
          <a:xfrm xmlns:a="http://schemas.openxmlformats.org/drawingml/2006/main">
            <a:off x="3171825" y="1857375"/>
            <a:ext cx="1562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i="0">
                <a:solidFill>
                  <a:srgbClr val="1C8B53"/>
                </a:solidFill>
              </a:defRPr>
            </a:pPr>
            <a:r>
              <a:rPr sz="2250" b="1" i="0">
                <a:solidFill>
                  <a:srgbClr val="1C8B53"/>
                </a:solidFill>
              </a:rPr>
              <a:t>8</a:t>
            </a:r>
          </a:p>
        </p:txBody>
      </p:sp>
      <p:sp>
        <p:nvSpPr>
          <p:cNvPr id="10" name="">
            <a:extLst xmlns:a="http://schemas.openxmlformats.org/drawingml/2006/main">
              <a:ext uri="{FF2B5EF4-FFF2-40B4-BE49-F238E27FC236}">
                <a16:creationId xmlns:a16="http://schemas.microsoft.com/office/drawing/2014/main" id="{0031FDB5-55CF-49C5-A076-52CF22A93E61}"/>
              </a:ext>
            </a:extLst>
          </p:cNvPr>
          <p:cNvSpPr>
            <a:spLocks xmlns:a="http://schemas.openxmlformats.org/drawingml/2006/main" noGrp="1"/>
          </p:cNvSpPr>
          <p:nvPr/>
        </p:nvSpPr>
        <p:spPr>
          <a:xfrm xmlns:a="http://schemas.openxmlformats.org/drawingml/2006/main">
            <a:off x="3171825" y="2219325"/>
            <a:ext cx="1562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17345F"/>
                </a:solidFill>
              </a:defRPr>
            </a:pPr>
            <a:r>
              <a:rPr sz="1050" b="1" i="0">
                <a:solidFill>
                  <a:srgbClr val="17345F"/>
                </a:solidFill>
              </a:rPr>
              <a:t>Batch size</a:t>
            </a:r>
          </a:p>
        </p:txBody>
      </p:sp>
      <p:sp>
        <p:nvSpPr>
          <p:cNvPr id="11" name="">
            <a:extLst xmlns:a="http://schemas.openxmlformats.org/drawingml/2006/main">
              <a:ext uri="{FF2B5EF4-FFF2-40B4-BE49-F238E27FC236}">
                <a16:creationId xmlns:a16="http://schemas.microsoft.com/office/drawing/2014/main" id="{ACE43BD9-1DAC-41D4-82F2-5BA33CA9B0E0}"/>
              </a:ext>
            </a:extLst>
          </p:cNvPr>
          <p:cNvSpPr>
            <a:spLocks xmlns:a="http://schemas.openxmlformats.org/drawingml/2006/main" noGrp="1"/>
          </p:cNvSpPr>
          <p:nvPr/>
        </p:nvSpPr>
        <p:spPr>
          <a:xfrm xmlns:a="http://schemas.openxmlformats.org/drawingml/2006/main">
            <a:off x="3171825" y="2428875"/>
            <a:ext cx="1562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5A6B82"/>
                </a:solidFill>
              </a:defRPr>
            </a:pPr>
            <a:r>
              <a:rPr sz="750" b="0" i="0">
                <a:solidFill>
                  <a:srgbClr val="5A6B82"/>
                </a:solidFill>
              </a:rPr>
              <a:t>entraînement local CPU</a:t>
            </a:r>
          </a:p>
        </p:txBody>
      </p:sp>
      <p:sp>
        <p:nvSpPr>
          <p:cNvPr id="12" name="">
            <a:extLst xmlns:a="http://schemas.openxmlformats.org/drawingml/2006/main">
              <a:ext uri="{FF2B5EF4-FFF2-40B4-BE49-F238E27FC236}">
                <a16:creationId xmlns:a16="http://schemas.microsoft.com/office/drawing/2014/main" id="{E78E0392-896D-49DF-9A84-BD1FF4E8CB74}"/>
              </a:ext>
            </a:extLst>
          </p:cNvPr>
          <p:cNvSpPr>
            <a:spLocks xmlns:a="http://schemas.openxmlformats.org/drawingml/2006/main" noGrp="1"/>
          </p:cNvSpPr>
          <p:nvPr/>
        </p:nvSpPr>
        <p:spPr>
          <a:xfrm xmlns:a="http://schemas.openxmlformats.org/drawingml/2006/main">
            <a:off x="5238750" y="1666875"/>
            <a:ext cx="19050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C8D6E4"/>
            </a:solidFill>
            <a:prstDash val="solid"/>
          </a:ln>
        </p:spPr>
      </p:sp>
      <p:sp>
        <p:nvSpPr>
          <p:cNvPr id="13" name="">
            <a:extLst xmlns:a="http://schemas.openxmlformats.org/drawingml/2006/main">
              <a:ext uri="{FF2B5EF4-FFF2-40B4-BE49-F238E27FC236}">
                <a16:creationId xmlns:a16="http://schemas.microsoft.com/office/drawing/2014/main" id="{9CF1F5AD-74B8-4B4B-A805-1FA38F2AB057}"/>
              </a:ext>
            </a:extLst>
          </p:cNvPr>
          <p:cNvSpPr>
            <a:spLocks xmlns:a="http://schemas.openxmlformats.org/drawingml/2006/main" noGrp="1"/>
          </p:cNvSpPr>
          <p:nvPr/>
        </p:nvSpPr>
        <p:spPr>
          <a:xfrm xmlns:a="http://schemas.openxmlformats.org/drawingml/2006/main">
            <a:off x="5410200" y="1857375"/>
            <a:ext cx="1562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i="0">
                <a:solidFill>
                  <a:srgbClr val="C95C12"/>
                </a:solidFill>
              </a:defRPr>
            </a:pPr>
            <a:r>
              <a:rPr sz="2250" b="1" i="0">
                <a:solidFill>
                  <a:srgbClr val="C95C12"/>
                </a:solidFill>
              </a:rPr>
              <a:t>30</a:t>
            </a:r>
          </a:p>
        </p:txBody>
      </p:sp>
      <p:sp>
        <p:nvSpPr>
          <p:cNvPr id="14" name="">
            <a:extLst xmlns:a="http://schemas.openxmlformats.org/drawingml/2006/main">
              <a:ext uri="{FF2B5EF4-FFF2-40B4-BE49-F238E27FC236}">
                <a16:creationId xmlns:a16="http://schemas.microsoft.com/office/drawing/2014/main" id="{CCB915EB-2143-4DE2-B788-0EDDB0804201}"/>
              </a:ext>
            </a:extLst>
          </p:cNvPr>
          <p:cNvSpPr>
            <a:spLocks xmlns:a="http://schemas.openxmlformats.org/drawingml/2006/main" noGrp="1"/>
          </p:cNvSpPr>
          <p:nvPr/>
        </p:nvSpPr>
        <p:spPr>
          <a:xfrm xmlns:a="http://schemas.openxmlformats.org/drawingml/2006/main">
            <a:off x="5410200" y="2219325"/>
            <a:ext cx="1562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17345F"/>
                </a:solidFill>
              </a:defRPr>
            </a:pPr>
            <a:r>
              <a:rPr sz="1050" b="1" i="0">
                <a:solidFill>
                  <a:srgbClr val="17345F"/>
                </a:solidFill>
              </a:rPr>
              <a:t>Epochs max</a:t>
            </a:r>
          </a:p>
        </p:txBody>
      </p:sp>
      <p:sp>
        <p:nvSpPr>
          <p:cNvPr id="15" name="">
            <a:extLst xmlns:a="http://schemas.openxmlformats.org/drawingml/2006/main">
              <a:ext uri="{FF2B5EF4-FFF2-40B4-BE49-F238E27FC236}">
                <a16:creationId xmlns:a16="http://schemas.microsoft.com/office/drawing/2014/main" id="{5F38F23D-A504-4821-8767-42F263EEF600}"/>
              </a:ext>
            </a:extLst>
          </p:cNvPr>
          <p:cNvSpPr>
            <a:spLocks xmlns:a="http://schemas.openxmlformats.org/drawingml/2006/main" noGrp="1"/>
          </p:cNvSpPr>
          <p:nvPr/>
        </p:nvSpPr>
        <p:spPr>
          <a:xfrm xmlns:a="http://schemas.openxmlformats.org/drawingml/2006/main">
            <a:off x="5410200" y="2428875"/>
            <a:ext cx="1562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5A6B82"/>
                </a:solidFill>
              </a:defRPr>
            </a:pPr>
            <a:r>
              <a:rPr sz="750" b="0" i="0">
                <a:solidFill>
                  <a:srgbClr val="5A6B82"/>
                </a:solidFill>
              </a:rPr>
              <a:t>arrêt automatique</a:t>
            </a:r>
          </a:p>
        </p:txBody>
      </p:sp>
      <p:sp>
        <p:nvSpPr>
          <p:cNvPr id="16" name="">
            <a:extLst xmlns:a="http://schemas.openxmlformats.org/drawingml/2006/main">
              <a:ext uri="{FF2B5EF4-FFF2-40B4-BE49-F238E27FC236}">
                <a16:creationId xmlns:a16="http://schemas.microsoft.com/office/drawing/2014/main" id="{7C8A8F9C-C938-4D5D-A4F3-674935DB759D}"/>
              </a:ext>
            </a:extLst>
          </p:cNvPr>
          <p:cNvSpPr>
            <a:spLocks xmlns:a="http://schemas.openxmlformats.org/drawingml/2006/main" noGrp="1"/>
          </p:cNvSpPr>
          <p:nvPr/>
        </p:nvSpPr>
        <p:spPr>
          <a:xfrm xmlns:a="http://schemas.openxmlformats.org/drawingml/2006/main">
            <a:off x="7477125" y="1666875"/>
            <a:ext cx="19050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C8D6E4"/>
            </a:solidFill>
            <a:prstDash val="solid"/>
          </a:ln>
        </p:spPr>
      </p:sp>
      <p:sp>
        <p:nvSpPr>
          <p:cNvPr id="17" name="">
            <a:extLst xmlns:a="http://schemas.openxmlformats.org/drawingml/2006/main">
              <a:ext uri="{FF2B5EF4-FFF2-40B4-BE49-F238E27FC236}">
                <a16:creationId xmlns:a16="http://schemas.microsoft.com/office/drawing/2014/main" id="{4BB9B23C-FA10-47F5-B288-CA829DA82836}"/>
              </a:ext>
            </a:extLst>
          </p:cNvPr>
          <p:cNvSpPr>
            <a:spLocks xmlns:a="http://schemas.openxmlformats.org/drawingml/2006/main" noGrp="1"/>
          </p:cNvSpPr>
          <p:nvPr/>
        </p:nvSpPr>
        <p:spPr>
          <a:xfrm xmlns:a="http://schemas.openxmlformats.org/drawingml/2006/main">
            <a:off x="7648575" y="1857375"/>
            <a:ext cx="1562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i="0">
                <a:solidFill>
                  <a:srgbClr val="1C8B53"/>
                </a:solidFill>
              </a:defRPr>
            </a:pPr>
            <a:r>
              <a:rPr sz="2250" b="1" i="0">
                <a:solidFill>
                  <a:srgbClr val="1C8B53"/>
                </a:solidFill>
              </a:rPr>
              <a:t>epoch 4</a:t>
            </a:r>
          </a:p>
        </p:txBody>
      </p:sp>
      <p:sp>
        <p:nvSpPr>
          <p:cNvPr id="18" name="">
            <a:extLst xmlns:a="http://schemas.openxmlformats.org/drawingml/2006/main">
              <a:ext uri="{FF2B5EF4-FFF2-40B4-BE49-F238E27FC236}">
                <a16:creationId xmlns:a16="http://schemas.microsoft.com/office/drawing/2014/main" id="{E7573C60-3EF8-4D35-821C-DB1872D15AC3}"/>
              </a:ext>
            </a:extLst>
          </p:cNvPr>
          <p:cNvSpPr>
            <a:spLocks xmlns:a="http://schemas.openxmlformats.org/drawingml/2006/main" noGrp="1"/>
          </p:cNvSpPr>
          <p:nvPr/>
        </p:nvSpPr>
        <p:spPr>
          <a:xfrm xmlns:a="http://schemas.openxmlformats.org/drawingml/2006/main">
            <a:off x="7648575" y="2219325"/>
            <a:ext cx="1562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17345F"/>
                </a:solidFill>
              </a:defRPr>
            </a:pPr>
            <a:r>
              <a:rPr sz="1050" b="1" i="0">
                <a:solidFill>
                  <a:srgbClr val="17345F"/>
                </a:solidFill>
              </a:rPr>
              <a:t>Meilleur modèle</a:t>
            </a:r>
          </a:p>
        </p:txBody>
      </p:sp>
      <p:sp>
        <p:nvSpPr>
          <p:cNvPr id="19" name="">
            <a:extLst xmlns:a="http://schemas.openxmlformats.org/drawingml/2006/main">
              <a:ext uri="{FF2B5EF4-FFF2-40B4-BE49-F238E27FC236}">
                <a16:creationId xmlns:a16="http://schemas.microsoft.com/office/drawing/2014/main" id="{06884B28-37A8-4DD1-8CB9-CF32FFE77966}"/>
              </a:ext>
            </a:extLst>
          </p:cNvPr>
          <p:cNvSpPr>
            <a:spLocks xmlns:a="http://schemas.openxmlformats.org/drawingml/2006/main" noGrp="1"/>
          </p:cNvSpPr>
          <p:nvPr/>
        </p:nvSpPr>
        <p:spPr>
          <a:xfrm xmlns:a="http://schemas.openxmlformats.org/drawingml/2006/main">
            <a:off x="7648575" y="2428875"/>
            <a:ext cx="1562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5A6B82"/>
                </a:solidFill>
              </a:defRPr>
            </a:pPr>
            <a:r>
              <a:rPr sz="750" b="0" i="0">
                <a:solidFill>
                  <a:srgbClr val="5A6B82"/>
                </a:solidFill>
              </a:rPr>
              <a:t>val_loss = 0,3197</a:t>
            </a:r>
          </a:p>
        </p:txBody>
      </p:sp>
      <p:sp>
        <p:nvSpPr>
          <p:cNvPr id="20" name="">
            <a:extLst xmlns:a="http://schemas.openxmlformats.org/drawingml/2006/main">
              <a:ext uri="{FF2B5EF4-FFF2-40B4-BE49-F238E27FC236}">
                <a16:creationId xmlns:a16="http://schemas.microsoft.com/office/drawing/2014/main" id="{3563BA29-1124-4FE7-A0CE-A62AD7325149}"/>
              </a:ext>
            </a:extLst>
          </p:cNvPr>
          <p:cNvSpPr>
            <a:spLocks xmlns:a="http://schemas.openxmlformats.org/drawingml/2006/main" noGrp="1"/>
          </p:cNvSpPr>
          <p:nvPr/>
        </p:nvSpPr>
        <p:spPr>
          <a:xfrm xmlns:a="http://schemas.openxmlformats.org/drawingml/2006/main">
            <a:off x="1047750" y="3333750"/>
            <a:ext cx="2952750" cy="1219200"/>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9525">
            <a:solidFill>
              <a:srgbClr val="C8D6E4"/>
            </a:solidFill>
            <a:prstDash val="solid"/>
          </a:ln>
        </p:spPr>
      </p:sp>
      <p:sp>
        <p:nvSpPr>
          <p:cNvPr id="21" name="">
            <a:extLst xmlns:a="http://schemas.openxmlformats.org/drawingml/2006/main">
              <a:ext uri="{FF2B5EF4-FFF2-40B4-BE49-F238E27FC236}">
                <a16:creationId xmlns:a16="http://schemas.microsoft.com/office/drawing/2014/main" id="{0BD35C1F-FDAF-4827-91D1-F841462F2B63}"/>
              </a:ext>
            </a:extLst>
          </p:cNvPr>
          <p:cNvSpPr>
            <a:spLocks xmlns:a="http://schemas.openxmlformats.org/drawingml/2006/main" noGrp="1"/>
          </p:cNvSpPr>
          <p:nvPr/>
        </p:nvSpPr>
        <p:spPr>
          <a:xfrm xmlns:a="http://schemas.openxmlformats.org/drawingml/2006/main">
            <a:off x="1047750" y="3333750"/>
            <a:ext cx="66675" cy="1219200"/>
          </a:xfrm>
          <a:prstGeom xmlns:a="http://schemas.openxmlformats.org/drawingml/2006/main" prst="rect">
            <a:avLst/>
          </a:prstGeom>
          <a:solidFill xmlns:a="http://schemas.openxmlformats.org/drawingml/2006/main">
            <a:srgbClr val="203F6E"/>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B958710B-9604-4883-8A1E-1A97263C9259}"/>
              </a:ext>
            </a:extLst>
          </p:cNvPr>
          <p:cNvSpPr>
            <a:spLocks xmlns:a="http://schemas.openxmlformats.org/drawingml/2006/main" noGrp="1"/>
          </p:cNvSpPr>
          <p:nvPr/>
        </p:nvSpPr>
        <p:spPr>
          <a:xfrm xmlns:a="http://schemas.openxmlformats.org/drawingml/2006/main">
            <a:off x="1276350" y="356235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203F6E"/>
                </a:solidFill>
              </a:defRPr>
            </a:pPr>
            <a:r>
              <a:rPr sz="1350" b="1" i="0">
                <a:solidFill>
                  <a:srgbClr val="203F6E"/>
                </a:solidFill>
              </a:rPr>
              <a:t>EarlyStopping</a:t>
            </a:r>
          </a:p>
        </p:txBody>
      </p:sp>
      <p:sp>
        <p:nvSpPr>
          <p:cNvPr id="23" name="">
            <a:extLst xmlns:a="http://schemas.openxmlformats.org/drawingml/2006/main">
              <a:ext uri="{FF2B5EF4-FFF2-40B4-BE49-F238E27FC236}">
                <a16:creationId xmlns:a16="http://schemas.microsoft.com/office/drawing/2014/main" id="{C15947A9-E1B3-4515-A225-05CB4833E338}"/>
              </a:ext>
            </a:extLst>
          </p:cNvPr>
          <p:cNvSpPr>
            <a:spLocks xmlns:a="http://schemas.openxmlformats.org/drawingml/2006/main" noGrp="1"/>
          </p:cNvSpPr>
          <p:nvPr/>
        </p:nvSpPr>
        <p:spPr>
          <a:xfrm xmlns:a="http://schemas.openxmlformats.org/drawingml/2006/main">
            <a:off x="1276350" y="3943350"/>
            <a:ext cx="2533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102033"/>
                </a:solidFill>
              </a:defRPr>
            </a:pPr>
            <a:r>
              <a:rPr sz="1200" b="0" i="0">
                <a:solidFill>
                  <a:srgbClr val="102033"/>
                </a:solidFill>
              </a:rPr>
              <a:t>Surveille val_loss avec patience = 6 et restore_best_weights=True. Il évite de conserver un modèle qui apprend trop le jeu d’entraînement.</a:t>
            </a:r>
          </a:p>
        </p:txBody>
      </p:sp>
      <p:sp>
        <p:nvSpPr>
          <p:cNvPr id="24" name="">
            <a:extLst xmlns:a="http://schemas.openxmlformats.org/drawingml/2006/main">
              <a:ext uri="{FF2B5EF4-FFF2-40B4-BE49-F238E27FC236}">
                <a16:creationId xmlns:a16="http://schemas.microsoft.com/office/drawing/2014/main" id="{EA00F8D9-E635-4D48-9874-4962D073BF15}"/>
              </a:ext>
            </a:extLst>
          </p:cNvPr>
          <p:cNvSpPr>
            <a:spLocks xmlns:a="http://schemas.openxmlformats.org/drawingml/2006/main" noGrp="1"/>
          </p:cNvSpPr>
          <p:nvPr/>
        </p:nvSpPr>
        <p:spPr>
          <a:xfrm xmlns:a="http://schemas.openxmlformats.org/drawingml/2006/main">
            <a:off x="4619625" y="3333750"/>
            <a:ext cx="2952750" cy="1219200"/>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9525">
            <a:solidFill>
              <a:srgbClr val="C8D6E4"/>
            </a:solidFill>
            <a:prstDash val="solid"/>
          </a:ln>
        </p:spPr>
      </p:sp>
      <p:sp>
        <p:nvSpPr>
          <p:cNvPr id="25" name="">
            <a:extLst xmlns:a="http://schemas.openxmlformats.org/drawingml/2006/main">
              <a:ext uri="{FF2B5EF4-FFF2-40B4-BE49-F238E27FC236}">
                <a16:creationId xmlns:a16="http://schemas.microsoft.com/office/drawing/2014/main" id="{F087D11C-2246-490B-AEA8-405DE01D0BF8}"/>
              </a:ext>
            </a:extLst>
          </p:cNvPr>
          <p:cNvSpPr>
            <a:spLocks xmlns:a="http://schemas.openxmlformats.org/drawingml/2006/main" noGrp="1"/>
          </p:cNvSpPr>
          <p:nvPr/>
        </p:nvSpPr>
        <p:spPr>
          <a:xfrm xmlns:a="http://schemas.openxmlformats.org/drawingml/2006/main">
            <a:off x="4619625" y="3333750"/>
            <a:ext cx="66675" cy="1219200"/>
          </a:xfrm>
          <a:prstGeom xmlns:a="http://schemas.openxmlformats.org/drawingml/2006/main" prst="rect">
            <a:avLst/>
          </a:prstGeom>
          <a:solidFill xmlns:a="http://schemas.openxmlformats.org/drawingml/2006/main">
            <a:srgbClr val="1C8B53"/>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315A2A6D-1A09-4D87-A894-096A371BF9F9}"/>
              </a:ext>
            </a:extLst>
          </p:cNvPr>
          <p:cNvSpPr>
            <a:spLocks xmlns:a="http://schemas.openxmlformats.org/drawingml/2006/main" noGrp="1"/>
          </p:cNvSpPr>
          <p:nvPr/>
        </p:nvSpPr>
        <p:spPr>
          <a:xfrm xmlns:a="http://schemas.openxmlformats.org/drawingml/2006/main">
            <a:off x="4848225" y="356235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C8B53"/>
                </a:solidFill>
              </a:defRPr>
            </a:pPr>
            <a:r>
              <a:rPr sz="1350" b="1" i="0">
                <a:solidFill>
                  <a:srgbClr val="1C8B53"/>
                </a:solidFill>
              </a:rPr>
              <a:t>ReduceLROnPlateau</a:t>
            </a:r>
          </a:p>
        </p:txBody>
      </p:sp>
      <p:sp>
        <p:nvSpPr>
          <p:cNvPr id="27" name="">
            <a:extLst xmlns:a="http://schemas.openxmlformats.org/drawingml/2006/main">
              <a:ext uri="{FF2B5EF4-FFF2-40B4-BE49-F238E27FC236}">
                <a16:creationId xmlns:a16="http://schemas.microsoft.com/office/drawing/2014/main" id="{01703529-C868-4F90-A582-3C0D81A8912D}"/>
              </a:ext>
            </a:extLst>
          </p:cNvPr>
          <p:cNvSpPr>
            <a:spLocks xmlns:a="http://schemas.openxmlformats.org/drawingml/2006/main" noGrp="1"/>
          </p:cNvSpPr>
          <p:nvPr/>
        </p:nvSpPr>
        <p:spPr>
          <a:xfrm xmlns:a="http://schemas.openxmlformats.org/drawingml/2006/main">
            <a:off x="4848225" y="3943350"/>
            <a:ext cx="2533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102033"/>
                </a:solidFill>
              </a:defRPr>
            </a:pPr>
            <a:r>
              <a:rPr sz="1200" b="0" i="0">
                <a:solidFill>
                  <a:srgbClr val="102033"/>
                </a:solidFill>
              </a:rPr>
              <a:t>Si val_loss stagne, le learning rate est divisé par 2. Le minimum configuré est 1e-6.</a:t>
            </a:r>
          </a:p>
        </p:txBody>
      </p:sp>
      <p:sp>
        <p:nvSpPr>
          <p:cNvPr id="28" name="">
            <a:extLst xmlns:a="http://schemas.openxmlformats.org/drawingml/2006/main">
              <a:ext uri="{FF2B5EF4-FFF2-40B4-BE49-F238E27FC236}">
                <a16:creationId xmlns:a16="http://schemas.microsoft.com/office/drawing/2014/main" id="{0F92A634-6C32-41BD-AC17-0A3DB770E47A}"/>
              </a:ext>
            </a:extLst>
          </p:cNvPr>
          <p:cNvSpPr>
            <a:spLocks xmlns:a="http://schemas.openxmlformats.org/drawingml/2006/main" noGrp="1"/>
          </p:cNvSpPr>
          <p:nvPr/>
        </p:nvSpPr>
        <p:spPr>
          <a:xfrm xmlns:a="http://schemas.openxmlformats.org/drawingml/2006/main">
            <a:off x="8191500" y="3333750"/>
            <a:ext cx="2952750" cy="1219200"/>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9525">
            <a:solidFill>
              <a:srgbClr val="C8D6E4"/>
            </a:solidFill>
            <a:prstDash val="solid"/>
          </a:ln>
        </p:spPr>
      </p:sp>
      <p:sp>
        <p:nvSpPr>
          <p:cNvPr id="29" name="">
            <a:extLst xmlns:a="http://schemas.openxmlformats.org/drawingml/2006/main">
              <a:ext uri="{FF2B5EF4-FFF2-40B4-BE49-F238E27FC236}">
                <a16:creationId xmlns:a16="http://schemas.microsoft.com/office/drawing/2014/main" id="{54D0D8B5-6EDC-4809-87E8-5190E1991BBD}"/>
              </a:ext>
            </a:extLst>
          </p:cNvPr>
          <p:cNvSpPr>
            <a:spLocks xmlns:a="http://schemas.openxmlformats.org/drawingml/2006/main" noGrp="1"/>
          </p:cNvSpPr>
          <p:nvPr/>
        </p:nvSpPr>
        <p:spPr>
          <a:xfrm xmlns:a="http://schemas.openxmlformats.org/drawingml/2006/main">
            <a:off x="8191500" y="3333750"/>
            <a:ext cx="66675" cy="1219200"/>
          </a:xfrm>
          <a:prstGeom xmlns:a="http://schemas.openxmlformats.org/drawingml/2006/main" prst="rect">
            <a:avLst/>
          </a:prstGeom>
          <a:solidFill xmlns:a="http://schemas.openxmlformats.org/drawingml/2006/main">
            <a:srgbClr val="C95C12"/>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D0DC4C8B-D2BA-450F-AC00-D9277F0B7AA3}"/>
              </a:ext>
            </a:extLst>
          </p:cNvPr>
          <p:cNvSpPr>
            <a:spLocks xmlns:a="http://schemas.openxmlformats.org/drawingml/2006/main" noGrp="1"/>
          </p:cNvSpPr>
          <p:nvPr/>
        </p:nvSpPr>
        <p:spPr>
          <a:xfrm xmlns:a="http://schemas.openxmlformats.org/drawingml/2006/main">
            <a:off x="8420100" y="356235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C95C12"/>
                </a:solidFill>
              </a:defRPr>
            </a:pPr>
            <a:r>
              <a:rPr sz="1350" b="1" i="0">
                <a:solidFill>
                  <a:srgbClr val="C95C12"/>
                </a:solidFill>
              </a:rPr>
              <a:t>Checkpoints</a:t>
            </a:r>
          </a:p>
        </p:txBody>
      </p:sp>
      <p:sp>
        <p:nvSpPr>
          <p:cNvPr id="31" name="">
            <a:extLst xmlns:a="http://schemas.openxmlformats.org/drawingml/2006/main">
              <a:ext uri="{FF2B5EF4-FFF2-40B4-BE49-F238E27FC236}">
                <a16:creationId xmlns:a16="http://schemas.microsoft.com/office/drawing/2014/main" id="{05E03F18-01F7-4CD8-B8C4-BD5E2614CF70}"/>
              </a:ext>
            </a:extLst>
          </p:cNvPr>
          <p:cNvSpPr>
            <a:spLocks xmlns:a="http://schemas.openxmlformats.org/drawingml/2006/main" noGrp="1"/>
          </p:cNvSpPr>
          <p:nvPr/>
        </p:nvSpPr>
        <p:spPr>
          <a:xfrm xmlns:a="http://schemas.openxmlformats.org/drawingml/2006/main">
            <a:off x="8420100" y="3943350"/>
            <a:ext cx="2533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102033"/>
                </a:solidFill>
              </a:defRPr>
            </a:pPr>
            <a:r>
              <a:rPr sz="1200" b="0" i="0">
                <a:solidFill>
                  <a:srgbClr val="102033"/>
                </a:solidFill>
              </a:rPr>
              <a:t>Les poids sont sauvegardés après chaque epoch pour reprendre après coupure sans repartir de zéro.</a:t>
            </a:r>
          </a:p>
        </p:txBody>
      </p:sp>
      <p:sp>
        <p:nvSpPr>
          <p:cNvPr id="32" name="">
            <a:extLst xmlns:a="http://schemas.openxmlformats.org/drawingml/2006/main">
              <a:ext uri="{FF2B5EF4-FFF2-40B4-BE49-F238E27FC236}">
                <a16:creationId xmlns:a16="http://schemas.microsoft.com/office/drawing/2014/main" id="{4D0E75BA-AC1D-4E29-B524-88500350FC72}"/>
              </a:ext>
            </a:extLst>
          </p:cNvPr>
          <p:cNvSpPr>
            <a:spLocks xmlns:a="http://schemas.openxmlformats.org/drawingml/2006/main" noGrp="1"/>
          </p:cNvSpPr>
          <p:nvPr/>
        </p:nvSpPr>
        <p:spPr>
          <a:xfrm xmlns:a="http://schemas.openxmlformats.org/drawingml/2006/main">
            <a:off x="1238250" y="5476875"/>
            <a:ext cx="971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1C8B53"/>
                </a:solidFill>
              </a:defRPr>
            </a:pPr>
            <a:r>
              <a:rPr sz="1275" b="1" i="0">
                <a:solidFill>
                  <a:srgbClr val="1C8B53"/>
                </a:solidFill>
              </a:rPr>
              <a:t>Interprétation : la sélection du modèle n’est pas arbitraire ; elle suit la validation, pas seulement la performance d’entraînement.</a:t>
            </a:r>
          </a:p>
        </p:txBody>
      </p:sp>
      <p:sp>
        <p:nvSpPr>
          <p:cNvPr id="33" name="">
            <a:extLst xmlns:a="http://schemas.openxmlformats.org/drawingml/2006/main">
              <a:ext uri="{FF2B5EF4-FFF2-40B4-BE49-F238E27FC236}">
                <a16:creationId xmlns:a16="http://schemas.microsoft.com/office/drawing/2014/main" id="{3CA3E9C1-FA2B-4D2D-B809-97F7164543C0}"/>
              </a:ext>
            </a:extLst>
          </p:cNvPr>
          <p:cNvSpPr>
            <a:spLocks xmlns:a="http://schemas.openxmlformats.org/drawingml/2006/main" noGrp="1"/>
          </p:cNvSpPr>
          <p:nvPr/>
        </p:nvSpPr>
        <p:spPr>
          <a:xfrm xmlns:a="http://schemas.openxmlformats.org/drawingml/2006/main">
            <a:off x="552450" y="6362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i="0">
                <a:solidFill>
                  <a:srgbClr val="5A6B82"/>
                </a:solidFill>
              </a:defRPr>
            </a:pPr>
            <a:r>
              <a:rPr sz="675" b="0" i="0">
                <a:solidFill>
                  <a:srgbClr val="5A6B82"/>
                </a:solidFill>
              </a:rPr>
              <a:t>Entraînement</a:t>
            </a:r>
          </a:p>
        </p:txBody>
      </p:sp>
      <p:sp>
        <p:nvSpPr>
          <p:cNvPr id="34" name="">
            <a:extLst xmlns:a="http://schemas.openxmlformats.org/drawingml/2006/main">
              <a:ext uri="{FF2B5EF4-FFF2-40B4-BE49-F238E27FC236}">
                <a16:creationId xmlns:a16="http://schemas.microsoft.com/office/drawing/2014/main" id="{3E7030ED-5F41-4742-AD2D-EFB8BFC9E4ED}"/>
              </a:ext>
            </a:extLst>
          </p:cNvPr>
          <p:cNvSpPr>
            <a:spLocks xmlns:a="http://schemas.openxmlformats.org/drawingml/2006/main" noGrp="1"/>
          </p:cNvSpPr>
          <p:nvPr/>
        </p:nvSpPr>
        <p:spPr>
          <a:xfrm xmlns:a="http://schemas.openxmlformats.org/drawingml/2006/main">
            <a:off x="11049000" y="63627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0" i="0">
                <a:solidFill>
                  <a:srgbClr val="5A6B82"/>
                </a:solidFill>
              </a:defRPr>
            </a:pPr>
            <a:r>
              <a:rPr sz="750" b="0" i="0">
                <a:solidFill>
                  <a:srgbClr val="5A6B82"/>
                </a:solidFill>
              </a:rPr>
              <a:t>10 / 18</a:t>
            </a:r>
          </a:p>
        </p:txBody>
      </p:sp>
    </p:spTree>
    <p:extLst>
      <p:ext uri="{BB962C8B-B14F-4D97-AF65-F5344CB8AC3E}">
        <p14:creationId xmlns:p14="http://schemas.microsoft.com/office/powerpoint/2010/main" val="121341234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910E197-F4D0-4842-A9F6-724D6510673E}"/>
              </a:ext>
            </a:extLst>
          </p:cNvPr>
          <p:cNvSpPr>
            <a:spLocks xmlns:a="http://schemas.openxmlformats.org/drawingml/2006/main" noGrp="1"/>
          </p:cNvSpPr>
          <p:nvPr/>
        </p:nvSpPr>
        <p:spPr>
          <a:xfrm xmlns:a="http://schemas.openxmlformats.org/drawingml/2006/main">
            <a:off x="552450" y="419100"/>
            <a:ext cx="933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i="0">
                <a:solidFill>
                  <a:srgbClr val="17345F"/>
                </a:solidFill>
              </a:defRPr>
            </a:pPr>
            <a:r>
              <a:rPr sz="2550" b="1" i="0">
                <a:solidFill>
                  <a:srgbClr val="17345F"/>
                </a:solidFill>
              </a:rPr>
              <a:t>Le modèle original détecte bien la violence</a:t>
            </a:r>
          </a:p>
        </p:txBody>
      </p:sp>
      <p:sp>
        <p:nvSpPr>
          <p:cNvPr id="2" name="">
            <a:extLst xmlns:a="http://schemas.openxmlformats.org/drawingml/2006/main">
              <a:ext uri="{FF2B5EF4-FFF2-40B4-BE49-F238E27FC236}">
                <a16:creationId xmlns:a16="http://schemas.microsoft.com/office/drawing/2014/main" id="{A20DCF2F-FAAF-476B-8366-7199EE28FB8F}"/>
              </a:ext>
            </a:extLst>
          </p:cNvPr>
          <p:cNvSpPr>
            <a:spLocks xmlns:a="http://schemas.openxmlformats.org/drawingml/2006/main" noGrp="1"/>
          </p:cNvSpPr>
          <p:nvPr/>
        </p:nvSpPr>
        <p:spPr>
          <a:xfrm xmlns:a="http://schemas.openxmlformats.org/drawingml/2006/main">
            <a:off x="552450" y="1095375"/>
            <a:ext cx="1047750" cy="47625"/>
          </a:xfrm>
          <a:prstGeom xmlns:a="http://schemas.openxmlformats.org/drawingml/2006/main" prst="rect">
            <a:avLst/>
          </a:prstGeom>
          <a:solidFill xmlns:a="http://schemas.openxmlformats.org/drawingml/2006/main">
            <a:srgbClr val="1C8B53"/>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285864E-FABA-4DF6-81A6-C0243EDD8A1B}"/>
              </a:ext>
            </a:extLst>
          </p:cNvPr>
          <p:cNvSpPr>
            <a:spLocks xmlns:a="http://schemas.openxmlformats.org/drawingml/2006/main" noGrp="1"/>
          </p:cNvSpPr>
          <p:nvPr/>
        </p:nvSpPr>
        <p:spPr>
          <a:xfrm xmlns:a="http://schemas.openxmlformats.org/drawingml/2006/main">
            <a:off x="552450" y="1238250"/>
            <a:ext cx="838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A6B82"/>
                </a:solidFill>
              </a:defRPr>
            </a:pPr>
            <a:r>
              <a:rPr sz="1200" b="0" i="0">
                <a:solidFill>
                  <a:srgbClr val="5A6B82"/>
                </a:solidFill>
              </a:rPr>
              <a:t>Résultats sur le jeu de test principal de 599 vidéos, θ = 0,50. Les faux positifs restent visibles dans la matrice.</a:t>
            </a:r>
          </a:p>
        </p:txBody>
      </p:sp>
      <p:sp>
        <p:nvSpPr>
          <p:cNvPr id="4" name="">
            <a:extLst xmlns:a="http://schemas.openxmlformats.org/drawingml/2006/main">
              <a:ext uri="{FF2B5EF4-FFF2-40B4-BE49-F238E27FC236}">
                <a16:creationId xmlns:a16="http://schemas.microsoft.com/office/drawing/2014/main" id="{FAA242D2-439D-4901-A94F-AF77510169F0}"/>
              </a:ext>
            </a:extLst>
          </p:cNvPr>
          <p:cNvSpPr>
            <a:spLocks xmlns:a="http://schemas.openxmlformats.org/drawingml/2006/main" noGrp="1"/>
          </p:cNvSpPr>
          <p:nvPr/>
        </p:nvSpPr>
        <p:spPr>
          <a:xfrm xmlns:a="http://schemas.openxmlformats.org/drawingml/2006/main">
            <a:off x="666750" y="1666875"/>
            <a:ext cx="16192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C8D6E4"/>
            </a:solidFill>
            <a:prstDash val="solid"/>
          </a:ln>
        </p:spPr>
      </p:sp>
      <p:sp>
        <p:nvSpPr>
          <p:cNvPr id="5" name="">
            <a:extLst xmlns:a="http://schemas.openxmlformats.org/drawingml/2006/main">
              <a:ext uri="{FF2B5EF4-FFF2-40B4-BE49-F238E27FC236}">
                <a16:creationId xmlns:a16="http://schemas.microsoft.com/office/drawing/2014/main" id="{20A1AE1C-B319-4D9F-B4CA-16026A65208D}"/>
              </a:ext>
            </a:extLst>
          </p:cNvPr>
          <p:cNvSpPr>
            <a:spLocks xmlns:a="http://schemas.openxmlformats.org/drawingml/2006/main" noGrp="1"/>
          </p:cNvSpPr>
          <p:nvPr/>
        </p:nvSpPr>
        <p:spPr>
          <a:xfrm xmlns:a="http://schemas.openxmlformats.org/drawingml/2006/main">
            <a:off x="838200" y="1857375"/>
            <a:ext cx="1276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i="0">
                <a:solidFill>
                  <a:srgbClr val="203F6E"/>
                </a:solidFill>
              </a:defRPr>
            </a:pPr>
            <a:r>
              <a:rPr sz="2250" b="1" i="0">
                <a:solidFill>
                  <a:srgbClr val="203F6E"/>
                </a:solidFill>
              </a:rPr>
              <a:t>86,81 %</a:t>
            </a:r>
          </a:p>
        </p:txBody>
      </p:sp>
      <p:sp>
        <p:nvSpPr>
          <p:cNvPr id="6" name="">
            <a:extLst xmlns:a="http://schemas.openxmlformats.org/drawingml/2006/main">
              <a:ext uri="{FF2B5EF4-FFF2-40B4-BE49-F238E27FC236}">
                <a16:creationId xmlns:a16="http://schemas.microsoft.com/office/drawing/2014/main" id="{F86636EA-9CA8-4719-A7C0-C5110EDE03FB}"/>
              </a:ext>
            </a:extLst>
          </p:cNvPr>
          <p:cNvSpPr>
            <a:spLocks xmlns:a="http://schemas.openxmlformats.org/drawingml/2006/main" noGrp="1"/>
          </p:cNvSpPr>
          <p:nvPr/>
        </p:nvSpPr>
        <p:spPr>
          <a:xfrm xmlns:a="http://schemas.openxmlformats.org/drawingml/2006/main">
            <a:off x="838200" y="2219325"/>
            <a:ext cx="1276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17345F"/>
                </a:solidFill>
              </a:defRPr>
            </a:pPr>
            <a:r>
              <a:rPr sz="1050" b="1" i="0">
                <a:solidFill>
                  <a:srgbClr val="17345F"/>
                </a:solidFill>
              </a:rPr>
              <a:t>Accuracy</a:t>
            </a:r>
          </a:p>
        </p:txBody>
      </p:sp>
      <p:sp>
        <p:nvSpPr>
          <p:cNvPr id="7" name="">
            <a:extLst xmlns:a="http://schemas.openxmlformats.org/drawingml/2006/main">
              <a:ext uri="{FF2B5EF4-FFF2-40B4-BE49-F238E27FC236}">
                <a16:creationId xmlns:a16="http://schemas.microsoft.com/office/drawing/2014/main" id="{B8F923A4-0CFA-4FDF-A46E-ACDD5CD96AD1}"/>
              </a:ext>
            </a:extLst>
          </p:cNvPr>
          <p:cNvSpPr>
            <a:spLocks xmlns:a="http://schemas.openxmlformats.org/drawingml/2006/main" noGrp="1"/>
          </p:cNvSpPr>
          <p:nvPr/>
        </p:nvSpPr>
        <p:spPr>
          <a:xfrm xmlns:a="http://schemas.openxmlformats.org/drawingml/2006/main">
            <a:off x="838200" y="2428875"/>
            <a:ext cx="1276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5A6B82"/>
                </a:solidFill>
              </a:defRPr>
            </a:pPr>
            <a:r>
              <a:rPr sz="750" b="0" i="0">
                <a:solidFill>
                  <a:srgbClr val="5A6B82"/>
                </a:solidFill>
              </a:rPr>
              <a:t>599 vidéos</a:t>
            </a:r>
          </a:p>
        </p:txBody>
      </p:sp>
      <p:sp>
        <p:nvSpPr>
          <p:cNvPr id="8" name="">
            <a:extLst xmlns:a="http://schemas.openxmlformats.org/drawingml/2006/main">
              <a:ext uri="{FF2B5EF4-FFF2-40B4-BE49-F238E27FC236}">
                <a16:creationId xmlns:a16="http://schemas.microsoft.com/office/drawing/2014/main" id="{ACB1A3AC-258D-4AAD-8E8C-6143E645CF0E}"/>
              </a:ext>
            </a:extLst>
          </p:cNvPr>
          <p:cNvSpPr>
            <a:spLocks xmlns:a="http://schemas.openxmlformats.org/drawingml/2006/main" noGrp="1"/>
          </p:cNvSpPr>
          <p:nvPr/>
        </p:nvSpPr>
        <p:spPr>
          <a:xfrm xmlns:a="http://schemas.openxmlformats.org/drawingml/2006/main">
            <a:off x="2476500" y="1666875"/>
            <a:ext cx="16192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C8D6E4"/>
            </a:solidFill>
            <a:prstDash val="solid"/>
          </a:ln>
        </p:spPr>
      </p:sp>
      <p:sp>
        <p:nvSpPr>
          <p:cNvPr id="9" name="">
            <a:extLst xmlns:a="http://schemas.openxmlformats.org/drawingml/2006/main">
              <a:ext uri="{FF2B5EF4-FFF2-40B4-BE49-F238E27FC236}">
                <a16:creationId xmlns:a16="http://schemas.microsoft.com/office/drawing/2014/main" id="{9C7D9184-C03C-44CB-BBD5-4BF986D1E156}"/>
              </a:ext>
            </a:extLst>
          </p:cNvPr>
          <p:cNvSpPr>
            <a:spLocks xmlns:a="http://schemas.openxmlformats.org/drawingml/2006/main" noGrp="1"/>
          </p:cNvSpPr>
          <p:nvPr/>
        </p:nvSpPr>
        <p:spPr>
          <a:xfrm xmlns:a="http://schemas.openxmlformats.org/drawingml/2006/main">
            <a:off x="2647950" y="1857375"/>
            <a:ext cx="1276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i="0">
                <a:solidFill>
                  <a:srgbClr val="1C8B53"/>
                </a:solidFill>
              </a:defRPr>
            </a:pPr>
            <a:r>
              <a:rPr sz="2250" b="1" i="0">
                <a:solidFill>
                  <a:srgbClr val="1C8B53"/>
                </a:solidFill>
              </a:rPr>
              <a:t>82,74 %</a:t>
            </a:r>
          </a:p>
        </p:txBody>
      </p:sp>
      <p:sp>
        <p:nvSpPr>
          <p:cNvPr id="10" name="">
            <a:extLst xmlns:a="http://schemas.openxmlformats.org/drawingml/2006/main">
              <a:ext uri="{FF2B5EF4-FFF2-40B4-BE49-F238E27FC236}">
                <a16:creationId xmlns:a16="http://schemas.microsoft.com/office/drawing/2014/main" id="{5E9B5F2F-330F-44FE-AF66-816D9E6C6BF9}"/>
              </a:ext>
            </a:extLst>
          </p:cNvPr>
          <p:cNvSpPr>
            <a:spLocks xmlns:a="http://schemas.openxmlformats.org/drawingml/2006/main" noGrp="1"/>
          </p:cNvSpPr>
          <p:nvPr/>
        </p:nvSpPr>
        <p:spPr>
          <a:xfrm xmlns:a="http://schemas.openxmlformats.org/drawingml/2006/main">
            <a:off x="2647950" y="2219325"/>
            <a:ext cx="1276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17345F"/>
                </a:solidFill>
              </a:defRPr>
            </a:pPr>
            <a:r>
              <a:rPr sz="1050" b="1" i="0">
                <a:solidFill>
                  <a:srgbClr val="17345F"/>
                </a:solidFill>
              </a:rPr>
              <a:t>Précision</a:t>
            </a:r>
          </a:p>
        </p:txBody>
      </p:sp>
      <p:sp>
        <p:nvSpPr>
          <p:cNvPr id="11" name="">
            <a:extLst xmlns:a="http://schemas.openxmlformats.org/drawingml/2006/main">
              <a:ext uri="{FF2B5EF4-FFF2-40B4-BE49-F238E27FC236}">
                <a16:creationId xmlns:a16="http://schemas.microsoft.com/office/drawing/2014/main" id="{59E540D8-DE8F-409B-B60F-3E37B138CB01}"/>
              </a:ext>
            </a:extLst>
          </p:cNvPr>
          <p:cNvSpPr>
            <a:spLocks xmlns:a="http://schemas.openxmlformats.org/drawingml/2006/main" noGrp="1"/>
          </p:cNvSpPr>
          <p:nvPr/>
        </p:nvSpPr>
        <p:spPr>
          <a:xfrm xmlns:a="http://schemas.openxmlformats.org/drawingml/2006/main">
            <a:off x="2647950" y="2428875"/>
            <a:ext cx="1276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5A6B82"/>
                </a:solidFill>
              </a:defRPr>
            </a:pPr>
            <a:r>
              <a:rPr sz="750" b="0" i="0">
                <a:solidFill>
                  <a:srgbClr val="5A6B82"/>
                </a:solidFill>
              </a:rPr>
              <a:t>fiabilité des alertes</a:t>
            </a:r>
          </a:p>
        </p:txBody>
      </p:sp>
      <p:sp>
        <p:nvSpPr>
          <p:cNvPr id="12" name="">
            <a:extLst xmlns:a="http://schemas.openxmlformats.org/drawingml/2006/main">
              <a:ext uri="{FF2B5EF4-FFF2-40B4-BE49-F238E27FC236}">
                <a16:creationId xmlns:a16="http://schemas.microsoft.com/office/drawing/2014/main" id="{30D38782-87F7-4BDD-B96E-F7C2600B3E8B}"/>
              </a:ext>
            </a:extLst>
          </p:cNvPr>
          <p:cNvSpPr>
            <a:spLocks xmlns:a="http://schemas.openxmlformats.org/drawingml/2006/main" noGrp="1"/>
          </p:cNvSpPr>
          <p:nvPr/>
        </p:nvSpPr>
        <p:spPr>
          <a:xfrm xmlns:a="http://schemas.openxmlformats.org/drawingml/2006/main">
            <a:off x="4286250" y="1666875"/>
            <a:ext cx="16192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C8D6E4"/>
            </a:solidFill>
            <a:prstDash val="solid"/>
          </a:ln>
        </p:spPr>
      </p:sp>
      <p:sp>
        <p:nvSpPr>
          <p:cNvPr id="13" name="">
            <a:extLst xmlns:a="http://schemas.openxmlformats.org/drawingml/2006/main">
              <a:ext uri="{FF2B5EF4-FFF2-40B4-BE49-F238E27FC236}">
                <a16:creationId xmlns:a16="http://schemas.microsoft.com/office/drawing/2014/main" id="{2D8B9492-024D-41CB-8394-3B7F644CE18B}"/>
              </a:ext>
            </a:extLst>
          </p:cNvPr>
          <p:cNvSpPr>
            <a:spLocks xmlns:a="http://schemas.openxmlformats.org/drawingml/2006/main" noGrp="1"/>
          </p:cNvSpPr>
          <p:nvPr/>
        </p:nvSpPr>
        <p:spPr>
          <a:xfrm xmlns:a="http://schemas.openxmlformats.org/drawingml/2006/main">
            <a:off x="4457700" y="1857375"/>
            <a:ext cx="1276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i="0">
                <a:solidFill>
                  <a:srgbClr val="C95C12"/>
                </a:solidFill>
              </a:defRPr>
            </a:pPr>
            <a:r>
              <a:rPr sz="2250" b="1" i="0">
                <a:solidFill>
                  <a:srgbClr val="C95C12"/>
                </a:solidFill>
              </a:rPr>
              <a:t>92,98 %</a:t>
            </a:r>
          </a:p>
        </p:txBody>
      </p:sp>
      <p:sp>
        <p:nvSpPr>
          <p:cNvPr id="14" name="">
            <a:extLst xmlns:a="http://schemas.openxmlformats.org/drawingml/2006/main">
              <a:ext uri="{FF2B5EF4-FFF2-40B4-BE49-F238E27FC236}">
                <a16:creationId xmlns:a16="http://schemas.microsoft.com/office/drawing/2014/main" id="{AED78073-39A5-4DB4-91F8-8291569484E2}"/>
              </a:ext>
            </a:extLst>
          </p:cNvPr>
          <p:cNvSpPr>
            <a:spLocks xmlns:a="http://schemas.openxmlformats.org/drawingml/2006/main" noGrp="1"/>
          </p:cNvSpPr>
          <p:nvPr/>
        </p:nvSpPr>
        <p:spPr>
          <a:xfrm xmlns:a="http://schemas.openxmlformats.org/drawingml/2006/main">
            <a:off x="4457700" y="2219325"/>
            <a:ext cx="1276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17345F"/>
                </a:solidFill>
              </a:defRPr>
            </a:pPr>
            <a:r>
              <a:rPr sz="1050" b="1" i="0">
                <a:solidFill>
                  <a:srgbClr val="17345F"/>
                </a:solidFill>
              </a:rPr>
              <a:t>Rappel</a:t>
            </a:r>
          </a:p>
        </p:txBody>
      </p:sp>
      <p:sp>
        <p:nvSpPr>
          <p:cNvPr id="15" name="">
            <a:extLst xmlns:a="http://schemas.openxmlformats.org/drawingml/2006/main">
              <a:ext uri="{FF2B5EF4-FFF2-40B4-BE49-F238E27FC236}">
                <a16:creationId xmlns:a16="http://schemas.microsoft.com/office/drawing/2014/main" id="{3C4F2A87-0BBB-4205-9957-CD1B015D9B9C}"/>
              </a:ext>
            </a:extLst>
          </p:cNvPr>
          <p:cNvSpPr>
            <a:spLocks xmlns:a="http://schemas.openxmlformats.org/drawingml/2006/main" noGrp="1"/>
          </p:cNvSpPr>
          <p:nvPr/>
        </p:nvSpPr>
        <p:spPr>
          <a:xfrm xmlns:a="http://schemas.openxmlformats.org/drawingml/2006/main">
            <a:off x="4457700" y="2428875"/>
            <a:ext cx="1276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5A6B82"/>
                </a:solidFill>
              </a:defRPr>
            </a:pPr>
            <a:r>
              <a:rPr sz="750" b="0" i="0">
                <a:solidFill>
                  <a:srgbClr val="5A6B82"/>
                </a:solidFill>
              </a:rPr>
              <a:t>violences détectées</a:t>
            </a:r>
          </a:p>
        </p:txBody>
      </p:sp>
      <p:sp>
        <p:nvSpPr>
          <p:cNvPr id="16" name="">
            <a:extLst xmlns:a="http://schemas.openxmlformats.org/drawingml/2006/main">
              <a:ext uri="{FF2B5EF4-FFF2-40B4-BE49-F238E27FC236}">
                <a16:creationId xmlns:a16="http://schemas.microsoft.com/office/drawing/2014/main" id="{CECF0868-DE67-4C00-8A0D-4D2FC0ACF957}"/>
              </a:ext>
            </a:extLst>
          </p:cNvPr>
          <p:cNvSpPr>
            <a:spLocks xmlns:a="http://schemas.openxmlformats.org/drawingml/2006/main" noGrp="1"/>
          </p:cNvSpPr>
          <p:nvPr/>
        </p:nvSpPr>
        <p:spPr>
          <a:xfrm xmlns:a="http://schemas.openxmlformats.org/drawingml/2006/main">
            <a:off x="6096000" y="1666875"/>
            <a:ext cx="16192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C8D6E4"/>
            </a:solidFill>
            <a:prstDash val="solid"/>
          </a:ln>
        </p:spPr>
      </p:sp>
      <p:sp>
        <p:nvSpPr>
          <p:cNvPr id="17" name="">
            <a:extLst xmlns:a="http://schemas.openxmlformats.org/drawingml/2006/main">
              <a:ext uri="{FF2B5EF4-FFF2-40B4-BE49-F238E27FC236}">
                <a16:creationId xmlns:a16="http://schemas.microsoft.com/office/drawing/2014/main" id="{573D8469-E348-4980-B177-E306E50011A4}"/>
              </a:ext>
            </a:extLst>
          </p:cNvPr>
          <p:cNvSpPr>
            <a:spLocks xmlns:a="http://schemas.openxmlformats.org/drawingml/2006/main" noGrp="1"/>
          </p:cNvSpPr>
          <p:nvPr/>
        </p:nvSpPr>
        <p:spPr>
          <a:xfrm xmlns:a="http://schemas.openxmlformats.org/drawingml/2006/main">
            <a:off x="6267450" y="1857375"/>
            <a:ext cx="1276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i="0">
                <a:solidFill>
                  <a:srgbClr val="1C8B53"/>
                </a:solidFill>
              </a:defRPr>
            </a:pPr>
            <a:r>
              <a:rPr sz="2250" b="1" i="0">
                <a:solidFill>
                  <a:srgbClr val="1C8B53"/>
                </a:solidFill>
              </a:rPr>
              <a:t>87,56 %</a:t>
            </a:r>
          </a:p>
        </p:txBody>
      </p:sp>
      <p:sp>
        <p:nvSpPr>
          <p:cNvPr id="18" name="">
            <a:extLst xmlns:a="http://schemas.openxmlformats.org/drawingml/2006/main">
              <a:ext uri="{FF2B5EF4-FFF2-40B4-BE49-F238E27FC236}">
                <a16:creationId xmlns:a16="http://schemas.microsoft.com/office/drawing/2014/main" id="{DA5EB757-0833-414B-AE6F-4E2DF060C9BD}"/>
              </a:ext>
            </a:extLst>
          </p:cNvPr>
          <p:cNvSpPr>
            <a:spLocks xmlns:a="http://schemas.openxmlformats.org/drawingml/2006/main" noGrp="1"/>
          </p:cNvSpPr>
          <p:nvPr/>
        </p:nvSpPr>
        <p:spPr>
          <a:xfrm xmlns:a="http://schemas.openxmlformats.org/drawingml/2006/main">
            <a:off x="6267450" y="2219325"/>
            <a:ext cx="1276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17345F"/>
                </a:solidFill>
              </a:defRPr>
            </a:pPr>
            <a:r>
              <a:rPr sz="1050" b="1" i="0">
                <a:solidFill>
                  <a:srgbClr val="17345F"/>
                </a:solidFill>
              </a:rPr>
              <a:t>F1-score</a:t>
            </a:r>
          </a:p>
        </p:txBody>
      </p:sp>
      <p:sp>
        <p:nvSpPr>
          <p:cNvPr id="19" name="">
            <a:extLst xmlns:a="http://schemas.openxmlformats.org/drawingml/2006/main">
              <a:ext uri="{FF2B5EF4-FFF2-40B4-BE49-F238E27FC236}">
                <a16:creationId xmlns:a16="http://schemas.microsoft.com/office/drawing/2014/main" id="{A4CDC4C6-C992-455E-83BF-083F6B475DBC}"/>
              </a:ext>
            </a:extLst>
          </p:cNvPr>
          <p:cNvSpPr>
            <a:spLocks xmlns:a="http://schemas.openxmlformats.org/drawingml/2006/main" noGrp="1"/>
          </p:cNvSpPr>
          <p:nvPr/>
        </p:nvSpPr>
        <p:spPr>
          <a:xfrm xmlns:a="http://schemas.openxmlformats.org/drawingml/2006/main">
            <a:off x="6267450" y="2428875"/>
            <a:ext cx="1276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5A6B82"/>
                </a:solidFill>
              </a:defRPr>
            </a:pPr>
            <a:r>
              <a:rPr sz="750" b="0" i="0">
                <a:solidFill>
                  <a:srgbClr val="5A6B82"/>
                </a:solidFill>
              </a:rPr>
              <a:t>équilibre global</a:t>
            </a:r>
          </a:p>
        </p:txBody>
      </p:sp>
      <p:sp>
        <p:nvSpPr>
          <p:cNvPr id="20" name="">
            <a:extLst xmlns:a="http://schemas.openxmlformats.org/drawingml/2006/main">
              <a:ext uri="{FF2B5EF4-FFF2-40B4-BE49-F238E27FC236}">
                <a16:creationId xmlns:a16="http://schemas.microsoft.com/office/drawing/2014/main" id="{200629CA-314A-448F-9869-86A234A03D0E}"/>
              </a:ext>
            </a:extLst>
          </p:cNvPr>
          <p:cNvSpPr>
            <a:spLocks xmlns:a="http://schemas.openxmlformats.org/drawingml/2006/main" noGrp="1"/>
          </p:cNvSpPr>
          <p:nvPr/>
        </p:nvSpPr>
        <p:spPr>
          <a:xfrm xmlns:a="http://schemas.openxmlformats.org/drawingml/2006/main">
            <a:off x="7905750" y="1666875"/>
            <a:ext cx="16192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C8D6E4"/>
            </a:solidFill>
            <a:prstDash val="solid"/>
          </a:ln>
        </p:spPr>
      </p:sp>
      <p:sp>
        <p:nvSpPr>
          <p:cNvPr id="21" name="">
            <a:extLst xmlns:a="http://schemas.openxmlformats.org/drawingml/2006/main">
              <a:ext uri="{FF2B5EF4-FFF2-40B4-BE49-F238E27FC236}">
                <a16:creationId xmlns:a16="http://schemas.microsoft.com/office/drawing/2014/main" id="{61ADA53A-2FE2-4A39-83C6-AE341B871FD0}"/>
              </a:ext>
            </a:extLst>
          </p:cNvPr>
          <p:cNvSpPr>
            <a:spLocks xmlns:a="http://schemas.openxmlformats.org/drawingml/2006/main" noGrp="1"/>
          </p:cNvSpPr>
          <p:nvPr/>
        </p:nvSpPr>
        <p:spPr>
          <a:xfrm xmlns:a="http://schemas.openxmlformats.org/drawingml/2006/main">
            <a:off x="8077200" y="1857375"/>
            <a:ext cx="1276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i="0">
                <a:solidFill>
                  <a:srgbClr val="203F6E"/>
                </a:solidFill>
              </a:defRPr>
            </a:pPr>
            <a:r>
              <a:rPr sz="2250" b="1" i="0">
                <a:solidFill>
                  <a:srgbClr val="203F6E"/>
                </a:solidFill>
              </a:rPr>
              <a:t>0,9446</a:t>
            </a:r>
          </a:p>
        </p:txBody>
      </p:sp>
      <p:sp>
        <p:nvSpPr>
          <p:cNvPr id="22" name="">
            <a:extLst xmlns:a="http://schemas.openxmlformats.org/drawingml/2006/main">
              <a:ext uri="{FF2B5EF4-FFF2-40B4-BE49-F238E27FC236}">
                <a16:creationId xmlns:a16="http://schemas.microsoft.com/office/drawing/2014/main" id="{14C19EF2-467D-445D-A247-CCD8127ADB60}"/>
              </a:ext>
            </a:extLst>
          </p:cNvPr>
          <p:cNvSpPr>
            <a:spLocks xmlns:a="http://schemas.openxmlformats.org/drawingml/2006/main" noGrp="1"/>
          </p:cNvSpPr>
          <p:nvPr/>
        </p:nvSpPr>
        <p:spPr>
          <a:xfrm xmlns:a="http://schemas.openxmlformats.org/drawingml/2006/main">
            <a:off x="8077200" y="2219325"/>
            <a:ext cx="1276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17345F"/>
                </a:solidFill>
              </a:defRPr>
            </a:pPr>
            <a:r>
              <a:rPr sz="1050" b="1" i="0">
                <a:solidFill>
                  <a:srgbClr val="17345F"/>
                </a:solidFill>
              </a:rPr>
              <a:t>ROC-AUC</a:t>
            </a:r>
          </a:p>
        </p:txBody>
      </p:sp>
      <p:sp>
        <p:nvSpPr>
          <p:cNvPr id="23" name="">
            <a:extLst xmlns:a="http://schemas.openxmlformats.org/drawingml/2006/main">
              <a:ext uri="{FF2B5EF4-FFF2-40B4-BE49-F238E27FC236}">
                <a16:creationId xmlns:a16="http://schemas.microsoft.com/office/drawing/2014/main" id="{37F9024E-E464-433B-96C4-F3717826D29D}"/>
              </a:ext>
            </a:extLst>
          </p:cNvPr>
          <p:cNvSpPr>
            <a:spLocks xmlns:a="http://schemas.openxmlformats.org/drawingml/2006/main" noGrp="1"/>
          </p:cNvSpPr>
          <p:nvPr/>
        </p:nvSpPr>
        <p:spPr>
          <a:xfrm xmlns:a="http://schemas.openxmlformats.org/drawingml/2006/main">
            <a:off x="8077200" y="2428875"/>
            <a:ext cx="1276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i="0">
                <a:solidFill>
                  <a:srgbClr val="5A6B82"/>
                </a:solidFill>
              </a:defRPr>
            </a:pPr>
            <a:r>
              <a:rPr sz="750" b="0" i="0">
                <a:solidFill>
                  <a:srgbClr val="5A6B82"/>
                </a:solidFill>
              </a:rPr>
              <a:t>séparation forte</a:t>
            </a:r>
          </a:p>
        </p:txBody>
      </p:sp>
      <p:pic>
        <p:nvPicPr>
          <p:cNvPr id="53" name=""/>
          <p:cNvPicPr>
            <a:picLocks xmlns:a="http://schemas.openxmlformats.org/drawingml/2006/main" noChangeAspect="1"/>
          </p:cNvPicPr>
          <p:nvPr/>
        </p:nvPicPr>
        <p:blipFill>
          <a:blip xmlns:r="http://schemas.openxmlformats.org/officeDocument/2006/relationships" xmlns:a="http://schemas.openxmlformats.org/drawingml/2006/main" r:embed="Rb6face753b874f33"/>
          <a:stretch xmlns:a="http://schemas.openxmlformats.org/drawingml/2006/main"/>
        </p:blipFill>
        <p:spPr>
          <a:xfrm xmlns:a="http://schemas.openxmlformats.org/drawingml/2006/main">
            <a:off x="952500" y="3348055"/>
            <a:ext cx="4238625" cy="1971639"/>
          </a:xfrm>
          <a:prstGeom xmlns:a="http://schemas.openxmlformats.org/drawingml/2006/main" prst="rect">
            <a:avLst/>
          </a:prstGeom>
        </p:spPr>
      </p:pic>
      <p:sp>
        <p:nvSpPr>
          <p:cNvPr id="25" name="">
            <a:extLst xmlns:a="http://schemas.openxmlformats.org/drawingml/2006/main">
              <a:ext uri="{FF2B5EF4-FFF2-40B4-BE49-F238E27FC236}">
                <a16:creationId xmlns:a16="http://schemas.microsoft.com/office/drawing/2014/main" id="{AE1834BA-541C-4CD0-BAAB-68DF0AE677ED}"/>
              </a:ext>
            </a:extLst>
          </p:cNvPr>
          <p:cNvSpPr>
            <a:spLocks xmlns:a="http://schemas.openxmlformats.org/drawingml/2006/main" noGrp="1"/>
          </p:cNvSpPr>
          <p:nvPr/>
        </p:nvSpPr>
        <p:spPr>
          <a:xfrm xmlns:a="http://schemas.openxmlformats.org/drawingml/2006/main">
            <a:off x="5810250" y="3257550"/>
            <a:ext cx="4762500" cy="1809750"/>
          </a:xfrm>
          <a:prstGeom xmlns:a="http://schemas.openxmlformats.org/drawingml/2006/main" prst="roundRect">
            <a:avLst>
              <a:gd name="adj" fmla="val 4211"/>
            </a:avLst>
          </a:prstGeom>
          <a:solidFill xmlns:a="http://schemas.openxmlformats.org/drawingml/2006/main">
            <a:srgbClr val="EEF5FA"/>
          </a:solidFill>
          <a:ln xmlns:a="http://schemas.openxmlformats.org/drawingml/2006/main" w="9525">
            <a:solidFill>
              <a:srgbClr val="C8D6E4"/>
            </a:solidFill>
            <a:prstDash val="solid"/>
          </a:ln>
        </p:spPr>
      </p:sp>
      <p:sp>
        <p:nvSpPr>
          <p:cNvPr id="26" name="">
            <a:extLst xmlns:a="http://schemas.openxmlformats.org/drawingml/2006/main">
              <a:ext uri="{FF2B5EF4-FFF2-40B4-BE49-F238E27FC236}">
                <a16:creationId xmlns:a16="http://schemas.microsoft.com/office/drawing/2014/main" id="{997DE58C-06D9-421E-B7C4-1F94130A45B9}"/>
              </a:ext>
            </a:extLst>
          </p:cNvPr>
          <p:cNvSpPr>
            <a:spLocks xmlns:a="http://schemas.openxmlformats.org/drawingml/2006/main" noGrp="1"/>
          </p:cNvSpPr>
          <p:nvPr/>
        </p:nvSpPr>
        <p:spPr>
          <a:xfrm xmlns:a="http://schemas.openxmlformats.org/drawingml/2006/main">
            <a:off x="6076950" y="347662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17345F"/>
                </a:solidFill>
              </a:defRPr>
            </a:pPr>
            <a:r>
              <a:rPr sz="1500" b="1" i="0">
                <a:solidFill>
                  <a:srgbClr val="17345F"/>
                </a:solidFill>
              </a:rPr>
              <a:t>Ce que dit la matrice</a:t>
            </a:r>
          </a:p>
        </p:txBody>
      </p:sp>
      <p:sp>
        <p:nvSpPr>
          <p:cNvPr id="27" name="">
            <a:extLst xmlns:a="http://schemas.openxmlformats.org/drawingml/2006/main">
              <a:ext uri="{FF2B5EF4-FFF2-40B4-BE49-F238E27FC236}">
                <a16:creationId xmlns:a16="http://schemas.microsoft.com/office/drawing/2014/main" id="{261E78A6-B501-4C15-82CB-8A3573C044A4}"/>
              </a:ext>
            </a:extLst>
          </p:cNvPr>
          <p:cNvSpPr>
            <a:spLocks xmlns:a="http://schemas.openxmlformats.org/drawingml/2006/main" noGrp="1"/>
          </p:cNvSpPr>
          <p:nvPr/>
        </p:nvSpPr>
        <p:spPr>
          <a:xfrm xmlns:a="http://schemas.openxmlformats.org/drawingml/2006/main">
            <a:off x="6076950" y="3857625"/>
            <a:ext cx="4095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102033"/>
                </a:solidFill>
              </a:defRPr>
            </a:pPr>
            <a:r>
              <a:rPr sz="1125" b="0" i="0">
                <a:solidFill>
                  <a:srgbClr val="102033"/>
                </a:solidFill>
              </a:rPr>
              <a:t>• Le rappel est élevé : SIRCH rate peu de vraies violences.</a:t>
            </a:r>
          </a:p>
          <a:p xmlns:a="http://schemas.openxmlformats.org/drawingml/2006/main">
            <a:pPr algn="l">
              <a:defRPr sz="1125" b="0" i="0">
                <a:solidFill>
                  <a:srgbClr val="102033"/>
                </a:solidFill>
              </a:defRPr>
            </a:pPr>
            <a:r>
              <a:rPr sz="1125" b="0" i="0">
                <a:solidFill>
                  <a:srgbClr val="102033"/>
                </a:solidFill>
              </a:rPr>
              <a:t>• Les 58 faux positifs montrent que certaines scènes non violentes restent confondues avec la violence.</a:t>
            </a:r>
          </a:p>
          <a:p xmlns:a="http://schemas.openxmlformats.org/drawingml/2006/main">
            <a:pPr algn="l">
              <a:defRPr sz="1125" b="0" i="0">
                <a:solidFill>
                  <a:srgbClr val="102033"/>
                </a:solidFill>
              </a:defRPr>
            </a:pPr>
            <a:r>
              <a:rPr sz="1125" b="0" i="0">
                <a:solidFill>
                  <a:srgbClr val="102033"/>
                </a:solidFill>
              </a:rPr>
              <a:t>• Le score global est donc bon, mais il faut regarder la nature des erreurs.</a:t>
            </a:r>
          </a:p>
        </p:txBody>
      </p:sp>
      <p:sp>
        <p:nvSpPr>
          <p:cNvPr id="28" name="">
            <a:extLst xmlns:a="http://schemas.openxmlformats.org/drawingml/2006/main">
              <a:ext uri="{FF2B5EF4-FFF2-40B4-BE49-F238E27FC236}">
                <a16:creationId xmlns:a16="http://schemas.microsoft.com/office/drawing/2014/main" id="{4155CCC9-D22A-40B9-A1E8-F86FEBC97E86}"/>
              </a:ext>
            </a:extLst>
          </p:cNvPr>
          <p:cNvSpPr>
            <a:spLocks xmlns:a="http://schemas.openxmlformats.org/drawingml/2006/main" noGrp="1"/>
          </p:cNvSpPr>
          <p:nvPr/>
        </p:nvSpPr>
        <p:spPr>
          <a:xfrm xmlns:a="http://schemas.openxmlformats.org/drawingml/2006/main">
            <a:off x="552450" y="6362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i="0">
                <a:solidFill>
                  <a:srgbClr val="5A6B82"/>
                </a:solidFill>
              </a:defRPr>
            </a:pPr>
            <a:r>
              <a:rPr sz="675" b="0" i="0">
                <a:solidFill>
                  <a:srgbClr val="5A6B82"/>
                </a:solidFill>
              </a:rPr>
              <a:t>Résultats principaux</a:t>
            </a:r>
          </a:p>
        </p:txBody>
      </p:sp>
      <p:sp>
        <p:nvSpPr>
          <p:cNvPr id="29" name="">
            <a:extLst xmlns:a="http://schemas.openxmlformats.org/drawingml/2006/main">
              <a:ext uri="{FF2B5EF4-FFF2-40B4-BE49-F238E27FC236}">
                <a16:creationId xmlns:a16="http://schemas.microsoft.com/office/drawing/2014/main" id="{39605D3E-BC9E-4E14-B313-25D2C962533B}"/>
              </a:ext>
            </a:extLst>
          </p:cNvPr>
          <p:cNvSpPr>
            <a:spLocks xmlns:a="http://schemas.openxmlformats.org/drawingml/2006/main" noGrp="1"/>
          </p:cNvSpPr>
          <p:nvPr/>
        </p:nvSpPr>
        <p:spPr>
          <a:xfrm xmlns:a="http://schemas.openxmlformats.org/drawingml/2006/main">
            <a:off x="11049000" y="63627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0" i="0">
                <a:solidFill>
                  <a:srgbClr val="5A6B82"/>
                </a:solidFill>
              </a:defRPr>
            </a:pPr>
            <a:r>
              <a:rPr sz="750" b="0" i="0">
                <a:solidFill>
                  <a:srgbClr val="5A6B82"/>
                </a:solidFill>
              </a:rPr>
              <a:t>11 / 18</a:t>
            </a:r>
          </a:p>
        </p:txBody>
      </p:sp>
    </p:spTree>
    <p:extLst>
      <p:ext uri="{BB962C8B-B14F-4D97-AF65-F5344CB8AC3E}">
        <p14:creationId xmlns:p14="http://schemas.microsoft.com/office/powerpoint/2010/main" val="28361561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4BBC09D-98B6-4AD0-AF65-19CAD4359F4D}"/>
              </a:ext>
            </a:extLst>
          </p:cNvPr>
          <p:cNvSpPr>
            <a:spLocks xmlns:a="http://schemas.openxmlformats.org/drawingml/2006/main" noGrp="1"/>
          </p:cNvSpPr>
          <p:nvPr/>
        </p:nvSpPr>
        <p:spPr>
          <a:xfrm xmlns:a="http://schemas.openxmlformats.org/drawingml/2006/main">
            <a:off x="552450" y="419100"/>
            <a:ext cx="933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i="0">
                <a:solidFill>
                  <a:srgbClr val="17345F"/>
                </a:solidFill>
              </a:defRPr>
            </a:pPr>
            <a:r>
              <a:rPr sz="2550" b="1" i="0">
                <a:solidFill>
                  <a:srgbClr val="17345F"/>
                </a:solidFill>
              </a:rPr>
              <a:t>Le modèle augmenté améliore le test principal</a:t>
            </a:r>
          </a:p>
        </p:txBody>
      </p:sp>
      <p:sp>
        <p:nvSpPr>
          <p:cNvPr id="2" name="">
            <a:extLst xmlns:a="http://schemas.openxmlformats.org/drawingml/2006/main">
              <a:ext uri="{FF2B5EF4-FFF2-40B4-BE49-F238E27FC236}">
                <a16:creationId xmlns:a16="http://schemas.microsoft.com/office/drawing/2014/main" id="{4C12C513-4174-4CE7-ABBB-8A96A7DF8BC4}"/>
              </a:ext>
            </a:extLst>
          </p:cNvPr>
          <p:cNvSpPr>
            <a:spLocks xmlns:a="http://schemas.openxmlformats.org/drawingml/2006/main" noGrp="1"/>
          </p:cNvSpPr>
          <p:nvPr/>
        </p:nvSpPr>
        <p:spPr>
          <a:xfrm xmlns:a="http://schemas.openxmlformats.org/drawingml/2006/main">
            <a:off x="552450" y="1095375"/>
            <a:ext cx="1047750" cy="47625"/>
          </a:xfrm>
          <a:prstGeom xmlns:a="http://schemas.openxmlformats.org/drawingml/2006/main" prst="rect">
            <a:avLst/>
          </a:prstGeom>
          <a:solidFill xmlns:a="http://schemas.openxmlformats.org/drawingml/2006/main">
            <a:srgbClr val="1C8B53"/>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CAC8560-E556-41BD-A735-5C916EE5CE0B}"/>
              </a:ext>
            </a:extLst>
          </p:cNvPr>
          <p:cNvSpPr>
            <a:spLocks xmlns:a="http://schemas.openxmlformats.org/drawingml/2006/main" noGrp="1"/>
          </p:cNvSpPr>
          <p:nvPr/>
        </p:nvSpPr>
        <p:spPr>
          <a:xfrm xmlns:a="http://schemas.openxmlformats.org/drawingml/2006/main">
            <a:off x="552450" y="1238250"/>
            <a:ext cx="838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A6B82"/>
                </a:solidFill>
              </a:defRPr>
            </a:pPr>
            <a:r>
              <a:rPr sz="1200" b="0" i="0">
                <a:solidFill>
                  <a:srgbClr val="5A6B82"/>
                </a:solidFill>
              </a:rPr>
              <a:t>L’enrichissement de données améliore les scores globaux ; les faux positifs hors contexte restent à surveiller.</a:t>
            </a:r>
          </a:p>
        </p:txBody>
      </p:sp>
      <p:sp>
        <p:nvSpPr>
          <p:cNvPr id="4" name="">
            <a:extLst xmlns:a="http://schemas.openxmlformats.org/drawingml/2006/main">
              <a:ext uri="{FF2B5EF4-FFF2-40B4-BE49-F238E27FC236}">
                <a16:creationId xmlns:a16="http://schemas.microsoft.com/office/drawing/2014/main" id="{5CCEE1E8-FFAC-4594-8FE4-39DF5DA0C974}"/>
              </a:ext>
            </a:extLst>
          </p:cNvPr>
          <p:cNvSpPr>
            <a:spLocks xmlns:a="http://schemas.openxmlformats.org/drawingml/2006/main" noGrp="1"/>
          </p:cNvSpPr>
          <p:nvPr/>
        </p:nvSpPr>
        <p:spPr>
          <a:xfrm xmlns:a="http://schemas.openxmlformats.org/drawingml/2006/main">
            <a:off x="666750" y="1619250"/>
            <a:ext cx="2095500" cy="514350"/>
          </a:xfrm>
          <a:prstGeom xmlns:a="http://schemas.openxmlformats.org/drawingml/2006/main" prst="rect">
            <a:avLst/>
          </a:prstGeom>
          <a:solidFill xmlns:a="http://schemas.openxmlformats.org/drawingml/2006/main">
            <a:srgbClr val="203F6E"/>
          </a:solidFill>
          <a:ln xmlns:a="http://schemas.openxmlformats.org/drawingml/2006/main" w="9525">
            <a:solidFill>
              <a:srgbClr val="C8D6E4"/>
            </a:solidFill>
            <a:prstDash val="solid"/>
          </a:ln>
        </p:spPr>
      </p:sp>
      <p:sp>
        <p:nvSpPr>
          <p:cNvPr id="5" name="">
            <a:extLst xmlns:a="http://schemas.openxmlformats.org/drawingml/2006/main">
              <a:ext uri="{FF2B5EF4-FFF2-40B4-BE49-F238E27FC236}">
                <a16:creationId xmlns:a16="http://schemas.microsoft.com/office/drawing/2014/main" id="{438F4022-0CDC-4F46-9434-E0F1F5E67D78}"/>
              </a:ext>
            </a:extLst>
          </p:cNvPr>
          <p:cNvSpPr>
            <a:spLocks xmlns:a="http://schemas.openxmlformats.org/drawingml/2006/main" noGrp="1"/>
          </p:cNvSpPr>
          <p:nvPr/>
        </p:nvSpPr>
        <p:spPr>
          <a:xfrm xmlns:a="http://schemas.openxmlformats.org/drawingml/2006/main">
            <a:off x="742950" y="1714500"/>
            <a:ext cx="1943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Modèle</a:t>
            </a:r>
          </a:p>
        </p:txBody>
      </p:sp>
      <p:sp>
        <p:nvSpPr>
          <p:cNvPr id="6" name="">
            <a:extLst xmlns:a="http://schemas.openxmlformats.org/drawingml/2006/main">
              <a:ext uri="{FF2B5EF4-FFF2-40B4-BE49-F238E27FC236}">
                <a16:creationId xmlns:a16="http://schemas.microsoft.com/office/drawing/2014/main" id="{827EF853-60F4-4B29-BA41-C97B8A5DE5C8}"/>
              </a:ext>
            </a:extLst>
          </p:cNvPr>
          <p:cNvSpPr>
            <a:spLocks xmlns:a="http://schemas.openxmlformats.org/drawingml/2006/main" noGrp="1"/>
          </p:cNvSpPr>
          <p:nvPr/>
        </p:nvSpPr>
        <p:spPr>
          <a:xfrm xmlns:a="http://schemas.openxmlformats.org/drawingml/2006/main">
            <a:off x="2762250" y="1619250"/>
            <a:ext cx="1428750" cy="514350"/>
          </a:xfrm>
          <a:prstGeom xmlns:a="http://schemas.openxmlformats.org/drawingml/2006/main" prst="rect">
            <a:avLst/>
          </a:prstGeom>
          <a:solidFill xmlns:a="http://schemas.openxmlformats.org/drawingml/2006/main">
            <a:srgbClr val="203F6E"/>
          </a:solidFill>
          <a:ln xmlns:a="http://schemas.openxmlformats.org/drawingml/2006/main" w="9525">
            <a:solidFill>
              <a:srgbClr val="C8D6E4"/>
            </a:solidFill>
            <a:prstDash val="solid"/>
          </a:ln>
        </p:spPr>
      </p:sp>
      <p:sp>
        <p:nvSpPr>
          <p:cNvPr id="7" name="">
            <a:extLst xmlns:a="http://schemas.openxmlformats.org/drawingml/2006/main">
              <a:ext uri="{FF2B5EF4-FFF2-40B4-BE49-F238E27FC236}">
                <a16:creationId xmlns:a16="http://schemas.microsoft.com/office/drawing/2014/main" id="{EB4C9A59-1E32-490C-B5AF-1B4C097F263B}"/>
              </a:ext>
            </a:extLst>
          </p:cNvPr>
          <p:cNvSpPr>
            <a:spLocks xmlns:a="http://schemas.openxmlformats.org/drawingml/2006/main" noGrp="1"/>
          </p:cNvSpPr>
          <p:nvPr/>
        </p:nvSpPr>
        <p:spPr>
          <a:xfrm xmlns:a="http://schemas.openxmlformats.org/drawingml/2006/main">
            <a:off x="2838450" y="1714500"/>
            <a:ext cx="1276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Accuracy</a:t>
            </a:r>
          </a:p>
        </p:txBody>
      </p:sp>
      <p:sp>
        <p:nvSpPr>
          <p:cNvPr id="8" name="">
            <a:extLst xmlns:a="http://schemas.openxmlformats.org/drawingml/2006/main">
              <a:ext uri="{FF2B5EF4-FFF2-40B4-BE49-F238E27FC236}">
                <a16:creationId xmlns:a16="http://schemas.microsoft.com/office/drawing/2014/main" id="{6EF5EAB5-8084-43D5-8884-43734F238F52}"/>
              </a:ext>
            </a:extLst>
          </p:cNvPr>
          <p:cNvSpPr>
            <a:spLocks xmlns:a="http://schemas.openxmlformats.org/drawingml/2006/main" noGrp="1"/>
          </p:cNvSpPr>
          <p:nvPr/>
        </p:nvSpPr>
        <p:spPr>
          <a:xfrm xmlns:a="http://schemas.openxmlformats.org/drawingml/2006/main">
            <a:off x="4191000" y="1619250"/>
            <a:ext cx="1428750" cy="514350"/>
          </a:xfrm>
          <a:prstGeom xmlns:a="http://schemas.openxmlformats.org/drawingml/2006/main" prst="rect">
            <a:avLst/>
          </a:prstGeom>
          <a:solidFill xmlns:a="http://schemas.openxmlformats.org/drawingml/2006/main">
            <a:srgbClr val="203F6E"/>
          </a:solidFill>
          <a:ln xmlns:a="http://schemas.openxmlformats.org/drawingml/2006/main" w="9525">
            <a:solidFill>
              <a:srgbClr val="C8D6E4"/>
            </a:solidFill>
            <a:prstDash val="solid"/>
          </a:ln>
        </p:spPr>
      </p:sp>
      <p:sp>
        <p:nvSpPr>
          <p:cNvPr id="9" name="">
            <a:extLst xmlns:a="http://schemas.openxmlformats.org/drawingml/2006/main">
              <a:ext uri="{FF2B5EF4-FFF2-40B4-BE49-F238E27FC236}">
                <a16:creationId xmlns:a16="http://schemas.microsoft.com/office/drawing/2014/main" id="{8B6D0B40-6EA4-494A-912A-C8AD0D4465FB}"/>
              </a:ext>
            </a:extLst>
          </p:cNvPr>
          <p:cNvSpPr>
            <a:spLocks xmlns:a="http://schemas.openxmlformats.org/drawingml/2006/main" noGrp="1"/>
          </p:cNvSpPr>
          <p:nvPr/>
        </p:nvSpPr>
        <p:spPr>
          <a:xfrm xmlns:a="http://schemas.openxmlformats.org/drawingml/2006/main">
            <a:off x="4267200" y="1714500"/>
            <a:ext cx="1276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Précision</a:t>
            </a:r>
          </a:p>
        </p:txBody>
      </p:sp>
      <p:sp>
        <p:nvSpPr>
          <p:cNvPr id="10" name="">
            <a:extLst xmlns:a="http://schemas.openxmlformats.org/drawingml/2006/main">
              <a:ext uri="{FF2B5EF4-FFF2-40B4-BE49-F238E27FC236}">
                <a16:creationId xmlns:a16="http://schemas.microsoft.com/office/drawing/2014/main" id="{2A0A6A00-039A-4FA8-9F3C-15C579AF99AE}"/>
              </a:ext>
            </a:extLst>
          </p:cNvPr>
          <p:cNvSpPr>
            <a:spLocks xmlns:a="http://schemas.openxmlformats.org/drawingml/2006/main" noGrp="1"/>
          </p:cNvSpPr>
          <p:nvPr/>
        </p:nvSpPr>
        <p:spPr>
          <a:xfrm xmlns:a="http://schemas.openxmlformats.org/drawingml/2006/main">
            <a:off x="5619750" y="1619250"/>
            <a:ext cx="1428750" cy="514350"/>
          </a:xfrm>
          <a:prstGeom xmlns:a="http://schemas.openxmlformats.org/drawingml/2006/main" prst="rect">
            <a:avLst/>
          </a:prstGeom>
          <a:solidFill xmlns:a="http://schemas.openxmlformats.org/drawingml/2006/main">
            <a:srgbClr val="203F6E"/>
          </a:solidFill>
          <a:ln xmlns:a="http://schemas.openxmlformats.org/drawingml/2006/main" w="9525">
            <a:solidFill>
              <a:srgbClr val="C8D6E4"/>
            </a:solidFill>
            <a:prstDash val="solid"/>
          </a:ln>
        </p:spPr>
      </p:sp>
      <p:sp>
        <p:nvSpPr>
          <p:cNvPr id="11" name="">
            <a:extLst xmlns:a="http://schemas.openxmlformats.org/drawingml/2006/main">
              <a:ext uri="{FF2B5EF4-FFF2-40B4-BE49-F238E27FC236}">
                <a16:creationId xmlns:a16="http://schemas.microsoft.com/office/drawing/2014/main" id="{862160A1-FE1F-4A0B-9A40-05FC97D9E701}"/>
              </a:ext>
            </a:extLst>
          </p:cNvPr>
          <p:cNvSpPr>
            <a:spLocks xmlns:a="http://schemas.openxmlformats.org/drawingml/2006/main" noGrp="1"/>
          </p:cNvSpPr>
          <p:nvPr/>
        </p:nvSpPr>
        <p:spPr>
          <a:xfrm xmlns:a="http://schemas.openxmlformats.org/drawingml/2006/main">
            <a:off x="5695950" y="1714500"/>
            <a:ext cx="1276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Rappel</a:t>
            </a:r>
          </a:p>
        </p:txBody>
      </p:sp>
      <p:sp>
        <p:nvSpPr>
          <p:cNvPr id="12" name="">
            <a:extLst xmlns:a="http://schemas.openxmlformats.org/drawingml/2006/main">
              <a:ext uri="{FF2B5EF4-FFF2-40B4-BE49-F238E27FC236}">
                <a16:creationId xmlns:a16="http://schemas.microsoft.com/office/drawing/2014/main" id="{6D43845F-8BFE-4C5B-A7D4-BD0B0C3C6156}"/>
              </a:ext>
            </a:extLst>
          </p:cNvPr>
          <p:cNvSpPr>
            <a:spLocks xmlns:a="http://schemas.openxmlformats.org/drawingml/2006/main" noGrp="1"/>
          </p:cNvSpPr>
          <p:nvPr/>
        </p:nvSpPr>
        <p:spPr>
          <a:xfrm xmlns:a="http://schemas.openxmlformats.org/drawingml/2006/main">
            <a:off x="7048500" y="1619250"/>
            <a:ext cx="1428750" cy="514350"/>
          </a:xfrm>
          <a:prstGeom xmlns:a="http://schemas.openxmlformats.org/drawingml/2006/main" prst="rect">
            <a:avLst/>
          </a:prstGeom>
          <a:solidFill xmlns:a="http://schemas.openxmlformats.org/drawingml/2006/main">
            <a:srgbClr val="203F6E"/>
          </a:solidFill>
          <a:ln xmlns:a="http://schemas.openxmlformats.org/drawingml/2006/main" w="9525">
            <a:solidFill>
              <a:srgbClr val="C8D6E4"/>
            </a:solidFill>
            <a:prstDash val="solid"/>
          </a:ln>
        </p:spPr>
      </p:sp>
      <p:sp>
        <p:nvSpPr>
          <p:cNvPr id="13" name="">
            <a:extLst xmlns:a="http://schemas.openxmlformats.org/drawingml/2006/main">
              <a:ext uri="{FF2B5EF4-FFF2-40B4-BE49-F238E27FC236}">
                <a16:creationId xmlns:a16="http://schemas.microsoft.com/office/drawing/2014/main" id="{E3A2F038-5DC9-4BA1-9EC7-2E4F36F50BDF}"/>
              </a:ext>
            </a:extLst>
          </p:cNvPr>
          <p:cNvSpPr>
            <a:spLocks xmlns:a="http://schemas.openxmlformats.org/drawingml/2006/main" noGrp="1"/>
          </p:cNvSpPr>
          <p:nvPr/>
        </p:nvSpPr>
        <p:spPr>
          <a:xfrm xmlns:a="http://schemas.openxmlformats.org/drawingml/2006/main">
            <a:off x="7124700" y="1714500"/>
            <a:ext cx="1276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F1</a:t>
            </a:r>
          </a:p>
        </p:txBody>
      </p:sp>
      <p:sp>
        <p:nvSpPr>
          <p:cNvPr id="14" name="">
            <a:extLst xmlns:a="http://schemas.openxmlformats.org/drawingml/2006/main">
              <a:ext uri="{FF2B5EF4-FFF2-40B4-BE49-F238E27FC236}">
                <a16:creationId xmlns:a16="http://schemas.microsoft.com/office/drawing/2014/main" id="{D2456A1B-42D9-40AB-9F06-57571172D564}"/>
              </a:ext>
            </a:extLst>
          </p:cNvPr>
          <p:cNvSpPr>
            <a:spLocks xmlns:a="http://schemas.openxmlformats.org/drawingml/2006/main" noGrp="1"/>
          </p:cNvSpPr>
          <p:nvPr/>
        </p:nvSpPr>
        <p:spPr>
          <a:xfrm xmlns:a="http://schemas.openxmlformats.org/drawingml/2006/main">
            <a:off x="8477250" y="1619250"/>
            <a:ext cx="1428750" cy="514350"/>
          </a:xfrm>
          <a:prstGeom xmlns:a="http://schemas.openxmlformats.org/drawingml/2006/main" prst="rect">
            <a:avLst/>
          </a:prstGeom>
          <a:solidFill xmlns:a="http://schemas.openxmlformats.org/drawingml/2006/main">
            <a:srgbClr val="203F6E"/>
          </a:solidFill>
          <a:ln xmlns:a="http://schemas.openxmlformats.org/drawingml/2006/main" w="9525">
            <a:solidFill>
              <a:srgbClr val="C8D6E4"/>
            </a:solidFill>
            <a:prstDash val="solid"/>
          </a:ln>
        </p:spPr>
      </p:sp>
      <p:sp>
        <p:nvSpPr>
          <p:cNvPr id="15" name="">
            <a:extLst xmlns:a="http://schemas.openxmlformats.org/drawingml/2006/main">
              <a:ext uri="{FF2B5EF4-FFF2-40B4-BE49-F238E27FC236}">
                <a16:creationId xmlns:a16="http://schemas.microsoft.com/office/drawing/2014/main" id="{E3DC86EA-2A18-4DF0-9C83-C47F994E828D}"/>
              </a:ext>
            </a:extLst>
          </p:cNvPr>
          <p:cNvSpPr>
            <a:spLocks xmlns:a="http://schemas.openxmlformats.org/drawingml/2006/main" noGrp="1"/>
          </p:cNvSpPr>
          <p:nvPr/>
        </p:nvSpPr>
        <p:spPr>
          <a:xfrm xmlns:a="http://schemas.openxmlformats.org/drawingml/2006/main">
            <a:off x="8553450" y="1714500"/>
            <a:ext cx="1276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ROC-AUC</a:t>
            </a:r>
          </a:p>
        </p:txBody>
      </p:sp>
      <p:sp>
        <p:nvSpPr>
          <p:cNvPr id="16" name="">
            <a:extLst xmlns:a="http://schemas.openxmlformats.org/drawingml/2006/main">
              <a:ext uri="{FF2B5EF4-FFF2-40B4-BE49-F238E27FC236}">
                <a16:creationId xmlns:a16="http://schemas.microsoft.com/office/drawing/2014/main" id="{9BC22EC6-96C5-4D53-B510-E89F158049F1}"/>
              </a:ext>
            </a:extLst>
          </p:cNvPr>
          <p:cNvSpPr>
            <a:spLocks xmlns:a="http://schemas.openxmlformats.org/drawingml/2006/main" noGrp="1"/>
          </p:cNvSpPr>
          <p:nvPr/>
        </p:nvSpPr>
        <p:spPr>
          <a:xfrm xmlns:a="http://schemas.openxmlformats.org/drawingml/2006/main">
            <a:off x="666750" y="2133600"/>
            <a:ext cx="20955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17" name="">
            <a:extLst xmlns:a="http://schemas.openxmlformats.org/drawingml/2006/main">
              <a:ext uri="{FF2B5EF4-FFF2-40B4-BE49-F238E27FC236}">
                <a16:creationId xmlns:a16="http://schemas.microsoft.com/office/drawing/2014/main" id="{64019D4B-8BC0-4D0F-8316-CBF73630BA63}"/>
              </a:ext>
            </a:extLst>
          </p:cNvPr>
          <p:cNvSpPr>
            <a:spLocks xmlns:a="http://schemas.openxmlformats.org/drawingml/2006/main" noGrp="1"/>
          </p:cNvSpPr>
          <p:nvPr/>
        </p:nvSpPr>
        <p:spPr>
          <a:xfrm xmlns:a="http://schemas.openxmlformats.org/drawingml/2006/main">
            <a:off x="742950" y="2228850"/>
            <a:ext cx="1943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Original</a:t>
            </a:r>
          </a:p>
        </p:txBody>
      </p:sp>
      <p:sp>
        <p:nvSpPr>
          <p:cNvPr id="18" name="">
            <a:extLst xmlns:a="http://schemas.openxmlformats.org/drawingml/2006/main">
              <a:ext uri="{FF2B5EF4-FFF2-40B4-BE49-F238E27FC236}">
                <a16:creationId xmlns:a16="http://schemas.microsoft.com/office/drawing/2014/main" id="{C1EBEFD5-63A4-40B5-A7AB-E862A355D0C9}"/>
              </a:ext>
            </a:extLst>
          </p:cNvPr>
          <p:cNvSpPr>
            <a:spLocks xmlns:a="http://schemas.openxmlformats.org/drawingml/2006/main" noGrp="1"/>
          </p:cNvSpPr>
          <p:nvPr/>
        </p:nvSpPr>
        <p:spPr>
          <a:xfrm xmlns:a="http://schemas.openxmlformats.org/drawingml/2006/main">
            <a:off x="2762250" y="2133600"/>
            <a:ext cx="14287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19" name="">
            <a:extLst xmlns:a="http://schemas.openxmlformats.org/drawingml/2006/main">
              <a:ext uri="{FF2B5EF4-FFF2-40B4-BE49-F238E27FC236}">
                <a16:creationId xmlns:a16="http://schemas.microsoft.com/office/drawing/2014/main" id="{BDD661FD-706F-4BED-A89E-7CD960275E54}"/>
              </a:ext>
            </a:extLst>
          </p:cNvPr>
          <p:cNvSpPr>
            <a:spLocks xmlns:a="http://schemas.openxmlformats.org/drawingml/2006/main" noGrp="1"/>
          </p:cNvSpPr>
          <p:nvPr/>
        </p:nvSpPr>
        <p:spPr>
          <a:xfrm xmlns:a="http://schemas.openxmlformats.org/drawingml/2006/main">
            <a:off x="2838450" y="2228850"/>
            <a:ext cx="1276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86,81 %</a:t>
            </a:r>
          </a:p>
        </p:txBody>
      </p:sp>
      <p:sp>
        <p:nvSpPr>
          <p:cNvPr id="20" name="">
            <a:extLst xmlns:a="http://schemas.openxmlformats.org/drawingml/2006/main">
              <a:ext uri="{FF2B5EF4-FFF2-40B4-BE49-F238E27FC236}">
                <a16:creationId xmlns:a16="http://schemas.microsoft.com/office/drawing/2014/main" id="{A54374F8-AC2E-4E36-852C-AB4216E38F5A}"/>
              </a:ext>
            </a:extLst>
          </p:cNvPr>
          <p:cNvSpPr>
            <a:spLocks xmlns:a="http://schemas.openxmlformats.org/drawingml/2006/main" noGrp="1"/>
          </p:cNvSpPr>
          <p:nvPr/>
        </p:nvSpPr>
        <p:spPr>
          <a:xfrm xmlns:a="http://schemas.openxmlformats.org/drawingml/2006/main">
            <a:off x="4191000" y="2133600"/>
            <a:ext cx="14287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21" name="">
            <a:extLst xmlns:a="http://schemas.openxmlformats.org/drawingml/2006/main">
              <a:ext uri="{FF2B5EF4-FFF2-40B4-BE49-F238E27FC236}">
                <a16:creationId xmlns:a16="http://schemas.microsoft.com/office/drawing/2014/main" id="{0749D0D1-568E-4F8B-ABD1-AF3C7E5BF9F7}"/>
              </a:ext>
            </a:extLst>
          </p:cNvPr>
          <p:cNvSpPr>
            <a:spLocks xmlns:a="http://schemas.openxmlformats.org/drawingml/2006/main" noGrp="1"/>
          </p:cNvSpPr>
          <p:nvPr/>
        </p:nvSpPr>
        <p:spPr>
          <a:xfrm xmlns:a="http://schemas.openxmlformats.org/drawingml/2006/main">
            <a:off x="4267200" y="2228850"/>
            <a:ext cx="1276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82,74 %</a:t>
            </a:r>
          </a:p>
        </p:txBody>
      </p:sp>
      <p:sp>
        <p:nvSpPr>
          <p:cNvPr id="22" name="">
            <a:extLst xmlns:a="http://schemas.openxmlformats.org/drawingml/2006/main">
              <a:ext uri="{FF2B5EF4-FFF2-40B4-BE49-F238E27FC236}">
                <a16:creationId xmlns:a16="http://schemas.microsoft.com/office/drawing/2014/main" id="{6AE39852-8F6E-4C21-BA5A-A0E9A0747411}"/>
              </a:ext>
            </a:extLst>
          </p:cNvPr>
          <p:cNvSpPr>
            <a:spLocks xmlns:a="http://schemas.openxmlformats.org/drawingml/2006/main" noGrp="1"/>
          </p:cNvSpPr>
          <p:nvPr/>
        </p:nvSpPr>
        <p:spPr>
          <a:xfrm xmlns:a="http://schemas.openxmlformats.org/drawingml/2006/main">
            <a:off x="5619750" y="2133600"/>
            <a:ext cx="14287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23" name="">
            <a:extLst xmlns:a="http://schemas.openxmlformats.org/drawingml/2006/main">
              <a:ext uri="{FF2B5EF4-FFF2-40B4-BE49-F238E27FC236}">
                <a16:creationId xmlns:a16="http://schemas.microsoft.com/office/drawing/2014/main" id="{A29D167F-70BC-43C7-90D6-B82BD591A92D}"/>
              </a:ext>
            </a:extLst>
          </p:cNvPr>
          <p:cNvSpPr>
            <a:spLocks xmlns:a="http://schemas.openxmlformats.org/drawingml/2006/main" noGrp="1"/>
          </p:cNvSpPr>
          <p:nvPr/>
        </p:nvSpPr>
        <p:spPr>
          <a:xfrm xmlns:a="http://schemas.openxmlformats.org/drawingml/2006/main">
            <a:off x="5695950" y="2228850"/>
            <a:ext cx="1276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92,98 %</a:t>
            </a:r>
          </a:p>
        </p:txBody>
      </p:sp>
      <p:sp>
        <p:nvSpPr>
          <p:cNvPr id="24" name="">
            <a:extLst xmlns:a="http://schemas.openxmlformats.org/drawingml/2006/main">
              <a:ext uri="{FF2B5EF4-FFF2-40B4-BE49-F238E27FC236}">
                <a16:creationId xmlns:a16="http://schemas.microsoft.com/office/drawing/2014/main" id="{9D5EC480-EE8A-4E28-9301-CBDECC9BF1D5}"/>
              </a:ext>
            </a:extLst>
          </p:cNvPr>
          <p:cNvSpPr>
            <a:spLocks xmlns:a="http://schemas.openxmlformats.org/drawingml/2006/main" noGrp="1"/>
          </p:cNvSpPr>
          <p:nvPr/>
        </p:nvSpPr>
        <p:spPr>
          <a:xfrm xmlns:a="http://schemas.openxmlformats.org/drawingml/2006/main">
            <a:off x="7048500" y="2133600"/>
            <a:ext cx="14287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25" name="">
            <a:extLst xmlns:a="http://schemas.openxmlformats.org/drawingml/2006/main">
              <a:ext uri="{FF2B5EF4-FFF2-40B4-BE49-F238E27FC236}">
                <a16:creationId xmlns:a16="http://schemas.microsoft.com/office/drawing/2014/main" id="{49E2AA10-93D2-41DE-8C0B-5116BF0F54DD}"/>
              </a:ext>
            </a:extLst>
          </p:cNvPr>
          <p:cNvSpPr>
            <a:spLocks xmlns:a="http://schemas.openxmlformats.org/drawingml/2006/main" noGrp="1"/>
          </p:cNvSpPr>
          <p:nvPr/>
        </p:nvSpPr>
        <p:spPr>
          <a:xfrm xmlns:a="http://schemas.openxmlformats.org/drawingml/2006/main">
            <a:off x="7124700" y="2228850"/>
            <a:ext cx="1276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87,56 %</a:t>
            </a:r>
          </a:p>
        </p:txBody>
      </p:sp>
      <p:sp>
        <p:nvSpPr>
          <p:cNvPr id="26" name="">
            <a:extLst xmlns:a="http://schemas.openxmlformats.org/drawingml/2006/main">
              <a:ext uri="{FF2B5EF4-FFF2-40B4-BE49-F238E27FC236}">
                <a16:creationId xmlns:a16="http://schemas.microsoft.com/office/drawing/2014/main" id="{621F5595-58E9-4FCE-AE29-00C5D957C0D7}"/>
              </a:ext>
            </a:extLst>
          </p:cNvPr>
          <p:cNvSpPr>
            <a:spLocks xmlns:a="http://schemas.openxmlformats.org/drawingml/2006/main" noGrp="1"/>
          </p:cNvSpPr>
          <p:nvPr/>
        </p:nvSpPr>
        <p:spPr>
          <a:xfrm xmlns:a="http://schemas.openxmlformats.org/drawingml/2006/main">
            <a:off x="8477250" y="2133600"/>
            <a:ext cx="14287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27" name="">
            <a:extLst xmlns:a="http://schemas.openxmlformats.org/drawingml/2006/main">
              <a:ext uri="{FF2B5EF4-FFF2-40B4-BE49-F238E27FC236}">
                <a16:creationId xmlns:a16="http://schemas.microsoft.com/office/drawing/2014/main" id="{CBF951F2-D4FF-4412-847D-14D05DCC27D4}"/>
              </a:ext>
            </a:extLst>
          </p:cNvPr>
          <p:cNvSpPr>
            <a:spLocks xmlns:a="http://schemas.openxmlformats.org/drawingml/2006/main" noGrp="1"/>
          </p:cNvSpPr>
          <p:nvPr/>
        </p:nvSpPr>
        <p:spPr>
          <a:xfrm xmlns:a="http://schemas.openxmlformats.org/drawingml/2006/main">
            <a:off x="8553450" y="2228850"/>
            <a:ext cx="1276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0,9446</a:t>
            </a:r>
          </a:p>
        </p:txBody>
      </p:sp>
      <p:sp>
        <p:nvSpPr>
          <p:cNvPr id="28" name="">
            <a:extLst xmlns:a="http://schemas.openxmlformats.org/drawingml/2006/main">
              <a:ext uri="{FF2B5EF4-FFF2-40B4-BE49-F238E27FC236}">
                <a16:creationId xmlns:a16="http://schemas.microsoft.com/office/drawing/2014/main" id="{46131347-F4F2-4414-9172-2C78717747EC}"/>
              </a:ext>
            </a:extLst>
          </p:cNvPr>
          <p:cNvSpPr>
            <a:spLocks xmlns:a="http://schemas.openxmlformats.org/drawingml/2006/main" noGrp="1"/>
          </p:cNvSpPr>
          <p:nvPr/>
        </p:nvSpPr>
        <p:spPr>
          <a:xfrm xmlns:a="http://schemas.openxmlformats.org/drawingml/2006/main">
            <a:off x="666750" y="2647950"/>
            <a:ext cx="2095500" cy="514350"/>
          </a:xfrm>
          <a:prstGeom xmlns:a="http://schemas.openxmlformats.org/drawingml/2006/main" prst="rect">
            <a:avLst/>
          </a:prstGeom>
          <a:solidFill xmlns:a="http://schemas.openxmlformats.org/drawingml/2006/main">
            <a:srgbClr val="DCEAF4"/>
          </a:solidFill>
          <a:ln xmlns:a="http://schemas.openxmlformats.org/drawingml/2006/main" w="9525">
            <a:solidFill>
              <a:srgbClr val="C8D6E4"/>
            </a:solidFill>
            <a:prstDash val="solid"/>
          </a:ln>
        </p:spPr>
      </p:sp>
      <p:sp>
        <p:nvSpPr>
          <p:cNvPr id="29" name="">
            <a:extLst xmlns:a="http://schemas.openxmlformats.org/drawingml/2006/main">
              <a:ext uri="{FF2B5EF4-FFF2-40B4-BE49-F238E27FC236}">
                <a16:creationId xmlns:a16="http://schemas.microsoft.com/office/drawing/2014/main" id="{6C8478FB-CCFB-40E0-9859-679E754F191A}"/>
              </a:ext>
            </a:extLst>
          </p:cNvPr>
          <p:cNvSpPr>
            <a:spLocks xmlns:a="http://schemas.openxmlformats.org/drawingml/2006/main" noGrp="1"/>
          </p:cNvSpPr>
          <p:nvPr/>
        </p:nvSpPr>
        <p:spPr>
          <a:xfrm xmlns:a="http://schemas.openxmlformats.org/drawingml/2006/main">
            <a:off x="742950" y="2743200"/>
            <a:ext cx="1943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Augmenté</a:t>
            </a:r>
          </a:p>
        </p:txBody>
      </p:sp>
      <p:sp>
        <p:nvSpPr>
          <p:cNvPr id="30" name="">
            <a:extLst xmlns:a="http://schemas.openxmlformats.org/drawingml/2006/main">
              <a:ext uri="{FF2B5EF4-FFF2-40B4-BE49-F238E27FC236}">
                <a16:creationId xmlns:a16="http://schemas.microsoft.com/office/drawing/2014/main" id="{361A4873-151D-43A2-BB54-06B04199A725}"/>
              </a:ext>
            </a:extLst>
          </p:cNvPr>
          <p:cNvSpPr>
            <a:spLocks xmlns:a="http://schemas.openxmlformats.org/drawingml/2006/main" noGrp="1"/>
          </p:cNvSpPr>
          <p:nvPr/>
        </p:nvSpPr>
        <p:spPr>
          <a:xfrm xmlns:a="http://schemas.openxmlformats.org/drawingml/2006/main">
            <a:off x="2762250" y="2647950"/>
            <a:ext cx="1428750" cy="514350"/>
          </a:xfrm>
          <a:prstGeom xmlns:a="http://schemas.openxmlformats.org/drawingml/2006/main" prst="rect">
            <a:avLst/>
          </a:prstGeom>
          <a:solidFill xmlns:a="http://schemas.openxmlformats.org/drawingml/2006/main">
            <a:srgbClr val="DCEAF4"/>
          </a:solidFill>
          <a:ln xmlns:a="http://schemas.openxmlformats.org/drawingml/2006/main" w="9525">
            <a:solidFill>
              <a:srgbClr val="C8D6E4"/>
            </a:solidFill>
            <a:prstDash val="solid"/>
          </a:ln>
        </p:spPr>
      </p:sp>
      <p:sp>
        <p:nvSpPr>
          <p:cNvPr id="31" name="">
            <a:extLst xmlns:a="http://schemas.openxmlformats.org/drawingml/2006/main">
              <a:ext uri="{FF2B5EF4-FFF2-40B4-BE49-F238E27FC236}">
                <a16:creationId xmlns:a16="http://schemas.microsoft.com/office/drawing/2014/main" id="{10CB1FB2-A8C5-47CD-BCA3-07A750C519C2}"/>
              </a:ext>
            </a:extLst>
          </p:cNvPr>
          <p:cNvSpPr>
            <a:spLocks xmlns:a="http://schemas.openxmlformats.org/drawingml/2006/main" noGrp="1"/>
          </p:cNvSpPr>
          <p:nvPr/>
        </p:nvSpPr>
        <p:spPr>
          <a:xfrm xmlns:a="http://schemas.openxmlformats.org/drawingml/2006/main">
            <a:off x="2838450" y="2743200"/>
            <a:ext cx="1276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91,99 %</a:t>
            </a:r>
          </a:p>
        </p:txBody>
      </p:sp>
      <p:sp>
        <p:nvSpPr>
          <p:cNvPr id="32" name="">
            <a:extLst xmlns:a="http://schemas.openxmlformats.org/drawingml/2006/main">
              <a:ext uri="{FF2B5EF4-FFF2-40B4-BE49-F238E27FC236}">
                <a16:creationId xmlns:a16="http://schemas.microsoft.com/office/drawing/2014/main" id="{B3F62F8C-C493-49A1-9E4D-71DCBCDB931C}"/>
              </a:ext>
            </a:extLst>
          </p:cNvPr>
          <p:cNvSpPr>
            <a:spLocks xmlns:a="http://schemas.openxmlformats.org/drawingml/2006/main" noGrp="1"/>
          </p:cNvSpPr>
          <p:nvPr/>
        </p:nvSpPr>
        <p:spPr>
          <a:xfrm xmlns:a="http://schemas.openxmlformats.org/drawingml/2006/main">
            <a:off x="4191000" y="2647950"/>
            <a:ext cx="1428750" cy="514350"/>
          </a:xfrm>
          <a:prstGeom xmlns:a="http://schemas.openxmlformats.org/drawingml/2006/main" prst="rect">
            <a:avLst/>
          </a:prstGeom>
          <a:solidFill xmlns:a="http://schemas.openxmlformats.org/drawingml/2006/main">
            <a:srgbClr val="DCEAF4"/>
          </a:solidFill>
          <a:ln xmlns:a="http://schemas.openxmlformats.org/drawingml/2006/main" w="9525">
            <a:solidFill>
              <a:srgbClr val="C8D6E4"/>
            </a:solidFill>
            <a:prstDash val="solid"/>
          </a:ln>
        </p:spPr>
      </p:sp>
      <p:sp>
        <p:nvSpPr>
          <p:cNvPr id="33" name="">
            <a:extLst xmlns:a="http://schemas.openxmlformats.org/drawingml/2006/main">
              <a:ext uri="{FF2B5EF4-FFF2-40B4-BE49-F238E27FC236}">
                <a16:creationId xmlns:a16="http://schemas.microsoft.com/office/drawing/2014/main" id="{D2FC7ED0-275F-4318-8042-224D8823D619}"/>
              </a:ext>
            </a:extLst>
          </p:cNvPr>
          <p:cNvSpPr>
            <a:spLocks xmlns:a="http://schemas.openxmlformats.org/drawingml/2006/main" noGrp="1"/>
          </p:cNvSpPr>
          <p:nvPr/>
        </p:nvSpPr>
        <p:spPr>
          <a:xfrm xmlns:a="http://schemas.openxmlformats.org/drawingml/2006/main">
            <a:off x="4267200" y="2743200"/>
            <a:ext cx="1276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88,62 %</a:t>
            </a:r>
          </a:p>
        </p:txBody>
      </p:sp>
      <p:sp>
        <p:nvSpPr>
          <p:cNvPr id="34" name="">
            <a:extLst xmlns:a="http://schemas.openxmlformats.org/drawingml/2006/main">
              <a:ext uri="{FF2B5EF4-FFF2-40B4-BE49-F238E27FC236}">
                <a16:creationId xmlns:a16="http://schemas.microsoft.com/office/drawing/2014/main" id="{DFACE3C2-3EC9-4936-AED8-567B920646F8}"/>
              </a:ext>
            </a:extLst>
          </p:cNvPr>
          <p:cNvSpPr>
            <a:spLocks xmlns:a="http://schemas.openxmlformats.org/drawingml/2006/main" noGrp="1"/>
          </p:cNvSpPr>
          <p:nvPr/>
        </p:nvSpPr>
        <p:spPr>
          <a:xfrm xmlns:a="http://schemas.openxmlformats.org/drawingml/2006/main">
            <a:off x="5619750" y="2647950"/>
            <a:ext cx="1428750" cy="514350"/>
          </a:xfrm>
          <a:prstGeom xmlns:a="http://schemas.openxmlformats.org/drawingml/2006/main" prst="rect">
            <a:avLst/>
          </a:prstGeom>
          <a:solidFill xmlns:a="http://schemas.openxmlformats.org/drawingml/2006/main">
            <a:srgbClr val="DCEAF4"/>
          </a:solidFill>
          <a:ln xmlns:a="http://schemas.openxmlformats.org/drawingml/2006/main" w="9525">
            <a:solidFill>
              <a:srgbClr val="C8D6E4"/>
            </a:solidFill>
            <a:prstDash val="solid"/>
          </a:ln>
        </p:spPr>
      </p:sp>
      <p:sp>
        <p:nvSpPr>
          <p:cNvPr id="35" name="">
            <a:extLst xmlns:a="http://schemas.openxmlformats.org/drawingml/2006/main">
              <a:ext uri="{FF2B5EF4-FFF2-40B4-BE49-F238E27FC236}">
                <a16:creationId xmlns:a16="http://schemas.microsoft.com/office/drawing/2014/main" id="{4EA7E898-63C4-43C7-9E84-62CE997C7BC1}"/>
              </a:ext>
            </a:extLst>
          </p:cNvPr>
          <p:cNvSpPr>
            <a:spLocks xmlns:a="http://schemas.openxmlformats.org/drawingml/2006/main" noGrp="1"/>
          </p:cNvSpPr>
          <p:nvPr/>
        </p:nvSpPr>
        <p:spPr>
          <a:xfrm xmlns:a="http://schemas.openxmlformats.org/drawingml/2006/main">
            <a:off x="5695950" y="2743200"/>
            <a:ext cx="1276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96,32 %</a:t>
            </a:r>
          </a:p>
        </p:txBody>
      </p:sp>
      <p:sp>
        <p:nvSpPr>
          <p:cNvPr id="36" name="">
            <a:extLst xmlns:a="http://schemas.openxmlformats.org/drawingml/2006/main">
              <a:ext uri="{FF2B5EF4-FFF2-40B4-BE49-F238E27FC236}">
                <a16:creationId xmlns:a16="http://schemas.microsoft.com/office/drawing/2014/main" id="{1B42B975-1062-4EDC-A8E2-C64DB1DD73B5}"/>
              </a:ext>
            </a:extLst>
          </p:cNvPr>
          <p:cNvSpPr>
            <a:spLocks xmlns:a="http://schemas.openxmlformats.org/drawingml/2006/main" noGrp="1"/>
          </p:cNvSpPr>
          <p:nvPr/>
        </p:nvSpPr>
        <p:spPr>
          <a:xfrm xmlns:a="http://schemas.openxmlformats.org/drawingml/2006/main">
            <a:off x="7048500" y="2647950"/>
            <a:ext cx="1428750" cy="514350"/>
          </a:xfrm>
          <a:prstGeom xmlns:a="http://schemas.openxmlformats.org/drawingml/2006/main" prst="rect">
            <a:avLst/>
          </a:prstGeom>
          <a:solidFill xmlns:a="http://schemas.openxmlformats.org/drawingml/2006/main">
            <a:srgbClr val="DCEAF4"/>
          </a:solidFill>
          <a:ln xmlns:a="http://schemas.openxmlformats.org/drawingml/2006/main" w="9525">
            <a:solidFill>
              <a:srgbClr val="C8D6E4"/>
            </a:solidFill>
            <a:prstDash val="solid"/>
          </a:ln>
        </p:spPr>
      </p:sp>
      <p:sp>
        <p:nvSpPr>
          <p:cNvPr id="37" name="">
            <a:extLst xmlns:a="http://schemas.openxmlformats.org/drawingml/2006/main">
              <a:ext uri="{FF2B5EF4-FFF2-40B4-BE49-F238E27FC236}">
                <a16:creationId xmlns:a16="http://schemas.microsoft.com/office/drawing/2014/main" id="{83E8A7C4-38C7-4965-B61B-8951C07C8C11}"/>
              </a:ext>
            </a:extLst>
          </p:cNvPr>
          <p:cNvSpPr>
            <a:spLocks xmlns:a="http://schemas.openxmlformats.org/drawingml/2006/main" noGrp="1"/>
          </p:cNvSpPr>
          <p:nvPr/>
        </p:nvSpPr>
        <p:spPr>
          <a:xfrm xmlns:a="http://schemas.openxmlformats.org/drawingml/2006/main">
            <a:off x="7124700" y="2743200"/>
            <a:ext cx="1276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92,31 %</a:t>
            </a:r>
          </a:p>
        </p:txBody>
      </p:sp>
      <p:sp>
        <p:nvSpPr>
          <p:cNvPr id="38" name="">
            <a:extLst xmlns:a="http://schemas.openxmlformats.org/drawingml/2006/main">
              <a:ext uri="{FF2B5EF4-FFF2-40B4-BE49-F238E27FC236}">
                <a16:creationId xmlns:a16="http://schemas.microsoft.com/office/drawing/2014/main" id="{98891670-49EA-481C-B832-8A9AD7CA724A}"/>
              </a:ext>
            </a:extLst>
          </p:cNvPr>
          <p:cNvSpPr>
            <a:spLocks xmlns:a="http://schemas.openxmlformats.org/drawingml/2006/main" noGrp="1"/>
          </p:cNvSpPr>
          <p:nvPr/>
        </p:nvSpPr>
        <p:spPr>
          <a:xfrm xmlns:a="http://schemas.openxmlformats.org/drawingml/2006/main">
            <a:off x="8477250" y="2647950"/>
            <a:ext cx="1428750" cy="514350"/>
          </a:xfrm>
          <a:prstGeom xmlns:a="http://schemas.openxmlformats.org/drawingml/2006/main" prst="rect">
            <a:avLst/>
          </a:prstGeom>
          <a:solidFill xmlns:a="http://schemas.openxmlformats.org/drawingml/2006/main">
            <a:srgbClr val="DCEAF4"/>
          </a:solidFill>
          <a:ln xmlns:a="http://schemas.openxmlformats.org/drawingml/2006/main" w="9525">
            <a:solidFill>
              <a:srgbClr val="C8D6E4"/>
            </a:solidFill>
            <a:prstDash val="solid"/>
          </a:ln>
        </p:spPr>
      </p:sp>
      <p:sp>
        <p:nvSpPr>
          <p:cNvPr id="39" name="">
            <a:extLst xmlns:a="http://schemas.openxmlformats.org/drawingml/2006/main">
              <a:ext uri="{FF2B5EF4-FFF2-40B4-BE49-F238E27FC236}">
                <a16:creationId xmlns:a16="http://schemas.microsoft.com/office/drawing/2014/main" id="{18CED02B-1C5A-4D84-99FB-30142D0E60E9}"/>
              </a:ext>
            </a:extLst>
          </p:cNvPr>
          <p:cNvSpPr>
            <a:spLocks xmlns:a="http://schemas.openxmlformats.org/drawingml/2006/main" noGrp="1"/>
          </p:cNvSpPr>
          <p:nvPr/>
        </p:nvSpPr>
        <p:spPr>
          <a:xfrm xmlns:a="http://schemas.openxmlformats.org/drawingml/2006/main">
            <a:off x="8553450" y="2743200"/>
            <a:ext cx="1276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0,9767</a:t>
            </a:r>
          </a:p>
        </p:txBody>
      </p:sp>
      <p:pic>
        <p:nvPicPr>
          <p:cNvPr id="85" name=""/>
          <p:cNvPicPr>
            <a:picLocks xmlns:a="http://schemas.openxmlformats.org/drawingml/2006/main" noChangeAspect="1"/>
          </p:cNvPicPr>
          <p:nvPr/>
        </p:nvPicPr>
        <p:blipFill>
          <a:blip xmlns:r="http://schemas.openxmlformats.org/officeDocument/2006/relationships" xmlns:a="http://schemas.openxmlformats.org/drawingml/2006/main" r:embed="R469097ce5436418f"/>
          <a:stretch xmlns:a="http://schemas.openxmlformats.org/drawingml/2006/main"/>
        </p:blipFill>
        <p:spPr>
          <a:xfrm xmlns:a="http://schemas.openxmlformats.org/drawingml/2006/main">
            <a:off x="904875" y="3547973"/>
            <a:ext cx="4095750" cy="1905179"/>
          </a:xfrm>
          <a:prstGeom xmlns:a="http://schemas.openxmlformats.org/drawingml/2006/main" prst="rect">
            <a:avLst/>
          </a:prstGeom>
        </p:spPr>
      </p:pic>
      <p:sp>
        <p:nvSpPr>
          <p:cNvPr id="41" name="">
            <a:extLst xmlns:a="http://schemas.openxmlformats.org/drawingml/2006/main">
              <a:ext uri="{FF2B5EF4-FFF2-40B4-BE49-F238E27FC236}">
                <a16:creationId xmlns:a16="http://schemas.microsoft.com/office/drawing/2014/main" id="{586AE022-A204-4F1E-8A2C-1FA433FD642E}"/>
              </a:ext>
            </a:extLst>
          </p:cNvPr>
          <p:cNvSpPr>
            <a:spLocks xmlns:a="http://schemas.openxmlformats.org/drawingml/2006/main" noGrp="1"/>
          </p:cNvSpPr>
          <p:nvPr/>
        </p:nvSpPr>
        <p:spPr>
          <a:xfrm xmlns:a="http://schemas.openxmlformats.org/drawingml/2006/main">
            <a:off x="5715000" y="3619500"/>
            <a:ext cx="4476750" cy="1524000"/>
          </a:xfrm>
          <a:prstGeom xmlns:a="http://schemas.openxmlformats.org/drawingml/2006/main" prst="roundRect">
            <a:avLst>
              <a:gd name="adj" fmla="val 5000"/>
            </a:avLst>
          </a:prstGeom>
          <a:solidFill xmlns:a="http://schemas.openxmlformats.org/drawingml/2006/main">
            <a:srgbClr val="EEF5FA"/>
          </a:solidFill>
          <a:ln xmlns:a="http://schemas.openxmlformats.org/drawingml/2006/main" w="9525">
            <a:solidFill>
              <a:srgbClr val="C8D6E4"/>
            </a:solidFill>
            <a:prstDash val="solid"/>
          </a:ln>
        </p:spPr>
      </p:sp>
      <p:sp>
        <p:nvSpPr>
          <p:cNvPr id="42" name="">
            <a:extLst xmlns:a="http://schemas.openxmlformats.org/drawingml/2006/main">
              <a:ext uri="{FF2B5EF4-FFF2-40B4-BE49-F238E27FC236}">
                <a16:creationId xmlns:a16="http://schemas.microsoft.com/office/drawing/2014/main" id="{ABEAD849-5A28-4F9D-B6F4-B7F16208FA18}"/>
              </a:ext>
            </a:extLst>
          </p:cNvPr>
          <p:cNvSpPr>
            <a:spLocks xmlns:a="http://schemas.openxmlformats.org/drawingml/2006/main" noGrp="1"/>
          </p:cNvSpPr>
          <p:nvPr/>
        </p:nvSpPr>
        <p:spPr>
          <a:xfrm xmlns:a="http://schemas.openxmlformats.org/drawingml/2006/main">
            <a:off x="5981700" y="382905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17345F"/>
                </a:solidFill>
              </a:defRPr>
            </a:pPr>
            <a:r>
              <a:rPr sz="1500" b="1" i="0">
                <a:solidFill>
                  <a:srgbClr val="17345F"/>
                </a:solidFill>
              </a:rPr>
              <a:t>Ce que cela dit de SIRCH</a:t>
            </a:r>
          </a:p>
        </p:txBody>
      </p:sp>
      <p:sp>
        <p:nvSpPr>
          <p:cNvPr id="43" name="">
            <a:extLst xmlns:a="http://schemas.openxmlformats.org/drawingml/2006/main">
              <a:ext uri="{FF2B5EF4-FFF2-40B4-BE49-F238E27FC236}">
                <a16:creationId xmlns:a16="http://schemas.microsoft.com/office/drawing/2014/main" id="{3BF5B6B6-6413-4603-A380-A8BD9BCF35D7}"/>
              </a:ext>
            </a:extLst>
          </p:cNvPr>
          <p:cNvSpPr>
            <a:spLocks xmlns:a="http://schemas.openxmlformats.org/drawingml/2006/main" noGrp="1"/>
          </p:cNvSpPr>
          <p:nvPr/>
        </p:nvSpPr>
        <p:spPr>
          <a:xfrm xmlns:a="http://schemas.openxmlformats.org/drawingml/2006/main">
            <a:off x="5981700" y="4210050"/>
            <a:ext cx="3905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102033"/>
                </a:solidFill>
              </a:defRPr>
            </a:pPr>
            <a:r>
              <a:rPr sz="1125" b="0" i="0">
                <a:solidFill>
                  <a:srgbClr val="102033"/>
                </a:solidFill>
              </a:rPr>
              <a:t>Le modèle augmenté corrige une partie des erreurs du test principal : moins de faux positifs et moins de faux négatifs. Mais le test sport/danse montre que l’amélioration globale ne suffit pas encore à supprimer le biais mouvement-violence.</a:t>
            </a:r>
          </a:p>
        </p:txBody>
      </p:sp>
      <p:sp>
        <p:nvSpPr>
          <p:cNvPr id="44" name="">
            <a:extLst xmlns:a="http://schemas.openxmlformats.org/drawingml/2006/main">
              <a:ext uri="{FF2B5EF4-FFF2-40B4-BE49-F238E27FC236}">
                <a16:creationId xmlns:a16="http://schemas.microsoft.com/office/drawing/2014/main" id="{E532D265-DE2F-46AB-B750-8BA56CA30B3B}"/>
              </a:ext>
            </a:extLst>
          </p:cNvPr>
          <p:cNvSpPr>
            <a:spLocks xmlns:a="http://schemas.openxmlformats.org/drawingml/2006/main" noGrp="1"/>
          </p:cNvSpPr>
          <p:nvPr/>
        </p:nvSpPr>
        <p:spPr>
          <a:xfrm xmlns:a="http://schemas.openxmlformats.org/drawingml/2006/main">
            <a:off x="552450" y="6362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i="0">
                <a:solidFill>
                  <a:srgbClr val="5A6B82"/>
                </a:solidFill>
              </a:defRPr>
            </a:pPr>
            <a:r>
              <a:rPr sz="675" b="0" i="0">
                <a:solidFill>
                  <a:srgbClr val="5A6B82"/>
                </a:solidFill>
              </a:rPr>
              <a:t>Résultats : original vs augmenté</a:t>
            </a:r>
          </a:p>
        </p:txBody>
      </p:sp>
      <p:sp>
        <p:nvSpPr>
          <p:cNvPr id="45" name="">
            <a:extLst xmlns:a="http://schemas.openxmlformats.org/drawingml/2006/main">
              <a:ext uri="{FF2B5EF4-FFF2-40B4-BE49-F238E27FC236}">
                <a16:creationId xmlns:a16="http://schemas.microsoft.com/office/drawing/2014/main" id="{045C3261-521C-4FD7-8879-B7FA325B60B5}"/>
              </a:ext>
            </a:extLst>
          </p:cNvPr>
          <p:cNvSpPr>
            <a:spLocks xmlns:a="http://schemas.openxmlformats.org/drawingml/2006/main" noGrp="1"/>
          </p:cNvSpPr>
          <p:nvPr/>
        </p:nvSpPr>
        <p:spPr>
          <a:xfrm xmlns:a="http://schemas.openxmlformats.org/drawingml/2006/main">
            <a:off x="11049000" y="63627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0" i="0">
                <a:solidFill>
                  <a:srgbClr val="5A6B82"/>
                </a:solidFill>
              </a:defRPr>
            </a:pPr>
            <a:r>
              <a:rPr sz="750" b="0" i="0">
                <a:solidFill>
                  <a:srgbClr val="5A6B82"/>
                </a:solidFill>
              </a:rPr>
              <a:t>12 / 18</a:t>
            </a:r>
          </a:p>
        </p:txBody>
      </p:sp>
    </p:spTree>
    <p:extLst>
      <p:ext uri="{BB962C8B-B14F-4D97-AF65-F5344CB8AC3E}">
        <p14:creationId xmlns:p14="http://schemas.microsoft.com/office/powerpoint/2010/main" val="1757662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07322C4-068F-4BAB-96FD-F4428D0AB3A7}"/>
              </a:ext>
            </a:extLst>
          </p:cNvPr>
          <p:cNvSpPr>
            <a:spLocks xmlns:a="http://schemas.openxmlformats.org/drawingml/2006/main" noGrp="1"/>
          </p:cNvSpPr>
          <p:nvPr/>
        </p:nvSpPr>
        <p:spPr>
          <a:xfrm xmlns:a="http://schemas.openxmlformats.org/drawingml/2006/main">
            <a:off x="552450" y="419100"/>
            <a:ext cx="933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i="0">
                <a:solidFill>
                  <a:srgbClr val="17345F"/>
                </a:solidFill>
              </a:defRPr>
            </a:pPr>
            <a:r>
              <a:rPr sz="2550" b="1" i="0">
                <a:solidFill>
                  <a:srgbClr val="17345F"/>
                </a:solidFill>
              </a:rPr>
              <a:t>Les analyses avancées confirment le gain, mais nuancent son usage</a:t>
            </a:r>
          </a:p>
        </p:txBody>
      </p:sp>
      <p:sp>
        <p:nvSpPr>
          <p:cNvPr id="2" name="">
            <a:extLst xmlns:a="http://schemas.openxmlformats.org/drawingml/2006/main">
              <a:ext uri="{FF2B5EF4-FFF2-40B4-BE49-F238E27FC236}">
                <a16:creationId xmlns:a16="http://schemas.microsoft.com/office/drawing/2014/main" id="{6D25F8B2-686C-48B7-8154-13CA99F326BB}"/>
              </a:ext>
            </a:extLst>
          </p:cNvPr>
          <p:cNvSpPr>
            <a:spLocks xmlns:a="http://schemas.openxmlformats.org/drawingml/2006/main" noGrp="1"/>
          </p:cNvSpPr>
          <p:nvPr/>
        </p:nvSpPr>
        <p:spPr>
          <a:xfrm xmlns:a="http://schemas.openxmlformats.org/drawingml/2006/main">
            <a:off x="552450" y="1095375"/>
            <a:ext cx="1047750" cy="47625"/>
          </a:xfrm>
          <a:prstGeom xmlns:a="http://schemas.openxmlformats.org/drawingml/2006/main" prst="rect">
            <a:avLst/>
          </a:prstGeom>
          <a:solidFill xmlns:a="http://schemas.openxmlformats.org/drawingml/2006/main">
            <a:srgbClr val="1C8B53"/>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E475027-9278-4436-825F-BC1EB81A8F7A}"/>
              </a:ext>
            </a:extLst>
          </p:cNvPr>
          <p:cNvSpPr>
            <a:spLocks xmlns:a="http://schemas.openxmlformats.org/drawingml/2006/main" noGrp="1"/>
          </p:cNvSpPr>
          <p:nvPr/>
        </p:nvSpPr>
        <p:spPr>
          <a:xfrm xmlns:a="http://schemas.openxmlformats.org/drawingml/2006/main">
            <a:off x="552450" y="1238250"/>
            <a:ext cx="838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A6B82"/>
                </a:solidFill>
              </a:defRPr>
            </a:pPr>
            <a:r>
              <a:rPr sz="1200" b="0" i="0">
                <a:solidFill>
                  <a:srgbClr val="5A6B82"/>
                </a:solidFill>
              </a:rPr>
              <a:t>AUC, McNemar et ablation aident à comprendre la fiabilité réelle de SIRCH.</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ab608ee285a74de2"/>
          <a:stretch xmlns:a="http://schemas.openxmlformats.org/drawingml/2006/main"/>
        </p:blipFill>
        <p:spPr>
          <a:xfrm xmlns:a="http://schemas.openxmlformats.org/drawingml/2006/main">
            <a:off x="730250" y="1571625"/>
            <a:ext cx="3111500" cy="2333625"/>
          </a:xfrm>
          <a:prstGeom xmlns:a="http://schemas.openxmlformats.org/drawingml/2006/main" prst="rect">
            <a:avLst/>
          </a:prstGeom>
        </p:spPr>
      </p:pic>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6cd3bb0698c84a97"/>
          <a:stretch xmlns:a="http://schemas.openxmlformats.org/drawingml/2006/main"/>
        </p:blipFill>
        <p:spPr>
          <a:xfrm xmlns:a="http://schemas.openxmlformats.org/drawingml/2006/main">
            <a:off x="4476750" y="2189024"/>
            <a:ext cx="3143250" cy="1098826"/>
          </a:xfrm>
          <a:prstGeom xmlns:a="http://schemas.openxmlformats.org/drawingml/2006/main" prst="rect">
            <a:avLst/>
          </a:prstGeom>
        </p:spPr>
      </p:pic>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1c83d1371aa34a78"/>
          <a:stretch xmlns:a="http://schemas.openxmlformats.org/drawingml/2006/main"/>
        </p:blipFill>
        <p:spPr>
          <a:xfrm xmlns:a="http://schemas.openxmlformats.org/drawingml/2006/main">
            <a:off x="8191500" y="1771284"/>
            <a:ext cx="3143250" cy="1934308"/>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3AEB75E-2982-43CF-A429-A30C263369E5}"/>
              </a:ext>
            </a:extLst>
          </p:cNvPr>
          <p:cNvSpPr>
            <a:spLocks xmlns:a="http://schemas.openxmlformats.org/drawingml/2006/main" noGrp="1"/>
          </p:cNvSpPr>
          <p:nvPr/>
        </p:nvSpPr>
        <p:spPr>
          <a:xfrm xmlns:a="http://schemas.openxmlformats.org/drawingml/2006/main">
            <a:off x="762000" y="4333875"/>
            <a:ext cx="3143250" cy="1219200"/>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9525">
            <a:solidFill>
              <a:srgbClr val="C8D6E4"/>
            </a:solidFill>
            <a:prstDash val="solid"/>
          </a:ln>
        </p:spPr>
      </p:sp>
      <p:sp>
        <p:nvSpPr>
          <p:cNvPr id="8" name="">
            <a:extLst xmlns:a="http://schemas.openxmlformats.org/drawingml/2006/main">
              <a:ext uri="{FF2B5EF4-FFF2-40B4-BE49-F238E27FC236}">
                <a16:creationId xmlns:a16="http://schemas.microsoft.com/office/drawing/2014/main" id="{1DC67329-DBB3-4234-B91C-E48865E0CC3A}"/>
              </a:ext>
            </a:extLst>
          </p:cNvPr>
          <p:cNvSpPr>
            <a:spLocks xmlns:a="http://schemas.openxmlformats.org/drawingml/2006/main" noGrp="1"/>
          </p:cNvSpPr>
          <p:nvPr/>
        </p:nvSpPr>
        <p:spPr>
          <a:xfrm xmlns:a="http://schemas.openxmlformats.org/drawingml/2006/main">
            <a:off x="762000" y="4333875"/>
            <a:ext cx="66675" cy="1219200"/>
          </a:xfrm>
          <a:prstGeom xmlns:a="http://schemas.openxmlformats.org/drawingml/2006/main" prst="rect">
            <a:avLst/>
          </a:prstGeom>
          <a:solidFill xmlns:a="http://schemas.openxmlformats.org/drawingml/2006/main">
            <a:srgbClr val="203F6E"/>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B45B316-DA82-4657-94B6-0734DAC9B7B0}"/>
              </a:ext>
            </a:extLst>
          </p:cNvPr>
          <p:cNvSpPr>
            <a:spLocks xmlns:a="http://schemas.openxmlformats.org/drawingml/2006/main" noGrp="1"/>
          </p:cNvSpPr>
          <p:nvPr/>
        </p:nvSpPr>
        <p:spPr>
          <a:xfrm xmlns:a="http://schemas.openxmlformats.org/drawingml/2006/main">
            <a:off x="990600" y="4562475"/>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203F6E"/>
                </a:solidFill>
              </a:defRPr>
            </a:pPr>
            <a:r>
              <a:rPr sz="1350" b="1" i="0">
                <a:solidFill>
                  <a:srgbClr val="203F6E"/>
                </a:solidFill>
              </a:rPr>
              <a:t>AUC</a:t>
            </a:r>
          </a:p>
        </p:txBody>
      </p:sp>
      <p:sp>
        <p:nvSpPr>
          <p:cNvPr id="10" name="">
            <a:extLst xmlns:a="http://schemas.openxmlformats.org/drawingml/2006/main">
              <a:ext uri="{FF2B5EF4-FFF2-40B4-BE49-F238E27FC236}">
                <a16:creationId xmlns:a16="http://schemas.microsoft.com/office/drawing/2014/main" id="{6FF746EB-82F3-42F4-A806-3DDC88C2AE0D}"/>
              </a:ext>
            </a:extLst>
          </p:cNvPr>
          <p:cNvSpPr>
            <a:spLocks xmlns:a="http://schemas.openxmlformats.org/drawingml/2006/main" noGrp="1"/>
          </p:cNvSpPr>
          <p:nvPr/>
        </p:nvSpPr>
        <p:spPr>
          <a:xfrm xmlns:a="http://schemas.openxmlformats.org/drawingml/2006/main">
            <a:off x="990600" y="4943475"/>
            <a:ext cx="2724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102033"/>
                </a:solidFill>
              </a:defRPr>
            </a:pPr>
            <a:r>
              <a:rPr sz="1200" b="0" i="0">
                <a:solidFill>
                  <a:srgbClr val="102033"/>
                </a:solidFill>
              </a:rPr>
              <a:t>0,9446 indique une forte séparation : SIRCH place presque toujours les vidéos violentes devant les non violentes.</a:t>
            </a:r>
          </a:p>
        </p:txBody>
      </p:sp>
      <p:sp>
        <p:nvSpPr>
          <p:cNvPr id="11" name="">
            <a:extLst xmlns:a="http://schemas.openxmlformats.org/drawingml/2006/main">
              <a:ext uri="{FF2B5EF4-FFF2-40B4-BE49-F238E27FC236}">
                <a16:creationId xmlns:a16="http://schemas.microsoft.com/office/drawing/2014/main" id="{566A4811-A7EF-4799-8D8A-32E37349E911}"/>
              </a:ext>
            </a:extLst>
          </p:cNvPr>
          <p:cNvSpPr>
            <a:spLocks xmlns:a="http://schemas.openxmlformats.org/drawingml/2006/main" noGrp="1"/>
          </p:cNvSpPr>
          <p:nvPr/>
        </p:nvSpPr>
        <p:spPr>
          <a:xfrm xmlns:a="http://schemas.openxmlformats.org/drawingml/2006/main">
            <a:off x="4524375" y="4333875"/>
            <a:ext cx="3143250" cy="1219200"/>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9525">
            <a:solidFill>
              <a:srgbClr val="C8D6E4"/>
            </a:solidFill>
            <a:prstDash val="solid"/>
          </a:ln>
        </p:spPr>
      </p:sp>
      <p:sp>
        <p:nvSpPr>
          <p:cNvPr id="12" name="">
            <a:extLst xmlns:a="http://schemas.openxmlformats.org/drawingml/2006/main">
              <a:ext uri="{FF2B5EF4-FFF2-40B4-BE49-F238E27FC236}">
                <a16:creationId xmlns:a16="http://schemas.microsoft.com/office/drawing/2014/main" id="{BBC3D4A7-0338-4D17-A947-634A25A28591}"/>
              </a:ext>
            </a:extLst>
          </p:cNvPr>
          <p:cNvSpPr>
            <a:spLocks xmlns:a="http://schemas.openxmlformats.org/drawingml/2006/main" noGrp="1"/>
          </p:cNvSpPr>
          <p:nvPr/>
        </p:nvSpPr>
        <p:spPr>
          <a:xfrm xmlns:a="http://schemas.openxmlformats.org/drawingml/2006/main">
            <a:off x="4524375" y="4333875"/>
            <a:ext cx="66675" cy="1219200"/>
          </a:xfrm>
          <a:prstGeom xmlns:a="http://schemas.openxmlformats.org/drawingml/2006/main" prst="rect">
            <a:avLst/>
          </a:prstGeom>
          <a:solidFill xmlns:a="http://schemas.openxmlformats.org/drawingml/2006/main">
            <a:srgbClr val="1C8B5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8A47306-8337-4230-A25A-82D7BBADFD9D}"/>
              </a:ext>
            </a:extLst>
          </p:cNvPr>
          <p:cNvSpPr>
            <a:spLocks xmlns:a="http://schemas.openxmlformats.org/drawingml/2006/main" noGrp="1"/>
          </p:cNvSpPr>
          <p:nvPr/>
        </p:nvSpPr>
        <p:spPr>
          <a:xfrm xmlns:a="http://schemas.openxmlformats.org/drawingml/2006/main">
            <a:off x="4752975" y="4562475"/>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C8B53"/>
                </a:solidFill>
              </a:defRPr>
            </a:pPr>
            <a:r>
              <a:rPr sz="1350" b="1" i="0">
                <a:solidFill>
                  <a:srgbClr val="1C8B53"/>
                </a:solidFill>
              </a:rPr>
              <a:t>McNemar</a:t>
            </a:r>
          </a:p>
        </p:txBody>
      </p:sp>
      <p:sp>
        <p:nvSpPr>
          <p:cNvPr id="14" name="">
            <a:extLst xmlns:a="http://schemas.openxmlformats.org/drawingml/2006/main">
              <a:ext uri="{FF2B5EF4-FFF2-40B4-BE49-F238E27FC236}">
                <a16:creationId xmlns:a16="http://schemas.microsoft.com/office/drawing/2014/main" id="{6787E563-C45C-41D8-A09F-D6FF6CDB9239}"/>
              </a:ext>
            </a:extLst>
          </p:cNvPr>
          <p:cNvSpPr>
            <a:spLocks xmlns:a="http://schemas.openxmlformats.org/drawingml/2006/main" noGrp="1"/>
          </p:cNvSpPr>
          <p:nvPr/>
        </p:nvSpPr>
        <p:spPr>
          <a:xfrm xmlns:a="http://schemas.openxmlformats.org/drawingml/2006/main">
            <a:off x="4752975" y="4943475"/>
            <a:ext cx="2724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102033"/>
                </a:solidFill>
              </a:defRPr>
            </a:pPr>
            <a:r>
              <a:rPr sz="1200" b="0" i="0">
                <a:solidFill>
                  <a:srgbClr val="102033"/>
                </a:solidFill>
              </a:rPr>
              <a:t>p = 0,000117 : le gain du modèle augmenté est statistiquement crédible, pas un simple hasard.</a:t>
            </a:r>
          </a:p>
        </p:txBody>
      </p:sp>
      <p:sp>
        <p:nvSpPr>
          <p:cNvPr id="15" name="">
            <a:extLst xmlns:a="http://schemas.openxmlformats.org/drawingml/2006/main">
              <a:ext uri="{FF2B5EF4-FFF2-40B4-BE49-F238E27FC236}">
                <a16:creationId xmlns:a16="http://schemas.microsoft.com/office/drawing/2014/main" id="{19ADBFFA-D206-41D2-BAE2-882D1DF0CA03}"/>
              </a:ext>
            </a:extLst>
          </p:cNvPr>
          <p:cNvSpPr>
            <a:spLocks xmlns:a="http://schemas.openxmlformats.org/drawingml/2006/main" noGrp="1"/>
          </p:cNvSpPr>
          <p:nvPr/>
        </p:nvSpPr>
        <p:spPr>
          <a:xfrm xmlns:a="http://schemas.openxmlformats.org/drawingml/2006/main">
            <a:off x="8286750" y="4333875"/>
            <a:ext cx="3143250" cy="1219200"/>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9525">
            <a:solidFill>
              <a:srgbClr val="C8D6E4"/>
            </a:solidFill>
            <a:prstDash val="solid"/>
          </a:ln>
        </p:spPr>
      </p:sp>
      <p:sp>
        <p:nvSpPr>
          <p:cNvPr id="16" name="">
            <a:extLst xmlns:a="http://schemas.openxmlformats.org/drawingml/2006/main">
              <a:ext uri="{FF2B5EF4-FFF2-40B4-BE49-F238E27FC236}">
                <a16:creationId xmlns:a16="http://schemas.microsoft.com/office/drawing/2014/main" id="{54779603-611E-4BF4-A1F8-2ADAD4339D90}"/>
              </a:ext>
            </a:extLst>
          </p:cNvPr>
          <p:cNvSpPr>
            <a:spLocks xmlns:a="http://schemas.openxmlformats.org/drawingml/2006/main" noGrp="1"/>
          </p:cNvSpPr>
          <p:nvPr/>
        </p:nvSpPr>
        <p:spPr>
          <a:xfrm xmlns:a="http://schemas.openxmlformats.org/drawingml/2006/main">
            <a:off x="8286750" y="4333875"/>
            <a:ext cx="66675" cy="1219200"/>
          </a:xfrm>
          <a:prstGeom xmlns:a="http://schemas.openxmlformats.org/drawingml/2006/main" prst="rect">
            <a:avLst/>
          </a:prstGeom>
          <a:solidFill xmlns:a="http://schemas.openxmlformats.org/drawingml/2006/main">
            <a:srgbClr val="C95C12"/>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174EE1A-C60F-41F7-A798-64112FC97A70}"/>
              </a:ext>
            </a:extLst>
          </p:cNvPr>
          <p:cNvSpPr>
            <a:spLocks xmlns:a="http://schemas.openxmlformats.org/drawingml/2006/main" noGrp="1"/>
          </p:cNvSpPr>
          <p:nvPr/>
        </p:nvSpPr>
        <p:spPr>
          <a:xfrm xmlns:a="http://schemas.openxmlformats.org/drawingml/2006/main">
            <a:off x="8515350" y="4562475"/>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C95C12"/>
                </a:solidFill>
              </a:defRPr>
            </a:pPr>
            <a:r>
              <a:rPr sz="1350" b="1" i="0">
                <a:solidFill>
                  <a:srgbClr val="C95C12"/>
                </a:solidFill>
              </a:rPr>
              <a:t>Ablation</a:t>
            </a:r>
          </a:p>
        </p:txBody>
      </p:sp>
      <p:sp>
        <p:nvSpPr>
          <p:cNvPr id="18" name="">
            <a:extLst xmlns:a="http://schemas.openxmlformats.org/drawingml/2006/main">
              <a:ext uri="{FF2B5EF4-FFF2-40B4-BE49-F238E27FC236}">
                <a16:creationId xmlns:a16="http://schemas.microsoft.com/office/drawing/2014/main" id="{4D6A7E0B-F0DA-4FAC-AA5F-63D8437AACF1}"/>
              </a:ext>
            </a:extLst>
          </p:cNvPr>
          <p:cNvSpPr>
            <a:spLocks xmlns:a="http://schemas.openxmlformats.org/drawingml/2006/main" noGrp="1"/>
          </p:cNvSpPr>
          <p:nvPr/>
        </p:nvSpPr>
        <p:spPr>
          <a:xfrm xmlns:a="http://schemas.openxmlformats.org/drawingml/2006/main">
            <a:off x="8515350" y="4943475"/>
            <a:ext cx="2724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102033"/>
                </a:solidFill>
              </a:defRPr>
            </a:pPr>
            <a:r>
              <a:rPr sz="1200" b="0" i="0">
                <a:solidFill>
                  <a:srgbClr val="102033"/>
                </a:solidFill>
              </a:rPr>
              <a:t>Le bloc temporel aide à réduire les violences manquées ; le GRU reste une piste prometteuse.</a:t>
            </a:r>
          </a:p>
        </p:txBody>
      </p:sp>
      <p:sp>
        <p:nvSpPr>
          <p:cNvPr id="19" name="">
            <a:extLst xmlns:a="http://schemas.openxmlformats.org/drawingml/2006/main">
              <a:ext uri="{FF2B5EF4-FFF2-40B4-BE49-F238E27FC236}">
                <a16:creationId xmlns:a16="http://schemas.microsoft.com/office/drawing/2014/main" id="{C7026672-E853-41B6-B839-BB23316C45BD}"/>
              </a:ext>
            </a:extLst>
          </p:cNvPr>
          <p:cNvSpPr>
            <a:spLocks xmlns:a="http://schemas.openxmlformats.org/drawingml/2006/main" noGrp="1"/>
          </p:cNvSpPr>
          <p:nvPr/>
        </p:nvSpPr>
        <p:spPr>
          <a:xfrm xmlns:a="http://schemas.openxmlformats.org/drawingml/2006/main">
            <a:off x="552450" y="6362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i="0">
                <a:solidFill>
                  <a:srgbClr val="5A6B82"/>
                </a:solidFill>
              </a:defRPr>
            </a:pPr>
            <a:r>
              <a:rPr sz="675" b="0" i="0">
                <a:solidFill>
                  <a:srgbClr val="5A6B82"/>
                </a:solidFill>
              </a:rPr>
              <a:t>Résultats et discussion</a:t>
            </a:r>
          </a:p>
        </p:txBody>
      </p:sp>
      <p:sp>
        <p:nvSpPr>
          <p:cNvPr id="20" name="">
            <a:extLst xmlns:a="http://schemas.openxmlformats.org/drawingml/2006/main">
              <a:ext uri="{FF2B5EF4-FFF2-40B4-BE49-F238E27FC236}">
                <a16:creationId xmlns:a16="http://schemas.microsoft.com/office/drawing/2014/main" id="{CA2C5EBC-0C2B-4C9D-B4DF-B2B43262DC92}"/>
              </a:ext>
            </a:extLst>
          </p:cNvPr>
          <p:cNvSpPr>
            <a:spLocks xmlns:a="http://schemas.openxmlformats.org/drawingml/2006/main" noGrp="1"/>
          </p:cNvSpPr>
          <p:nvPr/>
        </p:nvSpPr>
        <p:spPr>
          <a:xfrm xmlns:a="http://schemas.openxmlformats.org/drawingml/2006/main">
            <a:off x="11049000" y="63627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0" i="0">
                <a:solidFill>
                  <a:srgbClr val="5A6B82"/>
                </a:solidFill>
              </a:defRPr>
            </a:pPr>
            <a:r>
              <a:rPr sz="750" b="0" i="0">
                <a:solidFill>
                  <a:srgbClr val="5A6B82"/>
                </a:solidFill>
              </a:rPr>
              <a:t>13 / 18</a:t>
            </a:r>
          </a:p>
        </p:txBody>
      </p:sp>
    </p:spTree>
    <p:extLst>
      <p:ext uri="{BB962C8B-B14F-4D97-AF65-F5344CB8AC3E}">
        <p14:creationId xmlns:p14="http://schemas.microsoft.com/office/powerpoint/2010/main" val="161846960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57CE40A-1E44-4FA7-892C-828861E5C391}"/>
              </a:ext>
            </a:extLst>
          </p:cNvPr>
          <p:cNvSpPr>
            <a:spLocks xmlns:a="http://schemas.openxmlformats.org/drawingml/2006/main" noGrp="1"/>
          </p:cNvSpPr>
          <p:nvPr/>
        </p:nvSpPr>
        <p:spPr>
          <a:xfrm xmlns:a="http://schemas.openxmlformats.org/drawingml/2006/main">
            <a:off x="552450" y="419100"/>
            <a:ext cx="933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i="0">
                <a:solidFill>
                  <a:srgbClr val="17345F"/>
                </a:solidFill>
              </a:defRPr>
            </a:pPr>
            <a:r>
              <a:rPr sz="2550" b="1" i="0">
                <a:solidFill>
                  <a:srgbClr val="17345F"/>
                </a:solidFill>
              </a:rPr>
              <a:t>Le cross-dataset montre que la généralisation est le vrai défi</a:t>
            </a:r>
          </a:p>
        </p:txBody>
      </p:sp>
      <p:sp>
        <p:nvSpPr>
          <p:cNvPr id="2" name="">
            <a:extLst xmlns:a="http://schemas.openxmlformats.org/drawingml/2006/main">
              <a:ext uri="{FF2B5EF4-FFF2-40B4-BE49-F238E27FC236}">
                <a16:creationId xmlns:a16="http://schemas.microsoft.com/office/drawing/2014/main" id="{A82A4DE5-8C7E-4A79-A0E9-8CD826563F95}"/>
              </a:ext>
            </a:extLst>
          </p:cNvPr>
          <p:cNvSpPr>
            <a:spLocks xmlns:a="http://schemas.openxmlformats.org/drawingml/2006/main" noGrp="1"/>
          </p:cNvSpPr>
          <p:nvPr/>
        </p:nvSpPr>
        <p:spPr>
          <a:xfrm xmlns:a="http://schemas.openxmlformats.org/drawingml/2006/main">
            <a:off x="552450" y="1095375"/>
            <a:ext cx="1047750" cy="47625"/>
          </a:xfrm>
          <a:prstGeom xmlns:a="http://schemas.openxmlformats.org/drawingml/2006/main" prst="rect">
            <a:avLst/>
          </a:prstGeom>
          <a:solidFill xmlns:a="http://schemas.openxmlformats.org/drawingml/2006/main">
            <a:srgbClr val="1C8B53"/>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C8B4FAC-F1D4-45D7-95D9-C5F628B85920}"/>
              </a:ext>
            </a:extLst>
          </p:cNvPr>
          <p:cNvSpPr>
            <a:spLocks xmlns:a="http://schemas.openxmlformats.org/drawingml/2006/main" noGrp="1"/>
          </p:cNvSpPr>
          <p:nvPr/>
        </p:nvSpPr>
        <p:spPr>
          <a:xfrm xmlns:a="http://schemas.openxmlformats.org/drawingml/2006/main">
            <a:off x="552450" y="1238250"/>
            <a:ext cx="838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A6B82"/>
                </a:solidFill>
              </a:defRPr>
            </a:pPr>
            <a:r>
              <a:rPr sz="1200" b="0" i="0">
                <a:solidFill>
                  <a:srgbClr val="5A6B82"/>
                </a:solidFill>
              </a:rPr>
              <a:t>Quand on entraîne sur une source et qu’on teste sur l’autre, les scores chutent fortement.</a:t>
            </a:r>
          </a:p>
        </p:txBody>
      </p:sp>
      <p:sp>
        <p:nvSpPr>
          <p:cNvPr id="4" name="">
            <a:extLst xmlns:a="http://schemas.openxmlformats.org/drawingml/2006/main">
              <a:ext uri="{FF2B5EF4-FFF2-40B4-BE49-F238E27FC236}">
                <a16:creationId xmlns:a16="http://schemas.microsoft.com/office/drawing/2014/main" id="{8DE3B86C-4585-4F1F-8DC8-F171B4EEDA07}"/>
              </a:ext>
            </a:extLst>
          </p:cNvPr>
          <p:cNvSpPr>
            <a:spLocks xmlns:a="http://schemas.openxmlformats.org/drawingml/2006/main" noGrp="1"/>
          </p:cNvSpPr>
          <p:nvPr/>
        </p:nvSpPr>
        <p:spPr>
          <a:xfrm xmlns:a="http://schemas.openxmlformats.org/drawingml/2006/main">
            <a:off x="666750" y="1619250"/>
            <a:ext cx="2000250" cy="514350"/>
          </a:xfrm>
          <a:prstGeom xmlns:a="http://schemas.openxmlformats.org/drawingml/2006/main" prst="rect">
            <a:avLst/>
          </a:prstGeom>
          <a:solidFill xmlns:a="http://schemas.openxmlformats.org/drawingml/2006/main">
            <a:srgbClr val="203F6E"/>
          </a:solidFill>
          <a:ln xmlns:a="http://schemas.openxmlformats.org/drawingml/2006/main" w="9525">
            <a:solidFill>
              <a:srgbClr val="C8D6E4"/>
            </a:solidFill>
            <a:prstDash val="solid"/>
          </a:ln>
        </p:spPr>
      </p:sp>
      <p:sp>
        <p:nvSpPr>
          <p:cNvPr id="5" name="">
            <a:extLst xmlns:a="http://schemas.openxmlformats.org/drawingml/2006/main">
              <a:ext uri="{FF2B5EF4-FFF2-40B4-BE49-F238E27FC236}">
                <a16:creationId xmlns:a16="http://schemas.microsoft.com/office/drawing/2014/main" id="{EB5A8F82-A1B7-498F-98E7-C73F2E643949}"/>
              </a:ext>
            </a:extLst>
          </p:cNvPr>
          <p:cNvSpPr>
            <a:spLocks xmlns:a="http://schemas.openxmlformats.org/drawingml/2006/main" noGrp="1"/>
          </p:cNvSpPr>
          <p:nvPr/>
        </p:nvSpPr>
        <p:spPr>
          <a:xfrm xmlns:a="http://schemas.openxmlformats.org/drawingml/2006/main">
            <a:off x="742950" y="1714500"/>
            <a:ext cx="1847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Expérience</a:t>
            </a:r>
          </a:p>
        </p:txBody>
      </p:sp>
      <p:sp>
        <p:nvSpPr>
          <p:cNvPr id="6" name="">
            <a:extLst xmlns:a="http://schemas.openxmlformats.org/drawingml/2006/main">
              <a:ext uri="{FF2B5EF4-FFF2-40B4-BE49-F238E27FC236}">
                <a16:creationId xmlns:a16="http://schemas.microsoft.com/office/drawing/2014/main" id="{6DF03138-498F-4ADA-B990-AE7B2CB552B1}"/>
              </a:ext>
            </a:extLst>
          </p:cNvPr>
          <p:cNvSpPr>
            <a:spLocks xmlns:a="http://schemas.openxmlformats.org/drawingml/2006/main" noGrp="1"/>
          </p:cNvSpPr>
          <p:nvPr/>
        </p:nvSpPr>
        <p:spPr>
          <a:xfrm xmlns:a="http://schemas.openxmlformats.org/drawingml/2006/main">
            <a:off x="2667000" y="1619250"/>
            <a:ext cx="1619250" cy="514350"/>
          </a:xfrm>
          <a:prstGeom xmlns:a="http://schemas.openxmlformats.org/drawingml/2006/main" prst="rect">
            <a:avLst/>
          </a:prstGeom>
          <a:solidFill xmlns:a="http://schemas.openxmlformats.org/drawingml/2006/main">
            <a:srgbClr val="203F6E"/>
          </a:solidFill>
          <a:ln xmlns:a="http://schemas.openxmlformats.org/drawingml/2006/main" w="9525">
            <a:solidFill>
              <a:srgbClr val="C8D6E4"/>
            </a:solidFill>
            <a:prstDash val="solid"/>
          </a:ln>
        </p:spPr>
      </p:sp>
      <p:sp>
        <p:nvSpPr>
          <p:cNvPr id="7" name="">
            <a:extLst xmlns:a="http://schemas.openxmlformats.org/drawingml/2006/main">
              <a:ext uri="{FF2B5EF4-FFF2-40B4-BE49-F238E27FC236}">
                <a16:creationId xmlns:a16="http://schemas.microsoft.com/office/drawing/2014/main" id="{DEBEABEE-6B22-4460-83D2-0D99C6606C24}"/>
              </a:ext>
            </a:extLst>
          </p:cNvPr>
          <p:cNvSpPr>
            <a:spLocks xmlns:a="http://schemas.openxmlformats.org/drawingml/2006/main" noGrp="1"/>
          </p:cNvSpPr>
          <p:nvPr/>
        </p:nvSpPr>
        <p:spPr>
          <a:xfrm xmlns:a="http://schemas.openxmlformats.org/drawingml/2006/main">
            <a:off x="2743200" y="1714500"/>
            <a:ext cx="146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Test</a:t>
            </a:r>
          </a:p>
        </p:txBody>
      </p:sp>
      <p:sp>
        <p:nvSpPr>
          <p:cNvPr id="8" name="">
            <a:extLst xmlns:a="http://schemas.openxmlformats.org/drawingml/2006/main">
              <a:ext uri="{FF2B5EF4-FFF2-40B4-BE49-F238E27FC236}">
                <a16:creationId xmlns:a16="http://schemas.microsoft.com/office/drawing/2014/main" id="{0E3B320C-3742-483E-A69A-50F18E2F92B9}"/>
              </a:ext>
            </a:extLst>
          </p:cNvPr>
          <p:cNvSpPr>
            <a:spLocks xmlns:a="http://schemas.openxmlformats.org/drawingml/2006/main" noGrp="1"/>
          </p:cNvSpPr>
          <p:nvPr/>
        </p:nvSpPr>
        <p:spPr>
          <a:xfrm xmlns:a="http://schemas.openxmlformats.org/drawingml/2006/main">
            <a:off x="4286250" y="1619250"/>
            <a:ext cx="1381125" cy="514350"/>
          </a:xfrm>
          <a:prstGeom xmlns:a="http://schemas.openxmlformats.org/drawingml/2006/main" prst="rect">
            <a:avLst/>
          </a:prstGeom>
          <a:solidFill xmlns:a="http://schemas.openxmlformats.org/drawingml/2006/main">
            <a:srgbClr val="203F6E"/>
          </a:solidFill>
          <a:ln xmlns:a="http://schemas.openxmlformats.org/drawingml/2006/main" w="9525">
            <a:solidFill>
              <a:srgbClr val="C8D6E4"/>
            </a:solidFill>
            <a:prstDash val="solid"/>
          </a:ln>
        </p:spPr>
      </p:sp>
      <p:sp>
        <p:nvSpPr>
          <p:cNvPr id="9" name="">
            <a:extLst xmlns:a="http://schemas.openxmlformats.org/drawingml/2006/main">
              <a:ext uri="{FF2B5EF4-FFF2-40B4-BE49-F238E27FC236}">
                <a16:creationId xmlns:a16="http://schemas.microsoft.com/office/drawing/2014/main" id="{B1FD87A5-4A7A-4637-82AD-C54FF7CC8F9E}"/>
              </a:ext>
            </a:extLst>
          </p:cNvPr>
          <p:cNvSpPr>
            <a:spLocks xmlns:a="http://schemas.openxmlformats.org/drawingml/2006/main" noGrp="1"/>
          </p:cNvSpPr>
          <p:nvPr/>
        </p:nvSpPr>
        <p:spPr>
          <a:xfrm xmlns:a="http://schemas.openxmlformats.org/drawingml/2006/main">
            <a:off x="4362450" y="1714500"/>
            <a:ext cx="1228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Accuracy</a:t>
            </a:r>
          </a:p>
        </p:txBody>
      </p:sp>
      <p:sp>
        <p:nvSpPr>
          <p:cNvPr id="10" name="">
            <a:extLst xmlns:a="http://schemas.openxmlformats.org/drawingml/2006/main">
              <a:ext uri="{FF2B5EF4-FFF2-40B4-BE49-F238E27FC236}">
                <a16:creationId xmlns:a16="http://schemas.microsoft.com/office/drawing/2014/main" id="{10FC0A9C-B96D-4E39-899C-5CC520731ED2}"/>
              </a:ext>
            </a:extLst>
          </p:cNvPr>
          <p:cNvSpPr>
            <a:spLocks xmlns:a="http://schemas.openxmlformats.org/drawingml/2006/main" noGrp="1"/>
          </p:cNvSpPr>
          <p:nvPr/>
        </p:nvSpPr>
        <p:spPr>
          <a:xfrm xmlns:a="http://schemas.openxmlformats.org/drawingml/2006/main">
            <a:off x="5667375" y="1619250"/>
            <a:ext cx="1381125" cy="514350"/>
          </a:xfrm>
          <a:prstGeom xmlns:a="http://schemas.openxmlformats.org/drawingml/2006/main" prst="rect">
            <a:avLst/>
          </a:prstGeom>
          <a:solidFill xmlns:a="http://schemas.openxmlformats.org/drawingml/2006/main">
            <a:srgbClr val="203F6E"/>
          </a:solidFill>
          <a:ln xmlns:a="http://schemas.openxmlformats.org/drawingml/2006/main" w="9525">
            <a:solidFill>
              <a:srgbClr val="C8D6E4"/>
            </a:solidFill>
            <a:prstDash val="solid"/>
          </a:ln>
        </p:spPr>
      </p:sp>
      <p:sp>
        <p:nvSpPr>
          <p:cNvPr id="11" name="">
            <a:extLst xmlns:a="http://schemas.openxmlformats.org/drawingml/2006/main">
              <a:ext uri="{FF2B5EF4-FFF2-40B4-BE49-F238E27FC236}">
                <a16:creationId xmlns:a16="http://schemas.microsoft.com/office/drawing/2014/main" id="{A7EAE2D1-657D-43B6-B853-D1D1615FCCB2}"/>
              </a:ext>
            </a:extLst>
          </p:cNvPr>
          <p:cNvSpPr>
            <a:spLocks xmlns:a="http://schemas.openxmlformats.org/drawingml/2006/main" noGrp="1"/>
          </p:cNvSpPr>
          <p:nvPr/>
        </p:nvSpPr>
        <p:spPr>
          <a:xfrm xmlns:a="http://schemas.openxmlformats.org/drawingml/2006/main">
            <a:off x="5743575" y="1714500"/>
            <a:ext cx="1228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Précision</a:t>
            </a:r>
          </a:p>
        </p:txBody>
      </p:sp>
      <p:sp>
        <p:nvSpPr>
          <p:cNvPr id="12" name="">
            <a:extLst xmlns:a="http://schemas.openxmlformats.org/drawingml/2006/main">
              <a:ext uri="{FF2B5EF4-FFF2-40B4-BE49-F238E27FC236}">
                <a16:creationId xmlns:a16="http://schemas.microsoft.com/office/drawing/2014/main" id="{FE5FF0F7-BDB1-493A-AD00-A854A17EBB85}"/>
              </a:ext>
            </a:extLst>
          </p:cNvPr>
          <p:cNvSpPr>
            <a:spLocks xmlns:a="http://schemas.openxmlformats.org/drawingml/2006/main" noGrp="1"/>
          </p:cNvSpPr>
          <p:nvPr/>
        </p:nvSpPr>
        <p:spPr>
          <a:xfrm xmlns:a="http://schemas.openxmlformats.org/drawingml/2006/main">
            <a:off x="7048500" y="1619250"/>
            <a:ext cx="1381125" cy="514350"/>
          </a:xfrm>
          <a:prstGeom xmlns:a="http://schemas.openxmlformats.org/drawingml/2006/main" prst="rect">
            <a:avLst/>
          </a:prstGeom>
          <a:solidFill xmlns:a="http://schemas.openxmlformats.org/drawingml/2006/main">
            <a:srgbClr val="203F6E"/>
          </a:solidFill>
          <a:ln xmlns:a="http://schemas.openxmlformats.org/drawingml/2006/main" w="9525">
            <a:solidFill>
              <a:srgbClr val="C8D6E4"/>
            </a:solidFill>
            <a:prstDash val="solid"/>
          </a:ln>
        </p:spPr>
      </p:sp>
      <p:sp>
        <p:nvSpPr>
          <p:cNvPr id="13" name="">
            <a:extLst xmlns:a="http://schemas.openxmlformats.org/drawingml/2006/main">
              <a:ext uri="{FF2B5EF4-FFF2-40B4-BE49-F238E27FC236}">
                <a16:creationId xmlns:a16="http://schemas.microsoft.com/office/drawing/2014/main" id="{BC4033DE-C37F-41B6-AC76-A5D2FB04D02B}"/>
              </a:ext>
            </a:extLst>
          </p:cNvPr>
          <p:cNvSpPr>
            <a:spLocks xmlns:a="http://schemas.openxmlformats.org/drawingml/2006/main" noGrp="1"/>
          </p:cNvSpPr>
          <p:nvPr/>
        </p:nvSpPr>
        <p:spPr>
          <a:xfrm xmlns:a="http://schemas.openxmlformats.org/drawingml/2006/main">
            <a:off x="7124700" y="1714500"/>
            <a:ext cx="1228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Rappel</a:t>
            </a:r>
          </a:p>
        </p:txBody>
      </p:sp>
      <p:sp>
        <p:nvSpPr>
          <p:cNvPr id="14" name="">
            <a:extLst xmlns:a="http://schemas.openxmlformats.org/drawingml/2006/main">
              <a:ext uri="{FF2B5EF4-FFF2-40B4-BE49-F238E27FC236}">
                <a16:creationId xmlns:a16="http://schemas.microsoft.com/office/drawing/2014/main" id="{FF3E2950-C629-48F1-B4A3-80C515434FF5}"/>
              </a:ext>
            </a:extLst>
          </p:cNvPr>
          <p:cNvSpPr>
            <a:spLocks xmlns:a="http://schemas.openxmlformats.org/drawingml/2006/main" noGrp="1"/>
          </p:cNvSpPr>
          <p:nvPr/>
        </p:nvSpPr>
        <p:spPr>
          <a:xfrm xmlns:a="http://schemas.openxmlformats.org/drawingml/2006/main">
            <a:off x="8429625" y="1619250"/>
            <a:ext cx="1381125" cy="514350"/>
          </a:xfrm>
          <a:prstGeom xmlns:a="http://schemas.openxmlformats.org/drawingml/2006/main" prst="rect">
            <a:avLst/>
          </a:prstGeom>
          <a:solidFill xmlns:a="http://schemas.openxmlformats.org/drawingml/2006/main">
            <a:srgbClr val="203F6E"/>
          </a:solidFill>
          <a:ln xmlns:a="http://schemas.openxmlformats.org/drawingml/2006/main" w="9525">
            <a:solidFill>
              <a:srgbClr val="C8D6E4"/>
            </a:solidFill>
            <a:prstDash val="solid"/>
          </a:ln>
        </p:spPr>
      </p:sp>
      <p:sp>
        <p:nvSpPr>
          <p:cNvPr id="15" name="">
            <a:extLst xmlns:a="http://schemas.openxmlformats.org/drawingml/2006/main">
              <a:ext uri="{FF2B5EF4-FFF2-40B4-BE49-F238E27FC236}">
                <a16:creationId xmlns:a16="http://schemas.microsoft.com/office/drawing/2014/main" id="{88E87842-71E2-4B83-8DCB-CC6F60F9A9C0}"/>
              </a:ext>
            </a:extLst>
          </p:cNvPr>
          <p:cNvSpPr>
            <a:spLocks xmlns:a="http://schemas.openxmlformats.org/drawingml/2006/main" noGrp="1"/>
          </p:cNvSpPr>
          <p:nvPr/>
        </p:nvSpPr>
        <p:spPr>
          <a:xfrm xmlns:a="http://schemas.openxmlformats.org/drawingml/2006/main">
            <a:off x="8505825" y="1714500"/>
            <a:ext cx="1228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F1</a:t>
            </a:r>
          </a:p>
        </p:txBody>
      </p:sp>
      <p:sp>
        <p:nvSpPr>
          <p:cNvPr id="16" name="">
            <a:extLst xmlns:a="http://schemas.openxmlformats.org/drawingml/2006/main">
              <a:ext uri="{FF2B5EF4-FFF2-40B4-BE49-F238E27FC236}">
                <a16:creationId xmlns:a16="http://schemas.microsoft.com/office/drawing/2014/main" id="{3AE3EAB9-4F23-483D-8549-08EA6475081A}"/>
              </a:ext>
            </a:extLst>
          </p:cNvPr>
          <p:cNvSpPr>
            <a:spLocks xmlns:a="http://schemas.openxmlformats.org/drawingml/2006/main" noGrp="1"/>
          </p:cNvSpPr>
          <p:nvPr/>
        </p:nvSpPr>
        <p:spPr>
          <a:xfrm xmlns:a="http://schemas.openxmlformats.org/drawingml/2006/main">
            <a:off x="666750" y="2133600"/>
            <a:ext cx="20002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17" name="">
            <a:extLst xmlns:a="http://schemas.openxmlformats.org/drawingml/2006/main">
              <a:ext uri="{FF2B5EF4-FFF2-40B4-BE49-F238E27FC236}">
                <a16:creationId xmlns:a16="http://schemas.microsoft.com/office/drawing/2014/main" id="{7450015F-04C5-49DE-92F6-E122056D0A91}"/>
              </a:ext>
            </a:extLst>
          </p:cNvPr>
          <p:cNvSpPr>
            <a:spLocks xmlns:a="http://schemas.openxmlformats.org/drawingml/2006/main" noGrp="1"/>
          </p:cNvSpPr>
          <p:nvPr/>
        </p:nvSpPr>
        <p:spPr>
          <a:xfrm xmlns:a="http://schemas.openxmlformats.org/drawingml/2006/main">
            <a:off x="742950" y="2228850"/>
            <a:ext cx="1847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RLVS seul</a:t>
            </a:r>
          </a:p>
        </p:txBody>
      </p:sp>
      <p:sp>
        <p:nvSpPr>
          <p:cNvPr id="18" name="">
            <a:extLst xmlns:a="http://schemas.openxmlformats.org/drawingml/2006/main">
              <a:ext uri="{FF2B5EF4-FFF2-40B4-BE49-F238E27FC236}">
                <a16:creationId xmlns:a16="http://schemas.microsoft.com/office/drawing/2014/main" id="{6AC41BC7-70A6-4615-95EF-9FB5E20A66AD}"/>
              </a:ext>
            </a:extLst>
          </p:cNvPr>
          <p:cNvSpPr>
            <a:spLocks xmlns:a="http://schemas.openxmlformats.org/drawingml/2006/main" noGrp="1"/>
          </p:cNvSpPr>
          <p:nvPr/>
        </p:nvSpPr>
        <p:spPr>
          <a:xfrm xmlns:a="http://schemas.openxmlformats.org/drawingml/2006/main">
            <a:off x="2667000" y="2133600"/>
            <a:ext cx="16192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19" name="">
            <a:extLst xmlns:a="http://schemas.openxmlformats.org/drawingml/2006/main">
              <a:ext uri="{FF2B5EF4-FFF2-40B4-BE49-F238E27FC236}">
                <a16:creationId xmlns:a16="http://schemas.microsoft.com/office/drawing/2014/main" id="{258DDC87-5295-41A0-899C-4096029F88F1}"/>
              </a:ext>
            </a:extLst>
          </p:cNvPr>
          <p:cNvSpPr>
            <a:spLocks xmlns:a="http://schemas.openxmlformats.org/drawingml/2006/main" noGrp="1"/>
          </p:cNvSpPr>
          <p:nvPr/>
        </p:nvSpPr>
        <p:spPr>
          <a:xfrm xmlns:a="http://schemas.openxmlformats.org/drawingml/2006/main">
            <a:off x="2743200" y="2228850"/>
            <a:ext cx="146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RWF-2000</a:t>
            </a:r>
          </a:p>
        </p:txBody>
      </p:sp>
      <p:sp>
        <p:nvSpPr>
          <p:cNvPr id="20" name="">
            <a:extLst xmlns:a="http://schemas.openxmlformats.org/drawingml/2006/main">
              <a:ext uri="{FF2B5EF4-FFF2-40B4-BE49-F238E27FC236}">
                <a16:creationId xmlns:a16="http://schemas.microsoft.com/office/drawing/2014/main" id="{EC222D42-23EE-47D2-829C-F25D482148F1}"/>
              </a:ext>
            </a:extLst>
          </p:cNvPr>
          <p:cNvSpPr>
            <a:spLocks xmlns:a="http://schemas.openxmlformats.org/drawingml/2006/main" noGrp="1"/>
          </p:cNvSpPr>
          <p:nvPr/>
        </p:nvSpPr>
        <p:spPr>
          <a:xfrm xmlns:a="http://schemas.openxmlformats.org/drawingml/2006/main">
            <a:off x="4286250" y="2133600"/>
            <a:ext cx="1381125"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21" name="">
            <a:extLst xmlns:a="http://schemas.openxmlformats.org/drawingml/2006/main">
              <a:ext uri="{FF2B5EF4-FFF2-40B4-BE49-F238E27FC236}">
                <a16:creationId xmlns:a16="http://schemas.microsoft.com/office/drawing/2014/main" id="{768B3A21-90D6-4401-B751-C1D0D497DB69}"/>
              </a:ext>
            </a:extLst>
          </p:cNvPr>
          <p:cNvSpPr>
            <a:spLocks xmlns:a="http://schemas.openxmlformats.org/drawingml/2006/main" noGrp="1"/>
          </p:cNvSpPr>
          <p:nvPr/>
        </p:nvSpPr>
        <p:spPr>
          <a:xfrm xmlns:a="http://schemas.openxmlformats.org/drawingml/2006/main">
            <a:off x="4362450" y="2228850"/>
            <a:ext cx="1228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54,80 %</a:t>
            </a:r>
          </a:p>
        </p:txBody>
      </p:sp>
      <p:sp>
        <p:nvSpPr>
          <p:cNvPr id="22" name="">
            <a:extLst xmlns:a="http://schemas.openxmlformats.org/drawingml/2006/main">
              <a:ext uri="{FF2B5EF4-FFF2-40B4-BE49-F238E27FC236}">
                <a16:creationId xmlns:a16="http://schemas.microsoft.com/office/drawing/2014/main" id="{8DB73F34-955A-4808-91CC-B75D51DFFDBA}"/>
              </a:ext>
            </a:extLst>
          </p:cNvPr>
          <p:cNvSpPr>
            <a:spLocks xmlns:a="http://schemas.openxmlformats.org/drawingml/2006/main" noGrp="1"/>
          </p:cNvSpPr>
          <p:nvPr/>
        </p:nvSpPr>
        <p:spPr>
          <a:xfrm xmlns:a="http://schemas.openxmlformats.org/drawingml/2006/main">
            <a:off x="5667375" y="2133600"/>
            <a:ext cx="1381125"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23" name="">
            <a:extLst xmlns:a="http://schemas.openxmlformats.org/drawingml/2006/main">
              <a:ext uri="{FF2B5EF4-FFF2-40B4-BE49-F238E27FC236}">
                <a16:creationId xmlns:a16="http://schemas.microsoft.com/office/drawing/2014/main" id="{E72BEDB2-7236-47C2-BA61-5CBA7BD83283}"/>
              </a:ext>
            </a:extLst>
          </p:cNvPr>
          <p:cNvSpPr>
            <a:spLocks xmlns:a="http://schemas.openxmlformats.org/drawingml/2006/main" noGrp="1"/>
          </p:cNvSpPr>
          <p:nvPr/>
        </p:nvSpPr>
        <p:spPr>
          <a:xfrm xmlns:a="http://schemas.openxmlformats.org/drawingml/2006/main">
            <a:off x="5743575" y="2228850"/>
            <a:ext cx="1228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52,96 %</a:t>
            </a:r>
          </a:p>
        </p:txBody>
      </p:sp>
      <p:sp>
        <p:nvSpPr>
          <p:cNvPr id="24" name="">
            <a:extLst xmlns:a="http://schemas.openxmlformats.org/drawingml/2006/main">
              <a:ext uri="{FF2B5EF4-FFF2-40B4-BE49-F238E27FC236}">
                <a16:creationId xmlns:a16="http://schemas.microsoft.com/office/drawing/2014/main" id="{51C8181A-0FB5-404F-AC1A-8391DD7582FD}"/>
              </a:ext>
            </a:extLst>
          </p:cNvPr>
          <p:cNvSpPr>
            <a:spLocks xmlns:a="http://schemas.openxmlformats.org/drawingml/2006/main" noGrp="1"/>
          </p:cNvSpPr>
          <p:nvPr/>
        </p:nvSpPr>
        <p:spPr>
          <a:xfrm xmlns:a="http://schemas.openxmlformats.org/drawingml/2006/main">
            <a:off x="7048500" y="2133600"/>
            <a:ext cx="1381125"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25" name="">
            <a:extLst xmlns:a="http://schemas.openxmlformats.org/drawingml/2006/main">
              <a:ext uri="{FF2B5EF4-FFF2-40B4-BE49-F238E27FC236}">
                <a16:creationId xmlns:a16="http://schemas.microsoft.com/office/drawing/2014/main" id="{1C0879B6-D954-4DF0-B433-8DFF61C16B9D}"/>
              </a:ext>
            </a:extLst>
          </p:cNvPr>
          <p:cNvSpPr>
            <a:spLocks xmlns:a="http://schemas.openxmlformats.org/drawingml/2006/main" noGrp="1"/>
          </p:cNvSpPr>
          <p:nvPr/>
        </p:nvSpPr>
        <p:spPr>
          <a:xfrm xmlns:a="http://schemas.openxmlformats.org/drawingml/2006/main">
            <a:off x="7124700" y="2228850"/>
            <a:ext cx="1228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82,04 %</a:t>
            </a:r>
          </a:p>
        </p:txBody>
      </p:sp>
      <p:sp>
        <p:nvSpPr>
          <p:cNvPr id="26" name="">
            <a:extLst xmlns:a="http://schemas.openxmlformats.org/drawingml/2006/main">
              <a:ext uri="{FF2B5EF4-FFF2-40B4-BE49-F238E27FC236}">
                <a16:creationId xmlns:a16="http://schemas.microsoft.com/office/drawing/2014/main" id="{8381190D-744C-4120-9B91-6CEBA8EEF755}"/>
              </a:ext>
            </a:extLst>
          </p:cNvPr>
          <p:cNvSpPr>
            <a:spLocks xmlns:a="http://schemas.openxmlformats.org/drawingml/2006/main" noGrp="1"/>
          </p:cNvSpPr>
          <p:nvPr/>
        </p:nvSpPr>
        <p:spPr>
          <a:xfrm xmlns:a="http://schemas.openxmlformats.org/drawingml/2006/main">
            <a:off x="8429625" y="2133600"/>
            <a:ext cx="1381125"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27" name="">
            <a:extLst xmlns:a="http://schemas.openxmlformats.org/drawingml/2006/main">
              <a:ext uri="{FF2B5EF4-FFF2-40B4-BE49-F238E27FC236}">
                <a16:creationId xmlns:a16="http://schemas.microsoft.com/office/drawing/2014/main" id="{CEE29492-CD0A-4D91-8EE7-3C7FA7C5A4F6}"/>
              </a:ext>
            </a:extLst>
          </p:cNvPr>
          <p:cNvSpPr>
            <a:spLocks xmlns:a="http://schemas.openxmlformats.org/drawingml/2006/main" noGrp="1"/>
          </p:cNvSpPr>
          <p:nvPr/>
        </p:nvSpPr>
        <p:spPr>
          <a:xfrm xmlns:a="http://schemas.openxmlformats.org/drawingml/2006/main">
            <a:off x="8505825" y="2228850"/>
            <a:ext cx="1228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64,37 %</a:t>
            </a:r>
          </a:p>
        </p:txBody>
      </p:sp>
      <p:sp>
        <p:nvSpPr>
          <p:cNvPr id="28" name="">
            <a:extLst xmlns:a="http://schemas.openxmlformats.org/drawingml/2006/main">
              <a:ext uri="{FF2B5EF4-FFF2-40B4-BE49-F238E27FC236}">
                <a16:creationId xmlns:a16="http://schemas.microsoft.com/office/drawing/2014/main" id="{BD81BC2E-F359-4465-BCE8-3EFDDE0F2043}"/>
              </a:ext>
            </a:extLst>
          </p:cNvPr>
          <p:cNvSpPr>
            <a:spLocks xmlns:a="http://schemas.openxmlformats.org/drawingml/2006/main" noGrp="1"/>
          </p:cNvSpPr>
          <p:nvPr/>
        </p:nvSpPr>
        <p:spPr>
          <a:xfrm xmlns:a="http://schemas.openxmlformats.org/drawingml/2006/main">
            <a:off x="666750" y="2647950"/>
            <a:ext cx="2000250" cy="514350"/>
          </a:xfrm>
          <a:prstGeom xmlns:a="http://schemas.openxmlformats.org/drawingml/2006/main" prst="rect">
            <a:avLst/>
          </a:prstGeom>
          <a:solidFill xmlns:a="http://schemas.openxmlformats.org/drawingml/2006/main">
            <a:srgbClr val="DCEAF4"/>
          </a:solidFill>
          <a:ln xmlns:a="http://schemas.openxmlformats.org/drawingml/2006/main" w="9525">
            <a:solidFill>
              <a:srgbClr val="C8D6E4"/>
            </a:solidFill>
            <a:prstDash val="solid"/>
          </a:ln>
        </p:spPr>
      </p:sp>
      <p:sp>
        <p:nvSpPr>
          <p:cNvPr id="29" name="">
            <a:extLst xmlns:a="http://schemas.openxmlformats.org/drawingml/2006/main">
              <a:ext uri="{FF2B5EF4-FFF2-40B4-BE49-F238E27FC236}">
                <a16:creationId xmlns:a16="http://schemas.microsoft.com/office/drawing/2014/main" id="{0BD1903C-A673-43A7-BBF4-1F4FFA00BC58}"/>
              </a:ext>
            </a:extLst>
          </p:cNvPr>
          <p:cNvSpPr>
            <a:spLocks xmlns:a="http://schemas.openxmlformats.org/drawingml/2006/main" noGrp="1"/>
          </p:cNvSpPr>
          <p:nvPr/>
        </p:nvSpPr>
        <p:spPr>
          <a:xfrm xmlns:a="http://schemas.openxmlformats.org/drawingml/2006/main">
            <a:off x="742950" y="2743200"/>
            <a:ext cx="1847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RWF-2000 seul</a:t>
            </a:r>
          </a:p>
        </p:txBody>
      </p:sp>
      <p:sp>
        <p:nvSpPr>
          <p:cNvPr id="30" name="">
            <a:extLst xmlns:a="http://schemas.openxmlformats.org/drawingml/2006/main">
              <a:ext uri="{FF2B5EF4-FFF2-40B4-BE49-F238E27FC236}">
                <a16:creationId xmlns:a16="http://schemas.microsoft.com/office/drawing/2014/main" id="{A2956F63-5925-445E-91BD-92DDF7DFC4CA}"/>
              </a:ext>
            </a:extLst>
          </p:cNvPr>
          <p:cNvSpPr>
            <a:spLocks xmlns:a="http://schemas.openxmlformats.org/drawingml/2006/main" noGrp="1"/>
          </p:cNvSpPr>
          <p:nvPr/>
        </p:nvSpPr>
        <p:spPr>
          <a:xfrm xmlns:a="http://schemas.openxmlformats.org/drawingml/2006/main">
            <a:off x="2667000" y="2647950"/>
            <a:ext cx="1619250" cy="514350"/>
          </a:xfrm>
          <a:prstGeom xmlns:a="http://schemas.openxmlformats.org/drawingml/2006/main" prst="rect">
            <a:avLst/>
          </a:prstGeom>
          <a:solidFill xmlns:a="http://schemas.openxmlformats.org/drawingml/2006/main">
            <a:srgbClr val="DCEAF4"/>
          </a:solidFill>
          <a:ln xmlns:a="http://schemas.openxmlformats.org/drawingml/2006/main" w="9525">
            <a:solidFill>
              <a:srgbClr val="C8D6E4"/>
            </a:solidFill>
            <a:prstDash val="solid"/>
          </a:ln>
        </p:spPr>
      </p:sp>
      <p:sp>
        <p:nvSpPr>
          <p:cNvPr id="31" name="">
            <a:extLst xmlns:a="http://schemas.openxmlformats.org/drawingml/2006/main">
              <a:ext uri="{FF2B5EF4-FFF2-40B4-BE49-F238E27FC236}">
                <a16:creationId xmlns:a16="http://schemas.microsoft.com/office/drawing/2014/main" id="{5B6FFCDA-B408-466A-BAA6-0792018210BC}"/>
              </a:ext>
            </a:extLst>
          </p:cNvPr>
          <p:cNvSpPr>
            <a:spLocks xmlns:a="http://schemas.openxmlformats.org/drawingml/2006/main" noGrp="1"/>
          </p:cNvSpPr>
          <p:nvPr/>
        </p:nvSpPr>
        <p:spPr>
          <a:xfrm xmlns:a="http://schemas.openxmlformats.org/drawingml/2006/main">
            <a:off x="2743200" y="2743200"/>
            <a:ext cx="146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RLVS</a:t>
            </a:r>
          </a:p>
        </p:txBody>
      </p:sp>
      <p:sp>
        <p:nvSpPr>
          <p:cNvPr id="32" name="">
            <a:extLst xmlns:a="http://schemas.openxmlformats.org/drawingml/2006/main">
              <a:ext uri="{FF2B5EF4-FFF2-40B4-BE49-F238E27FC236}">
                <a16:creationId xmlns:a16="http://schemas.microsoft.com/office/drawing/2014/main" id="{DB67AC81-F8FB-4DB1-9E74-EE825993A938}"/>
              </a:ext>
            </a:extLst>
          </p:cNvPr>
          <p:cNvSpPr>
            <a:spLocks xmlns:a="http://schemas.openxmlformats.org/drawingml/2006/main" noGrp="1"/>
          </p:cNvSpPr>
          <p:nvPr/>
        </p:nvSpPr>
        <p:spPr>
          <a:xfrm xmlns:a="http://schemas.openxmlformats.org/drawingml/2006/main">
            <a:off x="4286250" y="2647950"/>
            <a:ext cx="1381125" cy="514350"/>
          </a:xfrm>
          <a:prstGeom xmlns:a="http://schemas.openxmlformats.org/drawingml/2006/main" prst="rect">
            <a:avLst/>
          </a:prstGeom>
          <a:solidFill xmlns:a="http://schemas.openxmlformats.org/drawingml/2006/main">
            <a:srgbClr val="DCEAF4"/>
          </a:solidFill>
          <a:ln xmlns:a="http://schemas.openxmlformats.org/drawingml/2006/main" w="9525">
            <a:solidFill>
              <a:srgbClr val="C8D6E4"/>
            </a:solidFill>
            <a:prstDash val="solid"/>
          </a:ln>
        </p:spPr>
      </p:sp>
      <p:sp>
        <p:nvSpPr>
          <p:cNvPr id="33" name="">
            <a:extLst xmlns:a="http://schemas.openxmlformats.org/drawingml/2006/main">
              <a:ext uri="{FF2B5EF4-FFF2-40B4-BE49-F238E27FC236}">
                <a16:creationId xmlns:a16="http://schemas.microsoft.com/office/drawing/2014/main" id="{52FA6508-99E0-45D6-ABDE-A6E8C9C05AD5}"/>
              </a:ext>
            </a:extLst>
          </p:cNvPr>
          <p:cNvSpPr>
            <a:spLocks xmlns:a="http://schemas.openxmlformats.org/drawingml/2006/main" noGrp="1"/>
          </p:cNvSpPr>
          <p:nvPr/>
        </p:nvSpPr>
        <p:spPr>
          <a:xfrm xmlns:a="http://schemas.openxmlformats.org/drawingml/2006/main">
            <a:off x="4362450" y="2743200"/>
            <a:ext cx="1228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74,50 %</a:t>
            </a:r>
          </a:p>
        </p:txBody>
      </p:sp>
      <p:sp>
        <p:nvSpPr>
          <p:cNvPr id="34" name="">
            <a:extLst xmlns:a="http://schemas.openxmlformats.org/drawingml/2006/main">
              <a:ext uri="{FF2B5EF4-FFF2-40B4-BE49-F238E27FC236}">
                <a16:creationId xmlns:a16="http://schemas.microsoft.com/office/drawing/2014/main" id="{95A2C001-C094-4D3C-8C6D-2872E207394D}"/>
              </a:ext>
            </a:extLst>
          </p:cNvPr>
          <p:cNvSpPr>
            <a:spLocks xmlns:a="http://schemas.openxmlformats.org/drawingml/2006/main" noGrp="1"/>
          </p:cNvSpPr>
          <p:nvPr/>
        </p:nvSpPr>
        <p:spPr>
          <a:xfrm xmlns:a="http://schemas.openxmlformats.org/drawingml/2006/main">
            <a:off x="5667375" y="2647950"/>
            <a:ext cx="1381125" cy="514350"/>
          </a:xfrm>
          <a:prstGeom xmlns:a="http://schemas.openxmlformats.org/drawingml/2006/main" prst="rect">
            <a:avLst/>
          </a:prstGeom>
          <a:solidFill xmlns:a="http://schemas.openxmlformats.org/drawingml/2006/main">
            <a:srgbClr val="DCEAF4"/>
          </a:solidFill>
          <a:ln xmlns:a="http://schemas.openxmlformats.org/drawingml/2006/main" w="9525">
            <a:solidFill>
              <a:srgbClr val="C8D6E4"/>
            </a:solidFill>
            <a:prstDash val="solid"/>
          </a:ln>
        </p:spPr>
      </p:sp>
      <p:sp>
        <p:nvSpPr>
          <p:cNvPr id="35" name="">
            <a:extLst xmlns:a="http://schemas.openxmlformats.org/drawingml/2006/main">
              <a:ext uri="{FF2B5EF4-FFF2-40B4-BE49-F238E27FC236}">
                <a16:creationId xmlns:a16="http://schemas.microsoft.com/office/drawing/2014/main" id="{2B993DA8-EEEA-4B0F-A357-1578EAFC9617}"/>
              </a:ext>
            </a:extLst>
          </p:cNvPr>
          <p:cNvSpPr>
            <a:spLocks xmlns:a="http://schemas.openxmlformats.org/drawingml/2006/main" noGrp="1"/>
          </p:cNvSpPr>
          <p:nvPr/>
        </p:nvSpPr>
        <p:spPr>
          <a:xfrm xmlns:a="http://schemas.openxmlformats.org/drawingml/2006/main">
            <a:off x="5743575" y="2743200"/>
            <a:ext cx="1228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80,10 %</a:t>
            </a:r>
          </a:p>
        </p:txBody>
      </p:sp>
      <p:sp>
        <p:nvSpPr>
          <p:cNvPr id="36" name="">
            <a:extLst xmlns:a="http://schemas.openxmlformats.org/drawingml/2006/main">
              <a:ext uri="{FF2B5EF4-FFF2-40B4-BE49-F238E27FC236}">
                <a16:creationId xmlns:a16="http://schemas.microsoft.com/office/drawing/2014/main" id="{FEF5C1ED-2403-4C46-9B15-11A01FEA2C8B}"/>
              </a:ext>
            </a:extLst>
          </p:cNvPr>
          <p:cNvSpPr>
            <a:spLocks xmlns:a="http://schemas.openxmlformats.org/drawingml/2006/main" noGrp="1"/>
          </p:cNvSpPr>
          <p:nvPr/>
        </p:nvSpPr>
        <p:spPr>
          <a:xfrm xmlns:a="http://schemas.openxmlformats.org/drawingml/2006/main">
            <a:off x="7048500" y="2647950"/>
            <a:ext cx="1381125" cy="514350"/>
          </a:xfrm>
          <a:prstGeom xmlns:a="http://schemas.openxmlformats.org/drawingml/2006/main" prst="rect">
            <a:avLst/>
          </a:prstGeom>
          <a:solidFill xmlns:a="http://schemas.openxmlformats.org/drawingml/2006/main">
            <a:srgbClr val="DCEAF4"/>
          </a:solidFill>
          <a:ln xmlns:a="http://schemas.openxmlformats.org/drawingml/2006/main" w="9525">
            <a:solidFill>
              <a:srgbClr val="C8D6E4"/>
            </a:solidFill>
            <a:prstDash val="solid"/>
          </a:ln>
        </p:spPr>
      </p:sp>
      <p:sp>
        <p:nvSpPr>
          <p:cNvPr id="37" name="">
            <a:extLst xmlns:a="http://schemas.openxmlformats.org/drawingml/2006/main">
              <a:ext uri="{FF2B5EF4-FFF2-40B4-BE49-F238E27FC236}">
                <a16:creationId xmlns:a16="http://schemas.microsoft.com/office/drawing/2014/main" id="{A2878045-1D41-497E-B819-4226D033618A}"/>
              </a:ext>
            </a:extLst>
          </p:cNvPr>
          <p:cNvSpPr>
            <a:spLocks xmlns:a="http://schemas.openxmlformats.org/drawingml/2006/main" noGrp="1"/>
          </p:cNvSpPr>
          <p:nvPr/>
        </p:nvSpPr>
        <p:spPr>
          <a:xfrm xmlns:a="http://schemas.openxmlformats.org/drawingml/2006/main">
            <a:off x="7124700" y="2743200"/>
            <a:ext cx="1228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65,20 %</a:t>
            </a:r>
          </a:p>
        </p:txBody>
      </p:sp>
      <p:sp>
        <p:nvSpPr>
          <p:cNvPr id="38" name="">
            <a:extLst xmlns:a="http://schemas.openxmlformats.org/drawingml/2006/main">
              <a:ext uri="{FF2B5EF4-FFF2-40B4-BE49-F238E27FC236}">
                <a16:creationId xmlns:a16="http://schemas.microsoft.com/office/drawing/2014/main" id="{64DDA391-69FA-40CB-A38F-1BD797340FF8}"/>
              </a:ext>
            </a:extLst>
          </p:cNvPr>
          <p:cNvSpPr>
            <a:spLocks xmlns:a="http://schemas.openxmlformats.org/drawingml/2006/main" noGrp="1"/>
          </p:cNvSpPr>
          <p:nvPr/>
        </p:nvSpPr>
        <p:spPr>
          <a:xfrm xmlns:a="http://schemas.openxmlformats.org/drawingml/2006/main">
            <a:off x="8429625" y="2647950"/>
            <a:ext cx="1381125" cy="514350"/>
          </a:xfrm>
          <a:prstGeom xmlns:a="http://schemas.openxmlformats.org/drawingml/2006/main" prst="rect">
            <a:avLst/>
          </a:prstGeom>
          <a:solidFill xmlns:a="http://schemas.openxmlformats.org/drawingml/2006/main">
            <a:srgbClr val="DCEAF4"/>
          </a:solidFill>
          <a:ln xmlns:a="http://schemas.openxmlformats.org/drawingml/2006/main" w="9525">
            <a:solidFill>
              <a:srgbClr val="C8D6E4"/>
            </a:solidFill>
            <a:prstDash val="solid"/>
          </a:ln>
        </p:spPr>
      </p:sp>
      <p:sp>
        <p:nvSpPr>
          <p:cNvPr id="39" name="">
            <a:extLst xmlns:a="http://schemas.openxmlformats.org/drawingml/2006/main">
              <a:ext uri="{FF2B5EF4-FFF2-40B4-BE49-F238E27FC236}">
                <a16:creationId xmlns:a16="http://schemas.microsoft.com/office/drawing/2014/main" id="{E8036A9D-E1E4-427A-B689-D1A1CADC8108}"/>
              </a:ext>
            </a:extLst>
          </p:cNvPr>
          <p:cNvSpPr>
            <a:spLocks xmlns:a="http://schemas.openxmlformats.org/drawingml/2006/main" noGrp="1"/>
          </p:cNvSpPr>
          <p:nvPr/>
        </p:nvSpPr>
        <p:spPr>
          <a:xfrm xmlns:a="http://schemas.openxmlformats.org/drawingml/2006/main">
            <a:off x="8505825" y="2743200"/>
            <a:ext cx="1228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71,89 %</a:t>
            </a:r>
          </a:p>
        </p:txBody>
      </p:sp>
      <p:sp>
        <p:nvSpPr>
          <p:cNvPr id="40" name="">
            <a:extLst xmlns:a="http://schemas.openxmlformats.org/drawingml/2006/main">
              <a:ext uri="{FF2B5EF4-FFF2-40B4-BE49-F238E27FC236}">
                <a16:creationId xmlns:a16="http://schemas.microsoft.com/office/drawing/2014/main" id="{A76A6D0F-FA9B-4E07-BD49-FACE26EE651A}"/>
              </a:ext>
            </a:extLst>
          </p:cNvPr>
          <p:cNvSpPr>
            <a:spLocks xmlns:a="http://schemas.openxmlformats.org/drawingml/2006/main" noGrp="1"/>
          </p:cNvSpPr>
          <p:nvPr/>
        </p:nvSpPr>
        <p:spPr>
          <a:xfrm xmlns:a="http://schemas.openxmlformats.org/drawingml/2006/main">
            <a:off x="666750" y="3162300"/>
            <a:ext cx="20002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41" name="">
            <a:extLst xmlns:a="http://schemas.openxmlformats.org/drawingml/2006/main">
              <a:ext uri="{FF2B5EF4-FFF2-40B4-BE49-F238E27FC236}">
                <a16:creationId xmlns:a16="http://schemas.microsoft.com/office/drawing/2014/main" id="{B3394FA7-EFB6-4FE4-89CA-27832DD2F93B}"/>
              </a:ext>
            </a:extLst>
          </p:cNvPr>
          <p:cNvSpPr>
            <a:spLocks xmlns:a="http://schemas.openxmlformats.org/drawingml/2006/main" noGrp="1"/>
          </p:cNvSpPr>
          <p:nvPr/>
        </p:nvSpPr>
        <p:spPr>
          <a:xfrm xmlns:a="http://schemas.openxmlformats.org/drawingml/2006/main">
            <a:off x="742950" y="3257550"/>
            <a:ext cx="1847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Combiné original</a:t>
            </a:r>
          </a:p>
        </p:txBody>
      </p:sp>
      <p:sp>
        <p:nvSpPr>
          <p:cNvPr id="42" name="">
            <a:extLst xmlns:a="http://schemas.openxmlformats.org/drawingml/2006/main">
              <a:ext uri="{FF2B5EF4-FFF2-40B4-BE49-F238E27FC236}">
                <a16:creationId xmlns:a16="http://schemas.microsoft.com/office/drawing/2014/main" id="{F2E006DA-2ED2-466D-991A-48695E2BFBEB}"/>
              </a:ext>
            </a:extLst>
          </p:cNvPr>
          <p:cNvSpPr>
            <a:spLocks xmlns:a="http://schemas.openxmlformats.org/drawingml/2006/main" noGrp="1"/>
          </p:cNvSpPr>
          <p:nvPr/>
        </p:nvSpPr>
        <p:spPr>
          <a:xfrm xmlns:a="http://schemas.openxmlformats.org/drawingml/2006/main">
            <a:off x="2667000" y="3162300"/>
            <a:ext cx="16192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43" name="">
            <a:extLst xmlns:a="http://schemas.openxmlformats.org/drawingml/2006/main">
              <a:ext uri="{FF2B5EF4-FFF2-40B4-BE49-F238E27FC236}">
                <a16:creationId xmlns:a16="http://schemas.microsoft.com/office/drawing/2014/main" id="{05FE38FE-3D0F-42FF-80D5-8D816D93D297}"/>
              </a:ext>
            </a:extLst>
          </p:cNvPr>
          <p:cNvSpPr>
            <a:spLocks xmlns:a="http://schemas.openxmlformats.org/drawingml/2006/main" noGrp="1"/>
          </p:cNvSpPr>
          <p:nvPr/>
        </p:nvSpPr>
        <p:spPr>
          <a:xfrm xmlns:a="http://schemas.openxmlformats.org/drawingml/2006/main">
            <a:off x="2743200" y="3257550"/>
            <a:ext cx="146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599 vidéos</a:t>
            </a:r>
          </a:p>
        </p:txBody>
      </p:sp>
      <p:sp>
        <p:nvSpPr>
          <p:cNvPr id="44" name="">
            <a:extLst xmlns:a="http://schemas.openxmlformats.org/drawingml/2006/main">
              <a:ext uri="{FF2B5EF4-FFF2-40B4-BE49-F238E27FC236}">
                <a16:creationId xmlns:a16="http://schemas.microsoft.com/office/drawing/2014/main" id="{B6AE2CA1-46B2-49EB-B7EE-EBEB14D51C29}"/>
              </a:ext>
            </a:extLst>
          </p:cNvPr>
          <p:cNvSpPr>
            <a:spLocks xmlns:a="http://schemas.openxmlformats.org/drawingml/2006/main" noGrp="1"/>
          </p:cNvSpPr>
          <p:nvPr/>
        </p:nvSpPr>
        <p:spPr>
          <a:xfrm xmlns:a="http://schemas.openxmlformats.org/drawingml/2006/main">
            <a:off x="4286250" y="3162300"/>
            <a:ext cx="1381125"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45" name="">
            <a:extLst xmlns:a="http://schemas.openxmlformats.org/drawingml/2006/main">
              <a:ext uri="{FF2B5EF4-FFF2-40B4-BE49-F238E27FC236}">
                <a16:creationId xmlns:a16="http://schemas.microsoft.com/office/drawing/2014/main" id="{E78EBD70-4243-47B9-862B-53FCF368627C}"/>
              </a:ext>
            </a:extLst>
          </p:cNvPr>
          <p:cNvSpPr>
            <a:spLocks xmlns:a="http://schemas.openxmlformats.org/drawingml/2006/main" noGrp="1"/>
          </p:cNvSpPr>
          <p:nvPr/>
        </p:nvSpPr>
        <p:spPr>
          <a:xfrm xmlns:a="http://schemas.openxmlformats.org/drawingml/2006/main">
            <a:off x="4362450" y="3257550"/>
            <a:ext cx="1228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86,81 %</a:t>
            </a:r>
          </a:p>
        </p:txBody>
      </p:sp>
      <p:sp>
        <p:nvSpPr>
          <p:cNvPr id="46" name="">
            <a:extLst xmlns:a="http://schemas.openxmlformats.org/drawingml/2006/main">
              <a:ext uri="{FF2B5EF4-FFF2-40B4-BE49-F238E27FC236}">
                <a16:creationId xmlns:a16="http://schemas.microsoft.com/office/drawing/2014/main" id="{E370FCB9-33A8-4B35-A6AB-90DA8555F90F}"/>
              </a:ext>
            </a:extLst>
          </p:cNvPr>
          <p:cNvSpPr>
            <a:spLocks xmlns:a="http://schemas.openxmlformats.org/drawingml/2006/main" noGrp="1"/>
          </p:cNvSpPr>
          <p:nvPr/>
        </p:nvSpPr>
        <p:spPr>
          <a:xfrm xmlns:a="http://schemas.openxmlformats.org/drawingml/2006/main">
            <a:off x="5667375" y="3162300"/>
            <a:ext cx="1381125"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47" name="">
            <a:extLst xmlns:a="http://schemas.openxmlformats.org/drawingml/2006/main">
              <a:ext uri="{FF2B5EF4-FFF2-40B4-BE49-F238E27FC236}">
                <a16:creationId xmlns:a16="http://schemas.microsoft.com/office/drawing/2014/main" id="{835DDB11-BD58-42F7-9356-EB52A5D663E1}"/>
              </a:ext>
            </a:extLst>
          </p:cNvPr>
          <p:cNvSpPr>
            <a:spLocks xmlns:a="http://schemas.openxmlformats.org/drawingml/2006/main" noGrp="1"/>
          </p:cNvSpPr>
          <p:nvPr/>
        </p:nvSpPr>
        <p:spPr>
          <a:xfrm xmlns:a="http://schemas.openxmlformats.org/drawingml/2006/main">
            <a:off x="5743575" y="3257550"/>
            <a:ext cx="1228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82,74 %</a:t>
            </a:r>
          </a:p>
        </p:txBody>
      </p:sp>
      <p:sp>
        <p:nvSpPr>
          <p:cNvPr id="48" name="">
            <a:extLst xmlns:a="http://schemas.openxmlformats.org/drawingml/2006/main">
              <a:ext uri="{FF2B5EF4-FFF2-40B4-BE49-F238E27FC236}">
                <a16:creationId xmlns:a16="http://schemas.microsoft.com/office/drawing/2014/main" id="{02112A79-DACC-494F-8FDD-BA4AC4C5D5D5}"/>
              </a:ext>
            </a:extLst>
          </p:cNvPr>
          <p:cNvSpPr>
            <a:spLocks xmlns:a="http://schemas.openxmlformats.org/drawingml/2006/main" noGrp="1"/>
          </p:cNvSpPr>
          <p:nvPr/>
        </p:nvSpPr>
        <p:spPr>
          <a:xfrm xmlns:a="http://schemas.openxmlformats.org/drawingml/2006/main">
            <a:off x="7048500" y="3162300"/>
            <a:ext cx="1381125"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49" name="">
            <a:extLst xmlns:a="http://schemas.openxmlformats.org/drawingml/2006/main">
              <a:ext uri="{FF2B5EF4-FFF2-40B4-BE49-F238E27FC236}">
                <a16:creationId xmlns:a16="http://schemas.microsoft.com/office/drawing/2014/main" id="{4252527D-9CAC-40D2-929A-98FF7F1F26FD}"/>
              </a:ext>
            </a:extLst>
          </p:cNvPr>
          <p:cNvSpPr>
            <a:spLocks xmlns:a="http://schemas.openxmlformats.org/drawingml/2006/main" noGrp="1"/>
          </p:cNvSpPr>
          <p:nvPr/>
        </p:nvSpPr>
        <p:spPr>
          <a:xfrm xmlns:a="http://schemas.openxmlformats.org/drawingml/2006/main">
            <a:off x="7124700" y="3257550"/>
            <a:ext cx="1228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92,98 %</a:t>
            </a:r>
          </a:p>
        </p:txBody>
      </p:sp>
      <p:sp>
        <p:nvSpPr>
          <p:cNvPr id="50" name="">
            <a:extLst xmlns:a="http://schemas.openxmlformats.org/drawingml/2006/main">
              <a:ext uri="{FF2B5EF4-FFF2-40B4-BE49-F238E27FC236}">
                <a16:creationId xmlns:a16="http://schemas.microsoft.com/office/drawing/2014/main" id="{6C8ADAB4-B423-4B2D-B2CC-14DDAFD7D059}"/>
              </a:ext>
            </a:extLst>
          </p:cNvPr>
          <p:cNvSpPr>
            <a:spLocks xmlns:a="http://schemas.openxmlformats.org/drawingml/2006/main" noGrp="1"/>
          </p:cNvSpPr>
          <p:nvPr/>
        </p:nvSpPr>
        <p:spPr>
          <a:xfrm xmlns:a="http://schemas.openxmlformats.org/drawingml/2006/main">
            <a:off x="8429625" y="3162300"/>
            <a:ext cx="1381125"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51" name="">
            <a:extLst xmlns:a="http://schemas.openxmlformats.org/drawingml/2006/main">
              <a:ext uri="{FF2B5EF4-FFF2-40B4-BE49-F238E27FC236}">
                <a16:creationId xmlns:a16="http://schemas.microsoft.com/office/drawing/2014/main" id="{C547BA66-0DB8-4AA7-B82D-2E7F6C4B1ACB}"/>
              </a:ext>
            </a:extLst>
          </p:cNvPr>
          <p:cNvSpPr>
            <a:spLocks xmlns:a="http://schemas.openxmlformats.org/drawingml/2006/main" noGrp="1"/>
          </p:cNvSpPr>
          <p:nvPr/>
        </p:nvSpPr>
        <p:spPr>
          <a:xfrm xmlns:a="http://schemas.openxmlformats.org/drawingml/2006/main">
            <a:off x="8505825" y="3257550"/>
            <a:ext cx="1228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87,56 %</a:t>
            </a:r>
          </a:p>
        </p:txBody>
      </p:sp>
      <p:pic>
        <p:nvPicPr>
          <p:cNvPr id="111" name=""/>
          <p:cNvPicPr>
            <a:picLocks xmlns:a="http://schemas.openxmlformats.org/drawingml/2006/main" noChangeAspect="1"/>
          </p:cNvPicPr>
          <p:nvPr/>
        </p:nvPicPr>
        <p:blipFill>
          <a:blip xmlns:r="http://schemas.openxmlformats.org/officeDocument/2006/relationships" xmlns:a="http://schemas.openxmlformats.org/drawingml/2006/main" r:embed="Rcd5e449f04e04122"/>
          <a:stretch xmlns:a="http://schemas.openxmlformats.org/drawingml/2006/main"/>
        </p:blipFill>
        <p:spPr>
          <a:xfrm xmlns:a="http://schemas.openxmlformats.org/drawingml/2006/main">
            <a:off x="1047750" y="4116737"/>
            <a:ext cx="2571750" cy="1196275"/>
          </a:xfrm>
          <a:prstGeom xmlns:a="http://schemas.openxmlformats.org/drawingml/2006/main" prst="rect">
            <a:avLst/>
          </a:prstGeom>
        </p:spPr>
      </p:pic>
      <p:pic>
        <p:nvPicPr>
          <p:cNvPr id="112" name=""/>
          <p:cNvPicPr>
            <a:picLocks xmlns:a="http://schemas.openxmlformats.org/drawingml/2006/main" noChangeAspect="1"/>
          </p:cNvPicPr>
          <p:nvPr/>
        </p:nvPicPr>
        <p:blipFill>
          <a:blip xmlns:r="http://schemas.openxmlformats.org/officeDocument/2006/relationships" xmlns:a="http://schemas.openxmlformats.org/drawingml/2006/main" r:embed="R1c89ecbcd0d14524"/>
          <a:stretch xmlns:a="http://schemas.openxmlformats.org/drawingml/2006/main"/>
        </p:blipFill>
        <p:spPr>
          <a:xfrm xmlns:a="http://schemas.openxmlformats.org/drawingml/2006/main">
            <a:off x="4095750" y="4116737"/>
            <a:ext cx="2571750" cy="1196275"/>
          </a:xfrm>
          <a:prstGeom xmlns:a="http://schemas.openxmlformats.org/drawingml/2006/main" prst="rect">
            <a:avLst/>
          </a:prstGeom>
        </p:spPr>
      </p:pic>
      <p:sp>
        <p:nvSpPr>
          <p:cNvPr id="54" name="">
            <a:extLst xmlns:a="http://schemas.openxmlformats.org/drawingml/2006/main">
              <a:ext uri="{FF2B5EF4-FFF2-40B4-BE49-F238E27FC236}">
                <a16:creationId xmlns:a16="http://schemas.microsoft.com/office/drawing/2014/main" id="{6EDAA46D-C43E-4F60-B4D5-0E8E87DA881F}"/>
              </a:ext>
            </a:extLst>
          </p:cNvPr>
          <p:cNvSpPr>
            <a:spLocks xmlns:a="http://schemas.openxmlformats.org/drawingml/2006/main" noGrp="1"/>
          </p:cNvSpPr>
          <p:nvPr/>
        </p:nvSpPr>
        <p:spPr>
          <a:xfrm xmlns:a="http://schemas.openxmlformats.org/drawingml/2006/main">
            <a:off x="7239000" y="3905250"/>
            <a:ext cx="3429000" cy="1619250"/>
          </a:xfrm>
          <a:prstGeom xmlns:a="http://schemas.openxmlformats.org/drawingml/2006/main" prst="roundRect">
            <a:avLst>
              <a:gd name="adj" fmla="val 4706"/>
            </a:avLst>
          </a:prstGeom>
          <a:solidFill xmlns:a="http://schemas.openxmlformats.org/drawingml/2006/main">
            <a:srgbClr val="EEF5FA"/>
          </a:solidFill>
          <a:ln xmlns:a="http://schemas.openxmlformats.org/drawingml/2006/main" w="9525">
            <a:solidFill>
              <a:srgbClr val="C8D6E4"/>
            </a:solidFill>
            <a:prstDash val="solid"/>
          </a:ln>
        </p:spPr>
      </p:sp>
      <p:sp>
        <p:nvSpPr>
          <p:cNvPr id="55" name="">
            <a:extLst xmlns:a="http://schemas.openxmlformats.org/drawingml/2006/main">
              <a:ext uri="{FF2B5EF4-FFF2-40B4-BE49-F238E27FC236}">
                <a16:creationId xmlns:a16="http://schemas.microsoft.com/office/drawing/2014/main" id="{54C0DA79-2418-432C-B09D-F7E32668FC84}"/>
              </a:ext>
            </a:extLst>
          </p:cNvPr>
          <p:cNvSpPr>
            <a:spLocks xmlns:a="http://schemas.openxmlformats.org/drawingml/2006/main" noGrp="1"/>
          </p:cNvSpPr>
          <p:nvPr/>
        </p:nvSpPr>
        <p:spPr>
          <a:xfrm xmlns:a="http://schemas.openxmlformats.org/drawingml/2006/main">
            <a:off x="7477125" y="4114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17345F"/>
                </a:solidFill>
              </a:defRPr>
            </a:pPr>
            <a:r>
              <a:rPr sz="1500" b="1" i="0">
                <a:solidFill>
                  <a:srgbClr val="17345F"/>
                </a:solidFill>
              </a:rPr>
              <a:t>Interprétation</a:t>
            </a:r>
          </a:p>
        </p:txBody>
      </p:sp>
      <p:sp>
        <p:nvSpPr>
          <p:cNvPr id="56" name="">
            <a:extLst xmlns:a="http://schemas.openxmlformats.org/drawingml/2006/main">
              <a:ext uri="{FF2B5EF4-FFF2-40B4-BE49-F238E27FC236}">
                <a16:creationId xmlns:a16="http://schemas.microsoft.com/office/drawing/2014/main" id="{D79645E0-DA3B-409F-9503-038E78C0258B}"/>
              </a:ext>
            </a:extLst>
          </p:cNvPr>
          <p:cNvSpPr>
            <a:spLocks xmlns:a="http://schemas.openxmlformats.org/drawingml/2006/main" noGrp="1"/>
          </p:cNvSpPr>
          <p:nvPr/>
        </p:nvSpPr>
        <p:spPr>
          <a:xfrm xmlns:a="http://schemas.openxmlformats.org/drawingml/2006/main">
            <a:off x="7477125" y="4476750"/>
            <a:ext cx="30003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102033"/>
                </a:solidFill>
              </a:defRPr>
            </a:pPr>
            <a:r>
              <a:rPr sz="1125" b="0" i="0">
                <a:solidFill>
                  <a:srgbClr val="102033"/>
                </a:solidFill>
              </a:rPr>
              <a:t>RLVS et RWF-2000 ne représentent pas le même monde visuel. SIRCH devient plus fiable quand il apprend sur les deux sources, car il voit à la fois des scènes contrôlées et des scènes CCTV réelles.</a:t>
            </a:r>
          </a:p>
        </p:txBody>
      </p:sp>
      <p:sp>
        <p:nvSpPr>
          <p:cNvPr id="57" name="">
            <a:extLst xmlns:a="http://schemas.openxmlformats.org/drawingml/2006/main">
              <a:ext uri="{FF2B5EF4-FFF2-40B4-BE49-F238E27FC236}">
                <a16:creationId xmlns:a16="http://schemas.microsoft.com/office/drawing/2014/main" id="{15E4F6DC-E49A-480D-8216-2AC9443E6E93}"/>
              </a:ext>
            </a:extLst>
          </p:cNvPr>
          <p:cNvSpPr>
            <a:spLocks xmlns:a="http://schemas.openxmlformats.org/drawingml/2006/main" noGrp="1"/>
          </p:cNvSpPr>
          <p:nvPr/>
        </p:nvSpPr>
        <p:spPr>
          <a:xfrm xmlns:a="http://schemas.openxmlformats.org/drawingml/2006/main">
            <a:off x="1238250" y="5810250"/>
            <a:ext cx="971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1C8B53"/>
                </a:solidFill>
              </a:defRPr>
            </a:pPr>
            <a:r>
              <a:rPr sz="1275" b="1" i="0">
                <a:solidFill>
                  <a:srgbClr val="1C8B53"/>
                </a:solidFill>
              </a:rPr>
              <a:t>Message pour le jury : le gain de SIRCH vient autant de la diversité des données que de l’architecture du réseau.</a:t>
            </a:r>
          </a:p>
        </p:txBody>
      </p:sp>
      <p:sp>
        <p:nvSpPr>
          <p:cNvPr id="58" name="">
            <a:extLst xmlns:a="http://schemas.openxmlformats.org/drawingml/2006/main">
              <a:ext uri="{FF2B5EF4-FFF2-40B4-BE49-F238E27FC236}">
                <a16:creationId xmlns:a16="http://schemas.microsoft.com/office/drawing/2014/main" id="{F9BD8B25-E030-4DF7-B245-2D0BABD0B9BE}"/>
              </a:ext>
            </a:extLst>
          </p:cNvPr>
          <p:cNvSpPr>
            <a:spLocks xmlns:a="http://schemas.openxmlformats.org/drawingml/2006/main" noGrp="1"/>
          </p:cNvSpPr>
          <p:nvPr/>
        </p:nvSpPr>
        <p:spPr>
          <a:xfrm xmlns:a="http://schemas.openxmlformats.org/drawingml/2006/main">
            <a:off x="552450" y="6362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i="0">
                <a:solidFill>
                  <a:srgbClr val="5A6B82"/>
                </a:solidFill>
              </a:defRPr>
            </a:pPr>
            <a:r>
              <a:rPr sz="675" b="0" i="0">
                <a:solidFill>
                  <a:srgbClr val="5A6B82"/>
                </a:solidFill>
              </a:rPr>
              <a:t>Expériences de généralisation</a:t>
            </a:r>
          </a:p>
        </p:txBody>
      </p:sp>
      <p:sp>
        <p:nvSpPr>
          <p:cNvPr id="59" name="">
            <a:extLst xmlns:a="http://schemas.openxmlformats.org/drawingml/2006/main">
              <a:ext uri="{FF2B5EF4-FFF2-40B4-BE49-F238E27FC236}">
                <a16:creationId xmlns:a16="http://schemas.microsoft.com/office/drawing/2014/main" id="{91B4043A-2B63-4E98-972E-E56C5B3D23B0}"/>
              </a:ext>
            </a:extLst>
          </p:cNvPr>
          <p:cNvSpPr>
            <a:spLocks xmlns:a="http://schemas.openxmlformats.org/drawingml/2006/main" noGrp="1"/>
          </p:cNvSpPr>
          <p:nvPr/>
        </p:nvSpPr>
        <p:spPr>
          <a:xfrm xmlns:a="http://schemas.openxmlformats.org/drawingml/2006/main">
            <a:off x="11049000" y="63627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0" i="0">
                <a:solidFill>
                  <a:srgbClr val="5A6B82"/>
                </a:solidFill>
              </a:defRPr>
            </a:pPr>
            <a:r>
              <a:rPr sz="750" b="0" i="0">
                <a:solidFill>
                  <a:srgbClr val="5A6B82"/>
                </a:solidFill>
              </a:rPr>
              <a:t>14 / 18</a:t>
            </a:r>
          </a:p>
        </p:txBody>
      </p:sp>
    </p:spTree>
    <p:extLst>
      <p:ext uri="{BB962C8B-B14F-4D97-AF65-F5344CB8AC3E}">
        <p14:creationId xmlns:p14="http://schemas.microsoft.com/office/powerpoint/2010/main" val="159548735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38984A7-A6B4-457B-80D9-5B3FA5913CEF}"/>
              </a:ext>
            </a:extLst>
          </p:cNvPr>
          <p:cNvSpPr>
            <a:spLocks xmlns:a="http://schemas.openxmlformats.org/drawingml/2006/main" noGrp="1"/>
          </p:cNvSpPr>
          <p:nvPr/>
        </p:nvSpPr>
        <p:spPr>
          <a:xfrm xmlns:a="http://schemas.openxmlformats.org/drawingml/2006/main">
            <a:off x="552450" y="419100"/>
            <a:ext cx="933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i="0">
                <a:solidFill>
                  <a:srgbClr val="17345F"/>
                </a:solidFill>
              </a:defRPr>
            </a:pPr>
            <a:r>
              <a:rPr sz="2550" b="1" i="0">
                <a:solidFill>
                  <a:srgbClr val="17345F"/>
                </a:solidFill>
              </a:rPr>
              <a:t>Les tests sport et danse révèlent la principale limite opérationnelle</a:t>
            </a:r>
          </a:p>
        </p:txBody>
      </p:sp>
      <p:sp>
        <p:nvSpPr>
          <p:cNvPr id="2" name="">
            <a:extLst xmlns:a="http://schemas.openxmlformats.org/drawingml/2006/main">
              <a:ext uri="{FF2B5EF4-FFF2-40B4-BE49-F238E27FC236}">
                <a16:creationId xmlns:a16="http://schemas.microsoft.com/office/drawing/2014/main" id="{9DEBCE4C-78AD-42EA-89CF-484BD84EC593}"/>
              </a:ext>
            </a:extLst>
          </p:cNvPr>
          <p:cNvSpPr>
            <a:spLocks xmlns:a="http://schemas.openxmlformats.org/drawingml/2006/main" noGrp="1"/>
          </p:cNvSpPr>
          <p:nvPr/>
        </p:nvSpPr>
        <p:spPr>
          <a:xfrm xmlns:a="http://schemas.openxmlformats.org/drawingml/2006/main">
            <a:off x="552450" y="1095375"/>
            <a:ext cx="1047750" cy="47625"/>
          </a:xfrm>
          <a:prstGeom xmlns:a="http://schemas.openxmlformats.org/drawingml/2006/main" prst="rect">
            <a:avLst/>
          </a:prstGeom>
          <a:solidFill xmlns:a="http://schemas.openxmlformats.org/drawingml/2006/main">
            <a:srgbClr val="1C8B53"/>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4396894-1B11-4278-9572-2D8147922B89}"/>
              </a:ext>
            </a:extLst>
          </p:cNvPr>
          <p:cNvSpPr>
            <a:spLocks xmlns:a="http://schemas.openxmlformats.org/drawingml/2006/main" noGrp="1"/>
          </p:cNvSpPr>
          <p:nvPr/>
        </p:nvSpPr>
        <p:spPr>
          <a:xfrm xmlns:a="http://schemas.openxmlformats.org/drawingml/2006/main">
            <a:off x="552450" y="1238250"/>
            <a:ext cx="838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A6B82"/>
                </a:solidFill>
              </a:defRPr>
            </a:pPr>
            <a:r>
              <a:rPr sz="1200" b="0" i="0">
                <a:solidFill>
                  <a:srgbClr val="5A6B82"/>
                </a:solidFill>
              </a:rPr>
              <a:t>Le système associe parfois mouvement intense et violence, surtout hors contexte de surveillance classique.</a:t>
            </a: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849ced180eb34685"/>
          <a:stretch xmlns:a="http://schemas.openxmlformats.org/drawingml/2006/main"/>
        </p:blipFill>
        <p:spPr>
          <a:xfrm xmlns:a="http://schemas.openxmlformats.org/drawingml/2006/main">
            <a:off x="666750" y="2119313"/>
            <a:ext cx="4000500" cy="16668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73AE4F0-0BD5-47F8-A56D-AD1B82BA1B73}"/>
              </a:ext>
            </a:extLst>
          </p:cNvPr>
          <p:cNvSpPr>
            <a:spLocks xmlns:a="http://schemas.openxmlformats.org/drawingml/2006/main" noGrp="1"/>
          </p:cNvSpPr>
          <p:nvPr/>
        </p:nvSpPr>
        <p:spPr>
          <a:xfrm xmlns:a="http://schemas.openxmlformats.org/drawingml/2006/main">
            <a:off x="5191125" y="1714500"/>
            <a:ext cx="1524000" cy="514350"/>
          </a:xfrm>
          <a:prstGeom xmlns:a="http://schemas.openxmlformats.org/drawingml/2006/main" prst="rect">
            <a:avLst/>
          </a:prstGeom>
          <a:solidFill xmlns:a="http://schemas.openxmlformats.org/drawingml/2006/main">
            <a:srgbClr val="203F6E"/>
          </a:solidFill>
          <a:ln xmlns:a="http://schemas.openxmlformats.org/drawingml/2006/main" w="9525">
            <a:solidFill>
              <a:srgbClr val="C8D6E4"/>
            </a:solidFill>
            <a:prstDash val="solid"/>
          </a:ln>
        </p:spPr>
      </p:sp>
      <p:sp>
        <p:nvSpPr>
          <p:cNvPr id="6" name="">
            <a:extLst xmlns:a="http://schemas.openxmlformats.org/drawingml/2006/main">
              <a:ext uri="{FF2B5EF4-FFF2-40B4-BE49-F238E27FC236}">
                <a16:creationId xmlns:a16="http://schemas.microsoft.com/office/drawing/2014/main" id="{E02C4D8E-E5A0-4E3D-B7B6-01EC68D431BC}"/>
              </a:ext>
            </a:extLst>
          </p:cNvPr>
          <p:cNvSpPr>
            <a:spLocks xmlns:a="http://schemas.openxmlformats.org/drawingml/2006/main" noGrp="1"/>
          </p:cNvSpPr>
          <p:nvPr/>
        </p:nvSpPr>
        <p:spPr>
          <a:xfrm xmlns:a="http://schemas.openxmlformats.org/drawingml/2006/main">
            <a:off x="5267325" y="1809750"/>
            <a:ext cx="137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Scénario v2</a:t>
            </a:r>
          </a:p>
        </p:txBody>
      </p:sp>
      <p:sp>
        <p:nvSpPr>
          <p:cNvPr id="7" name="">
            <a:extLst xmlns:a="http://schemas.openxmlformats.org/drawingml/2006/main">
              <a:ext uri="{FF2B5EF4-FFF2-40B4-BE49-F238E27FC236}">
                <a16:creationId xmlns:a16="http://schemas.microsoft.com/office/drawing/2014/main" id="{2ABBC2D3-9231-445D-928B-5732B8F43044}"/>
              </a:ext>
            </a:extLst>
          </p:cNvPr>
          <p:cNvSpPr>
            <a:spLocks xmlns:a="http://schemas.openxmlformats.org/drawingml/2006/main" noGrp="1"/>
          </p:cNvSpPr>
          <p:nvPr/>
        </p:nvSpPr>
        <p:spPr>
          <a:xfrm xmlns:a="http://schemas.openxmlformats.org/drawingml/2006/main">
            <a:off x="6715125" y="1714500"/>
            <a:ext cx="1381125" cy="514350"/>
          </a:xfrm>
          <a:prstGeom xmlns:a="http://schemas.openxmlformats.org/drawingml/2006/main" prst="rect">
            <a:avLst/>
          </a:prstGeom>
          <a:solidFill xmlns:a="http://schemas.openxmlformats.org/drawingml/2006/main">
            <a:srgbClr val="203F6E"/>
          </a:solidFill>
          <a:ln xmlns:a="http://schemas.openxmlformats.org/drawingml/2006/main" w="9525">
            <a:solidFill>
              <a:srgbClr val="C8D6E4"/>
            </a:solidFill>
            <a:prstDash val="solid"/>
          </a:ln>
        </p:spPr>
      </p:sp>
      <p:sp>
        <p:nvSpPr>
          <p:cNvPr id="8" name="">
            <a:extLst xmlns:a="http://schemas.openxmlformats.org/drawingml/2006/main">
              <a:ext uri="{FF2B5EF4-FFF2-40B4-BE49-F238E27FC236}">
                <a16:creationId xmlns:a16="http://schemas.microsoft.com/office/drawing/2014/main" id="{9AFADA1C-B660-4204-BC39-7E333C702A30}"/>
              </a:ext>
            </a:extLst>
          </p:cNvPr>
          <p:cNvSpPr>
            <a:spLocks xmlns:a="http://schemas.openxmlformats.org/drawingml/2006/main" noGrp="1"/>
          </p:cNvSpPr>
          <p:nvPr/>
        </p:nvSpPr>
        <p:spPr>
          <a:xfrm xmlns:a="http://schemas.openxmlformats.org/drawingml/2006/main">
            <a:off x="6791325" y="1809750"/>
            <a:ext cx="1228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Faux positifs</a:t>
            </a:r>
          </a:p>
        </p:txBody>
      </p:sp>
      <p:sp>
        <p:nvSpPr>
          <p:cNvPr id="9" name="">
            <a:extLst xmlns:a="http://schemas.openxmlformats.org/drawingml/2006/main">
              <a:ext uri="{FF2B5EF4-FFF2-40B4-BE49-F238E27FC236}">
                <a16:creationId xmlns:a16="http://schemas.microsoft.com/office/drawing/2014/main" id="{4222C6CE-9EAB-47C7-8187-2AB830D86D52}"/>
              </a:ext>
            </a:extLst>
          </p:cNvPr>
          <p:cNvSpPr>
            <a:spLocks xmlns:a="http://schemas.openxmlformats.org/drawingml/2006/main" noGrp="1"/>
          </p:cNvSpPr>
          <p:nvPr/>
        </p:nvSpPr>
        <p:spPr>
          <a:xfrm xmlns:a="http://schemas.openxmlformats.org/drawingml/2006/main">
            <a:off x="8096250" y="1714500"/>
            <a:ext cx="1381125" cy="514350"/>
          </a:xfrm>
          <a:prstGeom xmlns:a="http://schemas.openxmlformats.org/drawingml/2006/main" prst="rect">
            <a:avLst/>
          </a:prstGeom>
          <a:solidFill xmlns:a="http://schemas.openxmlformats.org/drawingml/2006/main">
            <a:srgbClr val="203F6E"/>
          </a:solidFill>
          <a:ln xmlns:a="http://schemas.openxmlformats.org/drawingml/2006/main" w="9525">
            <a:solidFill>
              <a:srgbClr val="C8D6E4"/>
            </a:solidFill>
            <a:prstDash val="solid"/>
          </a:ln>
        </p:spPr>
      </p:sp>
      <p:sp>
        <p:nvSpPr>
          <p:cNvPr id="10" name="">
            <a:extLst xmlns:a="http://schemas.openxmlformats.org/drawingml/2006/main">
              <a:ext uri="{FF2B5EF4-FFF2-40B4-BE49-F238E27FC236}">
                <a16:creationId xmlns:a16="http://schemas.microsoft.com/office/drawing/2014/main" id="{0F0D295A-995E-462A-97C7-7E8DDB52BC62}"/>
              </a:ext>
            </a:extLst>
          </p:cNvPr>
          <p:cNvSpPr>
            <a:spLocks xmlns:a="http://schemas.openxmlformats.org/drawingml/2006/main" noGrp="1"/>
          </p:cNvSpPr>
          <p:nvPr/>
        </p:nvSpPr>
        <p:spPr>
          <a:xfrm xmlns:a="http://schemas.openxmlformats.org/drawingml/2006/main">
            <a:off x="8172450" y="1809750"/>
            <a:ext cx="1228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Taux</a:t>
            </a:r>
          </a:p>
        </p:txBody>
      </p:sp>
      <p:sp>
        <p:nvSpPr>
          <p:cNvPr id="11" name="">
            <a:extLst xmlns:a="http://schemas.openxmlformats.org/drawingml/2006/main">
              <a:ext uri="{FF2B5EF4-FFF2-40B4-BE49-F238E27FC236}">
                <a16:creationId xmlns:a16="http://schemas.microsoft.com/office/drawing/2014/main" id="{DFD826D7-9D61-4B85-9521-B4A49ED4041D}"/>
              </a:ext>
            </a:extLst>
          </p:cNvPr>
          <p:cNvSpPr>
            <a:spLocks xmlns:a="http://schemas.openxmlformats.org/drawingml/2006/main" noGrp="1"/>
          </p:cNvSpPr>
          <p:nvPr/>
        </p:nvSpPr>
        <p:spPr>
          <a:xfrm xmlns:a="http://schemas.openxmlformats.org/drawingml/2006/main">
            <a:off x="5191125" y="2228850"/>
            <a:ext cx="15240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12" name="">
            <a:extLst xmlns:a="http://schemas.openxmlformats.org/drawingml/2006/main">
              <a:ext uri="{FF2B5EF4-FFF2-40B4-BE49-F238E27FC236}">
                <a16:creationId xmlns:a16="http://schemas.microsoft.com/office/drawing/2014/main" id="{1E1D3FFF-D312-486C-A3F3-EAAE3C045851}"/>
              </a:ext>
            </a:extLst>
          </p:cNvPr>
          <p:cNvSpPr>
            <a:spLocks xmlns:a="http://schemas.openxmlformats.org/drawingml/2006/main" noGrp="1"/>
          </p:cNvSpPr>
          <p:nvPr/>
        </p:nvSpPr>
        <p:spPr>
          <a:xfrm xmlns:a="http://schemas.openxmlformats.org/drawingml/2006/main">
            <a:off x="5267325" y="2324100"/>
            <a:ext cx="137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Sport</a:t>
            </a:r>
          </a:p>
        </p:txBody>
      </p:sp>
      <p:sp>
        <p:nvSpPr>
          <p:cNvPr id="13" name="">
            <a:extLst xmlns:a="http://schemas.openxmlformats.org/drawingml/2006/main">
              <a:ext uri="{FF2B5EF4-FFF2-40B4-BE49-F238E27FC236}">
                <a16:creationId xmlns:a16="http://schemas.microsoft.com/office/drawing/2014/main" id="{B68648F2-1C40-4B18-9B3B-DCF4F7F5398C}"/>
              </a:ext>
            </a:extLst>
          </p:cNvPr>
          <p:cNvSpPr>
            <a:spLocks xmlns:a="http://schemas.openxmlformats.org/drawingml/2006/main" noGrp="1"/>
          </p:cNvSpPr>
          <p:nvPr/>
        </p:nvSpPr>
        <p:spPr>
          <a:xfrm xmlns:a="http://schemas.openxmlformats.org/drawingml/2006/main">
            <a:off x="6715125" y="2228850"/>
            <a:ext cx="1381125"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14" name="">
            <a:extLst xmlns:a="http://schemas.openxmlformats.org/drawingml/2006/main">
              <a:ext uri="{FF2B5EF4-FFF2-40B4-BE49-F238E27FC236}">
                <a16:creationId xmlns:a16="http://schemas.microsoft.com/office/drawing/2014/main" id="{D7DE92AF-7A50-4E73-8E52-FD2A7138EEBA}"/>
              </a:ext>
            </a:extLst>
          </p:cNvPr>
          <p:cNvSpPr>
            <a:spLocks xmlns:a="http://schemas.openxmlformats.org/drawingml/2006/main" noGrp="1"/>
          </p:cNvSpPr>
          <p:nvPr/>
        </p:nvSpPr>
        <p:spPr>
          <a:xfrm xmlns:a="http://schemas.openxmlformats.org/drawingml/2006/main">
            <a:off x="6791325" y="2324100"/>
            <a:ext cx="1228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3 / 15</a:t>
            </a:r>
          </a:p>
        </p:txBody>
      </p:sp>
      <p:sp>
        <p:nvSpPr>
          <p:cNvPr id="15" name="">
            <a:extLst xmlns:a="http://schemas.openxmlformats.org/drawingml/2006/main">
              <a:ext uri="{FF2B5EF4-FFF2-40B4-BE49-F238E27FC236}">
                <a16:creationId xmlns:a16="http://schemas.microsoft.com/office/drawing/2014/main" id="{273C9327-19FA-41BA-8BE2-75E9E4D07507}"/>
              </a:ext>
            </a:extLst>
          </p:cNvPr>
          <p:cNvSpPr>
            <a:spLocks xmlns:a="http://schemas.openxmlformats.org/drawingml/2006/main" noGrp="1"/>
          </p:cNvSpPr>
          <p:nvPr/>
        </p:nvSpPr>
        <p:spPr>
          <a:xfrm xmlns:a="http://schemas.openxmlformats.org/drawingml/2006/main">
            <a:off x="8096250" y="2228850"/>
            <a:ext cx="1381125"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16" name="">
            <a:extLst xmlns:a="http://schemas.openxmlformats.org/drawingml/2006/main">
              <a:ext uri="{FF2B5EF4-FFF2-40B4-BE49-F238E27FC236}">
                <a16:creationId xmlns:a16="http://schemas.microsoft.com/office/drawing/2014/main" id="{FE91A460-8885-4A3A-99E4-43C6F393BBAD}"/>
              </a:ext>
            </a:extLst>
          </p:cNvPr>
          <p:cNvSpPr>
            <a:spLocks xmlns:a="http://schemas.openxmlformats.org/drawingml/2006/main" noGrp="1"/>
          </p:cNvSpPr>
          <p:nvPr/>
        </p:nvSpPr>
        <p:spPr>
          <a:xfrm xmlns:a="http://schemas.openxmlformats.org/drawingml/2006/main">
            <a:off x="8172450" y="2324100"/>
            <a:ext cx="1228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20,00 %</a:t>
            </a:r>
          </a:p>
        </p:txBody>
      </p:sp>
      <p:sp>
        <p:nvSpPr>
          <p:cNvPr id="17" name="">
            <a:extLst xmlns:a="http://schemas.openxmlformats.org/drawingml/2006/main">
              <a:ext uri="{FF2B5EF4-FFF2-40B4-BE49-F238E27FC236}">
                <a16:creationId xmlns:a16="http://schemas.microsoft.com/office/drawing/2014/main" id="{013D7E5B-2EAC-402D-AF38-2B05B98230D4}"/>
              </a:ext>
            </a:extLst>
          </p:cNvPr>
          <p:cNvSpPr>
            <a:spLocks xmlns:a="http://schemas.openxmlformats.org/drawingml/2006/main" noGrp="1"/>
          </p:cNvSpPr>
          <p:nvPr/>
        </p:nvSpPr>
        <p:spPr>
          <a:xfrm xmlns:a="http://schemas.openxmlformats.org/drawingml/2006/main">
            <a:off x="5191125" y="2743200"/>
            <a:ext cx="1524000" cy="514350"/>
          </a:xfrm>
          <a:prstGeom xmlns:a="http://schemas.openxmlformats.org/drawingml/2006/main" prst="rect">
            <a:avLst/>
          </a:prstGeom>
          <a:solidFill xmlns:a="http://schemas.openxmlformats.org/drawingml/2006/main">
            <a:srgbClr val="F7E5DF"/>
          </a:solidFill>
          <a:ln xmlns:a="http://schemas.openxmlformats.org/drawingml/2006/main" w="9525">
            <a:solidFill>
              <a:srgbClr val="C8D6E4"/>
            </a:solidFill>
            <a:prstDash val="solid"/>
          </a:ln>
        </p:spPr>
      </p:sp>
      <p:sp>
        <p:nvSpPr>
          <p:cNvPr id="18" name="">
            <a:extLst xmlns:a="http://schemas.openxmlformats.org/drawingml/2006/main">
              <a:ext uri="{FF2B5EF4-FFF2-40B4-BE49-F238E27FC236}">
                <a16:creationId xmlns:a16="http://schemas.microsoft.com/office/drawing/2014/main" id="{F383F04A-49DA-409E-809D-7CB319BD3D2A}"/>
              </a:ext>
            </a:extLst>
          </p:cNvPr>
          <p:cNvSpPr>
            <a:spLocks xmlns:a="http://schemas.openxmlformats.org/drawingml/2006/main" noGrp="1"/>
          </p:cNvSpPr>
          <p:nvPr/>
        </p:nvSpPr>
        <p:spPr>
          <a:xfrm xmlns:a="http://schemas.openxmlformats.org/drawingml/2006/main">
            <a:off x="5267325" y="2838450"/>
            <a:ext cx="137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Danse</a:t>
            </a:r>
          </a:p>
        </p:txBody>
      </p:sp>
      <p:sp>
        <p:nvSpPr>
          <p:cNvPr id="19" name="">
            <a:extLst xmlns:a="http://schemas.openxmlformats.org/drawingml/2006/main">
              <a:ext uri="{FF2B5EF4-FFF2-40B4-BE49-F238E27FC236}">
                <a16:creationId xmlns:a16="http://schemas.microsoft.com/office/drawing/2014/main" id="{E320DF0D-0FAB-4579-8329-9D55D5DE93EC}"/>
              </a:ext>
            </a:extLst>
          </p:cNvPr>
          <p:cNvSpPr>
            <a:spLocks xmlns:a="http://schemas.openxmlformats.org/drawingml/2006/main" noGrp="1"/>
          </p:cNvSpPr>
          <p:nvPr/>
        </p:nvSpPr>
        <p:spPr>
          <a:xfrm xmlns:a="http://schemas.openxmlformats.org/drawingml/2006/main">
            <a:off x="6715125" y="2743200"/>
            <a:ext cx="1381125" cy="514350"/>
          </a:xfrm>
          <a:prstGeom xmlns:a="http://schemas.openxmlformats.org/drawingml/2006/main" prst="rect">
            <a:avLst/>
          </a:prstGeom>
          <a:solidFill xmlns:a="http://schemas.openxmlformats.org/drawingml/2006/main">
            <a:srgbClr val="F7E5DF"/>
          </a:solidFill>
          <a:ln xmlns:a="http://schemas.openxmlformats.org/drawingml/2006/main" w="9525">
            <a:solidFill>
              <a:srgbClr val="C8D6E4"/>
            </a:solidFill>
            <a:prstDash val="solid"/>
          </a:ln>
        </p:spPr>
      </p:sp>
      <p:sp>
        <p:nvSpPr>
          <p:cNvPr id="20" name="">
            <a:extLst xmlns:a="http://schemas.openxmlformats.org/drawingml/2006/main">
              <a:ext uri="{FF2B5EF4-FFF2-40B4-BE49-F238E27FC236}">
                <a16:creationId xmlns:a16="http://schemas.microsoft.com/office/drawing/2014/main" id="{9D82520D-BDFB-4354-9C7B-CF0FA3C00A04}"/>
              </a:ext>
            </a:extLst>
          </p:cNvPr>
          <p:cNvSpPr>
            <a:spLocks xmlns:a="http://schemas.openxmlformats.org/drawingml/2006/main" noGrp="1"/>
          </p:cNvSpPr>
          <p:nvPr/>
        </p:nvSpPr>
        <p:spPr>
          <a:xfrm xmlns:a="http://schemas.openxmlformats.org/drawingml/2006/main">
            <a:off x="6791325" y="2838450"/>
            <a:ext cx="1228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8 / 10</a:t>
            </a:r>
          </a:p>
        </p:txBody>
      </p:sp>
      <p:sp>
        <p:nvSpPr>
          <p:cNvPr id="21" name="">
            <a:extLst xmlns:a="http://schemas.openxmlformats.org/drawingml/2006/main">
              <a:ext uri="{FF2B5EF4-FFF2-40B4-BE49-F238E27FC236}">
                <a16:creationId xmlns:a16="http://schemas.microsoft.com/office/drawing/2014/main" id="{27C0698F-5A84-4B73-A188-E51C8ACD761E}"/>
              </a:ext>
            </a:extLst>
          </p:cNvPr>
          <p:cNvSpPr>
            <a:spLocks xmlns:a="http://schemas.openxmlformats.org/drawingml/2006/main" noGrp="1"/>
          </p:cNvSpPr>
          <p:nvPr/>
        </p:nvSpPr>
        <p:spPr>
          <a:xfrm xmlns:a="http://schemas.openxmlformats.org/drawingml/2006/main">
            <a:off x="8096250" y="2743200"/>
            <a:ext cx="1381125" cy="514350"/>
          </a:xfrm>
          <a:prstGeom xmlns:a="http://schemas.openxmlformats.org/drawingml/2006/main" prst="rect">
            <a:avLst/>
          </a:prstGeom>
          <a:solidFill xmlns:a="http://schemas.openxmlformats.org/drawingml/2006/main">
            <a:srgbClr val="F7E5DF"/>
          </a:solidFill>
          <a:ln xmlns:a="http://schemas.openxmlformats.org/drawingml/2006/main" w="9525">
            <a:solidFill>
              <a:srgbClr val="C8D6E4"/>
            </a:solidFill>
            <a:prstDash val="solid"/>
          </a:ln>
        </p:spPr>
      </p:sp>
      <p:sp>
        <p:nvSpPr>
          <p:cNvPr id="22" name="">
            <a:extLst xmlns:a="http://schemas.openxmlformats.org/drawingml/2006/main">
              <a:ext uri="{FF2B5EF4-FFF2-40B4-BE49-F238E27FC236}">
                <a16:creationId xmlns:a16="http://schemas.microsoft.com/office/drawing/2014/main" id="{CC940B34-5EDC-4204-B096-847064011596}"/>
              </a:ext>
            </a:extLst>
          </p:cNvPr>
          <p:cNvSpPr>
            <a:spLocks xmlns:a="http://schemas.openxmlformats.org/drawingml/2006/main" noGrp="1"/>
          </p:cNvSpPr>
          <p:nvPr/>
        </p:nvSpPr>
        <p:spPr>
          <a:xfrm xmlns:a="http://schemas.openxmlformats.org/drawingml/2006/main">
            <a:off x="8172450" y="2838450"/>
            <a:ext cx="1228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80,00 %</a:t>
            </a:r>
          </a:p>
        </p:txBody>
      </p:sp>
      <p:sp>
        <p:nvSpPr>
          <p:cNvPr id="23" name="">
            <a:extLst xmlns:a="http://schemas.openxmlformats.org/drawingml/2006/main">
              <a:ext uri="{FF2B5EF4-FFF2-40B4-BE49-F238E27FC236}">
                <a16:creationId xmlns:a16="http://schemas.microsoft.com/office/drawing/2014/main" id="{6333F6E6-2CE1-47ED-9BE6-8FB2D90AEDBE}"/>
              </a:ext>
            </a:extLst>
          </p:cNvPr>
          <p:cNvSpPr>
            <a:spLocks xmlns:a="http://schemas.openxmlformats.org/drawingml/2006/main" noGrp="1"/>
          </p:cNvSpPr>
          <p:nvPr/>
        </p:nvSpPr>
        <p:spPr>
          <a:xfrm xmlns:a="http://schemas.openxmlformats.org/drawingml/2006/main">
            <a:off x="5191125" y="3257550"/>
            <a:ext cx="15240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24" name="">
            <a:extLst xmlns:a="http://schemas.openxmlformats.org/drawingml/2006/main">
              <a:ext uri="{FF2B5EF4-FFF2-40B4-BE49-F238E27FC236}">
                <a16:creationId xmlns:a16="http://schemas.microsoft.com/office/drawing/2014/main" id="{EB9BA22E-A2B5-4F05-8ADE-42E08C640512}"/>
              </a:ext>
            </a:extLst>
          </p:cNvPr>
          <p:cNvSpPr>
            <a:spLocks xmlns:a="http://schemas.openxmlformats.org/drawingml/2006/main" noGrp="1"/>
          </p:cNvSpPr>
          <p:nvPr/>
        </p:nvSpPr>
        <p:spPr>
          <a:xfrm xmlns:a="http://schemas.openxmlformats.org/drawingml/2006/main">
            <a:off x="5267325" y="3352800"/>
            <a:ext cx="137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Calme</a:t>
            </a:r>
          </a:p>
        </p:txBody>
      </p:sp>
      <p:sp>
        <p:nvSpPr>
          <p:cNvPr id="25" name="">
            <a:extLst xmlns:a="http://schemas.openxmlformats.org/drawingml/2006/main">
              <a:ext uri="{FF2B5EF4-FFF2-40B4-BE49-F238E27FC236}">
                <a16:creationId xmlns:a16="http://schemas.microsoft.com/office/drawing/2014/main" id="{F561F4C9-69CC-44E3-8C8F-A07E5A6DC734}"/>
              </a:ext>
            </a:extLst>
          </p:cNvPr>
          <p:cNvSpPr>
            <a:spLocks xmlns:a="http://schemas.openxmlformats.org/drawingml/2006/main" noGrp="1"/>
          </p:cNvSpPr>
          <p:nvPr/>
        </p:nvSpPr>
        <p:spPr>
          <a:xfrm xmlns:a="http://schemas.openxmlformats.org/drawingml/2006/main">
            <a:off x="6715125" y="3257550"/>
            <a:ext cx="1381125"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26" name="">
            <a:extLst xmlns:a="http://schemas.openxmlformats.org/drawingml/2006/main">
              <a:ext uri="{FF2B5EF4-FFF2-40B4-BE49-F238E27FC236}">
                <a16:creationId xmlns:a16="http://schemas.microsoft.com/office/drawing/2014/main" id="{9C3E3462-A181-44BF-A519-F37A86422093}"/>
              </a:ext>
            </a:extLst>
          </p:cNvPr>
          <p:cNvSpPr>
            <a:spLocks xmlns:a="http://schemas.openxmlformats.org/drawingml/2006/main" noGrp="1"/>
          </p:cNvSpPr>
          <p:nvPr/>
        </p:nvSpPr>
        <p:spPr>
          <a:xfrm xmlns:a="http://schemas.openxmlformats.org/drawingml/2006/main">
            <a:off x="6791325" y="3352800"/>
            <a:ext cx="1228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3 / 5</a:t>
            </a:r>
          </a:p>
        </p:txBody>
      </p:sp>
      <p:sp>
        <p:nvSpPr>
          <p:cNvPr id="27" name="">
            <a:extLst xmlns:a="http://schemas.openxmlformats.org/drawingml/2006/main">
              <a:ext uri="{FF2B5EF4-FFF2-40B4-BE49-F238E27FC236}">
                <a16:creationId xmlns:a16="http://schemas.microsoft.com/office/drawing/2014/main" id="{4AE7078C-D2DE-4B68-A07C-B32AD17FB0DF}"/>
              </a:ext>
            </a:extLst>
          </p:cNvPr>
          <p:cNvSpPr>
            <a:spLocks xmlns:a="http://schemas.openxmlformats.org/drawingml/2006/main" noGrp="1"/>
          </p:cNvSpPr>
          <p:nvPr/>
        </p:nvSpPr>
        <p:spPr>
          <a:xfrm xmlns:a="http://schemas.openxmlformats.org/drawingml/2006/main">
            <a:off x="8096250" y="3257550"/>
            <a:ext cx="1381125"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28" name="">
            <a:extLst xmlns:a="http://schemas.openxmlformats.org/drawingml/2006/main">
              <a:ext uri="{FF2B5EF4-FFF2-40B4-BE49-F238E27FC236}">
                <a16:creationId xmlns:a16="http://schemas.microsoft.com/office/drawing/2014/main" id="{D5973C98-3E14-4F6A-95FA-3DD28B082405}"/>
              </a:ext>
            </a:extLst>
          </p:cNvPr>
          <p:cNvSpPr>
            <a:spLocks xmlns:a="http://schemas.openxmlformats.org/drawingml/2006/main" noGrp="1"/>
          </p:cNvSpPr>
          <p:nvPr/>
        </p:nvSpPr>
        <p:spPr>
          <a:xfrm xmlns:a="http://schemas.openxmlformats.org/drawingml/2006/main">
            <a:off x="8172450" y="3352800"/>
            <a:ext cx="1228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60,00 %</a:t>
            </a:r>
          </a:p>
        </p:txBody>
      </p:sp>
      <p:sp>
        <p:nvSpPr>
          <p:cNvPr id="29" name="">
            <a:extLst xmlns:a="http://schemas.openxmlformats.org/drawingml/2006/main">
              <a:ext uri="{FF2B5EF4-FFF2-40B4-BE49-F238E27FC236}">
                <a16:creationId xmlns:a16="http://schemas.microsoft.com/office/drawing/2014/main" id="{0F24E8BD-3F0F-4627-B645-2B96BE249E91}"/>
              </a:ext>
            </a:extLst>
          </p:cNvPr>
          <p:cNvSpPr>
            <a:spLocks xmlns:a="http://schemas.openxmlformats.org/drawingml/2006/main" noGrp="1"/>
          </p:cNvSpPr>
          <p:nvPr/>
        </p:nvSpPr>
        <p:spPr>
          <a:xfrm xmlns:a="http://schemas.openxmlformats.org/drawingml/2006/main">
            <a:off x="5191125" y="3771900"/>
            <a:ext cx="1524000" cy="514350"/>
          </a:xfrm>
          <a:prstGeom xmlns:a="http://schemas.openxmlformats.org/drawingml/2006/main" prst="rect">
            <a:avLst/>
          </a:prstGeom>
          <a:solidFill xmlns:a="http://schemas.openxmlformats.org/drawingml/2006/main">
            <a:srgbClr val="F7E5DF"/>
          </a:solidFill>
          <a:ln xmlns:a="http://schemas.openxmlformats.org/drawingml/2006/main" w="9525">
            <a:solidFill>
              <a:srgbClr val="C8D6E4"/>
            </a:solidFill>
            <a:prstDash val="solid"/>
          </a:ln>
        </p:spPr>
      </p:sp>
      <p:sp>
        <p:nvSpPr>
          <p:cNvPr id="30" name="">
            <a:extLst xmlns:a="http://schemas.openxmlformats.org/drawingml/2006/main">
              <a:ext uri="{FF2B5EF4-FFF2-40B4-BE49-F238E27FC236}">
                <a16:creationId xmlns:a16="http://schemas.microsoft.com/office/drawing/2014/main" id="{C2F02DC4-7FE3-4BFE-B93E-D2CBDDBA9512}"/>
              </a:ext>
            </a:extLst>
          </p:cNvPr>
          <p:cNvSpPr>
            <a:spLocks xmlns:a="http://schemas.openxmlformats.org/drawingml/2006/main" noGrp="1"/>
          </p:cNvSpPr>
          <p:nvPr/>
        </p:nvSpPr>
        <p:spPr>
          <a:xfrm xmlns:a="http://schemas.openxmlformats.org/drawingml/2006/main">
            <a:off x="5267325" y="3867150"/>
            <a:ext cx="137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Global</a:t>
            </a:r>
          </a:p>
        </p:txBody>
      </p:sp>
      <p:sp>
        <p:nvSpPr>
          <p:cNvPr id="31" name="">
            <a:extLst xmlns:a="http://schemas.openxmlformats.org/drawingml/2006/main">
              <a:ext uri="{FF2B5EF4-FFF2-40B4-BE49-F238E27FC236}">
                <a16:creationId xmlns:a16="http://schemas.microsoft.com/office/drawing/2014/main" id="{9D526EDD-9289-42BB-9EEA-215C735C2C0C}"/>
              </a:ext>
            </a:extLst>
          </p:cNvPr>
          <p:cNvSpPr>
            <a:spLocks xmlns:a="http://schemas.openxmlformats.org/drawingml/2006/main" noGrp="1"/>
          </p:cNvSpPr>
          <p:nvPr/>
        </p:nvSpPr>
        <p:spPr>
          <a:xfrm xmlns:a="http://schemas.openxmlformats.org/drawingml/2006/main">
            <a:off x="6715125" y="3771900"/>
            <a:ext cx="1381125" cy="514350"/>
          </a:xfrm>
          <a:prstGeom xmlns:a="http://schemas.openxmlformats.org/drawingml/2006/main" prst="rect">
            <a:avLst/>
          </a:prstGeom>
          <a:solidFill xmlns:a="http://schemas.openxmlformats.org/drawingml/2006/main">
            <a:srgbClr val="F7E5DF"/>
          </a:solidFill>
          <a:ln xmlns:a="http://schemas.openxmlformats.org/drawingml/2006/main" w="9525">
            <a:solidFill>
              <a:srgbClr val="C8D6E4"/>
            </a:solidFill>
            <a:prstDash val="solid"/>
          </a:ln>
        </p:spPr>
      </p:sp>
      <p:sp>
        <p:nvSpPr>
          <p:cNvPr id="32" name="">
            <a:extLst xmlns:a="http://schemas.openxmlformats.org/drawingml/2006/main">
              <a:ext uri="{FF2B5EF4-FFF2-40B4-BE49-F238E27FC236}">
                <a16:creationId xmlns:a16="http://schemas.microsoft.com/office/drawing/2014/main" id="{C464D6C7-A5F1-4B52-9045-F8BE5B4E4A80}"/>
              </a:ext>
            </a:extLst>
          </p:cNvPr>
          <p:cNvSpPr>
            <a:spLocks xmlns:a="http://schemas.openxmlformats.org/drawingml/2006/main" noGrp="1"/>
          </p:cNvSpPr>
          <p:nvPr/>
        </p:nvSpPr>
        <p:spPr>
          <a:xfrm xmlns:a="http://schemas.openxmlformats.org/drawingml/2006/main">
            <a:off x="6791325" y="3867150"/>
            <a:ext cx="1228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14 / 30</a:t>
            </a:r>
          </a:p>
        </p:txBody>
      </p:sp>
      <p:sp>
        <p:nvSpPr>
          <p:cNvPr id="33" name="">
            <a:extLst xmlns:a="http://schemas.openxmlformats.org/drawingml/2006/main">
              <a:ext uri="{FF2B5EF4-FFF2-40B4-BE49-F238E27FC236}">
                <a16:creationId xmlns:a16="http://schemas.microsoft.com/office/drawing/2014/main" id="{10C2EF51-D58D-4018-BF6E-3B5A1A48909A}"/>
              </a:ext>
            </a:extLst>
          </p:cNvPr>
          <p:cNvSpPr>
            <a:spLocks xmlns:a="http://schemas.openxmlformats.org/drawingml/2006/main" noGrp="1"/>
          </p:cNvSpPr>
          <p:nvPr/>
        </p:nvSpPr>
        <p:spPr>
          <a:xfrm xmlns:a="http://schemas.openxmlformats.org/drawingml/2006/main">
            <a:off x="8096250" y="3771900"/>
            <a:ext cx="1381125" cy="514350"/>
          </a:xfrm>
          <a:prstGeom xmlns:a="http://schemas.openxmlformats.org/drawingml/2006/main" prst="rect">
            <a:avLst/>
          </a:prstGeom>
          <a:solidFill xmlns:a="http://schemas.openxmlformats.org/drawingml/2006/main">
            <a:srgbClr val="F7E5DF"/>
          </a:solidFill>
          <a:ln xmlns:a="http://schemas.openxmlformats.org/drawingml/2006/main" w="9525">
            <a:solidFill>
              <a:srgbClr val="C8D6E4"/>
            </a:solidFill>
            <a:prstDash val="solid"/>
          </a:ln>
        </p:spPr>
      </p:sp>
      <p:sp>
        <p:nvSpPr>
          <p:cNvPr id="34" name="">
            <a:extLst xmlns:a="http://schemas.openxmlformats.org/drawingml/2006/main">
              <a:ext uri="{FF2B5EF4-FFF2-40B4-BE49-F238E27FC236}">
                <a16:creationId xmlns:a16="http://schemas.microsoft.com/office/drawing/2014/main" id="{D5FDC047-8A9B-455A-8B97-0628ED8A1B85}"/>
              </a:ext>
            </a:extLst>
          </p:cNvPr>
          <p:cNvSpPr>
            <a:spLocks xmlns:a="http://schemas.openxmlformats.org/drawingml/2006/main" noGrp="1"/>
          </p:cNvSpPr>
          <p:nvPr/>
        </p:nvSpPr>
        <p:spPr>
          <a:xfrm xmlns:a="http://schemas.openxmlformats.org/drawingml/2006/main">
            <a:off x="8172450" y="3867150"/>
            <a:ext cx="1228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46,67 %</a:t>
            </a:r>
          </a:p>
        </p:txBody>
      </p:sp>
      <p:sp>
        <p:nvSpPr>
          <p:cNvPr id="35" name="">
            <a:extLst xmlns:a="http://schemas.openxmlformats.org/drawingml/2006/main">
              <a:ext uri="{FF2B5EF4-FFF2-40B4-BE49-F238E27FC236}">
                <a16:creationId xmlns:a16="http://schemas.microsoft.com/office/drawing/2014/main" id="{C596B12F-5386-4BB4-AE4E-0CBE23D073DB}"/>
              </a:ext>
            </a:extLst>
          </p:cNvPr>
          <p:cNvSpPr>
            <a:spLocks xmlns:a="http://schemas.openxmlformats.org/drawingml/2006/main" noGrp="1"/>
          </p:cNvSpPr>
          <p:nvPr/>
        </p:nvSpPr>
        <p:spPr>
          <a:xfrm xmlns:a="http://schemas.openxmlformats.org/drawingml/2006/main">
            <a:off x="666750" y="4619625"/>
            <a:ext cx="10096500" cy="762000"/>
          </a:xfrm>
          <a:prstGeom xmlns:a="http://schemas.openxmlformats.org/drawingml/2006/main" prst="roundRect">
            <a:avLst>
              <a:gd name="adj" fmla="val 10000"/>
            </a:avLst>
          </a:prstGeom>
          <a:solidFill xmlns:a="http://schemas.openxmlformats.org/drawingml/2006/main">
            <a:srgbClr val="EEF5FA"/>
          </a:solidFill>
          <a:ln xmlns:a="http://schemas.openxmlformats.org/drawingml/2006/main" w="9525">
            <a:solidFill>
              <a:srgbClr val="C8D6E4"/>
            </a:solidFill>
            <a:prstDash val="solid"/>
          </a:ln>
        </p:spPr>
      </p:sp>
      <p:sp>
        <p:nvSpPr>
          <p:cNvPr id="36" name="">
            <a:extLst xmlns:a="http://schemas.openxmlformats.org/drawingml/2006/main">
              <a:ext uri="{FF2B5EF4-FFF2-40B4-BE49-F238E27FC236}">
                <a16:creationId xmlns:a16="http://schemas.microsoft.com/office/drawing/2014/main" id="{73112CAA-D22F-4620-8017-E0F756DDB370}"/>
              </a:ext>
            </a:extLst>
          </p:cNvPr>
          <p:cNvSpPr>
            <a:spLocks xmlns:a="http://schemas.openxmlformats.org/drawingml/2006/main" noGrp="1"/>
          </p:cNvSpPr>
          <p:nvPr/>
        </p:nvSpPr>
        <p:spPr>
          <a:xfrm xmlns:a="http://schemas.openxmlformats.org/drawingml/2006/main">
            <a:off x="1000125" y="47815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C8B53"/>
                </a:solidFill>
              </a:defRPr>
            </a:pPr>
            <a:r>
              <a:rPr sz="1350" b="1" i="0">
                <a:solidFill>
                  <a:srgbClr val="1C8B53"/>
                </a:solidFill>
              </a:rPr>
              <a:t>Interprétation pour SIRCH</a:t>
            </a:r>
          </a:p>
        </p:txBody>
      </p:sp>
      <p:sp>
        <p:nvSpPr>
          <p:cNvPr id="37" name="">
            <a:extLst xmlns:a="http://schemas.openxmlformats.org/drawingml/2006/main">
              <a:ext uri="{FF2B5EF4-FFF2-40B4-BE49-F238E27FC236}">
                <a16:creationId xmlns:a16="http://schemas.microsoft.com/office/drawing/2014/main" id="{57C735A8-6484-431B-8C2F-8C7081239FA2}"/>
              </a:ext>
            </a:extLst>
          </p:cNvPr>
          <p:cNvSpPr>
            <a:spLocks xmlns:a="http://schemas.openxmlformats.org/drawingml/2006/main" noGrp="1"/>
          </p:cNvSpPr>
          <p:nvPr/>
        </p:nvSpPr>
        <p:spPr>
          <a:xfrm xmlns:a="http://schemas.openxmlformats.org/drawingml/2006/main">
            <a:off x="3429000" y="4772025"/>
            <a:ext cx="685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102033"/>
                </a:solidFill>
              </a:defRPr>
            </a:pPr>
            <a:r>
              <a:rPr sz="1125" b="0" i="0">
                <a:solidFill>
                  <a:srgbClr val="102033"/>
                </a:solidFill>
              </a:rPr>
              <a:t>Ces erreurs ne détruisent pas le système : elles délimitent son bon contexte d’usage. SIRCH convient mieux aux lieux où une activité physique intense n’est pas normale : couloirs, halls, commerces, cours d’école. Une salle de sport exige un réentraînement ciblé.</a:t>
            </a:r>
          </a:p>
        </p:txBody>
      </p:sp>
      <p:sp>
        <p:nvSpPr>
          <p:cNvPr id="38" name="">
            <a:extLst xmlns:a="http://schemas.openxmlformats.org/drawingml/2006/main">
              <a:ext uri="{FF2B5EF4-FFF2-40B4-BE49-F238E27FC236}">
                <a16:creationId xmlns:a16="http://schemas.microsoft.com/office/drawing/2014/main" id="{F25A8EA6-FD1D-4607-AF76-A25296BBDE2E}"/>
              </a:ext>
            </a:extLst>
          </p:cNvPr>
          <p:cNvSpPr>
            <a:spLocks xmlns:a="http://schemas.openxmlformats.org/drawingml/2006/main" noGrp="1"/>
          </p:cNvSpPr>
          <p:nvPr/>
        </p:nvSpPr>
        <p:spPr>
          <a:xfrm xmlns:a="http://schemas.openxmlformats.org/drawingml/2006/main">
            <a:off x="552450" y="6362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i="0">
                <a:solidFill>
                  <a:srgbClr val="5A6B82"/>
                </a:solidFill>
              </a:defRPr>
            </a:pPr>
            <a:r>
              <a:rPr sz="675" b="0" i="0">
                <a:solidFill>
                  <a:srgbClr val="5A6B82"/>
                </a:solidFill>
              </a:rPr>
              <a:t>Limites opérationnelles</a:t>
            </a:r>
          </a:p>
        </p:txBody>
      </p:sp>
      <p:sp>
        <p:nvSpPr>
          <p:cNvPr id="39" name="">
            <a:extLst xmlns:a="http://schemas.openxmlformats.org/drawingml/2006/main">
              <a:ext uri="{FF2B5EF4-FFF2-40B4-BE49-F238E27FC236}">
                <a16:creationId xmlns:a16="http://schemas.microsoft.com/office/drawing/2014/main" id="{BF610A8D-C35A-455B-8D49-03CC8EE1C2FD}"/>
              </a:ext>
            </a:extLst>
          </p:cNvPr>
          <p:cNvSpPr>
            <a:spLocks xmlns:a="http://schemas.openxmlformats.org/drawingml/2006/main" noGrp="1"/>
          </p:cNvSpPr>
          <p:nvPr/>
        </p:nvSpPr>
        <p:spPr>
          <a:xfrm xmlns:a="http://schemas.openxmlformats.org/drawingml/2006/main">
            <a:off x="11049000" y="63627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0" i="0">
                <a:solidFill>
                  <a:srgbClr val="5A6B82"/>
                </a:solidFill>
              </a:defRPr>
            </a:pPr>
            <a:r>
              <a:rPr sz="750" b="0" i="0">
                <a:solidFill>
                  <a:srgbClr val="5A6B82"/>
                </a:solidFill>
              </a:rPr>
              <a:t>15 / 18</a:t>
            </a:r>
          </a:p>
        </p:txBody>
      </p:sp>
    </p:spTree>
    <p:extLst>
      <p:ext uri="{BB962C8B-B14F-4D97-AF65-F5344CB8AC3E}">
        <p14:creationId xmlns:p14="http://schemas.microsoft.com/office/powerpoint/2010/main" val="62065387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66EA246-3696-4973-818C-43CC9808392E}"/>
              </a:ext>
            </a:extLst>
          </p:cNvPr>
          <p:cNvSpPr>
            <a:spLocks xmlns:a="http://schemas.openxmlformats.org/drawingml/2006/main" noGrp="1"/>
          </p:cNvSpPr>
          <p:nvPr/>
        </p:nvSpPr>
        <p:spPr>
          <a:xfrm xmlns:a="http://schemas.openxmlformats.org/drawingml/2006/main">
            <a:off x="552450" y="419100"/>
            <a:ext cx="933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i="0">
                <a:solidFill>
                  <a:srgbClr val="17345F"/>
                </a:solidFill>
              </a:defRPr>
            </a:pPr>
            <a:r>
              <a:rPr sz="2550" b="1" i="0">
                <a:solidFill>
                  <a:srgbClr val="17345F"/>
                </a:solidFill>
              </a:rPr>
              <a:t>Les limites ne contredisent pas les résultats, elles fixent le périmètre</a:t>
            </a:r>
          </a:p>
        </p:txBody>
      </p:sp>
      <p:sp>
        <p:nvSpPr>
          <p:cNvPr id="2" name="">
            <a:extLst xmlns:a="http://schemas.openxmlformats.org/drawingml/2006/main">
              <a:ext uri="{FF2B5EF4-FFF2-40B4-BE49-F238E27FC236}">
                <a16:creationId xmlns:a16="http://schemas.microsoft.com/office/drawing/2014/main" id="{D9DD7F65-9A9F-4FF9-81DD-22CCD7D0553C}"/>
              </a:ext>
            </a:extLst>
          </p:cNvPr>
          <p:cNvSpPr>
            <a:spLocks xmlns:a="http://schemas.openxmlformats.org/drawingml/2006/main" noGrp="1"/>
          </p:cNvSpPr>
          <p:nvPr/>
        </p:nvSpPr>
        <p:spPr>
          <a:xfrm xmlns:a="http://schemas.openxmlformats.org/drawingml/2006/main">
            <a:off x="552450" y="1095375"/>
            <a:ext cx="1047750" cy="47625"/>
          </a:xfrm>
          <a:prstGeom xmlns:a="http://schemas.openxmlformats.org/drawingml/2006/main" prst="rect">
            <a:avLst/>
          </a:prstGeom>
          <a:solidFill xmlns:a="http://schemas.openxmlformats.org/drawingml/2006/main">
            <a:srgbClr val="1C8B53"/>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A901E35-A5CD-46BC-B771-35A8BC6AC8AE}"/>
              </a:ext>
            </a:extLst>
          </p:cNvPr>
          <p:cNvSpPr>
            <a:spLocks xmlns:a="http://schemas.openxmlformats.org/drawingml/2006/main" noGrp="1"/>
          </p:cNvSpPr>
          <p:nvPr/>
        </p:nvSpPr>
        <p:spPr>
          <a:xfrm xmlns:a="http://schemas.openxmlformats.org/drawingml/2006/main">
            <a:off x="552450" y="1238250"/>
            <a:ext cx="838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A6B82"/>
                </a:solidFill>
              </a:defRPr>
            </a:pPr>
            <a:r>
              <a:rPr sz="1200" b="0" i="0">
                <a:solidFill>
                  <a:srgbClr val="5A6B82"/>
                </a:solidFill>
              </a:rPr>
              <a:t>Un système fiable doit dire clairement où il fonctionne et où il doit être adapté.</a:t>
            </a:r>
          </a:p>
        </p:txBody>
      </p:sp>
      <p:sp>
        <p:nvSpPr>
          <p:cNvPr id="4" name="">
            <a:extLst xmlns:a="http://schemas.openxmlformats.org/drawingml/2006/main">
              <a:ext uri="{FF2B5EF4-FFF2-40B4-BE49-F238E27FC236}">
                <a16:creationId xmlns:a16="http://schemas.microsoft.com/office/drawing/2014/main" id="{634A1BE8-9F7A-44A8-8600-41A80AD83443}"/>
              </a:ext>
            </a:extLst>
          </p:cNvPr>
          <p:cNvSpPr>
            <a:spLocks xmlns:a="http://schemas.openxmlformats.org/drawingml/2006/main" noGrp="1"/>
          </p:cNvSpPr>
          <p:nvPr/>
        </p:nvSpPr>
        <p:spPr>
          <a:xfrm xmlns:a="http://schemas.openxmlformats.org/drawingml/2006/main">
            <a:off x="762000" y="1714500"/>
            <a:ext cx="323850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C8D6E4"/>
            </a:solidFill>
            <a:prstDash val="solid"/>
          </a:ln>
        </p:spPr>
      </p:sp>
      <p:sp>
        <p:nvSpPr>
          <p:cNvPr id="5" name="">
            <a:extLst xmlns:a="http://schemas.openxmlformats.org/drawingml/2006/main">
              <a:ext uri="{FF2B5EF4-FFF2-40B4-BE49-F238E27FC236}">
                <a16:creationId xmlns:a16="http://schemas.microsoft.com/office/drawing/2014/main" id="{DF232F52-4369-4EBB-BD41-247F6EE812C7}"/>
              </a:ext>
            </a:extLst>
          </p:cNvPr>
          <p:cNvSpPr>
            <a:spLocks xmlns:a="http://schemas.openxmlformats.org/drawingml/2006/main" noGrp="1"/>
          </p:cNvSpPr>
          <p:nvPr/>
        </p:nvSpPr>
        <p:spPr>
          <a:xfrm xmlns:a="http://schemas.openxmlformats.org/drawingml/2006/main">
            <a:off x="762000" y="1714500"/>
            <a:ext cx="66675" cy="1524000"/>
          </a:xfrm>
          <a:prstGeom xmlns:a="http://schemas.openxmlformats.org/drawingml/2006/main" prst="rect">
            <a:avLst/>
          </a:prstGeom>
          <a:solidFill xmlns:a="http://schemas.openxmlformats.org/drawingml/2006/main">
            <a:srgbClr val="203F6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54394A2-D043-4D5B-A964-EC2A687EF58F}"/>
              </a:ext>
            </a:extLst>
          </p:cNvPr>
          <p:cNvSpPr>
            <a:spLocks xmlns:a="http://schemas.openxmlformats.org/drawingml/2006/main" noGrp="1"/>
          </p:cNvSpPr>
          <p:nvPr/>
        </p:nvSpPr>
        <p:spPr>
          <a:xfrm xmlns:a="http://schemas.openxmlformats.org/drawingml/2006/main">
            <a:off x="990600" y="19431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203F6E"/>
                </a:solidFill>
              </a:defRPr>
            </a:pPr>
            <a:r>
              <a:rPr sz="1350" b="1" i="0">
                <a:solidFill>
                  <a:srgbClr val="203F6E"/>
                </a:solidFill>
              </a:rPr>
              <a:t>Limites méthodologiques</a:t>
            </a:r>
          </a:p>
        </p:txBody>
      </p:sp>
      <p:sp>
        <p:nvSpPr>
          <p:cNvPr id="7" name="">
            <a:extLst xmlns:a="http://schemas.openxmlformats.org/drawingml/2006/main">
              <a:ext uri="{FF2B5EF4-FFF2-40B4-BE49-F238E27FC236}">
                <a16:creationId xmlns:a16="http://schemas.microsoft.com/office/drawing/2014/main" id="{E83CAB2C-37FD-4CA7-9636-72D72A678267}"/>
              </a:ext>
            </a:extLst>
          </p:cNvPr>
          <p:cNvSpPr>
            <a:spLocks xmlns:a="http://schemas.openxmlformats.org/drawingml/2006/main" noGrp="1"/>
          </p:cNvSpPr>
          <p:nvPr/>
        </p:nvSpPr>
        <p:spPr>
          <a:xfrm xmlns:a="http://schemas.openxmlformats.org/drawingml/2006/main">
            <a:off x="990600" y="2324100"/>
            <a:ext cx="2819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102033"/>
                </a:solidFill>
              </a:defRPr>
            </a:pPr>
            <a:r>
              <a:rPr sz="1200" b="0" i="0">
                <a:solidFill>
                  <a:srgbClr val="102033"/>
                </a:solidFill>
              </a:rPr>
              <a:t>Les vidéos de référence sont courtes, les caméras sont fixes et les datasets ne couvrent pas toutes les formes de violence réelle.</a:t>
            </a:r>
          </a:p>
        </p:txBody>
      </p:sp>
      <p:sp>
        <p:nvSpPr>
          <p:cNvPr id="8" name="">
            <a:extLst xmlns:a="http://schemas.openxmlformats.org/drawingml/2006/main">
              <a:ext uri="{FF2B5EF4-FFF2-40B4-BE49-F238E27FC236}">
                <a16:creationId xmlns:a16="http://schemas.microsoft.com/office/drawing/2014/main" id="{5F7039E7-904C-4447-82FE-D7ECFF1719EC}"/>
              </a:ext>
            </a:extLst>
          </p:cNvPr>
          <p:cNvSpPr>
            <a:spLocks xmlns:a="http://schemas.openxmlformats.org/drawingml/2006/main" noGrp="1"/>
          </p:cNvSpPr>
          <p:nvPr/>
        </p:nvSpPr>
        <p:spPr>
          <a:xfrm xmlns:a="http://schemas.openxmlformats.org/drawingml/2006/main">
            <a:off x="4476750" y="1714500"/>
            <a:ext cx="323850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C8D6E4"/>
            </a:solidFill>
            <a:prstDash val="solid"/>
          </a:ln>
        </p:spPr>
      </p:sp>
      <p:sp>
        <p:nvSpPr>
          <p:cNvPr id="9" name="">
            <a:extLst xmlns:a="http://schemas.openxmlformats.org/drawingml/2006/main">
              <a:ext uri="{FF2B5EF4-FFF2-40B4-BE49-F238E27FC236}">
                <a16:creationId xmlns:a16="http://schemas.microsoft.com/office/drawing/2014/main" id="{A9D194EE-E7F0-455A-9ED5-4F21D2F1309B}"/>
              </a:ext>
            </a:extLst>
          </p:cNvPr>
          <p:cNvSpPr>
            <a:spLocks xmlns:a="http://schemas.openxmlformats.org/drawingml/2006/main" noGrp="1"/>
          </p:cNvSpPr>
          <p:nvPr/>
        </p:nvSpPr>
        <p:spPr>
          <a:xfrm xmlns:a="http://schemas.openxmlformats.org/drawingml/2006/main">
            <a:off x="4476750" y="1714500"/>
            <a:ext cx="66675" cy="1524000"/>
          </a:xfrm>
          <a:prstGeom xmlns:a="http://schemas.openxmlformats.org/drawingml/2006/main" prst="rect">
            <a:avLst/>
          </a:prstGeom>
          <a:solidFill xmlns:a="http://schemas.openxmlformats.org/drawingml/2006/main">
            <a:srgbClr val="C95C1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151AFEC-7743-468C-AC8F-7DA9D111B089}"/>
              </a:ext>
            </a:extLst>
          </p:cNvPr>
          <p:cNvSpPr>
            <a:spLocks xmlns:a="http://schemas.openxmlformats.org/drawingml/2006/main" noGrp="1"/>
          </p:cNvSpPr>
          <p:nvPr/>
        </p:nvSpPr>
        <p:spPr>
          <a:xfrm xmlns:a="http://schemas.openxmlformats.org/drawingml/2006/main">
            <a:off x="4705350" y="19431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C95C12"/>
                </a:solidFill>
              </a:defRPr>
            </a:pPr>
            <a:r>
              <a:rPr sz="1350" b="1" i="0">
                <a:solidFill>
                  <a:srgbClr val="C95C12"/>
                </a:solidFill>
              </a:rPr>
              <a:t>Limites techniques</a:t>
            </a:r>
          </a:p>
        </p:txBody>
      </p:sp>
      <p:sp>
        <p:nvSpPr>
          <p:cNvPr id="11" name="">
            <a:extLst xmlns:a="http://schemas.openxmlformats.org/drawingml/2006/main">
              <a:ext uri="{FF2B5EF4-FFF2-40B4-BE49-F238E27FC236}">
                <a16:creationId xmlns:a16="http://schemas.microsoft.com/office/drawing/2014/main" id="{511294C9-76E3-4773-8603-425C1332B97D}"/>
              </a:ext>
            </a:extLst>
          </p:cNvPr>
          <p:cNvSpPr>
            <a:spLocks xmlns:a="http://schemas.openxmlformats.org/drawingml/2006/main" noGrp="1"/>
          </p:cNvSpPr>
          <p:nvPr/>
        </p:nvSpPr>
        <p:spPr>
          <a:xfrm xmlns:a="http://schemas.openxmlformats.org/drawingml/2006/main">
            <a:off x="4705350" y="2324100"/>
            <a:ext cx="2819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102033"/>
                </a:solidFill>
              </a:defRPr>
            </a:pPr>
            <a:r>
              <a:rPr sz="1200" b="0" i="0">
                <a:solidFill>
                  <a:srgbClr val="102033"/>
                </a:solidFill>
              </a:rPr>
              <a:t>L’entraînement a été réalisé sur CPU. Le GPU Windows n’a pas été exploitable et la latence dépend du prétraitement vidéo.</a:t>
            </a:r>
          </a:p>
        </p:txBody>
      </p:sp>
      <p:sp>
        <p:nvSpPr>
          <p:cNvPr id="12" name="">
            <a:extLst xmlns:a="http://schemas.openxmlformats.org/drawingml/2006/main">
              <a:ext uri="{FF2B5EF4-FFF2-40B4-BE49-F238E27FC236}">
                <a16:creationId xmlns:a16="http://schemas.microsoft.com/office/drawing/2014/main" id="{4ADE7312-AE22-4A9B-857F-C8383C80AA8C}"/>
              </a:ext>
            </a:extLst>
          </p:cNvPr>
          <p:cNvSpPr>
            <a:spLocks xmlns:a="http://schemas.openxmlformats.org/drawingml/2006/main" noGrp="1"/>
          </p:cNvSpPr>
          <p:nvPr/>
        </p:nvSpPr>
        <p:spPr>
          <a:xfrm xmlns:a="http://schemas.openxmlformats.org/drawingml/2006/main">
            <a:off x="8191500" y="1714500"/>
            <a:ext cx="323850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C8D6E4"/>
            </a:solidFill>
            <a:prstDash val="solid"/>
          </a:ln>
        </p:spPr>
      </p:sp>
      <p:sp>
        <p:nvSpPr>
          <p:cNvPr id="13" name="">
            <a:extLst xmlns:a="http://schemas.openxmlformats.org/drawingml/2006/main">
              <a:ext uri="{FF2B5EF4-FFF2-40B4-BE49-F238E27FC236}">
                <a16:creationId xmlns:a16="http://schemas.microsoft.com/office/drawing/2014/main" id="{3F0C7DBE-0A93-4749-82B1-33B41795C0D4}"/>
              </a:ext>
            </a:extLst>
          </p:cNvPr>
          <p:cNvSpPr>
            <a:spLocks xmlns:a="http://schemas.openxmlformats.org/drawingml/2006/main" noGrp="1"/>
          </p:cNvSpPr>
          <p:nvPr/>
        </p:nvSpPr>
        <p:spPr>
          <a:xfrm xmlns:a="http://schemas.openxmlformats.org/drawingml/2006/main">
            <a:off x="8191500" y="1714500"/>
            <a:ext cx="66675" cy="1524000"/>
          </a:xfrm>
          <a:prstGeom xmlns:a="http://schemas.openxmlformats.org/drawingml/2006/main" prst="rect">
            <a:avLst/>
          </a:prstGeom>
          <a:solidFill xmlns:a="http://schemas.openxmlformats.org/drawingml/2006/main">
            <a:srgbClr val="D94B4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097713B-9708-4F89-8930-221380C97F00}"/>
              </a:ext>
            </a:extLst>
          </p:cNvPr>
          <p:cNvSpPr>
            <a:spLocks xmlns:a="http://schemas.openxmlformats.org/drawingml/2006/main" noGrp="1"/>
          </p:cNvSpPr>
          <p:nvPr/>
        </p:nvSpPr>
        <p:spPr>
          <a:xfrm xmlns:a="http://schemas.openxmlformats.org/drawingml/2006/main">
            <a:off x="8420100" y="19431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D94B45"/>
                </a:solidFill>
              </a:defRPr>
            </a:pPr>
            <a:r>
              <a:rPr sz="1350" b="1" i="0">
                <a:solidFill>
                  <a:srgbClr val="D94B45"/>
                </a:solidFill>
              </a:rPr>
              <a:t>Limites d’usage</a:t>
            </a:r>
          </a:p>
        </p:txBody>
      </p:sp>
      <p:sp>
        <p:nvSpPr>
          <p:cNvPr id="15" name="">
            <a:extLst xmlns:a="http://schemas.openxmlformats.org/drawingml/2006/main">
              <a:ext uri="{FF2B5EF4-FFF2-40B4-BE49-F238E27FC236}">
                <a16:creationId xmlns:a16="http://schemas.microsoft.com/office/drawing/2014/main" id="{D8BF6EDD-BB66-4706-A700-E781FF28649C}"/>
              </a:ext>
            </a:extLst>
          </p:cNvPr>
          <p:cNvSpPr>
            <a:spLocks xmlns:a="http://schemas.openxmlformats.org/drawingml/2006/main" noGrp="1"/>
          </p:cNvSpPr>
          <p:nvPr/>
        </p:nvSpPr>
        <p:spPr>
          <a:xfrm xmlns:a="http://schemas.openxmlformats.org/drawingml/2006/main">
            <a:off x="8420100" y="2324100"/>
            <a:ext cx="2819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102033"/>
                </a:solidFill>
              </a:defRPr>
            </a:pPr>
            <a:r>
              <a:rPr sz="1200" b="0" i="0">
                <a:solidFill>
                  <a:srgbClr val="102033"/>
                </a:solidFill>
              </a:rPr>
              <a:t>SIRCH n’est pas conçu tel quel pour les salles de sport, spectacles de danse ou lieux où le mouvement intense est normal.</a:t>
            </a:r>
          </a:p>
        </p:txBody>
      </p:sp>
      <p:sp>
        <p:nvSpPr>
          <p:cNvPr id="16" name="">
            <a:extLst xmlns:a="http://schemas.openxmlformats.org/drawingml/2006/main">
              <a:ext uri="{FF2B5EF4-FFF2-40B4-BE49-F238E27FC236}">
                <a16:creationId xmlns:a16="http://schemas.microsoft.com/office/drawing/2014/main" id="{35454928-9237-40E0-93D0-D94C8D499CC3}"/>
              </a:ext>
            </a:extLst>
          </p:cNvPr>
          <p:cNvSpPr>
            <a:spLocks xmlns:a="http://schemas.openxmlformats.org/drawingml/2006/main" noGrp="1"/>
          </p:cNvSpPr>
          <p:nvPr/>
        </p:nvSpPr>
        <p:spPr>
          <a:xfrm xmlns:a="http://schemas.openxmlformats.org/drawingml/2006/main">
            <a:off x="1524000" y="4095750"/>
            <a:ext cx="9144000" cy="933450"/>
          </a:xfrm>
          <a:prstGeom xmlns:a="http://schemas.openxmlformats.org/drawingml/2006/main" prst="roundRect">
            <a:avLst>
              <a:gd name="adj" fmla="val 8163"/>
            </a:avLst>
          </a:prstGeom>
          <a:solidFill xmlns:a="http://schemas.openxmlformats.org/drawingml/2006/main">
            <a:srgbClr val="EEF5FA"/>
          </a:solidFill>
          <a:ln xmlns:a="http://schemas.openxmlformats.org/drawingml/2006/main" w="9525">
            <a:solidFill>
              <a:srgbClr val="C8D6E4"/>
            </a:solidFill>
            <a:prstDash val="solid"/>
          </a:ln>
        </p:spPr>
      </p:sp>
      <p:sp>
        <p:nvSpPr>
          <p:cNvPr id="17" name="">
            <a:extLst xmlns:a="http://schemas.openxmlformats.org/drawingml/2006/main">
              <a:ext uri="{FF2B5EF4-FFF2-40B4-BE49-F238E27FC236}">
                <a16:creationId xmlns:a16="http://schemas.microsoft.com/office/drawing/2014/main" id="{3AC93B94-253D-4DCA-9C6D-B7B01200E453}"/>
              </a:ext>
            </a:extLst>
          </p:cNvPr>
          <p:cNvSpPr>
            <a:spLocks xmlns:a="http://schemas.openxmlformats.org/drawingml/2006/main" noGrp="1"/>
          </p:cNvSpPr>
          <p:nvPr/>
        </p:nvSpPr>
        <p:spPr>
          <a:xfrm xmlns:a="http://schemas.openxmlformats.org/drawingml/2006/main">
            <a:off x="1809750" y="428625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1C8B53"/>
                </a:solidFill>
              </a:defRPr>
            </a:pPr>
            <a:r>
              <a:rPr sz="1500" b="1" i="0">
                <a:solidFill>
                  <a:srgbClr val="1C8B53"/>
                </a:solidFill>
              </a:rPr>
              <a:t>Lecture pour le jury</a:t>
            </a:r>
          </a:p>
        </p:txBody>
      </p:sp>
      <p:sp>
        <p:nvSpPr>
          <p:cNvPr id="18" name="">
            <a:extLst xmlns:a="http://schemas.openxmlformats.org/drawingml/2006/main">
              <a:ext uri="{FF2B5EF4-FFF2-40B4-BE49-F238E27FC236}">
                <a16:creationId xmlns:a16="http://schemas.microsoft.com/office/drawing/2014/main" id="{AD0230E8-4A3B-4B23-9F52-D752185FA91A}"/>
              </a:ext>
            </a:extLst>
          </p:cNvPr>
          <p:cNvSpPr>
            <a:spLocks xmlns:a="http://schemas.openxmlformats.org/drawingml/2006/main" noGrp="1"/>
          </p:cNvSpPr>
          <p:nvPr/>
        </p:nvSpPr>
        <p:spPr>
          <a:xfrm xmlns:a="http://schemas.openxmlformats.org/drawingml/2006/main">
            <a:off x="4286250" y="4257675"/>
            <a:ext cx="5810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102033"/>
                </a:solidFill>
              </a:defRPr>
            </a:pPr>
            <a:r>
              <a:rPr sz="1200" b="0" i="0">
                <a:solidFill>
                  <a:srgbClr val="102033"/>
                </a:solidFill>
              </a:rPr>
              <a:t>La limite principale n’est pas que SIRCH ne fonctionne pas. C’est qu’il apprend fortement la dynamique du mouvement. Ce comportement est utile dans un couloir ou un hall, mais insuffisant dans un environnement sportif.</a:t>
            </a:r>
          </a:p>
        </p:txBody>
      </p:sp>
      <p:sp>
        <p:nvSpPr>
          <p:cNvPr id="19" name="">
            <a:extLst xmlns:a="http://schemas.openxmlformats.org/drawingml/2006/main">
              <a:ext uri="{FF2B5EF4-FFF2-40B4-BE49-F238E27FC236}">
                <a16:creationId xmlns:a16="http://schemas.microsoft.com/office/drawing/2014/main" id="{18E8F795-EEA4-4BBB-A54C-2AB5A7692C38}"/>
              </a:ext>
            </a:extLst>
          </p:cNvPr>
          <p:cNvSpPr>
            <a:spLocks xmlns:a="http://schemas.openxmlformats.org/drawingml/2006/main" noGrp="1"/>
          </p:cNvSpPr>
          <p:nvPr/>
        </p:nvSpPr>
        <p:spPr>
          <a:xfrm xmlns:a="http://schemas.openxmlformats.org/drawingml/2006/main">
            <a:off x="552450" y="6362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i="0">
                <a:solidFill>
                  <a:srgbClr val="5A6B82"/>
                </a:solidFill>
              </a:defRPr>
            </a:pPr>
            <a:r>
              <a:rPr sz="675" b="0" i="0">
                <a:solidFill>
                  <a:srgbClr val="5A6B82"/>
                </a:solidFill>
              </a:rPr>
              <a:t>Limites</a:t>
            </a:r>
          </a:p>
        </p:txBody>
      </p:sp>
      <p:sp>
        <p:nvSpPr>
          <p:cNvPr id="20" name="">
            <a:extLst xmlns:a="http://schemas.openxmlformats.org/drawingml/2006/main">
              <a:ext uri="{FF2B5EF4-FFF2-40B4-BE49-F238E27FC236}">
                <a16:creationId xmlns:a16="http://schemas.microsoft.com/office/drawing/2014/main" id="{2544E331-8CB3-41F1-9FD0-C8B80D973560}"/>
              </a:ext>
            </a:extLst>
          </p:cNvPr>
          <p:cNvSpPr>
            <a:spLocks xmlns:a="http://schemas.openxmlformats.org/drawingml/2006/main" noGrp="1"/>
          </p:cNvSpPr>
          <p:nvPr/>
        </p:nvSpPr>
        <p:spPr>
          <a:xfrm xmlns:a="http://schemas.openxmlformats.org/drawingml/2006/main">
            <a:off x="11049000" y="63627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0" i="0">
                <a:solidFill>
                  <a:srgbClr val="5A6B82"/>
                </a:solidFill>
              </a:defRPr>
            </a:pPr>
            <a:r>
              <a:rPr sz="750" b="0" i="0">
                <a:solidFill>
                  <a:srgbClr val="5A6B82"/>
                </a:solidFill>
              </a:rPr>
              <a:t>16 / 18</a:t>
            </a:r>
          </a:p>
        </p:txBody>
      </p:sp>
    </p:spTree>
    <p:extLst>
      <p:ext uri="{BB962C8B-B14F-4D97-AF65-F5344CB8AC3E}">
        <p14:creationId xmlns:p14="http://schemas.microsoft.com/office/powerpoint/2010/main" val="17862007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DA10A4A-DED4-4EE9-B655-EAF3F43F14F8}"/>
              </a:ext>
            </a:extLst>
          </p:cNvPr>
          <p:cNvSpPr>
            <a:spLocks xmlns:a="http://schemas.openxmlformats.org/drawingml/2006/main" noGrp="1"/>
          </p:cNvSpPr>
          <p:nvPr/>
        </p:nvSpPr>
        <p:spPr>
          <a:xfrm xmlns:a="http://schemas.openxmlformats.org/drawingml/2006/main">
            <a:off x="552450" y="419100"/>
            <a:ext cx="9334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i="0">
                <a:solidFill>
                  <a:srgbClr val="17345F"/>
                </a:solidFill>
              </a:defRPr>
            </a:pPr>
            <a:r>
              <a:rPr sz="2550" b="1" i="0">
                <a:solidFill>
                  <a:srgbClr val="17345F"/>
                </a:solidFill>
              </a:rPr>
              <a:t>Les perspectives découlent directement des limites observées</a:t>
            </a:r>
          </a:p>
        </p:txBody>
      </p:sp>
      <p:sp>
        <p:nvSpPr>
          <p:cNvPr id="2" name="">
            <a:extLst xmlns:a="http://schemas.openxmlformats.org/drawingml/2006/main">
              <a:ext uri="{FF2B5EF4-FFF2-40B4-BE49-F238E27FC236}">
                <a16:creationId xmlns:a16="http://schemas.microsoft.com/office/drawing/2014/main" id="{EC08E765-4B27-467A-BD1F-E4EAD46F9CFC}"/>
              </a:ext>
            </a:extLst>
          </p:cNvPr>
          <p:cNvSpPr>
            <a:spLocks xmlns:a="http://schemas.openxmlformats.org/drawingml/2006/main" noGrp="1"/>
          </p:cNvSpPr>
          <p:nvPr/>
        </p:nvSpPr>
        <p:spPr>
          <a:xfrm xmlns:a="http://schemas.openxmlformats.org/drawingml/2006/main">
            <a:off x="552450" y="1095375"/>
            <a:ext cx="1047750" cy="47625"/>
          </a:xfrm>
          <a:prstGeom xmlns:a="http://schemas.openxmlformats.org/drawingml/2006/main" prst="rect">
            <a:avLst/>
          </a:prstGeom>
          <a:solidFill xmlns:a="http://schemas.openxmlformats.org/drawingml/2006/main">
            <a:srgbClr val="1C8B53"/>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C0D33AE-4C3C-41C9-A05F-CD296D3E2C6E}"/>
              </a:ext>
            </a:extLst>
          </p:cNvPr>
          <p:cNvSpPr>
            <a:spLocks xmlns:a="http://schemas.openxmlformats.org/drawingml/2006/main" noGrp="1"/>
          </p:cNvSpPr>
          <p:nvPr/>
        </p:nvSpPr>
        <p:spPr>
          <a:xfrm xmlns:a="http://schemas.openxmlformats.org/drawingml/2006/main">
            <a:off x="552450" y="1238250"/>
            <a:ext cx="838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A6B82"/>
                </a:solidFill>
              </a:defRPr>
            </a:pPr>
            <a:r>
              <a:rPr sz="1200" b="0" i="0">
                <a:solidFill>
                  <a:srgbClr val="5A6B82"/>
                </a:solidFill>
              </a:rPr>
              <a:t>Chaque amélioration proposée répond à un résultat ou à une faiblesse mesurée.</a:t>
            </a:r>
          </a:p>
        </p:txBody>
      </p:sp>
      <p:sp>
        <p:nvSpPr>
          <p:cNvPr id="4" name="">
            <a:extLst xmlns:a="http://schemas.openxmlformats.org/drawingml/2006/main">
              <a:ext uri="{FF2B5EF4-FFF2-40B4-BE49-F238E27FC236}">
                <a16:creationId xmlns:a16="http://schemas.microsoft.com/office/drawing/2014/main" id="{16ED12E9-BBC2-4688-996C-7EA49B5195CB}"/>
              </a:ext>
            </a:extLst>
          </p:cNvPr>
          <p:cNvSpPr>
            <a:spLocks xmlns:a="http://schemas.openxmlformats.org/drawingml/2006/main" noGrp="1"/>
          </p:cNvSpPr>
          <p:nvPr/>
        </p:nvSpPr>
        <p:spPr>
          <a:xfrm xmlns:a="http://schemas.openxmlformats.org/drawingml/2006/main">
            <a:off x="1047750" y="1714500"/>
            <a:ext cx="3143250" cy="552450"/>
          </a:xfrm>
          <a:prstGeom xmlns:a="http://schemas.openxmlformats.org/drawingml/2006/main" prst="rect">
            <a:avLst/>
          </a:prstGeom>
          <a:solidFill xmlns:a="http://schemas.openxmlformats.org/drawingml/2006/main">
            <a:srgbClr val="203F6E"/>
          </a:solidFill>
          <a:ln xmlns:a="http://schemas.openxmlformats.org/drawingml/2006/main" w="9525">
            <a:solidFill>
              <a:srgbClr val="C8D6E4"/>
            </a:solidFill>
            <a:prstDash val="solid"/>
          </a:ln>
        </p:spPr>
      </p:sp>
      <p:sp>
        <p:nvSpPr>
          <p:cNvPr id="5" name="">
            <a:extLst xmlns:a="http://schemas.openxmlformats.org/drawingml/2006/main">
              <a:ext uri="{FF2B5EF4-FFF2-40B4-BE49-F238E27FC236}">
                <a16:creationId xmlns:a16="http://schemas.microsoft.com/office/drawing/2014/main" id="{20F30CAC-B1A1-401F-B294-5E655A2CD2E1}"/>
              </a:ext>
            </a:extLst>
          </p:cNvPr>
          <p:cNvSpPr>
            <a:spLocks xmlns:a="http://schemas.openxmlformats.org/drawingml/2006/main" noGrp="1"/>
          </p:cNvSpPr>
          <p:nvPr/>
        </p:nvSpPr>
        <p:spPr>
          <a:xfrm xmlns:a="http://schemas.openxmlformats.org/drawingml/2006/main">
            <a:off x="1123950" y="1809750"/>
            <a:ext cx="2990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Perspective</a:t>
            </a:r>
          </a:p>
        </p:txBody>
      </p:sp>
      <p:sp>
        <p:nvSpPr>
          <p:cNvPr id="6" name="">
            <a:extLst xmlns:a="http://schemas.openxmlformats.org/drawingml/2006/main">
              <a:ext uri="{FF2B5EF4-FFF2-40B4-BE49-F238E27FC236}">
                <a16:creationId xmlns:a16="http://schemas.microsoft.com/office/drawing/2014/main" id="{CD020814-19EE-4BC3-97A8-AC89E3E19441}"/>
              </a:ext>
            </a:extLst>
          </p:cNvPr>
          <p:cNvSpPr>
            <a:spLocks xmlns:a="http://schemas.openxmlformats.org/drawingml/2006/main" noGrp="1"/>
          </p:cNvSpPr>
          <p:nvPr/>
        </p:nvSpPr>
        <p:spPr>
          <a:xfrm xmlns:a="http://schemas.openxmlformats.org/drawingml/2006/main">
            <a:off x="4191000" y="1714500"/>
            <a:ext cx="6286500" cy="552450"/>
          </a:xfrm>
          <a:prstGeom xmlns:a="http://schemas.openxmlformats.org/drawingml/2006/main" prst="rect">
            <a:avLst/>
          </a:prstGeom>
          <a:solidFill xmlns:a="http://schemas.openxmlformats.org/drawingml/2006/main">
            <a:srgbClr val="203F6E"/>
          </a:solidFill>
          <a:ln xmlns:a="http://schemas.openxmlformats.org/drawingml/2006/main" w="9525">
            <a:solidFill>
              <a:srgbClr val="C8D6E4"/>
            </a:solidFill>
            <a:prstDash val="solid"/>
          </a:ln>
        </p:spPr>
      </p:sp>
      <p:sp>
        <p:nvSpPr>
          <p:cNvPr id="7" name="">
            <a:extLst xmlns:a="http://schemas.openxmlformats.org/drawingml/2006/main">
              <a:ext uri="{FF2B5EF4-FFF2-40B4-BE49-F238E27FC236}">
                <a16:creationId xmlns:a16="http://schemas.microsoft.com/office/drawing/2014/main" id="{A92E09A9-3DB1-487D-8DC1-024382D575D4}"/>
              </a:ext>
            </a:extLst>
          </p:cNvPr>
          <p:cNvSpPr>
            <a:spLocks xmlns:a="http://schemas.openxmlformats.org/drawingml/2006/main" noGrp="1"/>
          </p:cNvSpPr>
          <p:nvPr/>
        </p:nvSpPr>
        <p:spPr>
          <a:xfrm xmlns:a="http://schemas.openxmlformats.org/drawingml/2006/main">
            <a:off x="4267200" y="1809750"/>
            <a:ext cx="6134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Ce que cela améliorerait</a:t>
            </a:r>
          </a:p>
        </p:txBody>
      </p:sp>
      <p:sp>
        <p:nvSpPr>
          <p:cNvPr id="8" name="">
            <a:extLst xmlns:a="http://schemas.openxmlformats.org/drawingml/2006/main">
              <a:ext uri="{FF2B5EF4-FFF2-40B4-BE49-F238E27FC236}">
                <a16:creationId xmlns:a16="http://schemas.microsoft.com/office/drawing/2014/main" id="{13223021-AE29-412E-82D2-00291287D42E}"/>
              </a:ext>
            </a:extLst>
          </p:cNvPr>
          <p:cNvSpPr>
            <a:spLocks xmlns:a="http://schemas.openxmlformats.org/drawingml/2006/main" noGrp="1"/>
          </p:cNvSpPr>
          <p:nvPr/>
        </p:nvSpPr>
        <p:spPr>
          <a:xfrm xmlns:a="http://schemas.openxmlformats.org/drawingml/2006/main">
            <a:off x="1047750" y="2266950"/>
            <a:ext cx="31432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9" name="">
            <a:extLst xmlns:a="http://schemas.openxmlformats.org/drawingml/2006/main">
              <a:ext uri="{FF2B5EF4-FFF2-40B4-BE49-F238E27FC236}">
                <a16:creationId xmlns:a16="http://schemas.microsoft.com/office/drawing/2014/main" id="{AA736326-5FF3-4F6F-98E0-285B00C47E06}"/>
              </a:ext>
            </a:extLst>
          </p:cNvPr>
          <p:cNvSpPr>
            <a:spLocks xmlns:a="http://schemas.openxmlformats.org/drawingml/2006/main" noGrp="1"/>
          </p:cNvSpPr>
          <p:nvPr/>
        </p:nvSpPr>
        <p:spPr>
          <a:xfrm xmlns:a="http://schemas.openxmlformats.org/drawingml/2006/main">
            <a:off x="1123950" y="2362200"/>
            <a:ext cx="2990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Ajouter 200 à 300 vidéos sport/danse non violentes</a:t>
            </a:r>
          </a:p>
        </p:txBody>
      </p:sp>
      <p:sp>
        <p:nvSpPr>
          <p:cNvPr id="10" name="">
            <a:extLst xmlns:a="http://schemas.openxmlformats.org/drawingml/2006/main">
              <a:ext uri="{FF2B5EF4-FFF2-40B4-BE49-F238E27FC236}">
                <a16:creationId xmlns:a16="http://schemas.microsoft.com/office/drawing/2014/main" id="{4822FBB0-04B0-48D8-9286-4B744BC908E2}"/>
              </a:ext>
            </a:extLst>
          </p:cNvPr>
          <p:cNvSpPr>
            <a:spLocks xmlns:a="http://schemas.openxmlformats.org/drawingml/2006/main" noGrp="1"/>
          </p:cNvSpPr>
          <p:nvPr/>
        </p:nvSpPr>
        <p:spPr>
          <a:xfrm xmlns:a="http://schemas.openxmlformats.org/drawingml/2006/main">
            <a:off x="4191000" y="2266950"/>
            <a:ext cx="62865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11" name="">
            <a:extLst xmlns:a="http://schemas.openxmlformats.org/drawingml/2006/main">
              <a:ext uri="{FF2B5EF4-FFF2-40B4-BE49-F238E27FC236}">
                <a16:creationId xmlns:a16="http://schemas.microsoft.com/office/drawing/2014/main" id="{A58AD5A0-32E0-4DF1-980E-2FC87D076FBB}"/>
              </a:ext>
            </a:extLst>
          </p:cNvPr>
          <p:cNvSpPr>
            <a:spLocks xmlns:a="http://schemas.openxmlformats.org/drawingml/2006/main" noGrp="1"/>
          </p:cNvSpPr>
          <p:nvPr/>
        </p:nvSpPr>
        <p:spPr>
          <a:xfrm xmlns:a="http://schemas.openxmlformats.org/drawingml/2006/main">
            <a:off x="4267200" y="2362200"/>
            <a:ext cx="6134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Réduire la confusion entre mouvement intense et violence</a:t>
            </a:r>
          </a:p>
        </p:txBody>
      </p:sp>
      <p:sp>
        <p:nvSpPr>
          <p:cNvPr id="12" name="">
            <a:extLst xmlns:a="http://schemas.openxmlformats.org/drawingml/2006/main">
              <a:ext uri="{FF2B5EF4-FFF2-40B4-BE49-F238E27FC236}">
                <a16:creationId xmlns:a16="http://schemas.microsoft.com/office/drawing/2014/main" id="{51B18152-958D-4CDA-BCF6-3EFC9325611A}"/>
              </a:ext>
            </a:extLst>
          </p:cNvPr>
          <p:cNvSpPr>
            <a:spLocks xmlns:a="http://schemas.openxmlformats.org/drawingml/2006/main" noGrp="1"/>
          </p:cNvSpPr>
          <p:nvPr/>
        </p:nvSpPr>
        <p:spPr>
          <a:xfrm xmlns:a="http://schemas.openxmlformats.org/drawingml/2006/main">
            <a:off x="1047750" y="2819400"/>
            <a:ext cx="3143250" cy="552450"/>
          </a:xfrm>
          <a:prstGeom xmlns:a="http://schemas.openxmlformats.org/drawingml/2006/main" prst="rect">
            <a:avLst/>
          </a:prstGeom>
          <a:solidFill xmlns:a="http://schemas.openxmlformats.org/drawingml/2006/main">
            <a:srgbClr val="EEF5FA"/>
          </a:solidFill>
          <a:ln xmlns:a="http://schemas.openxmlformats.org/drawingml/2006/main" w="9525">
            <a:solidFill>
              <a:srgbClr val="C8D6E4"/>
            </a:solidFill>
            <a:prstDash val="solid"/>
          </a:ln>
        </p:spPr>
      </p:sp>
      <p:sp>
        <p:nvSpPr>
          <p:cNvPr id="13" name="">
            <a:extLst xmlns:a="http://schemas.openxmlformats.org/drawingml/2006/main">
              <a:ext uri="{FF2B5EF4-FFF2-40B4-BE49-F238E27FC236}">
                <a16:creationId xmlns:a16="http://schemas.microsoft.com/office/drawing/2014/main" id="{54367B3D-F747-4DAD-8CC0-98EE5C9FC8F3}"/>
              </a:ext>
            </a:extLst>
          </p:cNvPr>
          <p:cNvSpPr>
            <a:spLocks xmlns:a="http://schemas.openxmlformats.org/drawingml/2006/main" noGrp="1"/>
          </p:cNvSpPr>
          <p:nvPr/>
        </p:nvSpPr>
        <p:spPr>
          <a:xfrm xmlns:a="http://schemas.openxmlformats.org/drawingml/2006/main">
            <a:off x="1123950" y="2914650"/>
            <a:ext cx="2990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Tester GRU et hyperparamètres</a:t>
            </a:r>
          </a:p>
        </p:txBody>
      </p:sp>
      <p:sp>
        <p:nvSpPr>
          <p:cNvPr id="14" name="">
            <a:extLst xmlns:a="http://schemas.openxmlformats.org/drawingml/2006/main">
              <a:ext uri="{FF2B5EF4-FFF2-40B4-BE49-F238E27FC236}">
                <a16:creationId xmlns:a16="http://schemas.microsoft.com/office/drawing/2014/main" id="{8622A032-A33F-4E0F-A411-8DA3CE568C84}"/>
              </a:ext>
            </a:extLst>
          </p:cNvPr>
          <p:cNvSpPr>
            <a:spLocks xmlns:a="http://schemas.openxmlformats.org/drawingml/2006/main" noGrp="1"/>
          </p:cNvSpPr>
          <p:nvPr/>
        </p:nvSpPr>
        <p:spPr>
          <a:xfrm xmlns:a="http://schemas.openxmlformats.org/drawingml/2006/main">
            <a:off x="4191000" y="2819400"/>
            <a:ext cx="6286500" cy="552450"/>
          </a:xfrm>
          <a:prstGeom xmlns:a="http://schemas.openxmlformats.org/drawingml/2006/main" prst="rect">
            <a:avLst/>
          </a:prstGeom>
          <a:solidFill xmlns:a="http://schemas.openxmlformats.org/drawingml/2006/main">
            <a:srgbClr val="EEF5FA"/>
          </a:solidFill>
          <a:ln xmlns:a="http://schemas.openxmlformats.org/drawingml/2006/main" w="9525">
            <a:solidFill>
              <a:srgbClr val="C8D6E4"/>
            </a:solidFill>
            <a:prstDash val="solid"/>
          </a:ln>
        </p:spPr>
      </p:sp>
      <p:sp>
        <p:nvSpPr>
          <p:cNvPr id="15" name="">
            <a:extLst xmlns:a="http://schemas.openxmlformats.org/drawingml/2006/main">
              <a:ext uri="{FF2B5EF4-FFF2-40B4-BE49-F238E27FC236}">
                <a16:creationId xmlns:a16="http://schemas.microsoft.com/office/drawing/2014/main" id="{9ADE56CA-47D2-40CA-9478-CBCB267DD7E3}"/>
              </a:ext>
            </a:extLst>
          </p:cNvPr>
          <p:cNvSpPr>
            <a:spLocks xmlns:a="http://schemas.openxmlformats.org/drawingml/2006/main" noGrp="1"/>
          </p:cNvSpPr>
          <p:nvPr/>
        </p:nvSpPr>
        <p:spPr>
          <a:xfrm xmlns:a="http://schemas.openxmlformats.org/drawingml/2006/main">
            <a:off x="4267200" y="2914650"/>
            <a:ext cx="6134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Confirmer l’architecture temporelle la plus efficace</a:t>
            </a:r>
          </a:p>
        </p:txBody>
      </p:sp>
      <p:sp>
        <p:nvSpPr>
          <p:cNvPr id="16" name="">
            <a:extLst xmlns:a="http://schemas.openxmlformats.org/drawingml/2006/main">
              <a:ext uri="{FF2B5EF4-FFF2-40B4-BE49-F238E27FC236}">
                <a16:creationId xmlns:a16="http://schemas.microsoft.com/office/drawing/2014/main" id="{6539DAE9-D28F-4D02-AD8F-9F26AF14D108}"/>
              </a:ext>
            </a:extLst>
          </p:cNvPr>
          <p:cNvSpPr>
            <a:spLocks xmlns:a="http://schemas.openxmlformats.org/drawingml/2006/main" noGrp="1"/>
          </p:cNvSpPr>
          <p:nvPr/>
        </p:nvSpPr>
        <p:spPr>
          <a:xfrm xmlns:a="http://schemas.openxmlformats.org/drawingml/2006/main">
            <a:off x="1047750" y="3371850"/>
            <a:ext cx="31432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17" name="">
            <a:extLst xmlns:a="http://schemas.openxmlformats.org/drawingml/2006/main">
              <a:ext uri="{FF2B5EF4-FFF2-40B4-BE49-F238E27FC236}">
                <a16:creationId xmlns:a16="http://schemas.microsoft.com/office/drawing/2014/main" id="{9BCE3FE2-5D00-4BB9-91B9-AFDFD347CDD3}"/>
              </a:ext>
            </a:extLst>
          </p:cNvPr>
          <p:cNvSpPr>
            <a:spLocks xmlns:a="http://schemas.openxmlformats.org/drawingml/2006/main" noGrp="1"/>
          </p:cNvSpPr>
          <p:nvPr/>
        </p:nvSpPr>
        <p:spPr>
          <a:xfrm xmlns:a="http://schemas.openxmlformats.org/drawingml/2006/main">
            <a:off x="1123950" y="3467100"/>
            <a:ext cx="2990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Quantification TensorFlow Lite ou TensorRT</a:t>
            </a:r>
          </a:p>
        </p:txBody>
      </p:sp>
      <p:sp>
        <p:nvSpPr>
          <p:cNvPr id="18" name="">
            <a:extLst xmlns:a="http://schemas.openxmlformats.org/drawingml/2006/main">
              <a:ext uri="{FF2B5EF4-FFF2-40B4-BE49-F238E27FC236}">
                <a16:creationId xmlns:a16="http://schemas.microsoft.com/office/drawing/2014/main" id="{AB074E1E-9548-48BA-98FB-D321992D50AF}"/>
              </a:ext>
            </a:extLst>
          </p:cNvPr>
          <p:cNvSpPr>
            <a:spLocks xmlns:a="http://schemas.openxmlformats.org/drawingml/2006/main" noGrp="1"/>
          </p:cNvSpPr>
          <p:nvPr/>
        </p:nvSpPr>
        <p:spPr>
          <a:xfrm xmlns:a="http://schemas.openxmlformats.org/drawingml/2006/main">
            <a:off x="4191000" y="3371850"/>
            <a:ext cx="62865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C8D6E4"/>
            </a:solidFill>
            <a:prstDash val="solid"/>
          </a:ln>
        </p:spPr>
      </p:sp>
      <p:sp>
        <p:nvSpPr>
          <p:cNvPr id="19" name="">
            <a:extLst xmlns:a="http://schemas.openxmlformats.org/drawingml/2006/main">
              <a:ext uri="{FF2B5EF4-FFF2-40B4-BE49-F238E27FC236}">
                <a16:creationId xmlns:a16="http://schemas.microsoft.com/office/drawing/2014/main" id="{E502F39D-E04B-4429-B362-F99C582FF7C1}"/>
              </a:ext>
            </a:extLst>
          </p:cNvPr>
          <p:cNvSpPr>
            <a:spLocks xmlns:a="http://schemas.openxmlformats.org/drawingml/2006/main" noGrp="1"/>
          </p:cNvSpPr>
          <p:nvPr/>
        </p:nvSpPr>
        <p:spPr>
          <a:xfrm xmlns:a="http://schemas.openxmlformats.org/drawingml/2006/main">
            <a:off x="4267200" y="3467100"/>
            <a:ext cx="6134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Réduire la latence et faciliter le déploiement embarqué</a:t>
            </a:r>
          </a:p>
        </p:txBody>
      </p:sp>
      <p:sp>
        <p:nvSpPr>
          <p:cNvPr id="20" name="">
            <a:extLst xmlns:a="http://schemas.openxmlformats.org/drawingml/2006/main">
              <a:ext uri="{FF2B5EF4-FFF2-40B4-BE49-F238E27FC236}">
                <a16:creationId xmlns:a16="http://schemas.microsoft.com/office/drawing/2014/main" id="{32E97048-132E-44C6-8FBE-1E51B28A0F42}"/>
              </a:ext>
            </a:extLst>
          </p:cNvPr>
          <p:cNvSpPr>
            <a:spLocks xmlns:a="http://schemas.openxmlformats.org/drawingml/2006/main" noGrp="1"/>
          </p:cNvSpPr>
          <p:nvPr/>
        </p:nvSpPr>
        <p:spPr>
          <a:xfrm xmlns:a="http://schemas.openxmlformats.org/drawingml/2006/main">
            <a:off x="1047750" y="3924300"/>
            <a:ext cx="3143250" cy="552450"/>
          </a:xfrm>
          <a:prstGeom xmlns:a="http://schemas.openxmlformats.org/drawingml/2006/main" prst="rect">
            <a:avLst/>
          </a:prstGeom>
          <a:solidFill xmlns:a="http://schemas.openxmlformats.org/drawingml/2006/main">
            <a:srgbClr val="EEF5FA"/>
          </a:solidFill>
          <a:ln xmlns:a="http://schemas.openxmlformats.org/drawingml/2006/main" w="9525">
            <a:solidFill>
              <a:srgbClr val="C8D6E4"/>
            </a:solidFill>
            <a:prstDash val="solid"/>
          </a:ln>
        </p:spPr>
      </p:sp>
      <p:sp>
        <p:nvSpPr>
          <p:cNvPr id="21" name="">
            <a:extLst xmlns:a="http://schemas.openxmlformats.org/drawingml/2006/main">
              <a:ext uri="{FF2B5EF4-FFF2-40B4-BE49-F238E27FC236}">
                <a16:creationId xmlns:a16="http://schemas.microsoft.com/office/drawing/2014/main" id="{A3C6D230-CC4E-47A2-8BCD-0BD02DD6112E}"/>
              </a:ext>
            </a:extLst>
          </p:cNvPr>
          <p:cNvSpPr>
            <a:spLocks xmlns:a="http://schemas.openxmlformats.org/drawingml/2006/main" noGrp="1"/>
          </p:cNvSpPr>
          <p:nvPr/>
        </p:nvSpPr>
        <p:spPr>
          <a:xfrm xmlns:a="http://schemas.openxmlformats.org/drawingml/2006/main">
            <a:off x="1123950" y="4019550"/>
            <a:ext cx="2990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Test réel sur plusieurs semaines</a:t>
            </a:r>
          </a:p>
        </p:txBody>
      </p:sp>
      <p:sp>
        <p:nvSpPr>
          <p:cNvPr id="22" name="">
            <a:extLst xmlns:a="http://schemas.openxmlformats.org/drawingml/2006/main">
              <a:ext uri="{FF2B5EF4-FFF2-40B4-BE49-F238E27FC236}">
                <a16:creationId xmlns:a16="http://schemas.microsoft.com/office/drawing/2014/main" id="{C3ADC270-7010-45A0-B782-80D8191CFA9D}"/>
              </a:ext>
            </a:extLst>
          </p:cNvPr>
          <p:cNvSpPr>
            <a:spLocks xmlns:a="http://schemas.openxmlformats.org/drawingml/2006/main" noGrp="1"/>
          </p:cNvSpPr>
          <p:nvPr/>
        </p:nvSpPr>
        <p:spPr>
          <a:xfrm xmlns:a="http://schemas.openxmlformats.org/drawingml/2006/main">
            <a:off x="4191000" y="3924300"/>
            <a:ext cx="6286500" cy="552450"/>
          </a:xfrm>
          <a:prstGeom xmlns:a="http://schemas.openxmlformats.org/drawingml/2006/main" prst="rect">
            <a:avLst/>
          </a:prstGeom>
          <a:solidFill xmlns:a="http://schemas.openxmlformats.org/drawingml/2006/main">
            <a:srgbClr val="EEF5FA"/>
          </a:solidFill>
          <a:ln xmlns:a="http://schemas.openxmlformats.org/drawingml/2006/main" w="9525">
            <a:solidFill>
              <a:srgbClr val="C8D6E4"/>
            </a:solidFill>
            <a:prstDash val="solid"/>
          </a:ln>
        </p:spPr>
      </p:sp>
      <p:sp>
        <p:nvSpPr>
          <p:cNvPr id="23" name="">
            <a:extLst xmlns:a="http://schemas.openxmlformats.org/drawingml/2006/main">
              <a:ext uri="{FF2B5EF4-FFF2-40B4-BE49-F238E27FC236}">
                <a16:creationId xmlns:a16="http://schemas.microsoft.com/office/drawing/2014/main" id="{30D324C6-4BA9-478A-9762-A2A5D42FECCC}"/>
              </a:ext>
            </a:extLst>
          </p:cNvPr>
          <p:cNvSpPr>
            <a:spLocks xmlns:a="http://schemas.openxmlformats.org/drawingml/2006/main" noGrp="1"/>
          </p:cNvSpPr>
          <p:nvPr/>
        </p:nvSpPr>
        <p:spPr>
          <a:xfrm xmlns:a="http://schemas.openxmlformats.org/drawingml/2006/main">
            <a:off x="4267200" y="4019550"/>
            <a:ext cx="6134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0">
                <a:solidFill>
                  <a:srgbClr val="102033"/>
                </a:solidFill>
              </a:defRPr>
            </a:pPr>
            <a:r>
              <a:rPr sz="975" b="0" i="0">
                <a:solidFill>
                  <a:srgbClr val="102033"/>
                </a:solidFill>
              </a:rPr>
              <a:t>Mesurer les alertes, l’éclairage, la stabilité et l’usage opérateur</a:t>
            </a:r>
          </a:p>
        </p:txBody>
      </p:sp>
      <p:sp>
        <p:nvSpPr>
          <p:cNvPr id="24" name="">
            <a:extLst xmlns:a="http://schemas.openxmlformats.org/drawingml/2006/main">
              <a:ext uri="{FF2B5EF4-FFF2-40B4-BE49-F238E27FC236}">
                <a16:creationId xmlns:a16="http://schemas.microsoft.com/office/drawing/2014/main" id="{74453CDC-3B31-4E24-AC81-923191D4E047}"/>
              </a:ext>
            </a:extLst>
          </p:cNvPr>
          <p:cNvSpPr>
            <a:spLocks xmlns:a="http://schemas.openxmlformats.org/drawingml/2006/main" noGrp="1"/>
          </p:cNvSpPr>
          <p:nvPr/>
        </p:nvSpPr>
        <p:spPr>
          <a:xfrm xmlns:a="http://schemas.openxmlformats.org/drawingml/2006/main">
            <a:off x="1238250" y="5334000"/>
            <a:ext cx="971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1C8B53"/>
                </a:solidFill>
              </a:defRPr>
            </a:pPr>
            <a:r>
              <a:rPr sz="1350" b="1" i="0">
                <a:solidFill>
                  <a:srgbClr val="1C8B53"/>
                </a:solidFill>
              </a:rPr>
              <a:t>Priorité scientifique : enrichir les données non violentes dynamiques avant de chercher une architecture plus complexe.</a:t>
            </a:r>
          </a:p>
        </p:txBody>
      </p:sp>
      <p:sp>
        <p:nvSpPr>
          <p:cNvPr id="25" name="">
            <a:extLst xmlns:a="http://schemas.openxmlformats.org/drawingml/2006/main">
              <a:ext uri="{FF2B5EF4-FFF2-40B4-BE49-F238E27FC236}">
                <a16:creationId xmlns:a16="http://schemas.microsoft.com/office/drawing/2014/main" id="{C4E0DF24-E02C-4A72-B22D-7E0AF48CF497}"/>
              </a:ext>
            </a:extLst>
          </p:cNvPr>
          <p:cNvSpPr>
            <a:spLocks xmlns:a="http://schemas.openxmlformats.org/drawingml/2006/main" noGrp="1"/>
          </p:cNvSpPr>
          <p:nvPr/>
        </p:nvSpPr>
        <p:spPr>
          <a:xfrm xmlns:a="http://schemas.openxmlformats.org/drawingml/2006/main">
            <a:off x="552450" y="6362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i="0">
                <a:solidFill>
                  <a:srgbClr val="5A6B82"/>
                </a:solidFill>
              </a:defRPr>
            </a:pPr>
            <a:r>
              <a:rPr sz="675" b="0" i="0">
                <a:solidFill>
                  <a:srgbClr val="5A6B82"/>
                </a:solidFill>
              </a:rPr>
              <a:t>Perspectives</a:t>
            </a:r>
          </a:p>
        </p:txBody>
      </p:sp>
      <p:sp>
        <p:nvSpPr>
          <p:cNvPr id="26" name="">
            <a:extLst xmlns:a="http://schemas.openxmlformats.org/drawingml/2006/main">
              <a:ext uri="{FF2B5EF4-FFF2-40B4-BE49-F238E27FC236}">
                <a16:creationId xmlns:a16="http://schemas.microsoft.com/office/drawing/2014/main" id="{BFE1A8BE-4F7A-440C-A6C7-365E9ACF41A4}"/>
              </a:ext>
            </a:extLst>
          </p:cNvPr>
          <p:cNvSpPr>
            <a:spLocks xmlns:a="http://schemas.openxmlformats.org/drawingml/2006/main" noGrp="1"/>
          </p:cNvSpPr>
          <p:nvPr/>
        </p:nvSpPr>
        <p:spPr>
          <a:xfrm xmlns:a="http://schemas.openxmlformats.org/drawingml/2006/main">
            <a:off x="11049000" y="63627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0" i="0">
                <a:solidFill>
                  <a:srgbClr val="5A6B82"/>
                </a:solidFill>
              </a:defRPr>
            </a:pPr>
            <a:r>
              <a:rPr sz="750" b="0" i="0">
                <a:solidFill>
                  <a:srgbClr val="5A6B82"/>
                </a:solidFill>
              </a:rPr>
              <a:t>17 / 18</a:t>
            </a:r>
          </a:p>
        </p:txBody>
      </p:sp>
    </p:spTree>
    <p:extLst>
      <p:ext uri="{BB962C8B-B14F-4D97-AF65-F5344CB8AC3E}">
        <p14:creationId xmlns:p14="http://schemas.microsoft.com/office/powerpoint/2010/main" val="1566423626"/>
      </p:ext>
    </p:extLst>
  </p:cSld>
</p:sld>
</file>

<file path=ppt/slides/slide18.xml><?xml version="1.0" encoding="utf-8"?>
<p:sld xmlns:p="http://schemas.openxmlformats.org/presentationml/2006/main">
  <p:cSld>
    <p:bg>
      <p:bgPr>
        <a:solidFill xmlns:a="http://schemas.openxmlformats.org/drawingml/2006/main">
          <a:srgbClr val="203F6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BB55DD3-7F7D-437A-A32C-CA908FF39FE0}"/>
              </a:ext>
            </a:extLst>
          </p:cNvPr>
          <p:cNvSpPr>
            <a:spLocks xmlns:a="http://schemas.openxmlformats.org/drawingml/2006/main" noGrp="1"/>
          </p:cNvSpPr>
          <p:nvPr/>
        </p:nvSpPr>
        <p:spPr>
          <a:xfrm xmlns:a="http://schemas.openxmlformats.org/drawingml/2006/main">
            <a:off x="666750" y="590550"/>
            <a:ext cx="666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i="0">
                <a:solidFill>
                  <a:srgbClr val="FFFFFF"/>
                </a:solidFill>
              </a:defRPr>
            </a:pPr>
            <a:r>
              <a:rPr sz="3150" b="1" i="0">
                <a:solidFill>
                  <a:srgbClr val="FFFFFF"/>
                </a:solidFill>
              </a:rPr>
              <a:t>Conclusion</a:t>
            </a:r>
          </a:p>
        </p:txBody>
      </p:sp>
      <p:sp>
        <p:nvSpPr>
          <p:cNvPr id="2" name="">
            <a:extLst xmlns:a="http://schemas.openxmlformats.org/drawingml/2006/main">
              <a:ext uri="{FF2B5EF4-FFF2-40B4-BE49-F238E27FC236}">
                <a16:creationId xmlns:a16="http://schemas.microsoft.com/office/drawing/2014/main" id="{A12C26EF-E25C-43C3-B7EF-59A1028E82BE}"/>
              </a:ext>
            </a:extLst>
          </p:cNvPr>
          <p:cNvSpPr>
            <a:spLocks xmlns:a="http://schemas.openxmlformats.org/drawingml/2006/main" noGrp="1"/>
          </p:cNvSpPr>
          <p:nvPr/>
        </p:nvSpPr>
        <p:spPr>
          <a:xfrm xmlns:a="http://schemas.openxmlformats.org/drawingml/2006/main">
            <a:off x="666750" y="1219200"/>
            <a:ext cx="1143000" cy="47625"/>
          </a:xfrm>
          <a:prstGeom xmlns:a="http://schemas.openxmlformats.org/drawingml/2006/main" prst="rect">
            <a:avLst/>
          </a:prstGeom>
          <a:solidFill xmlns:a="http://schemas.openxmlformats.org/drawingml/2006/main">
            <a:srgbClr val="1C8B53"/>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138DDF3-F7BC-4013-8998-0654945948BE}"/>
              </a:ext>
            </a:extLst>
          </p:cNvPr>
          <p:cNvSpPr>
            <a:spLocks xmlns:a="http://schemas.openxmlformats.org/drawingml/2006/main" noGrp="1"/>
          </p:cNvSpPr>
          <p:nvPr/>
        </p:nvSpPr>
        <p:spPr>
          <a:xfrm xmlns:a="http://schemas.openxmlformats.org/drawingml/2006/main">
            <a:off x="857250" y="1666875"/>
            <a:ext cx="457200" cy="457200"/>
          </a:xfrm>
          <a:prstGeom xmlns:a="http://schemas.openxmlformats.org/drawingml/2006/main" prst="roundRect">
            <a:avLst>
              <a:gd name="adj" fmla="val 12500"/>
            </a:avLst>
          </a:prstGeom>
          <a:solidFill xmlns:a="http://schemas.openxmlformats.org/drawingml/2006/main">
            <a:srgbClr val="1C8B53"/>
          </a:solidFill>
          <a:ln xmlns:a="http://schemas.openxmlformats.org/drawingml/2006/main" w="9525">
            <a:solidFill>
              <a:srgbClr val="1C8B53"/>
            </a:solidFill>
            <a:prstDash val="solid"/>
          </a:ln>
        </p:spPr>
      </p:sp>
      <p:sp>
        <p:nvSpPr>
          <p:cNvPr id="4" name="">
            <a:extLst xmlns:a="http://schemas.openxmlformats.org/drawingml/2006/main">
              <a:ext uri="{FF2B5EF4-FFF2-40B4-BE49-F238E27FC236}">
                <a16:creationId xmlns:a16="http://schemas.microsoft.com/office/drawing/2014/main" id="{6ADD6434-DC60-4B0C-85A0-400C4A182D6A}"/>
              </a:ext>
            </a:extLst>
          </p:cNvPr>
          <p:cNvSpPr>
            <a:spLocks xmlns:a="http://schemas.openxmlformats.org/drawingml/2006/main" noGrp="1"/>
          </p:cNvSpPr>
          <p:nvPr/>
        </p:nvSpPr>
        <p:spPr>
          <a:xfrm xmlns:a="http://schemas.openxmlformats.org/drawingml/2006/main">
            <a:off x="857250" y="17716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1</a:t>
            </a:r>
          </a:p>
        </p:txBody>
      </p:sp>
      <p:sp>
        <p:nvSpPr>
          <p:cNvPr id="5" name="">
            <a:extLst xmlns:a="http://schemas.openxmlformats.org/drawingml/2006/main">
              <a:ext uri="{FF2B5EF4-FFF2-40B4-BE49-F238E27FC236}">
                <a16:creationId xmlns:a16="http://schemas.microsoft.com/office/drawing/2014/main" id="{4BD7EE78-25DD-4AFF-93ED-D7953106F670}"/>
              </a:ext>
            </a:extLst>
          </p:cNvPr>
          <p:cNvSpPr>
            <a:spLocks xmlns:a="http://schemas.openxmlformats.org/drawingml/2006/main" noGrp="1"/>
          </p:cNvSpPr>
          <p:nvPr/>
        </p:nvSpPr>
        <p:spPr>
          <a:xfrm xmlns:a="http://schemas.openxmlformats.org/drawingml/2006/main">
            <a:off x="1571625" y="1704975"/>
            <a:ext cx="866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FFFFFF"/>
                </a:solidFill>
              </a:defRPr>
            </a:pPr>
            <a:r>
              <a:rPr sz="1500" b="1" i="0">
                <a:solidFill>
                  <a:srgbClr val="FFFFFF"/>
                </a:solidFill>
              </a:rPr>
              <a:t>SIRCH transforme un modèle en système complet : caméra, inférence, décision, alerte et dashboard.</a:t>
            </a:r>
          </a:p>
        </p:txBody>
      </p:sp>
      <p:sp>
        <p:nvSpPr>
          <p:cNvPr id="6" name="">
            <a:extLst xmlns:a="http://schemas.openxmlformats.org/drawingml/2006/main">
              <a:ext uri="{FF2B5EF4-FFF2-40B4-BE49-F238E27FC236}">
                <a16:creationId xmlns:a16="http://schemas.microsoft.com/office/drawing/2014/main" id="{DF132229-8653-491E-ADDF-F2AE9B728F3C}"/>
              </a:ext>
            </a:extLst>
          </p:cNvPr>
          <p:cNvSpPr>
            <a:spLocks xmlns:a="http://schemas.openxmlformats.org/drawingml/2006/main" noGrp="1"/>
          </p:cNvSpPr>
          <p:nvPr/>
        </p:nvSpPr>
        <p:spPr>
          <a:xfrm xmlns:a="http://schemas.openxmlformats.org/drawingml/2006/main">
            <a:off x="857250" y="2543175"/>
            <a:ext cx="457200" cy="457200"/>
          </a:xfrm>
          <a:prstGeom xmlns:a="http://schemas.openxmlformats.org/drawingml/2006/main" prst="roundRect">
            <a:avLst>
              <a:gd name="adj" fmla="val 12500"/>
            </a:avLst>
          </a:prstGeom>
          <a:solidFill xmlns:a="http://schemas.openxmlformats.org/drawingml/2006/main">
            <a:srgbClr val="1C8B53"/>
          </a:solidFill>
          <a:ln xmlns:a="http://schemas.openxmlformats.org/drawingml/2006/main" w="9525">
            <a:solidFill>
              <a:srgbClr val="1C8B53"/>
            </a:solidFill>
            <a:prstDash val="solid"/>
          </a:ln>
        </p:spPr>
      </p:sp>
      <p:sp>
        <p:nvSpPr>
          <p:cNvPr id="7" name="">
            <a:extLst xmlns:a="http://schemas.openxmlformats.org/drawingml/2006/main">
              <a:ext uri="{FF2B5EF4-FFF2-40B4-BE49-F238E27FC236}">
                <a16:creationId xmlns:a16="http://schemas.microsoft.com/office/drawing/2014/main" id="{84010C23-4B32-43AC-BFF8-DA2AF8271A61}"/>
              </a:ext>
            </a:extLst>
          </p:cNvPr>
          <p:cNvSpPr>
            <a:spLocks xmlns:a="http://schemas.openxmlformats.org/drawingml/2006/main" noGrp="1"/>
          </p:cNvSpPr>
          <p:nvPr/>
        </p:nvSpPr>
        <p:spPr>
          <a:xfrm xmlns:a="http://schemas.openxmlformats.org/drawingml/2006/main">
            <a:off x="857250" y="2647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2</a:t>
            </a:r>
          </a:p>
        </p:txBody>
      </p:sp>
      <p:sp>
        <p:nvSpPr>
          <p:cNvPr id="8" name="">
            <a:extLst xmlns:a="http://schemas.openxmlformats.org/drawingml/2006/main">
              <a:ext uri="{FF2B5EF4-FFF2-40B4-BE49-F238E27FC236}">
                <a16:creationId xmlns:a16="http://schemas.microsoft.com/office/drawing/2014/main" id="{C2526F7D-237C-41BF-9A33-5D6161399DF0}"/>
              </a:ext>
            </a:extLst>
          </p:cNvPr>
          <p:cNvSpPr>
            <a:spLocks xmlns:a="http://schemas.openxmlformats.org/drawingml/2006/main" noGrp="1"/>
          </p:cNvSpPr>
          <p:nvPr/>
        </p:nvSpPr>
        <p:spPr>
          <a:xfrm xmlns:a="http://schemas.openxmlformats.org/drawingml/2006/main">
            <a:off x="1571625" y="2581275"/>
            <a:ext cx="866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FFFFFF"/>
                </a:solidFill>
              </a:defRPr>
            </a:pPr>
            <a:r>
              <a:rPr sz="1500" b="1" i="0">
                <a:solidFill>
                  <a:srgbClr val="FFFFFF"/>
                </a:solidFill>
              </a:rPr>
              <a:t>Le modèle original atteint 86,81 % d’accuracy, 87,56 % de F1 et une ROC-AUC de 0,9446 sur 599 vidéos.</a:t>
            </a:r>
          </a:p>
        </p:txBody>
      </p:sp>
      <p:sp>
        <p:nvSpPr>
          <p:cNvPr id="9" name="">
            <a:extLst xmlns:a="http://schemas.openxmlformats.org/drawingml/2006/main">
              <a:ext uri="{FF2B5EF4-FFF2-40B4-BE49-F238E27FC236}">
                <a16:creationId xmlns:a16="http://schemas.microsoft.com/office/drawing/2014/main" id="{176DEA48-940C-4376-9015-7214C9473168}"/>
              </a:ext>
            </a:extLst>
          </p:cNvPr>
          <p:cNvSpPr>
            <a:spLocks xmlns:a="http://schemas.openxmlformats.org/drawingml/2006/main" noGrp="1"/>
          </p:cNvSpPr>
          <p:nvPr/>
        </p:nvSpPr>
        <p:spPr>
          <a:xfrm xmlns:a="http://schemas.openxmlformats.org/drawingml/2006/main">
            <a:off x="857250" y="3419475"/>
            <a:ext cx="457200" cy="457200"/>
          </a:xfrm>
          <a:prstGeom xmlns:a="http://schemas.openxmlformats.org/drawingml/2006/main" prst="roundRect">
            <a:avLst>
              <a:gd name="adj" fmla="val 12500"/>
            </a:avLst>
          </a:prstGeom>
          <a:solidFill xmlns:a="http://schemas.openxmlformats.org/drawingml/2006/main">
            <a:srgbClr val="1C8B53"/>
          </a:solidFill>
          <a:ln xmlns:a="http://schemas.openxmlformats.org/drawingml/2006/main" w="9525">
            <a:solidFill>
              <a:srgbClr val="1C8B53"/>
            </a:solidFill>
            <a:prstDash val="solid"/>
          </a:ln>
        </p:spPr>
      </p:sp>
      <p:sp>
        <p:nvSpPr>
          <p:cNvPr id="10" name="">
            <a:extLst xmlns:a="http://schemas.openxmlformats.org/drawingml/2006/main">
              <a:ext uri="{FF2B5EF4-FFF2-40B4-BE49-F238E27FC236}">
                <a16:creationId xmlns:a16="http://schemas.microsoft.com/office/drawing/2014/main" id="{719F6BC4-EC81-47A7-9E92-6BD1E756AEE5}"/>
              </a:ext>
            </a:extLst>
          </p:cNvPr>
          <p:cNvSpPr>
            <a:spLocks xmlns:a="http://schemas.openxmlformats.org/drawingml/2006/main" noGrp="1"/>
          </p:cNvSpPr>
          <p:nvPr/>
        </p:nvSpPr>
        <p:spPr>
          <a:xfrm xmlns:a="http://schemas.openxmlformats.org/drawingml/2006/main">
            <a:off x="857250" y="35242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3</a:t>
            </a:r>
          </a:p>
        </p:txBody>
      </p:sp>
      <p:sp>
        <p:nvSpPr>
          <p:cNvPr id="11" name="">
            <a:extLst xmlns:a="http://schemas.openxmlformats.org/drawingml/2006/main">
              <a:ext uri="{FF2B5EF4-FFF2-40B4-BE49-F238E27FC236}">
                <a16:creationId xmlns:a16="http://schemas.microsoft.com/office/drawing/2014/main" id="{FDC6EEAD-B312-4B4E-830D-ACCC1E7D651B}"/>
              </a:ext>
            </a:extLst>
          </p:cNvPr>
          <p:cNvSpPr>
            <a:spLocks xmlns:a="http://schemas.openxmlformats.org/drawingml/2006/main" noGrp="1"/>
          </p:cNvSpPr>
          <p:nvPr/>
        </p:nvSpPr>
        <p:spPr>
          <a:xfrm xmlns:a="http://schemas.openxmlformats.org/drawingml/2006/main">
            <a:off x="1571625" y="3457575"/>
            <a:ext cx="866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FFFFFF"/>
                </a:solidFill>
              </a:defRPr>
            </a:pPr>
            <a:r>
              <a:rPr sz="1500" b="1" i="0">
                <a:solidFill>
                  <a:srgbClr val="FFFFFF"/>
                </a:solidFill>
              </a:rPr>
              <a:t>Les analyses montrent une vraie force sur la détection, mais aussi une limite claire face aux mouvements sportifs ou dansés.</a:t>
            </a:r>
          </a:p>
        </p:txBody>
      </p:sp>
      <p:sp>
        <p:nvSpPr>
          <p:cNvPr id="12" name="">
            <a:extLst xmlns:a="http://schemas.openxmlformats.org/drawingml/2006/main">
              <a:ext uri="{FF2B5EF4-FFF2-40B4-BE49-F238E27FC236}">
                <a16:creationId xmlns:a16="http://schemas.microsoft.com/office/drawing/2014/main" id="{A8C417EF-246E-463B-9640-D105A2CC4193}"/>
              </a:ext>
            </a:extLst>
          </p:cNvPr>
          <p:cNvSpPr>
            <a:spLocks xmlns:a="http://schemas.openxmlformats.org/drawingml/2006/main" noGrp="1"/>
          </p:cNvSpPr>
          <p:nvPr/>
        </p:nvSpPr>
        <p:spPr>
          <a:xfrm xmlns:a="http://schemas.openxmlformats.org/drawingml/2006/main">
            <a:off x="857250" y="4295775"/>
            <a:ext cx="457200" cy="457200"/>
          </a:xfrm>
          <a:prstGeom xmlns:a="http://schemas.openxmlformats.org/drawingml/2006/main" prst="roundRect">
            <a:avLst>
              <a:gd name="adj" fmla="val 12500"/>
            </a:avLst>
          </a:prstGeom>
          <a:solidFill xmlns:a="http://schemas.openxmlformats.org/drawingml/2006/main">
            <a:srgbClr val="1C8B53"/>
          </a:solidFill>
          <a:ln xmlns:a="http://schemas.openxmlformats.org/drawingml/2006/main" w="9525">
            <a:solidFill>
              <a:srgbClr val="1C8B53"/>
            </a:solidFill>
            <a:prstDash val="solid"/>
          </a:ln>
        </p:spPr>
      </p:sp>
      <p:sp>
        <p:nvSpPr>
          <p:cNvPr id="13" name="">
            <a:extLst xmlns:a="http://schemas.openxmlformats.org/drawingml/2006/main">
              <a:ext uri="{FF2B5EF4-FFF2-40B4-BE49-F238E27FC236}">
                <a16:creationId xmlns:a16="http://schemas.microsoft.com/office/drawing/2014/main" id="{4CF3D3A9-AF0B-401E-BF4E-582C308D0E25}"/>
              </a:ext>
            </a:extLst>
          </p:cNvPr>
          <p:cNvSpPr>
            <a:spLocks xmlns:a="http://schemas.openxmlformats.org/drawingml/2006/main" noGrp="1"/>
          </p:cNvSpPr>
          <p:nvPr/>
        </p:nvSpPr>
        <p:spPr>
          <a:xfrm xmlns:a="http://schemas.openxmlformats.org/drawingml/2006/main">
            <a:off x="857250" y="44005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4</a:t>
            </a:r>
          </a:p>
        </p:txBody>
      </p:sp>
      <p:sp>
        <p:nvSpPr>
          <p:cNvPr id="14" name="">
            <a:extLst xmlns:a="http://schemas.openxmlformats.org/drawingml/2006/main">
              <a:ext uri="{FF2B5EF4-FFF2-40B4-BE49-F238E27FC236}">
                <a16:creationId xmlns:a16="http://schemas.microsoft.com/office/drawing/2014/main" id="{48941BC1-6E60-47AD-A36D-D1E67E8A9CED}"/>
              </a:ext>
            </a:extLst>
          </p:cNvPr>
          <p:cNvSpPr>
            <a:spLocks xmlns:a="http://schemas.openxmlformats.org/drawingml/2006/main" noGrp="1"/>
          </p:cNvSpPr>
          <p:nvPr/>
        </p:nvSpPr>
        <p:spPr>
          <a:xfrm xmlns:a="http://schemas.openxmlformats.org/drawingml/2006/main">
            <a:off x="1571625" y="4333875"/>
            <a:ext cx="866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FFFFFF"/>
                </a:solidFill>
              </a:defRPr>
            </a:pPr>
            <a:r>
              <a:rPr sz="1500" b="1" i="0">
                <a:solidFill>
                  <a:srgbClr val="FFFFFF"/>
                </a:solidFill>
              </a:rPr>
              <a:t>Les perspectives portent sur plus de données non violentes dynamiques, le GRU, la quantification et le déploiement embarqué.</a:t>
            </a:r>
          </a:p>
        </p:txBody>
      </p:sp>
      <p:sp>
        <p:nvSpPr>
          <p:cNvPr id="15" name="">
            <a:extLst xmlns:a="http://schemas.openxmlformats.org/drawingml/2006/main">
              <a:ext uri="{FF2B5EF4-FFF2-40B4-BE49-F238E27FC236}">
                <a16:creationId xmlns:a16="http://schemas.microsoft.com/office/drawing/2014/main" id="{4BE8F5A4-A62A-4DA7-B8CD-7056544B016B}"/>
              </a:ext>
            </a:extLst>
          </p:cNvPr>
          <p:cNvSpPr>
            <a:spLocks xmlns:a="http://schemas.openxmlformats.org/drawingml/2006/main" noGrp="1"/>
          </p:cNvSpPr>
          <p:nvPr/>
        </p:nvSpPr>
        <p:spPr>
          <a:xfrm xmlns:a="http://schemas.openxmlformats.org/drawingml/2006/main">
            <a:off x="1714500" y="5476875"/>
            <a:ext cx="8763000" cy="552450"/>
          </a:xfrm>
          <a:prstGeom xmlns:a="http://schemas.openxmlformats.org/drawingml/2006/main" prst="roundRect">
            <a:avLst>
              <a:gd name="adj" fmla="val 13793"/>
            </a:avLst>
          </a:prstGeom>
          <a:solidFill xmlns:a="http://schemas.openxmlformats.org/drawingml/2006/main">
            <a:srgbClr val="2A4D82"/>
          </a:solidFill>
          <a:ln xmlns:a="http://schemas.openxmlformats.org/drawingml/2006/main" w="9525">
            <a:solidFill>
              <a:srgbClr val="5D7DA8"/>
            </a:solidFill>
            <a:prstDash val="solid"/>
          </a:ln>
        </p:spPr>
      </p:sp>
      <p:sp>
        <p:nvSpPr>
          <p:cNvPr id="16" name="">
            <a:extLst xmlns:a="http://schemas.openxmlformats.org/drawingml/2006/main">
              <a:ext uri="{FF2B5EF4-FFF2-40B4-BE49-F238E27FC236}">
                <a16:creationId xmlns:a16="http://schemas.microsoft.com/office/drawing/2014/main" id="{20384F7B-0D18-4EE5-BB89-0C0BB4259654}"/>
              </a:ext>
            </a:extLst>
          </p:cNvPr>
          <p:cNvSpPr>
            <a:spLocks xmlns:a="http://schemas.openxmlformats.org/drawingml/2006/main" noGrp="1"/>
          </p:cNvSpPr>
          <p:nvPr/>
        </p:nvSpPr>
        <p:spPr>
          <a:xfrm xmlns:a="http://schemas.openxmlformats.org/drawingml/2006/main">
            <a:off x="2000250" y="56388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i="1">
                <a:solidFill>
                  <a:srgbClr val="FFFFFF"/>
                </a:solidFill>
              </a:defRPr>
            </a:pPr>
            <a:r>
              <a:rPr sz="1350" b="0" i="1">
                <a:solidFill>
                  <a:srgbClr val="FFFFFF"/>
                </a:solidFill>
              </a:rPr>
              <a:t>Message final : SIRCH ne remplace pas l’agent de sécurité ; il lui donne un signal rapide, mesurable et vérifiable.</a:t>
            </a:r>
          </a:p>
        </p:txBody>
      </p:sp>
      <p:sp>
        <p:nvSpPr>
          <p:cNvPr id="17" name="">
            <a:extLst xmlns:a="http://schemas.openxmlformats.org/drawingml/2006/main">
              <a:ext uri="{FF2B5EF4-FFF2-40B4-BE49-F238E27FC236}">
                <a16:creationId xmlns:a16="http://schemas.microsoft.com/office/drawing/2014/main" id="{AB512125-4A80-432D-B5B6-381B7EA1BD34}"/>
              </a:ext>
            </a:extLst>
          </p:cNvPr>
          <p:cNvSpPr>
            <a:spLocks xmlns:a="http://schemas.openxmlformats.org/drawingml/2006/main" noGrp="1"/>
          </p:cNvSpPr>
          <p:nvPr/>
        </p:nvSpPr>
        <p:spPr>
          <a:xfrm xmlns:a="http://schemas.openxmlformats.org/drawingml/2006/main">
            <a:off x="552450" y="6362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i="0">
                <a:solidFill>
                  <a:srgbClr val="D9E6F1"/>
                </a:solidFill>
              </a:defRPr>
            </a:pPr>
            <a:r>
              <a:rPr sz="675" b="0" i="0">
                <a:solidFill>
                  <a:srgbClr val="D9E6F1"/>
                </a:solidFill>
              </a:rPr>
              <a:t>Conclusion</a:t>
            </a:r>
          </a:p>
        </p:txBody>
      </p:sp>
      <p:sp>
        <p:nvSpPr>
          <p:cNvPr id="18" name="">
            <a:extLst xmlns:a="http://schemas.openxmlformats.org/drawingml/2006/main">
              <a:ext uri="{FF2B5EF4-FFF2-40B4-BE49-F238E27FC236}">
                <a16:creationId xmlns:a16="http://schemas.microsoft.com/office/drawing/2014/main" id="{F2E58022-62E0-4CC9-9808-2C45F033A711}"/>
              </a:ext>
            </a:extLst>
          </p:cNvPr>
          <p:cNvSpPr>
            <a:spLocks xmlns:a="http://schemas.openxmlformats.org/drawingml/2006/main" noGrp="1"/>
          </p:cNvSpPr>
          <p:nvPr/>
        </p:nvSpPr>
        <p:spPr>
          <a:xfrm xmlns:a="http://schemas.openxmlformats.org/drawingml/2006/main">
            <a:off x="11049000" y="63627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0" i="0">
                <a:solidFill>
                  <a:srgbClr val="D9E6F1"/>
                </a:solidFill>
              </a:defRPr>
            </a:pPr>
            <a:r>
              <a:rPr sz="750" b="0" i="0">
                <a:solidFill>
                  <a:srgbClr val="D9E6F1"/>
                </a:solidFill>
              </a:rPr>
              <a:t>18 / 18</a:t>
            </a:r>
          </a:p>
        </p:txBody>
      </p:sp>
    </p:spTree>
    <p:extLst>
      <p:ext uri="{BB962C8B-B14F-4D97-AF65-F5344CB8AC3E}">
        <p14:creationId xmlns:p14="http://schemas.microsoft.com/office/powerpoint/2010/main" val="15930327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2026-07-08T14:02:23.2750000Z</dcterms:created>
  <dcterms:modified xsi:type="dcterms:W3CDTF">2026-07-08T14:02:23.2760000Z</dcterms:modified>
</coreProperties>
</file>