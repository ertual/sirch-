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48ad79b6734c60" /><Relationship Type="http://schemas.openxmlformats.org/officeDocument/2006/relationships/extended-properties" Target="/docProps/app.xml" Id="Rc3a2f48bd9154637" /><Relationship Type="http://schemas.openxmlformats.org/officeDocument/2006/relationships/officeDocument" Target="/ppt/presentation.xml" Id="R2db2d634c40e45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adbda8c60244a1"/>
  </p:sldMasterIdLst>
  <p:notesMasterIdLst>
    <p:notesMasterId xmlns:r="http://schemas.openxmlformats.org/officeDocument/2006/relationships" r:id="Rcfad169dc76041d0"/>
  </p:notesMasterIdLst>
  <p:sldIdLst>
    <p:sldId xmlns:r="http://schemas.openxmlformats.org/officeDocument/2006/relationships" id="256" r:id="R5b6803304191472d"/>
    <p:sldId xmlns:r="http://schemas.openxmlformats.org/officeDocument/2006/relationships" id="257" r:id="Rcc3f08a2ccb04f13"/>
    <p:sldId xmlns:r="http://schemas.openxmlformats.org/officeDocument/2006/relationships" id="258" r:id="R482b2ba2f56243fa"/>
    <p:sldId xmlns:r="http://schemas.openxmlformats.org/officeDocument/2006/relationships" id="259" r:id="R7c3c41323d344c8c"/>
    <p:sldId xmlns:r="http://schemas.openxmlformats.org/officeDocument/2006/relationships" id="260" r:id="R11f32c94e5694033"/>
    <p:sldId xmlns:r="http://schemas.openxmlformats.org/officeDocument/2006/relationships" id="261" r:id="Rbde2a8b17b4c4e6c"/>
    <p:sldId xmlns:r="http://schemas.openxmlformats.org/officeDocument/2006/relationships" id="262" r:id="Rabe41e2a71024893"/>
    <p:sldId xmlns:r="http://schemas.openxmlformats.org/officeDocument/2006/relationships" id="263" r:id="R2da226bf63b844b2"/>
    <p:sldId xmlns:r="http://schemas.openxmlformats.org/officeDocument/2006/relationships" id="264" r:id="R65008fc276304421"/>
    <p:sldId xmlns:r="http://schemas.openxmlformats.org/officeDocument/2006/relationships" id="265" r:id="R6e34c433aade430c"/>
    <p:sldId xmlns:r="http://schemas.openxmlformats.org/officeDocument/2006/relationships" id="266" r:id="Rc439c2e933d54a97"/>
    <p:sldId xmlns:r="http://schemas.openxmlformats.org/officeDocument/2006/relationships" id="267" r:id="R9cd094715ac24325"/>
    <p:sldId xmlns:r="http://schemas.openxmlformats.org/officeDocument/2006/relationships" id="268" r:id="Re78d450bd94f4a1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26e047f45a4fe7" /><Relationship Type="http://schemas.openxmlformats.org/officeDocument/2006/relationships/slideMaster" Target="/ppt/slideMasters/slideMaster1.xml" Id="R2eadbda8c60244a1" /><Relationship Type="http://schemas.openxmlformats.org/officeDocument/2006/relationships/notesMaster" Target="/ppt/notesMasters/notesMaster1.xml" Id="Rcfad169dc76041d0" /><Relationship Type="http://schemas.openxmlformats.org/officeDocument/2006/relationships/presProps" Target="/ppt/presProps.xml" Id="R2996acc6268b45d2" /><Relationship Type="http://schemas.openxmlformats.org/officeDocument/2006/relationships/tableStyles" Target="/ppt/tableStyles.xml" Id="R2dfd5110f9b0452a" /><Relationship Type="http://schemas.openxmlformats.org/officeDocument/2006/relationships/slide" Target="/ppt/slides/slide1.xml" Id="R5b6803304191472d" /><Relationship Type="http://schemas.openxmlformats.org/officeDocument/2006/relationships/slide" Target="/ppt/slides/slide2.xml" Id="Rcc3f08a2ccb04f13" /><Relationship Type="http://schemas.openxmlformats.org/officeDocument/2006/relationships/slide" Target="/ppt/slides/slide3.xml" Id="R482b2ba2f56243fa" /><Relationship Type="http://schemas.openxmlformats.org/officeDocument/2006/relationships/slide" Target="/ppt/slides/slide4.xml" Id="R7c3c41323d344c8c" /><Relationship Type="http://schemas.openxmlformats.org/officeDocument/2006/relationships/slide" Target="/ppt/slides/slide5.xml" Id="R11f32c94e5694033" /><Relationship Type="http://schemas.openxmlformats.org/officeDocument/2006/relationships/slide" Target="/ppt/slides/slide6.xml" Id="Rbde2a8b17b4c4e6c" /><Relationship Type="http://schemas.openxmlformats.org/officeDocument/2006/relationships/slide" Target="/ppt/slides/slide7.xml" Id="Rabe41e2a71024893" /><Relationship Type="http://schemas.openxmlformats.org/officeDocument/2006/relationships/slide" Target="/ppt/slides/slide8.xml" Id="R2da226bf63b844b2" /><Relationship Type="http://schemas.openxmlformats.org/officeDocument/2006/relationships/slide" Target="/ppt/slides/slide9.xml" Id="R65008fc276304421" /><Relationship Type="http://schemas.openxmlformats.org/officeDocument/2006/relationships/slide" Target="/ppt/slides/slide10.xml" Id="R6e34c433aade430c" /><Relationship Type="http://schemas.openxmlformats.org/officeDocument/2006/relationships/slide" Target="/ppt/slides/slide11.xml" Id="Rc439c2e933d54a97" /><Relationship Type="http://schemas.openxmlformats.org/officeDocument/2006/relationships/slide" Target="/ppt/slides/slide12.xml" Id="R9cd094715ac24325" /><Relationship Type="http://schemas.openxmlformats.org/officeDocument/2006/relationships/slide" Target="/ppt/slides/slide13.xml" Id="Re78d450bd94f4a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35a811687149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c09b056e2849e1" /><Relationship Type="http://schemas.openxmlformats.org/officeDocument/2006/relationships/notesMaster" Target="/ppt/notesMasters/notesMaster1.xml" Id="Rdbc53cd97bb745f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9e7413767ea4cb1" /><Relationship Type="http://schemas.openxmlformats.org/officeDocument/2006/relationships/notesMaster" Target="/ppt/notesMasters/notesMaster1.xml" Id="R4e1ea62c3443481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8242d1788f4b96" /><Relationship Type="http://schemas.openxmlformats.org/officeDocument/2006/relationships/notesMaster" Target="/ppt/notesMasters/notesMaster1.xml" Id="R063e40da57754e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079d46e03c74e0b" /><Relationship Type="http://schemas.openxmlformats.org/officeDocument/2006/relationships/notesMaster" Target="/ppt/notesMasters/notesMaster1.xml" Id="Re078449b21a14fe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037f02d26b74334" /><Relationship Type="http://schemas.openxmlformats.org/officeDocument/2006/relationships/notesMaster" Target="/ppt/notesMasters/notesMaster1.xml" Id="Ra97a4f7d87a248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dd25759eb54540" /><Relationship Type="http://schemas.openxmlformats.org/officeDocument/2006/relationships/notesMaster" Target="/ppt/notesMasters/notesMaster1.xml" Id="Rcf1566ec299e45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4edac9526a4fb8" /><Relationship Type="http://schemas.openxmlformats.org/officeDocument/2006/relationships/notesMaster" Target="/ppt/notesMasters/notesMaster1.xml" Id="R241c3e0a2d31415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e4a1c717c174227" /><Relationship Type="http://schemas.openxmlformats.org/officeDocument/2006/relationships/notesMaster" Target="/ppt/notesMasters/notesMaster1.xml" Id="R2df016a6ae524c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44e779440aa4dd7" /><Relationship Type="http://schemas.openxmlformats.org/officeDocument/2006/relationships/notesMaster" Target="/ppt/notesMasters/notesMaster1.xml" Id="Ra4d3c6b2865242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277dbc5329d4159" /><Relationship Type="http://schemas.openxmlformats.org/officeDocument/2006/relationships/notesMaster" Target="/ppt/notesMasters/notesMaster1.xml" Id="R81a95e46dfed48a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ea71c903303400a" /><Relationship Type="http://schemas.openxmlformats.org/officeDocument/2006/relationships/notesMaster" Target="/ppt/notesMasters/notesMaster1.xml" Id="Rbe64b7d145ee45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530d4be82b549f5" /><Relationship Type="http://schemas.openxmlformats.org/officeDocument/2006/relationships/notesMaster" Target="/ppt/notesMasters/notesMaster1.xml" Id="R0a88e6d0cc314bb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968b21ab45b4a3e" /><Relationship Type="http://schemas.openxmlformats.org/officeDocument/2006/relationships/notesMaster" Target="/ppt/notesMasters/notesMaster1.xml" Id="Rb38ebc512c69400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eb977a8830546c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b44919daad447ea" /><Relationship Type="http://schemas.openxmlformats.org/officeDocument/2006/relationships/slideLayout" Target="/ppt/slideLayouts/slideLayout1.xml" Id="Rf17fb9f5c98c48b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17fb9f5c98c48b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6e3acd4914e51" /><Relationship Type="http://schemas.openxmlformats.org/officeDocument/2006/relationships/notesSlide" Target="/ppt/notesSlides/notesSlide1.xml" Id="R3eb9bb33808e40b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f443f41da54217" /><Relationship Type="http://schemas.openxmlformats.org/officeDocument/2006/relationships/notesSlide" Target="/ppt/notesSlides/notesSlide2.xml" Id="R777eed2ce8a64c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039a876bab4797" /><Relationship Type="http://schemas.openxmlformats.org/officeDocument/2006/relationships/image" Target="/ppt/media/image.jpeg" Id="R890b6ecb53bb4f12" /><Relationship Type="http://schemas.openxmlformats.org/officeDocument/2006/relationships/notesSlide" Target="/ppt/notesSlides/notesSlide3.xml" Id="R8cde50e7038e492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193d9bb584754" /><Relationship Type="http://schemas.openxmlformats.org/officeDocument/2006/relationships/notesSlide" Target="/ppt/notesSlides/notesSlide4.xml" Id="R1eebce09584e4a1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22c941f13143f6" /><Relationship Type="http://schemas.openxmlformats.org/officeDocument/2006/relationships/image" Target="/ppt/media/image.png" Id="Rd2f2d7516e674706" /><Relationship Type="http://schemas.openxmlformats.org/officeDocument/2006/relationships/notesSlide" Target="/ppt/notesSlides/notesSlide5.xml" Id="R1b61c4b1d0844c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688a849c614022" /><Relationship Type="http://schemas.openxmlformats.org/officeDocument/2006/relationships/notesSlide" Target="/ppt/notesSlides/notesSlide6.xml" Id="R7ce29f68034646a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fe49cfa0dc48a4" /><Relationship Type="http://schemas.openxmlformats.org/officeDocument/2006/relationships/image" Target="/ppt/media/image2.png" Id="R2d31f3812d444db7" /><Relationship Type="http://schemas.openxmlformats.org/officeDocument/2006/relationships/notesSlide" Target="/ppt/notesSlides/notesSlide7.xml" Id="R44c425dd21f840a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5a317b47114260" /><Relationship Type="http://schemas.openxmlformats.org/officeDocument/2006/relationships/notesSlide" Target="/ppt/notesSlides/notesSlide8.xml" Id="Rf1008766b42b4fc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2fb98f6420409c" /><Relationship Type="http://schemas.openxmlformats.org/officeDocument/2006/relationships/image" Target="/ppt/media/image3.png" Id="R82b2ecd34a6a47a5" /><Relationship Type="http://schemas.openxmlformats.org/officeDocument/2006/relationships/notesSlide" Target="/ppt/notesSlides/notesSlide9.xml" Id="Racbc52fecf844f0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b234d086764b4c" /><Relationship Type="http://schemas.openxmlformats.org/officeDocument/2006/relationships/image" Target="/ppt/media/image4.png" Id="R7e96ef0ba67344bc" /><Relationship Type="http://schemas.openxmlformats.org/officeDocument/2006/relationships/notesSlide" Target="/ppt/notesSlides/notesSlide10.xml" Id="Rb3757b3f3bd9404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4cd410ce841ff" /><Relationship Type="http://schemas.openxmlformats.org/officeDocument/2006/relationships/image" Target="/ppt/media/image5.png" Id="R6f07a3ed915e4110" /><Relationship Type="http://schemas.openxmlformats.org/officeDocument/2006/relationships/image" Target="/ppt/media/image6.png" Id="Rf24eb77d4f3647ee" /><Relationship Type="http://schemas.openxmlformats.org/officeDocument/2006/relationships/image" Target="/ppt/media/image7.png" Id="R5aabbc5a8aa042d2" /><Relationship Type="http://schemas.openxmlformats.org/officeDocument/2006/relationships/notesSlide" Target="/ppt/notesSlides/notesSlide11.xml" Id="R611750c3140e4d4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cca3548d9e4d93" /><Relationship Type="http://schemas.openxmlformats.org/officeDocument/2006/relationships/image" Target="/ppt/media/image8.png" Id="R954f2f7e0b634f82" /><Relationship Type="http://schemas.openxmlformats.org/officeDocument/2006/relationships/notesSlide" Target="/ppt/notesSlides/notesSlide12.xml" Id="R746bfa7009bf401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9a07a88ac44f1" /><Relationship Type="http://schemas.openxmlformats.org/officeDocument/2006/relationships/notesSlide" Target="/ppt/notesSlides/notesSlide13.xml" Id="R3b54f713726643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F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F13B4-46A6-4981-98F8-D87C1401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28750"/>
            <a:ext cx="12192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SIRCH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A65AF6-A73B-41C1-A9CE-1A4358278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38375"/>
            <a:ext cx="1219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Système Intelligent de Reconnaissance de Comportements Humains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BBFEFF-597C-459D-9586-B57D0EC7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57500"/>
            <a:ext cx="4000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B5FB57-AFBD-4BF8-97ED-519E88ED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95650"/>
            <a:ext cx="7429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Application à la détection de violence en temps réel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68C6D1-29E2-4A67-938B-A2FD7E359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7750"/>
            <a:ext cx="64770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2A4D82"/>
          </a:solidFill>
          <a:ln xmlns:a="http://schemas.openxmlformats.org/drawingml/2006/main" w="9525">
            <a:solidFill>
              <a:srgbClr val="5D7DA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6680A3-2651-4C85-BFBD-D190B27AC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5943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Alipade Benzanza Tracy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Université Nouveaux Horizons, Faculté des Sciences Informatiques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Directeur : Prof. Antoine Bagula    Codirecteur : Assistant Landry Mbale</a:t>
            </a:r>
          </a:p>
          <a:p xmlns:a="http://schemas.openxmlformats.org/drawingml/2006/main">
            <a:pPr algn="ctr">
              <a:defRPr sz="1125" b="0" i="0">
                <a:solidFill>
                  <a:srgbClr val="FFFFFF"/>
                </a:solidFill>
              </a:defRPr>
            </a:pPr>
            <a:r>
              <a:rPr sz="1125" b="0" i="0">
                <a:solidFill>
                  <a:srgbClr val="FFFFFF"/>
                </a:solidFill>
              </a:rPr>
              <a:t>Année académique 2025 à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F04B167-0E66-410A-9007-3E19C7C7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9E6F1"/>
                </a:solidFill>
              </a:defRPr>
            </a:pPr>
            <a:r>
              <a:rPr sz="675" b="0" i="0">
                <a:solidFill>
                  <a:srgbClr val="D9E6F1"/>
                </a:solidFill>
              </a:rPr>
              <a:t>Titre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399818-80CD-4D0F-BEC3-331831E9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9E6F1"/>
                </a:solidFill>
              </a:defRPr>
            </a:pPr>
            <a:r>
              <a:rPr sz="750" b="0" i="0">
                <a:solidFill>
                  <a:srgbClr val="D9E6F1"/>
                </a:solidFill>
              </a:rPr>
              <a:t>1 / 13</a:t>
            </a:r>
          </a:p>
        </p:txBody>
      </p:sp>
    </p:spTree>
    <p:extLst>
      <p:ext uri="{BB962C8B-B14F-4D97-AF65-F5344CB8AC3E}">
        <p14:creationId xmlns:p14="http://schemas.microsoft.com/office/powerpoint/2010/main" val="970375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6B5DBE-F9F2-4C26-A94B-792C6B8A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Plan de la présentation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4D601D-85F4-4212-9B43-C3DBB498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10BED1-F7EA-4CA2-9360-D2105FDFC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Une progression courte : du problème scientifique à la validation du système.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EBFC6-10D4-42ED-8DE1-80F873BC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621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14238-1619-4131-BA8F-FB299110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716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5819-5FFC-4BD5-A87F-6FF2F7DFB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47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61D12-8486-4EDE-8FAF-BE538E45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9526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Contexte et problème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43B3FD-9EE1-4F5D-BBCA-4685DC9D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2383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Pourquoi automatiser la surveillance vidéo 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74A021-38F5-4D91-88D0-5DCC6BB8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621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7078EB-40CE-4E2A-9132-2626108A0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9716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7A4BD0-86B4-413C-820F-E7E2F384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478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4D9C4B-19C2-4474-BCFB-626DA07C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9526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Objectifs et hypothèse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E00736-8CCB-43C2-A120-1ADBDEB7F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2383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Ce que SIRCH cherche à démontrer.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7D3FC7-3B98-4978-B0CE-DB90D896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5C56FC-6D4B-4FDD-91EE-066D4A633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0992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4691FD1-B995-4EE9-9700-EF91205A3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E089739-E26E-4C55-8C10-72D8FB7F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190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Méthode et outils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785B1E-29FE-40E7-A7E9-364819312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4766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Données, modèle, pipeline et technologies.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A6D0CA-7349-46B8-9877-064047ED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00037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C6200-3E41-4B3B-AA33-86136A2E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0992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2BB048-BFC6-4391-9D65-E2A15AD77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28612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1AB33F-2FDB-46C5-9758-0F691B6DA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90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Implémentation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CF07AE-D3FB-45F6-A741-62940BA7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47662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Comment les sept modules fonctionnent ensemble.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B95326-B8A0-48E3-B13E-D644F5EE3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0601B-3248-43FA-A6E5-C24E80B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4481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56C62FC-4FA7-4303-9B90-679579F0F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F326D02-3B51-4CD2-B703-9341CB0DC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429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Résultats et discussion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034C62A-2888-4CB3-A99E-921A524C0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7148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Ce que les métriques disent vraiment sur SIRCH.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C89DE7D-BAFA-4D06-9715-1493750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38625"/>
            <a:ext cx="44767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6925BEC-7517-4181-8B0F-040DF256B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48175"/>
            <a:ext cx="400050" cy="4000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36B379-3E6B-4571-8C5D-888690AA8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524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7A93E36-E070-4E2E-B2DA-9F9F1211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2912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Limites et perspectives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89FE7CF-A676-455D-904D-45292AFF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7148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5A6B82"/>
                </a:solidFill>
              </a:defRPr>
            </a:pPr>
            <a:r>
              <a:rPr sz="1050" b="0" i="0">
                <a:solidFill>
                  <a:srgbClr val="5A6B82"/>
                </a:solidFill>
              </a:rPr>
              <a:t>Ce que le système maîtrise et ce qui reste à améliorer.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0F8449-3788-4B77-842D-FEE2C31B6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Plan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3EB4D4F-8DFD-4735-8EF2-8636E42F9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2 / 13</a:t>
            </a:r>
          </a:p>
        </p:txBody>
      </p:sp>
    </p:spTree>
    <p:extLst>
      <p:ext uri="{BB962C8B-B14F-4D97-AF65-F5344CB8AC3E}">
        <p14:creationId xmlns:p14="http://schemas.microsoft.com/office/powerpoint/2010/main" val="102303665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CC6E0E-BB25-4412-A863-79091E5EF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La surveillance vidéo produit trop d’images pour l’œil humain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18A9EA-E71D-4325-8D2A-9DBCE911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8B67F3-47E0-4124-8D1E-99BA2395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besoin n’est pas seulement de classifier une vidéo, mais d’aider une réaction rapide.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0b6ecb53bb4f12"/>
          <a:srcRect xmlns:a="http://schemas.openxmlformats.org/drawingml/2006/main" l="16816" t="0" r="168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1666875"/>
            <a:ext cx="4000500" cy="2476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4C2FE4-A013-4030-88E8-DF3D4838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26670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2A2A7-C7CE-4D7D-9A5F-350B4ADC7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1A993B-B65A-4E80-9BF7-7D5DA69E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895475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Contexte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9F513C-BCEC-4699-9556-AA97A28D6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2276475"/>
            <a:ext cx="2247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Les caméras se multiplient, mais l’attention humaine reste limitée et se fatigue vite.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FB800E-2DA9-444E-8316-F4513D6D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2857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2DAB7-0A99-49E4-BCF8-206A865CF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9E13B3-C7BE-4EC7-AFAF-4BD900BF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895475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Problème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6A5AB-B651-41FB-A884-ED52C380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76475"/>
            <a:ext cx="2438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Les approches existantes confondent souvent violence et activité physique intense.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D4C869-41DE-46D9-9044-99A32776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71875"/>
            <a:ext cx="5762625" cy="1238250"/>
          </a:xfrm>
          <a:prstGeom xmlns:a="http://schemas.openxmlformats.org/drawingml/2006/main" prst="roundRect">
            <a:avLst>
              <a:gd name="adj" fmla="val 61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874322-38AA-4D96-9967-28EB793F8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571875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BF16BB-94CF-4988-9CC0-AA458F387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800475"/>
            <a:ext cx="5381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Question de recherche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791503-A1EE-4F77-B150-D184367B7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4181475"/>
            <a:ext cx="53435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Comment reconnaître automatiquement des comportements violents en temps réel, avec de meilleures performances que les approches actuelles, tout en restant déployable sur un ordinateur ordinaire 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54C623-0447-4859-9FBA-48D56E40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334000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C8B53"/>
                </a:solidFill>
              </a:defRPr>
            </a:pPr>
            <a:r>
              <a:rPr sz="1425" b="1" i="0">
                <a:solidFill>
                  <a:srgbClr val="1C8B53"/>
                </a:solidFill>
              </a:rPr>
              <a:t>Ce que SIRCH cherche à combler : un système complet, local, mesuré sur des données variées et testé aussi sur des scènes sportives ou dansées.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A2FE02-0CA6-42DB-9134-EAC8FD08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Contexte et problématique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64E786C-0457-410E-A320-5127ABE5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3 / 13</a:t>
            </a:r>
          </a:p>
        </p:txBody>
      </p:sp>
    </p:spTree>
    <p:extLst>
      <p:ext uri="{BB962C8B-B14F-4D97-AF65-F5344CB8AC3E}">
        <p14:creationId xmlns:p14="http://schemas.microsoft.com/office/powerpoint/2010/main" val="181562593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9F3B53-43F3-4759-9463-B57510DAB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SIRCH vise un système complet, pas seulement un bon modèle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8124F9-9A3F-4ECA-84CA-A0D4FD34B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26993E-C209-494D-A0D8-A4EFD12E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Les objectifs couvrent la littérature, le modèle, l’évaluation et le déploiement.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BEE17E-9EFE-4B27-98F4-230922BCE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8589AD-9599-4A28-8DB2-2F687DA33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448BCE4-9016-4D6E-9CE0-D769A1BC6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95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Objectif général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4FA840-C190-4449-8DCE-11B585E3B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764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Concevoir et évaluer un système intelligent capable de détecter automatiquement la violence dans une vidéo, en temps réel, sur matériel ordinaire.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B90BE8-4341-4620-955B-6B7CA2E12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495300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B8C53-45CC-4EBA-BE5C-96E97692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66875"/>
            <a:ext cx="66675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848FB1-B744-4E23-AC1A-7FFB707AB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895475"/>
            <a:ext cx="457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Hypothèse de travail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BEED28-17A6-42EF-A3E4-AA3DB8FA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276475"/>
            <a:ext cx="453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Une architecture EfficientNetB0 + LSTM entraînée sur RLVS + RWF-2000 peut reconnaître la violence avec un bon compromis entre performance, rapidité et déployabilité.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B3706A-3595-46E0-B562-61DE19CC5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63B4EA-49C1-4980-B79B-233EA6FF1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55C8DE-8C4B-4BCD-80B6-4F70F927D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Analyser les travaux existants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8CF721-19DB-4F2B-8D1F-021455EA1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2225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C6DE11-0F01-4A19-BF18-5A11388E4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9D7160-7CC2-4AC4-A783-719BA708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99E106-7137-4394-8251-3A4D5DBE8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Choisir et justifier l’architecture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AC3622-D6CE-4A3E-ACC0-94D6EDF5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2A3B1BA-6483-4006-8F07-3F66E3532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63713-B496-40D5-8DC2-EE237F49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8AE8044-A9E7-4BD9-ABAA-24DF51D75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Entraîner et évaluer le modèle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D9611-8325-47CB-A5A4-C37439C0F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8475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86F0B-36E0-45FE-A658-D5F4B6336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3E5FCD-1135-4BC9-BE5E-AF50E768D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DAB0BC-77EB-4AA1-985E-63826D8B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Intégrer capture, décision, alertes et dashboard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8B545E-3116-4DF1-BCC4-A2DFFC29C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10527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6F9611-DF3C-480C-B061-FF03A8AD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619500"/>
            <a:ext cx="16954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15954A-BB32-462B-ACA8-4E89245C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790950"/>
            <a:ext cx="1695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 i="0">
                <a:solidFill>
                  <a:srgbClr val="1C8B53"/>
                </a:solidFill>
              </a:defRPr>
            </a:pPr>
            <a:r>
              <a:rPr sz="1500" b="1" i="0">
                <a:solidFill>
                  <a:srgbClr val="1C8B53"/>
                </a:solidFill>
              </a:rPr>
              <a:t>O5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8E20280-E52D-464D-BF57-253AB723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095750"/>
            <a:ext cx="1390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Tester les limites : sport, danse et généralisation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A44D01E-656B-4949-A671-CEEE9DBC9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340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Lecture attendue par le jury : le travail n’évalue pas seulement un score, il vérifie si la solution peut devenir un outil utilisable.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65585E-A6DE-43A7-AE3C-8FF36996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Objectifs et hypothèse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B0C50B-E11F-4CEB-8B35-20FDF1A2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4 / 13</a:t>
            </a:r>
          </a:p>
        </p:txBody>
      </p:sp>
    </p:spTree>
    <p:extLst>
      <p:ext uri="{BB962C8B-B14F-4D97-AF65-F5344CB8AC3E}">
        <p14:creationId xmlns:p14="http://schemas.microsoft.com/office/powerpoint/2010/main" val="172783601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5905C9-44FC-4657-ABB7-6F6520EBB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La littérature progresse, mais laisse trois angles morts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43A4FB-871B-49D2-AF05-85B8CC5DD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7A5112-C6B3-4C89-9791-22E4F01F6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SIRCH part des approches existantes et ajoute l’évaluation des biais et le déploiement.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6719C-7B34-4C0A-ABFD-0BC1E3672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278AD5-3862-4961-9922-ACFCE6A84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Approche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207F8-A1AF-4296-BEC4-9DA7FE1E8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16668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D00175-3EC5-47D0-993B-E7EC5401C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621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Force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D4D68D-814E-4B9B-9C21-D06FCF761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6668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1546EB-5470-40C9-9E08-DEDCAF2C7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17621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Limite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CDC2FD-D413-4AC2-879F-A609B0A6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764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DB685-AA31-4C54-99C3-B9555476D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Optical flow classique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17970-5E50-4E84-BF6C-3EB76591B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764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6A508-4676-4AAF-BD06-85B88E05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3717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Rapide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B7F15A-5DEE-44F9-9EFF-08D3E2B86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2764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5F102B-3E9C-4899-A90A-250A7E9E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3717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Peu précis sur scènes complexes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C8745E-923E-4036-AEC6-7D0C2F9E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860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BAE29C-37C4-432C-A7BD-367BFE533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813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CNN 3D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F43CBC-3014-4945-8E18-C7757877A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8860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A8CFFA-7F6A-45B9-80C9-52CBE3BD9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9813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Très précis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90F94D8-63E5-46D2-A24A-1240511A5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8860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FE944A-DB2F-44FF-9A08-EC4CAA391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813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Trop lourd pour un PC ordinaire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5727E-CB1E-44E8-995F-A8E09AAE0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956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0D9A6D8-E1C8-45B6-8714-AD65699E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909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CNN + LSTM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17885E-19F6-4160-9E15-5CB6D0D4C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956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DC959A-5D06-44C7-9B13-AADA17E70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90925"/>
            <a:ext cx="23241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Léger et temporel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5DF89D-2EEB-4D90-B994-2EC88B0E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95675"/>
            <a:ext cx="3048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EE8E84-6CC4-4DBF-BA6B-734CDF7A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3590925"/>
            <a:ext cx="289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Souvent évalué sur un seul dataset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f2d7516e674706"/>
          <a:stretch xmlns:a="http://schemas.openxmlformats.org/drawingml/2006/main"/>
        </p:blipFill>
        <p:spPr>
          <a:xfrm xmlns:a="http://schemas.openxmlformats.org/drawingml/2006/main">
            <a:off x="9001125" y="2378534"/>
            <a:ext cx="2000250" cy="957932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6E1CC3-2882-4BD7-BEFB-D83B269C8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857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5164D2-D87F-4126-BAD9-29A7E4A73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28625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Apport de SIRCH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2A6C2C-9F15-4EDA-BDFB-0CDED5D6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4572000"/>
            <a:ext cx="236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Combiner deux datasets, analyser les faux positifs sport/danse et livrer une chaîne complète avec alertes et tableau de bord.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B181203-24F8-40DF-AA77-620E3EF92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476875"/>
            <a:ext cx="962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Interprétation : le modèle n’est pas jugé uniquement sur sa précision, mais aussi sur son comportement hors laboratoire.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37A2A94-863B-4E4F-85A8-D61B53ABD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Revue de la littérature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614337-948A-4C1D-8E4A-929FF6C9E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5 / 13</a:t>
            </a:r>
          </a:p>
        </p:txBody>
      </p:sp>
    </p:spTree>
    <p:extLst>
      <p:ext uri="{BB962C8B-B14F-4D97-AF65-F5344CB8AC3E}">
        <p14:creationId xmlns:p14="http://schemas.microsoft.com/office/powerpoint/2010/main" val="87471961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EF17A-1391-42F5-95AF-EE3C68AC0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La méthode suit une chaîne scientifique reproductible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707BB-65D7-4075-99D5-38B85EB57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D6BA8F-B062-46F8-B126-EF3924B2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Chaque étape répond à une question : quoi apprendre, comment décider, puis comment vérifier.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0B2F4F-97AF-4749-A076-F17618966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A99144-5DC7-48F0-8B54-8AEA889DF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F9E316-F673-47D2-ABB4-F5BB9D427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Analyse du problème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F327BD-52DB-4B25-8E1D-57B1DE7D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8363D6-BCC6-4C85-96D1-A3C06C0C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6A313-0075-42B7-A246-3CB39FA6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B4AA7C-9549-4546-838A-A121F7143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Corpus RLVS + RWF-2000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ADF52-2403-43AC-8147-1758895ED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7074D-D420-4FF6-A117-CE7BA639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92C33E-2436-491F-A7A6-C9F529491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6313F21-1415-4E6F-A6CB-15A3B170D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Prétraitement N = 20 frames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44CBAE-887E-4387-ADBD-AB1032F6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33A4A3-C911-40E9-BA15-55437A7B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47A732-D58B-4E39-B140-3F214422A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3143E85-0B94-414A-AC6F-95F8AEE9B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EfficientNetB0 + LSTM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C6E08B-B508-4545-BB45-A267CDBF2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ACCF89-059D-4559-AFA3-7B33DAA7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532B8F-E503-4385-8907-F04C9FDA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860C673-7DA3-43E6-AB4B-803FB828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Évaluation test + scénarios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F62C4A9-DF76-4D6A-A594-52397C842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676525"/>
            <a:ext cx="3429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27551BE-2902-444B-82E8-770AEAB47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143125"/>
            <a:ext cx="14287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18492C-9E44-4A74-AB2D-D1D016C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343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C8B53"/>
                </a:solidFill>
              </a:defRPr>
            </a:pPr>
            <a:r>
              <a:rPr sz="1800" b="1" i="0">
                <a:solidFill>
                  <a:srgbClr val="1C8B53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3D6ADE-8939-4CBA-8135-9088B89A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743200"/>
            <a:ext cx="1162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102033"/>
                </a:solidFill>
              </a:defRPr>
            </a:pPr>
            <a:r>
              <a:rPr sz="975" b="1" i="0">
                <a:solidFill>
                  <a:srgbClr val="102033"/>
                </a:solidFill>
              </a:rPr>
              <a:t>Déploiement local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57D3E1-7900-453C-BD66-74185C8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14754-D838-483E-AFEA-5056F5C97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9BFC412-FE5B-4EE0-8026-FCA21CAA8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22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Décision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F5D75D-E684-4D38-805C-FB8B4579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6101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 modèle produit un score par séquence. SIRCH moyenne les K = 5 derniers scores et déclenche une alerte si la moyenne dépasse θ = 0,50.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CD40C4B-7947-4948-ACB8-E6073FFF4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F504FAA-3C47-4079-94C9-97E57F9BF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92A00BD-566F-4139-8822-0D80A186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22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Validation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7EEC1F-B71B-4610-8978-CFE25559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6101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Les résultats sont analysés par métriques, matrices de confusion, ROC-AUC, PR-AUC, McNemar, ablation et cross-dataset.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B6EBB76-AF76-42AA-815C-29ECFF3A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314325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8944EC1-D250-42D7-8A75-8389B61EA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00500"/>
            <a:ext cx="66675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B0592D6-2583-47B2-A77F-300F82953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2291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Déploiement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D25C157-3A8C-42BB-A96E-D6E6C76D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4610100"/>
            <a:ext cx="2724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La solution tourne localement : webcam ou vidéo, base SQLite, email, Telegram optionnel et dashboard Flask.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0395225-83F6-47A3-9734-563D9A2CB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Méthodologie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DE8CC1-170A-4B45-967A-9FC6EB5A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6 / 13</a:t>
            </a:r>
          </a:p>
        </p:txBody>
      </p:sp>
    </p:spTree>
    <p:extLst>
      <p:ext uri="{BB962C8B-B14F-4D97-AF65-F5344CB8AC3E}">
        <p14:creationId xmlns:p14="http://schemas.microsoft.com/office/powerpoint/2010/main" val="147725467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98CBB0-60E1-4D19-A5B5-C4BAF716B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 corpus combine deux mondes visuels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D6BCA9-50D9-4395-B4DD-015CF6036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4C46F-08F4-4DFB-9F35-2AEFCFA29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RLVS est plus contrôlé, RWF-2000 se rapproche davantage de la vidéosurveillance réelle.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4DFDB5-03EB-4FA3-9075-5259E396C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69ED3-69C5-4B2B-B823-DB4D8F19C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6C4D8-95CF-4561-9379-CA92DD535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16192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3168E1-6849-44D3-AB36-15791A7A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17145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Violence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574AA-7F7F-444C-A019-695E4D691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619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17C82-84A0-436F-9D67-848745B6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7145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Non-violence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09AD29-188E-4539-88C4-6F90261CA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6192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7909CE9-C9F7-461F-974F-3345D69B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7145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B366C1-EB68-46DB-AB02-349025F4D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192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F16314-15BF-470B-966E-23077285C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145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Style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E24023C-F5AC-46F8-A468-E2F1C8381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336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BC14A5-DD62-4584-A93B-FCF1DC71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288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RLVS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6B42C7-000A-4F9F-ABDE-A002755AE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1336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C640D5-D4BA-4ADD-AF01-7D2BC3B33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288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CF7C0D-B906-457D-A7A2-F6937309B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133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DB4C45-236B-457F-A473-AD28ED3C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2288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191458-9C8C-46D7-98C6-4A372BBF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4D91C4F-2C51-4C60-B2BC-D006625D0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2288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850AED-F27A-485A-BE5F-64ACE1C91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8253C-30BC-4921-8DFA-A2EC4FB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288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Contrôlé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21F24BC-CE11-40A8-B5FC-0E25ABB70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8B0C4B-AF0F-4A6D-96D2-4A066C1A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4320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RWF-2000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EB66A3C-3AF2-4980-941F-A594F5B97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64795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316AE0A-871C-4EB3-8080-5E6935DC4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74320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991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E4EFEB-6673-4AD4-8669-A3063E858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647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E8BEAF-E5CF-4799-BBFC-D1D0B3FA5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43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1 000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A16A43-7C4B-4127-B5E0-720CE89C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64795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1BC77D7-2DD7-4F43-B6DB-A3585A0A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74320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4FB8E62-AC1A-425F-B357-B1C99F50D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6479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AF4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E4F2219-53E5-4E70-8988-5E8F0188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7432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CCTV réel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C30DC8B-B0EB-4CDD-BCC7-9320A049B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62300"/>
            <a:ext cx="1619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343B1C-0502-4F54-A113-C77E53316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1466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Total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4267B9-1A8C-4C70-AC9B-BA435DA2D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62300"/>
            <a:ext cx="133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4BD1FA3-B665-44BA-8770-1422A7380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257550"/>
            <a:ext cx="11811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1 991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9DAB2B-8757-41AA-9AF7-29458DB8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623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16FC4D-82F4-4232-BB41-C96398E9C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2575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2 000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27F469-6B91-4020-B56A-549BCFCC6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1623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C12A83D-7594-4807-B52B-A5E7A6D7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57550"/>
            <a:ext cx="1276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3 991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2449FE3-AECA-46E1-8191-0D92AC4A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623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E6AB4F-7D15-4300-8C9D-27C81C9C1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2575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Équilibré</a:t>
            </a:r>
          </a:p>
        </p:txBody>
      </p:sp>
      <p:pic>
        <p:nvPicPr>
          <p:cNvPr id="1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31f3812d444db7"/>
          <a:stretch xmlns:a="http://schemas.openxmlformats.org/drawingml/2006/main"/>
        </p:blipFill>
        <p:spPr>
          <a:xfrm xmlns:a="http://schemas.openxmlformats.org/drawingml/2006/main">
            <a:off x="7620000" y="1721147"/>
            <a:ext cx="3429000" cy="1948856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A5A762-5AD0-45FB-A9DD-60496031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76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B3DA85-D0E5-4BF9-B162-C71E27BEE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67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3F6E"/>
                </a:solidFill>
              </a:defRPr>
            </a:pPr>
            <a:r>
              <a:rPr sz="2250" b="1" i="0">
                <a:solidFill>
                  <a:srgbClr val="203F6E"/>
                </a:solidFill>
              </a:rPr>
              <a:t>2 793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5923AA5-0877-4732-BB57-428670B3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29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Entraînement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71F95C-28E9-4BA2-B5EC-5BDC943F8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387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vidéos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EB58E42-3389-4E4D-AAE4-29D15FDF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4476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E353732-8296-4161-BD88-4ADC6957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667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8B53"/>
                </a:solidFill>
              </a:defRPr>
            </a:pPr>
            <a:r>
              <a:rPr sz="2250" b="1" i="0">
                <a:solidFill>
                  <a:srgbClr val="1C8B53"/>
                </a:solidFill>
              </a:rPr>
              <a:t>599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2F840B8-0607-4D68-B1B2-7D51DD61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029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Validation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3B1367E-A712-4E38-9AAE-53605C504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387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vidéos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78253F-8180-4B5D-A685-B47DB47B9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476750"/>
            <a:ext cx="1809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918965B-6493-4527-8B68-E3C8F058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4667250"/>
            <a:ext cx="1466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95C12"/>
                </a:solidFill>
              </a:defRPr>
            </a:pPr>
            <a:r>
              <a:rPr sz="2250" b="1" i="0">
                <a:solidFill>
                  <a:srgbClr val="C95C12"/>
                </a:solidFill>
              </a:rPr>
              <a:t>599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387699-ECF3-4C5E-800A-0B8794BA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029200"/>
            <a:ext cx="1466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Test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17C17D7-5F61-4A95-97BA-4E8D948BF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5238750"/>
            <a:ext cx="14668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vidéos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D2B199A-45C2-43B6-AE61-DD0A4E6D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476750"/>
            <a:ext cx="34290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02B9A2-1DDB-456C-A4EC-E0398073B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7345F"/>
                </a:solidFill>
              </a:defRPr>
            </a:pPr>
            <a:r>
              <a:rPr sz="1350" b="1" i="0">
                <a:solidFill>
                  <a:srgbClr val="17345F"/>
                </a:solidFill>
              </a:rPr>
              <a:t>Protocole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CCD74E-3B59-4A9A-A5B7-D34FB083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495300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102033"/>
                </a:solidFill>
              </a:defRPr>
            </a:pPr>
            <a:r>
              <a:rPr sz="1050" b="0" i="0">
                <a:solidFill>
                  <a:srgbClr val="102033"/>
                </a:solidFill>
              </a:rPr>
              <a:t>N = 20 frames, K = 5, θ = 0,50. Split stratifié avec seed = 42 pour garder l’équilibre entre violence et non-violence.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85818C-70B6-4FCC-9B51-D8061103C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Données et protocole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8E3B4A0-6824-43B2-AB24-480DB8F3E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7 / 13</a:t>
            </a:r>
          </a:p>
        </p:txBody>
      </p:sp>
    </p:spTree>
    <p:extLst>
      <p:ext uri="{BB962C8B-B14F-4D97-AF65-F5344CB8AC3E}">
        <p14:creationId xmlns:p14="http://schemas.microsoft.com/office/powerpoint/2010/main" val="207506078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8274C4-4F81-4F74-8067-23F2CFE3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outils ont été choisis pour rester local, léger et reproductible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CEE245-1169-480D-8AEE-E459D5D7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315797-DAEB-4224-8292-1CD74978C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choix technique sert la contrainte principale : fonctionner sans infrastructure cloud.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5CA253-2BF8-49B8-9438-C193993F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66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D62B98-9533-4948-92A4-0F05857B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819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Python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D0CCA5-D6AE-454D-9343-3EF73FDBA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1809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Langage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9DA8A1-B37F-470A-A06F-8BEAFF844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076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Écosystème IA et vision très riche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6734EF-635A-4DD0-A6FF-D1720DD7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66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2139A9-F2BC-43B2-8AC2-C5C8142BF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1819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TensorFlow / Keras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7D2934F-5C51-4F7A-A6E7-B36FEEA9D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809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Entraînement du modèle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0CC834-9F23-4CD5-B173-19F0FB1E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076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Construction simple d’EfficientNetB0 + LSTM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C5275-A9FF-4FFE-98AB-8A0DFEF2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09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598E04-A9B7-4B9A-A47E-8F2805F1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OpenCV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99F595-AFE7-40C1-B405-C436BEF67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Lecture vidéo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FAE5E-7C81-4E87-B766-F7ED24CC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Capture webcam, frames et prétraitement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D6C3D3-E51D-4B42-840A-23C231F68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09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B55CA-E4D7-4DB7-83ED-413703A0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962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SQLite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E45888-0916-4F19-B55B-6B3FEDB18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52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Incidents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D82BE4-6D28-4BBD-BE17-8AF380B17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Base locale sans serveur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B8F20-DDFB-4719-B991-E3ABC6D2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FEB873-42EB-4818-AACE-FD367A00A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05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Flask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E357A6-9146-41CC-8A86-7A8044472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Dashboard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D67628-5CCE-40F3-83AB-893A867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362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Interface Web légère sur localhost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F90138-D52D-42C4-9FEA-81D2A7FB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952875"/>
            <a:ext cx="4953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0220E9-348B-4346-82D5-2ABC17AE3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105275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SMTP / Telegram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D2E6933-BA35-4698-8ECC-8C5C9144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09575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Alertes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39228A-DFB5-48B9-9E39-4F0AFBC0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6245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 i="0">
                <a:solidFill>
                  <a:srgbClr val="5A6B82"/>
                </a:solidFill>
              </a:defRPr>
            </a:pPr>
            <a:r>
              <a:rPr sz="975" b="0" i="0">
                <a:solidFill>
                  <a:srgbClr val="5A6B82"/>
                </a:solidFill>
              </a:rPr>
              <a:t>Notifications opérateur, Telegram optionnel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1FFF37-0C95-44A6-A45C-3527BA0A2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476875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Interprétation : l’architecture technique est cohérente avec le contexte local de ressources limitées.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7705AF9-83BE-4A03-A7F8-21609F224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Outils et technologies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7E1A302-FAB4-4D26-9158-88D36F0EC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8 / 13</a:t>
            </a:r>
          </a:p>
        </p:txBody>
      </p:sp>
    </p:spTree>
    <p:extLst>
      <p:ext uri="{BB962C8B-B14F-4D97-AF65-F5344CB8AC3E}">
        <p14:creationId xmlns:p14="http://schemas.microsoft.com/office/powerpoint/2010/main" val="15500410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32A480-97BF-49E0-A024-CEFB0D71F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L’implémentation relie sept modules de bout en bout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B5CB16-31F7-40CA-9EA6-790C284A8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CF5751-1D84-4D7A-8E9D-DED0398A2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système va de la caméra à la notification et à l’historique des incidents.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5E4FB5-D6EA-4BF7-BEDB-016965029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BC4ADB-F31E-4A98-A487-08BE01DD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Capture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390672-FEFF-484F-ADAB-76DB15CBE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ED1123-62EE-4FEC-8003-3C8E76E2D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6AA7BB-8DE0-414C-B860-81EDF5AB6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Prétraitement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117EB2-8836-4BB5-A4CE-E2DADC7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EFA57B-7CAF-40AD-8EB6-D83A6C83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A146CD-3998-4041-8123-710B0566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EfficientNetB0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005E5C-F3F9-45C2-A33B-F66B76B63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7B44E-BBA6-42A6-AED7-55072219E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16CB7E-1432-4C0D-949F-88C791930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LSTM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01663B-FC75-4D3B-9FC6-A5206F000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8D625F-AF5F-479B-9758-69FF897F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061E13-AC1E-4AC3-8149-B7A0E5256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Décision 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5132D8-D50C-4522-A681-FB1412C8E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F279996-5C0D-4D12-BD09-2AD34A1EA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203F6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38C7C7-6CD6-4D35-9315-B75906B4B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Alertes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3B5186-E36C-4DCB-B187-28FB79D7C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076450"/>
            <a:ext cx="304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B386A7-7342-4E9E-ABEB-A6EAF44E1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809750"/>
            <a:ext cx="1238250" cy="55245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C8FBE3-FB5F-4106-9B25-098AC3BF5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000250"/>
            <a:ext cx="1123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 i="0">
                <a:solidFill>
                  <a:srgbClr val="FFFFFF"/>
                </a:solidFill>
              </a:defRPr>
            </a:pPr>
            <a:r>
              <a:rPr sz="900" b="1" i="0">
                <a:solidFill>
                  <a:srgbClr val="FFFFFF"/>
                </a:solidFill>
              </a:rPr>
              <a:t>Dashboard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2ecd34a6a47a5"/>
          <a:stretch xmlns:a="http://schemas.openxmlformats.org/drawingml/2006/main"/>
        </p:blipFill>
        <p:spPr>
          <a:xfrm xmlns:a="http://schemas.openxmlformats.org/drawingml/2006/main">
            <a:off x="1143000" y="3265666"/>
            <a:ext cx="4572000" cy="1803042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77C5DE-0D9B-41F8-BDD0-C6343B541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186C77-28C9-4618-8166-6E07A9CB8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143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AC81017-0C11-418D-8CC9-D81B3A4B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Score vidéo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39833A-EE14-4C09-89D8-717C51F38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75285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20 frames deviennent 20 vecteurs. Le LSTM produit une probabilité de violence pour la séquence.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2FC4A1-7669-4486-8EE7-8EE590941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21907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4477B6-AF40-49B0-8460-2006F758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43250"/>
            <a:ext cx="6667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5BB8D62-BE06-4DB6-A063-55FAC9A7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37185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Incident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2EEB6F-2637-404B-8390-BE3494539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752850"/>
            <a:ext cx="17716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Si la moyenne des 5 derniers scores dépasse le seuil, SIRCH enregistre une capture et déclenche l’alerte.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9E2C06-C94E-4BB5-AE0A-A1D3D4FF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476875"/>
            <a:ext cx="971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1C8B53"/>
                </a:solidFill>
              </a:defRPr>
            </a:pPr>
            <a:r>
              <a:rPr sz="1275" b="1" i="0">
                <a:solidFill>
                  <a:srgbClr val="1C8B53"/>
                </a:solidFill>
              </a:rPr>
              <a:t>Ce point est important pour la soutenance : SIRCH n’est pas un notebook isolé, c’est une application locale exploitable en démonstration.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9C9724E-703B-4E60-A8C0-39060068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Implémentation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83E3C01-F24F-476F-B85E-E2CAE83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9 / 13</a:t>
            </a:r>
          </a:p>
        </p:txBody>
      </p:sp>
    </p:spTree>
    <p:extLst>
      <p:ext uri="{BB962C8B-B14F-4D97-AF65-F5344CB8AC3E}">
        <p14:creationId xmlns:p14="http://schemas.microsoft.com/office/powerpoint/2010/main" val="12384606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FC1AF3-B190-4A74-A97A-C31B4BDEF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 modèle original détecte bien la violence, mais génère encore des fausses alertes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E850EB-2C7B-42CC-9360-6D7906BC1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5C1124-B03D-42AB-8451-447442F91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Résultats sur le jeu de test principal de 599 vidéos, θ = 0,50.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441835-91BC-43E0-8C89-8C43F2B64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8EDEB9-540B-4725-AFF7-1C84D270D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3F6E"/>
                </a:solidFill>
              </a:defRPr>
            </a:pPr>
            <a:r>
              <a:rPr sz="2250" b="1" i="0">
                <a:solidFill>
                  <a:srgbClr val="203F6E"/>
                </a:solidFill>
              </a:rPr>
              <a:t>86,81 %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3AF025-479B-4E76-8269-DB1725ABE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Accuracy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7DB9FB-5B2A-4BCE-AE41-B8A7DD5B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599 vidéos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A02EE-BCB1-432C-B056-C14EA8FA7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464DC8-8A64-4AFE-8033-4BF79A3D4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8B53"/>
                </a:solidFill>
              </a:defRPr>
            </a:pPr>
            <a:r>
              <a:rPr sz="2250" b="1" i="0">
                <a:solidFill>
                  <a:srgbClr val="1C8B53"/>
                </a:solidFill>
              </a:rPr>
              <a:t>82,74 %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8EEFB8-10D9-4A94-A79B-393F43617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Précision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C9A649-0A9A-4D71-84A2-9DE7F04A9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fiabilité des alertes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148D94-30C1-4FCD-8F38-B73F7FB65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ED6E1D-D5A2-4110-BD8F-8904A8482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C95C12"/>
                </a:solidFill>
              </a:defRPr>
            </a:pPr>
            <a:r>
              <a:rPr sz="2250" b="1" i="0">
                <a:solidFill>
                  <a:srgbClr val="C95C12"/>
                </a:solidFill>
              </a:rPr>
              <a:t>92,98 %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261D59-950A-4A99-84B8-3F51B181D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Rappel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8EE20D-79CE-4C9F-ACED-58B11E3A4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violences détectées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483830-AF00-41CE-AEF5-9471FD53E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AEEDD7-96E9-4E61-B4C8-A7035584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1C8B53"/>
                </a:solidFill>
              </a:defRPr>
            </a:pPr>
            <a:r>
              <a:rPr sz="2250" b="1" i="0">
                <a:solidFill>
                  <a:srgbClr val="1C8B53"/>
                </a:solidFill>
              </a:rPr>
              <a:t>87,56 %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F5AB04-6EF9-46A0-BF8D-6B7230DF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F1-score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ADD53A-B5EB-4D1B-A6CC-424C41D45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équilibre global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AFB5F-0D81-4845-BDF1-8B8E1EA5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16192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82F3CC-91E0-4FC7-AEB6-49411F49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857375"/>
            <a:ext cx="1276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 i="0">
                <a:solidFill>
                  <a:srgbClr val="203F6E"/>
                </a:solidFill>
              </a:defRPr>
            </a:pPr>
            <a:r>
              <a:rPr sz="2250" b="1" i="0">
                <a:solidFill>
                  <a:srgbClr val="203F6E"/>
                </a:solidFill>
              </a:rPr>
              <a:t>0,9446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6A58C0-9BEE-4B55-8CE6-4E280611E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19325"/>
            <a:ext cx="1276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17345F"/>
                </a:solidFill>
              </a:defRPr>
            </a:pPr>
            <a:r>
              <a:rPr sz="1050" b="1" i="0">
                <a:solidFill>
                  <a:srgbClr val="17345F"/>
                </a:solidFill>
              </a:rPr>
              <a:t>ROC-AUC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51529E-C8BF-4DBC-8584-7A49F9A6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28875"/>
            <a:ext cx="1276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séparation forte</a:t>
            </a:r>
          </a:p>
        </p:txBody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96ef0ba67344bc"/>
          <a:stretch xmlns:a="http://schemas.openxmlformats.org/drawingml/2006/main"/>
        </p:blipFill>
        <p:spPr>
          <a:xfrm xmlns:a="http://schemas.openxmlformats.org/drawingml/2006/main">
            <a:off x="952500" y="3348055"/>
            <a:ext cx="4238625" cy="1971639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CEC5C-5698-413E-8768-ECD44C82D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57550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0B7B10-CBEA-4754-B17F-6A616B58A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47662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7345F"/>
                </a:solidFill>
              </a:defRPr>
            </a:pPr>
            <a:r>
              <a:rPr sz="1500" b="1" i="0">
                <a:solidFill>
                  <a:srgbClr val="17345F"/>
                </a:solidFill>
              </a:rPr>
              <a:t>Ce que dit la matrice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193A8D8-040E-421A-9066-85595002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57625"/>
            <a:ext cx="40957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• Le rappel est élevé : SIRCH rate peu de vraies violences.</a:t>
            </a:r>
          </a:p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• Les 58 faux positifs montrent que certaines scènes non violentes restent confondues avec la violence.</a:t>
            </a:r>
          </a:p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• Le score global est donc bon, mais il faut regarder la nature des erreurs.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F3F596-2D08-4256-99C2-787A0BEB9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Résultats principaux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4A22059-B9DC-4D2D-91AF-24F90CA39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10 / 13</a:t>
            </a:r>
          </a:p>
        </p:txBody>
      </p:sp>
    </p:spTree>
    <p:extLst>
      <p:ext uri="{BB962C8B-B14F-4D97-AF65-F5344CB8AC3E}">
        <p14:creationId xmlns:p14="http://schemas.microsoft.com/office/powerpoint/2010/main" val="665431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CB5C9-058A-43FB-8494-5F3F6C72B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analyses avancées confirment le gain, mais nuancent son usage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2FEAA2-F45B-4E40-94D1-D875F89DA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734771-32DD-477B-8642-10B57FE8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AUC, McNemar et ablation aident à comprendre la fiabilité réelle de SIRCH.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07a3ed915e4110"/>
          <a:stretch xmlns:a="http://schemas.openxmlformats.org/drawingml/2006/main"/>
        </p:blipFill>
        <p:spPr>
          <a:xfrm xmlns:a="http://schemas.openxmlformats.org/drawingml/2006/main">
            <a:off x="730250" y="1571625"/>
            <a:ext cx="3111500" cy="2333625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4eb77d4f3647ee"/>
          <a:stretch xmlns:a="http://schemas.openxmlformats.org/drawingml/2006/main"/>
        </p:blipFill>
        <p:spPr>
          <a:xfrm xmlns:a="http://schemas.openxmlformats.org/drawingml/2006/main">
            <a:off x="4476750" y="2189024"/>
            <a:ext cx="3143250" cy="1098826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bbc5a8aa042d2"/>
          <a:stretch xmlns:a="http://schemas.openxmlformats.org/drawingml/2006/main"/>
        </p:blipFill>
        <p:spPr>
          <a:xfrm xmlns:a="http://schemas.openxmlformats.org/drawingml/2006/main">
            <a:off x="8191500" y="1771284"/>
            <a:ext cx="3143250" cy="1934308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4A1DE-0A5E-4C62-BA77-1F39EAFB6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E17DE9-869D-411C-B0DE-31EC5AC5D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6E08AF-1D7B-4F19-B664-1C01066D4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624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203F6E"/>
                </a:solidFill>
              </a:defRPr>
            </a:pPr>
            <a:r>
              <a:rPr sz="1350" b="1" i="0">
                <a:solidFill>
                  <a:srgbClr val="203F6E"/>
                </a:solidFill>
              </a:rPr>
              <a:t>AUC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02284-071C-4EAC-AD4A-180765DD1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943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0,9446 signifie que le modèle classe très souvent une vidéo violente au-dessus d’une vidéo non violente. Ce n’est pas une accuracy, c’est une mesure de séparation.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4C96A8-3258-4166-B4B8-FF180A5C9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318AD-FCA5-4CBA-95F7-0F70C4D8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A0735-CAC7-4F5D-BB94-306AB8B2D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5624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McNemar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AF4CF4-7884-43A0-AFB8-AB6B637C5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4943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p = 0,000117 : l’écart observé entre original et augmenté n’est pas dû au hasard sur les mêmes vidéos de test.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58E727-3DB9-4F71-B202-0F42BAF07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314325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F2EDD9C-448B-4B19-9EF9-D0DF88769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333875"/>
            <a:ext cx="66675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5C1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E20659-F3F0-4513-BD74-C4FA09F62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5624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95C12"/>
                </a:solidFill>
              </a:defRPr>
            </a:pPr>
            <a:r>
              <a:rPr sz="1350" b="1" i="0">
                <a:solidFill>
                  <a:srgbClr val="C95C12"/>
                </a:solidFill>
              </a:rPr>
              <a:t>Ablation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474F1C4-D408-4CFC-BBFF-64EB279F8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943475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102033"/>
                </a:solidFill>
              </a:defRPr>
            </a:pPr>
            <a:r>
              <a:rPr sz="1200" b="0" i="0">
                <a:solidFill>
                  <a:srgbClr val="102033"/>
                </a:solidFill>
              </a:rPr>
              <a:t>Le bloc temporel est utile : il réduit les violences manquées. Le GRU devient une perspective prometteuse.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B19B57-E351-4763-8CF2-159AEE6E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Résultats et discussion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159B1C-BF8C-4F1D-86B8-7DB97CAB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11 / 13</a:t>
            </a:r>
          </a:p>
        </p:txBody>
      </p:sp>
    </p:spTree>
    <p:extLst>
      <p:ext uri="{BB962C8B-B14F-4D97-AF65-F5344CB8AC3E}">
        <p14:creationId xmlns:p14="http://schemas.microsoft.com/office/powerpoint/2010/main" val="75859911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4CD80F-363E-4F17-8FD6-E9BFA37C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 i="0">
                <a:solidFill>
                  <a:srgbClr val="17345F"/>
                </a:solidFill>
              </a:defRPr>
            </a:pPr>
            <a:r>
              <a:rPr sz="2550" b="1" i="0">
                <a:solidFill>
                  <a:srgbClr val="17345F"/>
                </a:solidFill>
              </a:rPr>
              <a:t>Les tests sport et danse révèlent la principale limite opérationnelle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BA77B-CF61-43FF-B8B8-69F3F4E88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095375"/>
            <a:ext cx="10477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C555F8-D261-4D5A-8CFC-E0B520CDC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38250"/>
            <a:ext cx="838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A6B82"/>
                </a:solidFill>
              </a:defRPr>
            </a:pPr>
            <a:r>
              <a:rPr sz="1200" b="0" i="0">
                <a:solidFill>
                  <a:srgbClr val="5A6B82"/>
                </a:solidFill>
              </a:rPr>
              <a:t>Le système associe parfois mouvement intense et violence, surtout hors contexte de surveillance classique.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4f2f7e0b634f82"/>
          <a:stretch xmlns:a="http://schemas.openxmlformats.org/drawingml/2006/main"/>
        </p:blipFill>
        <p:spPr>
          <a:xfrm xmlns:a="http://schemas.openxmlformats.org/drawingml/2006/main">
            <a:off x="666750" y="2119313"/>
            <a:ext cx="4000500" cy="1666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CBBD3E-A04B-400E-B001-9BB6E2445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7145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A8B181-4D53-4E9E-BE2E-E60796684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18097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Scénario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316998-2973-4774-B52D-B3B60A2EF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714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11F48F-38CE-496F-899A-BD3F8BE04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1809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Faux positifs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F7AF6-86A5-433A-8548-46F302A41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F6E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25692A-A2E0-4005-A671-4A7AC778E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Taux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628E87-BFF3-4CD5-B135-B36A66B8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2288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018F56-9C3A-4639-83CA-0162700A4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3241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Sport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A997CF-B143-4FE4-B6D7-A0EE6A201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288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C2C134-67FD-4F51-B6A6-17F250156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3241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3 / 15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0419CB-8A1D-4308-B424-4BA610E3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288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F02D8C-94EE-4B89-9BEA-E10EC9441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241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20,00 %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7EB5AF-8A47-43DA-85F4-78CA0674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7432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29F4465-EB2D-419B-9FBA-D7777954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384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Danse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E6B4C4F-7C9C-4FDB-800A-2AB57E36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7432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6BC03A-D1A4-49BB-B2C3-8562CABFA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28384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 / 10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976385-F880-4E47-8C1D-6348FEDB4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432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595CE7-22CF-4EE3-AB13-DF583F257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384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80,00 %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9E60C2-CDED-46D4-A2B1-17F7B8E9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25755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D7FDC3-AEC1-4F56-BCA2-3FFD39E5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35280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Calme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49B8B2-C8E3-48FA-87FC-8FA3F4B0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2575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D16249-3954-41DB-B25A-5893A875F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3528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3 / 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C90D47-7441-4690-90D3-24D4D011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25755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7967CB-67DA-4D7D-B332-AA3D99B0F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35280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60,00 %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216DF2-7D48-4A68-AB9B-6D4DE9CA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771900"/>
            <a:ext cx="1524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5A25F2-5650-43D4-96A6-84DF19CC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867150"/>
            <a:ext cx="1371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Global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201378-6B86-4233-B297-0485E5AF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7719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C4A8469-1ABE-4F97-9D96-C80D21F7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38671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14 / 30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5B5C8BA-4AF7-4C73-94DF-CF9074DFD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771900"/>
            <a:ext cx="1381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E5DF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90AE15-3A7B-4891-9AB9-4A30369D7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867150"/>
            <a:ext cx="12287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 i="0">
                <a:solidFill>
                  <a:srgbClr val="102033"/>
                </a:solidFill>
              </a:defRPr>
            </a:pPr>
            <a:r>
              <a:rPr sz="975" b="0" i="0">
                <a:solidFill>
                  <a:srgbClr val="102033"/>
                </a:solidFill>
              </a:rPr>
              <a:t>46,67 %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7ECC4E-2E90-4B86-9CE4-60398DDD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19625"/>
            <a:ext cx="100965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C8D6E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CA3FD1-2F5A-46FC-87D9-5888CBA69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815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C8B53"/>
                </a:solidFill>
              </a:defRPr>
            </a:pPr>
            <a:r>
              <a:rPr sz="1350" b="1" i="0">
                <a:solidFill>
                  <a:srgbClr val="1C8B53"/>
                </a:solidFill>
              </a:rPr>
              <a:t>Interprétation pour SIRCH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C0A6D98-5F60-485B-A712-EE349EC92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772025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102033"/>
                </a:solidFill>
              </a:defRPr>
            </a:pPr>
            <a:r>
              <a:rPr sz="1125" b="0" i="0">
                <a:solidFill>
                  <a:srgbClr val="102033"/>
                </a:solidFill>
              </a:rPr>
              <a:t>Ces erreurs ne détruisent pas le système : elles délimitent son bon contexte d’usage. SIRCH convient mieux aux lieux où une activité physique intense n’est pas normale : couloirs, halls, commerces, cours d’école. Une salle de sport exige un réentraînement ciblé.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1FE7281-B2CA-4082-8C79-62442161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5A6B82"/>
                </a:solidFill>
              </a:defRPr>
            </a:pPr>
            <a:r>
              <a:rPr sz="675" b="0" i="0">
                <a:solidFill>
                  <a:srgbClr val="5A6B82"/>
                </a:solidFill>
              </a:rPr>
              <a:t>Limites opérationnelles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0F548FB-09FC-422F-9F62-F7002E369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5A6B82"/>
                </a:solidFill>
              </a:defRPr>
            </a:pPr>
            <a:r>
              <a:rPr sz="750" b="0" i="0">
                <a:solidFill>
                  <a:srgbClr val="5A6B82"/>
                </a:solidFill>
              </a:rPr>
              <a:t>12 / 13</a:t>
            </a:r>
          </a:p>
        </p:txBody>
      </p:sp>
    </p:spTree>
    <p:extLst>
      <p:ext uri="{BB962C8B-B14F-4D97-AF65-F5344CB8AC3E}">
        <p14:creationId xmlns:p14="http://schemas.microsoft.com/office/powerpoint/2010/main" val="21256567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03F6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ED2B17-7171-4796-A4EC-FAF230E30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66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FFFFFF"/>
                </a:solidFill>
              </a:defRPr>
            </a:pPr>
            <a:r>
              <a:rPr sz="315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406395-2D68-4290-AE88-D8547100F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19200"/>
            <a:ext cx="1143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B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9A5B0B-5853-4A5B-9DC0-0700986CF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668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C8F82-606D-4409-A62F-39A2155C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716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7EC4F-A432-4A25-A6D9-9DF6D46C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17049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SIRCH transforme un modèle en système complet : caméra, inférence, décision, alerte et dashboard.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DCBAA6-AF0F-4F5A-9F7B-D6BB61658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58BCA5-AB33-4364-8A3A-1DE9EA73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479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67115-588F-4740-851C-B7FAE959C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5812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 modèle original atteint 86,81 % d’accuracy, 87,56 % de F1 et une ROC-AUC de 0,9446 sur 599 vidéos.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581829-797C-4904-A7BB-E760C937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194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138FC-9DB5-4CC8-9139-C418482BD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242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9EB9EF-6B75-499C-B00E-4D8F8559C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575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Les analyses montrent une vraie force sur la détection, mais aussi une limite claire face aux mouvements sportifs ou dansés.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DF0999-8171-4B66-B48F-BEF6594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95775"/>
            <a:ext cx="457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C8B53"/>
          </a:solidFill>
          <a:ln xmlns:a="http://schemas.openxmlformats.org/drawingml/2006/main" w="9525">
            <a:solidFill>
              <a:srgbClr val="1C8B5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33DDB8-B26B-4743-8EDD-63CF3F85A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005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AEDF8D-220E-4935-B98C-839EF13D9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333875"/>
            <a:ext cx="8667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Les perspectives portent sur plus de données non violentes dynamiques, le GRU, la quantification et le déploiement embarqué.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5935AE-A14E-44D0-9A53-A24185F2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2A4D82"/>
          </a:solidFill>
          <a:ln xmlns:a="http://schemas.openxmlformats.org/drawingml/2006/main" w="9525">
            <a:solidFill>
              <a:srgbClr val="5D7DA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60935-EAF2-49F6-87E8-6C4B545E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638800"/>
            <a:ext cx="819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1">
                <a:solidFill>
                  <a:srgbClr val="FFFFFF"/>
                </a:solidFill>
              </a:defRPr>
            </a:pPr>
            <a:r>
              <a:rPr sz="1350" b="0" i="1">
                <a:solidFill>
                  <a:srgbClr val="FFFFFF"/>
                </a:solidFill>
              </a:rPr>
              <a:t>Message final : SIRCH ne remplace pas l’agent de sécurité ; il lui donne un signal rapide, mesurable et vérifiable.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9631D1-CFD3-4009-9C44-72ACC56A9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62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0" i="0">
                <a:solidFill>
                  <a:srgbClr val="D9E6F1"/>
                </a:solidFill>
              </a:defRPr>
            </a:pPr>
            <a:r>
              <a:rPr sz="675" b="0" i="0">
                <a:solidFill>
                  <a:srgbClr val="D9E6F1"/>
                </a:solidFill>
              </a:rPr>
              <a:t>Conclusion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C2C088-626E-450A-9315-1F4482B41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750" b="0" i="0">
                <a:solidFill>
                  <a:srgbClr val="D9E6F1"/>
                </a:solidFill>
              </a:defRPr>
            </a:pPr>
            <a:r>
              <a:rPr sz="750" b="0" i="0">
                <a:solidFill>
                  <a:srgbClr val="D9E6F1"/>
                </a:solidFill>
              </a:rPr>
              <a:t>13 / 13</a:t>
            </a:r>
          </a:p>
        </p:txBody>
      </p:sp>
    </p:spTree>
    <p:extLst>
      <p:ext uri="{BB962C8B-B14F-4D97-AF65-F5344CB8AC3E}">
        <p14:creationId xmlns:p14="http://schemas.microsoft.com/office/powerpoint/2010/main" val="145110938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2026-07-08T12:58:54.7000000Z</dcterms:created>
  <dcterms:modified xsi:type="dcterms:W3CDTF">2026-07-08T12:58:54.7000000Z</dcterms:modified>
</coreProperties>
</file>