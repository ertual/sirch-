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b7d6a9544b4040" /><Relationship Type="http://schemas.openxmlformats.org/officeDocument/2006/relationships/extended-properties" Target="/docProps/app.xml" Id="Rcc0207e375554f77" /><Relationship Type="http://schemas.openxmlformats.org/officeDocument/2006/relationships/officeDocument" Target="/ppt/presentation.xml" Id="Rdf370060823d4b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fc386d386f4dc9"/>
  </p:sldMasterIdLst>
  <p:notesMasterIdLst>
    <p:notesMasterId xmlns:r="http://schemas.openxmlformats.org/officeDocument/2006/relationships" r:id="Re936212fff274e44"/>
  </p:notesMasterIdLst>
  <p:sldIdLst>
    <p:sldId xmlns:r="http://schemas.openxmlformats.org/officeDocument/2006/relationships" id="256" r:id="Re3994ccf30e644a3"/>
    <p:sldId xmlns:r="http://schemas.openxmlformats.org/officeDocument/2006/relationships" id="257" r:id="R4edf1c9cb9654f6c"/>
    <p:sldId xmlns:r="http://schemas.openxmlformats.org/officeDocument/2006/relationships" id="258" r:id="Rfb24e6eb1df54cd4"/>
    <p:sldId xmlns:r="http://schemas.openxmlformats.org/officeDocument/2006/relationships" id="259" r:id="R0e9cb8be901f48fa"/>
    <p:sldId xmlns:r="http://schemas.openxmlformats.org/officeDocument/2006/relationships" id="260" r:id="Rf40d660c8bdd45f8"/>
    <p:sldId xmlns:r="http://schemas.openxmlformats.org/officeDocument/2006/relationships" id="261" r:id="R5fec11a038ac42ba"/>
    <p:sldId xmlns:r="http://schemas.openxmlformats.org/officeDocument/2006/relationships" id="262" r:id="R8003164ce93e4f10"/>
    <p:sldId xmlns:r="http://schemas.openxmlformats.org/officeDocument/2006/relationships" id="263" r:id="Re262847038a54fa9"/>
    <p:sldId xmlns:r="http://schemas.openxmlformats.org/officeDocument/2006/relationships" id="264" r:id="R5bee4eb522704945"/>
    <p:sldId xmlns:r="http://schemas.openxmlformats.org/officeDocument/2006/relationships" id="265" r:id="R262d4474a7d84372"/>
    <p:sldId xmlns:r="http://schemas.openxmlformats.org/officeDocument/2006/relationships" id="266" r:id="R75e91956044f427c"/>
    <p:sldId xmlns:r="http://schemas.openxmlformats.org/officeDocument/2006/relationships" id="267" r:id="R9adb3c360e7b4dbb"/>
    <p:sldId xmlns:r="http://schemas.openxmlformats.org/officeDocument/2006/relationships" id="268" r:id="Rd198230c4a144de5"/>
    <p:sldId xmlns:r="http://schemas.openxmlformats.org/officeDocument/2006/relationships" id="269" r:id="R0c7071729f464aec"/>
    <p:sldId xmlns:r="http://schemas.openxmlformats.org/officeDocument/2006/relationships" id="270" r:id="R2750574452894a9e"/>
    <p:sldId xmlns:r="http://schemas.openxmlformats.org/officeDocument/2006/relationships" id="271" r:id="R14eaae7e79904557"/>
    <p:sldId xmlns:r="http://schemas.openxmlformats.org/officeDocument/2006/relationships" id="272" r:id="R12844a60fe30474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b2978e32a548bb" /><Relationship Type="http://schemas.openxmlformats.org/officeDocument/2006/relationships/slideMaster" Target="/ppt/slideMasters/slideMaster1.xml" Id="R11fc386d386f4dc9" /><Relationship Type="http://schemas.openxmlformats.org/officeDocument/2006/relationships/notesMaster" Target="/ppt/notesMasters/notesMaster1.xml" Id="Re936212fff274e44" /><Relationship Type="http://schemas.openxmlformats.org/officeDocument/2006/relationships/presProps" Target="/ppt/presProps.xml" Id="R730c00d01f3d4530" /><Relationship Type="http://schemas.openxmlformats.org/officeDocument/2006/relationships/tableStyles" Target="/ppt/tableStyles.xml" Id="Rddfcc8b103ea4ffa" /><Relationship Type="http://schemas.openxmlformats.org/officeDocument/2006/relationships/slide" Target="/ppt/slides/slide1.xml" Id="Re3994ccf30e644a3" /><Relationship Type="http://schemas.openxmlformats.org/officeDocument/2006/relationships/slide" Target="/ppt/slides/slide2.xml" Id="R4edf1c9cb9654f6c" /><Relationship Type="http://schemas.openxmlformats.org/officeDocument/2006/relationships/slide" Target="/ppt/slides/slide3.xml" Id="Rfb24e6eb1df54cd4" /><Relationship Type="http://schemas.openxmlformats.org/officeDocument/2006/relationships/slide" Target="/ppt/slides/slide4.xml" Id="R0e9cb8be901f48fa" /><Relationship Type="http://schemas.openxmlformats.org/officeDocument/2006/relationships/slide" Target="/ppt/slides/slide5.xml" Id="Rf40d660c8bdd45f8" /><Relationship Type="http://schemas.openxmlformats.org/officeDocument/2006/relationships/slide" Target="/ppt/slides/slide6.xml" Id="R5fec11a038ac42ba" /><Relationship Type="http://schemas.openxmlformats.org/officeDocument/2006/relationships/slide" Target="/ppt/slides/slide7.xml" Id="R8003164ce93e4f10" /><Relationship Type="http://schemas.openxmlformats.org/officeDocument/2006/relationships/slide" Target="/ppt/slides/slide8.xml" Id="Re262847038a54fa9" /><Relationship Type="http://schemas.openxmlformats.org/officeDocument/2006/relationships/slide" Target="/ppt/slides/slide9.xml" Id="R5bee4eb522704945" /><Relationship Type="http://schemas.openxmlformats.org/officeDocument/2006/relationships/slide" Target="/ppt/slides/slide10.xml" Id="R262d4474a7d84372" /><Relationship Type="http://schemas.openxmlformats.org/officeDocument/2006/relationships/slide" Target="/ppt/slides/slide11.xml" Id="R75e91956044f427c" /><Relationship Type="http://schemas.openxmlformats.org/officeDocument/2006/relationships/slide" Target="/ppt/slides/slide12.xml" Id="R9adb3c360e7b4dbb" /><Relationship Type="http://schemas.openxmlformats.org/officeDocument/2006/relationships/slide" Target="/ppt/slides/slide13.xml" Id="Rd198230c4a144de5" /><Relationship Type="http://schemas.openxmlformats.org/officeDocument/2006/relationships/slide" Target="/ppt/slides/slide14.xml" Id="R0c7071729f464aec" /><Relationship Type="http://schemas.openxmlformats.org/officeDocument/2006/relationships/slide" Target="/ppt/slides/slide15.xml" Id="R2750574452894a9e" /><Relationship Type="http://schemas.openxmlformats.org/officeDocument/2006/relationships/slide" Target="/ppt/slides/slide16.xml" Id="R14eaae7e79904557" /><Relationship Type="http://schemas.openxmlformats.org/officeDocument/2006/relationships/slide" Target="/ppt/slides/slide17.xml" Id="R12844a60fe3047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47bc1dfb6944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4b339d4a214094" /><Relationship Type="http://schemas.openxmlformats.org/officeDocument/2006/relationships/notesMaster" Target="/ppt/notesMasters/notesMaster1.xml" Id="R74ebd05ff25e4d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c720f657f34de6" /><Relationship Type="http://schemas.openxmlformats.org/officeDocument/2006/relationships/notesMaster" Target="/ppt/notesMasters/notesMaster1.xml" Id="R394ba792d1b640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b46e7439ad49cf" /><Relationship Type="http://schemas.openxmlformats.org/officeDocument/2006/relationships/notesMaster" Target="/ppt/notesMasters/notesMaster1.xml" Id="Rdd73a3dc18ab496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c07c9835e4410b" /><Relationship Type="http://schemas.openxmlformats.org/officeDocument/2006/relationships/notesMaster" Target="/ppt/notesMasters/notesMaster1.xml" Id="R8a71eeb2e6e34a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85fa1f737040be" /><Relationship Type="http://schemas.openxmlformats.org/officeDocument/2006/relationships/notesMaster" Target="/ppt/notesMasters/notesMaster1.xml" Id="R4232c43673cf45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496e0dca3e4bfd" /><Relationship Type="http://schemas.openxmlformats.org/officeDocument/2006/relationships/notesMaster" Target="/ppt/notesMasters/notesMaster1.xml" Id="R2ce24aae674e4e7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ac5f357fee24b06" /><Relationship Type="http://schemas.openxmlformats.org/officeDocument/2006/relationships/notesMaster" Target="/ppt/notesMasters/notesMaster1.xml" Id="Rf4e2c668d8b3490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4662ba99fc4b4c" /><Relationship Type="http://schemas.openxmlformats.org/officeDocument/2006/relationships/notesMaster" Target="/ppt/notesMasters/notesMaster1.xml" Id="Rbd5903b8384d405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175d62096e4f1f" /><Relationship Type="http://schemas.openxmlformats.org/officeDocument/2006/relationships/notesMaster" Target="/ppt/notesMasters/notesMaster1.xml" Id="R0afbe0273eb143c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e2b3dd694eb48fb" /><Relationship Type="http://schemas.openxmlformats.org/officeDocument/2006/relationships/notesMaster" Target="/ppt/notesMasters/notesMaster1.xml" Id="R8b5bc226245a490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4677ef2a1e4160" /><Relationship Type="http://schemas.openxmlformats.org/officeDocument/2006/relationships/notesMaster" Target="/ppt/notesMasters/notesMaster1.xml" Id="R98dc7b91df694f3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e39357b0ec443f7" /><Relationship Type="http://schemas.openxmlformats.org/officeDocument/2006/relationships/notesMaster" Target="/ppt/notesMasters/notesMaster1.xml" Id="Rc118d6ef8cbb49f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19c100092444d9c" /><Relationship Type="http://schemas.openxmlformats.org/officeDocument/2006/relationships/notesMaster" Target="/ppt/notesMasters/notesMaster1.xml" Id="Race1f7a504e74bf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337fdb121554a14" /><Relationship Type="http://schemas.openxmlformats.org/officeDocument/2006/relationships/notesMaster" Target="/ppt/notesMasters/notesMaster1.xml" Id="R2a95b12b7ae14d3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0e18d45d4ca437d" /><Relationship Type="http://schemas.openxmlformats.org/officeDocument/2006/relationships/notesMaster" Target="/ppt/notesMasters/notesMaster1.xml" Id="R58bea5bec16a443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a6695287b804967" /><Relationship Type="http://schemas.openxmlformats.org/officeDocument/2006/relationships/notesMaster" Target="/ppt/notesMasters/notesMaster1.xml" Id="Rde72c46d5d40406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3aa966528124f7f" /><Relationship Type="http://schemas.openxmlformats.org/officeDocument/2006/relationships/notesMaster" Target="/ppt/notesMasters/notesMaster1.xml" Id="R94a7e556358f41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9d09fef04242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e69bb9187a4b76" /><Relationship Type="http://schemas.openxmlformats.org/officeDocument/2006/relationships/slideLayout" Target="/ppt/slideLayouts/slideLayout1.xml" Id="R7f77fb2ed71d4a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77fb2ed71d4a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f04dc8bb745ec" /><Relationship Type="http://schemas.openxmlformats.org/officeDocument/2006/relationships/image" Target="/ppt/media/image.png" Id="R36424c73a56542c4" /><Relationship Type="http://schemas.openxmlformats.org/officeDocument/2006/relationships/notesSlide" Target="/ppt/notesSlides/notesSlide1.xml" Id="R49a3a168ae6a4a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992605aff046cc" /><Relationship Type="http://schemas.openxmlformats.org/officeDocument/2006/relationships/notesSlide" Target="/ppt/notesSlides/notesSlide2.xml" Id="Rb3ba4e9c632e45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d84c26cb14860" /><Relationship Type="http://schemas.openxmlformats.org/officeDocument/2006/relationships/notesSlide" Target="/ppt/notesSlides/notesSlide3.xml" Id="Rec7f48a10f7e4f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72d3a9f393433e" /><Relationship Type="http://schemas.openxmlformats.org/officeDocument/2006/relationships/notesSlide" Target="/ppt/notesSlides/notesSlide4.xml" Id="Rc134d6d55d2448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3ad111e5cf4e0e" /><Relationship Type="http://schemas.openxmlformats.org/officeDocument/2006/relationships/notesSlide" Target="/ppt/notesSlides/notesSlide5.xml" Id="Refba20efc6f241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6d67e05dd54281" /><Relationship Type="http://schemas.openxmlformats.org/officeDocument/2006/relationships/notesSlide" Target="/ppt/notesSlides/notesSlide6.xml" Id="R7efa5bbcae8e45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b4cff7e2445a9" /><Relationship Type="http://schemas.openxmlformats.org/officeDocument/2006/relationships/notesSlide" Target="/ppt/notesSlides/notesSlide7.xml" Id="Rd14fba4721d94c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127ec0ae749c6" /><Relationship Type="http://schemas.openxmlformats.org/officeDocument/2006/relationships/notesSlide" Target="/ppt/notesSlides/notesSlide8.xml" Id="Rfcdbf00fa05c42d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2af7320a9840b6" /><Relationship Type="http://schemas.openxmlformats.org/officeDocument/2006/relationships/notesSlide" Target="/ppt/notesSlides/notesSlide9.xml" Id="R2f8a0088019d46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238d73594416c" /><Relationship Type="http://schemas.openxmlformats.org/officeDocument/2006/relationships/notesSlide" Target="/ppt/notesSlides/notesSlide10.xml" Id="Rd6a77d69140349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136c9dae94960" /><Relationship Type="http://schemas.openxmlformats.org/officeDocument/2006/relationships/notesSlide" Target="/ppt/notesSlides/notesSlide11.xml" Id="Rf51d80a4adab4c9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0cbcb82b2043e6" /><Relationship Type="http://schemas.openxmlformats.org/officeDocument/2006/relationships/image" Target="/ppt/media/image2.png" Id="R7159d923e81b4c05" /><Relationship Type="http://schemas.openxmlformats.org/officeDocument/2006/relationships/notesSlide" Target="/ppt/notesSlides/notesSlide12.xml" Id="Refe20152bf7a4c4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41686a15b4f26" /><Relationship Type="http://schemas.openxmlformats.org/officeDocument/2006/relationships/notesSlide" Target="/ppt/notesSlides/notesSlide13.xml" Id="R81e60597bbe74f3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2ae27b99114a3e" /><Relationship Type="http://schemas.openxmlformats.org/officeDocument/2006/relationships/image" Target="/ppt/media/image3.png" Id="Rc4665748bf994985" /><Relationship Type="http://schemas.openxmlformats.org/officeDocument/2006/relationships/notesSlide" Target="/ppt/notesSlides/notesSlide14.xml" Id="Rd317b659234f48b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7126045c8e41dd" /><Relationship Type="http://schemas.openxmlformats.org/officeDocument/2006/relationships/image" Target="/ppt/media/image4.png" Id="R1e07875bc43e4dc1" /><Relationship Type="http://schemas.openxmlformats.org/officeDocument/2006/relationships/notesSlide" Target="/ppt/notesSlides/notesSlide15.xml" Id="Raa9330592251408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a72d08c88418d" /><Relationship Type="http://schemas.openxmlformats.org/officeDocument/2006/relationships/notesSlide" Target="/ppt/notesSlides/notesSlide16.xml" Id="R142f086677564ec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1e57b8e11d4581" /><Relationship Type="http://schemas.openxmlformats.org/officeDocument/2006/relationships/notesSlide" Target="/ppt/notesSlides/notesSlide17.xml" Id="R7f484cdc3cf543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825F49-A70D-4571-995C-A7C5BD1C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5166EF-BEC7-4079-BC57-EB2334F0F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01828"/>
                </a:solidFill>
              </a:defRPr>
            </a:pPr>
            <a:r>
              <a:rPr sz="5400" b="1">
                <a:solidFill>
                  <a:srgbClr val="101828"/>
                </a:solidFill>
              </a:rPr>
              <a:t>SIRCH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63D376-5DE9-4608-98F5-CF4FE2A8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4857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28"/>
                </a:solidFill>
              </a:defRPr>
            </a:pPr>
            <a:r>
              <a:rPr sz="3000" b="1">
                <a:solidFill>
                  <a:srgbClr val="101828"/>
                </a:solidFill>
              </a:rPr>
              <a:t>Presentation technique du code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9D8D15-04CB-4125-8A0F-0B5EBA3B4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67085"/>
                </a:solidFill>
              </a:defRPr>
            </a:pPr>
            <a:r>
              <a:rPr sz="1725" b="0">
                <a:solidFill>
                  <a:srgbClr val="667085"/>
                </a:solidFill>
              </a:rPr>
              <a:t>Systeme intelligent de reconnaissance de comportements humains applique a la detection de violence en temps reel.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8CBD38-602C-4DBD-9532-5545AEBE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7A65"/>
                </a:solidFill>
              </a:defRPr>
            </a:pPr>
            <a:r>
              <a:rPr sz="1350" b="1">
                <a:solidFill>
                  <a:srgbClr val="117A65"/>
                </a:solidFill>
              </a:rPr>
              <a:t>Code Python | TensorFlow | OpenCV | Flask | SQLite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AF8C55-F1AB-4669-9C06-85C22094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"/>
            <a:ext cx="5810250" cy="581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 w="0">
            <a:solidFill>
              <a:srgbClr val="F2F4F7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424c73a56542c4"/>
          <a:stretch xmlns:a="http://schemas.openxmlformats.org/drawingml/2006/main"/>
        </p:blipFill>
        <p:spPr>
          <a:xfrm xmlns:a="http://schemas.openxmlformats.org/drawingml/2006/main">
            <a:off x="6172200" y="1868686"/>
            <a:ext cx="5276850" cy="296822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E89910-18AC-4E35-A542-60AD4C41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036890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7AD152-8057-4449-8194-91DF28A6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8D67F-28DD-482A-A943-2E322C3F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Ce que fait SIRCH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D5F5A9-E6CA-4F17-9B8D-E0BD6279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547D74-ABEB-4AEF-B236-EDA15A7C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Le systeme transforme un flux video en une decision exploitable, puis conserve une preuve et avertit l'utilisateur.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F41C46-0DB4-446B-85A8-0A5F7411C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1BD5F1-665C-42E8-AC3C-3EE6C888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47950"/>
            <a:ext cx="514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6B35"/>
                </a:solidFill>
              </a:defRPr>
            </a:pPr>
            <a:r>
              <a:rPr sz="2850" b="1">
                <a:solidFill>
                  <a:srgbClr val="FF6B35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B0CC47-BD7F-46C1-B0AB-F114745F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57550"/>
            <a:ext cx="304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Observer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8013AC-0477-4811-8148-EF2459CF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304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Webcam, fichier video ou flux IP/RTSP.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72BD3D-731C-4878-B1EB-2D03BE13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7650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3239CF-09C5-4D94-A3A4-B5C635C4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47950"/>
            <a:ext cx="514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6B35"/>
                </a:solidFill>
              </a:defRPr>
            </a:pPr>
            <a:r>
              <a:rPr sz="2850" b="1">
                <a:solidFill>
                  <a:srgbClr val="FF6B3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1196F0-CA61-478E-A752-3074B620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57550"/>
            <a:ext cx="304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Comprendre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98ACED-E48F-466E-A65F-778A0670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57625"/>
            <a:ext cx="304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Analyse spatiale et temporelle de 20 frames.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0E7CAD-7664-4495-B161-FE9F6858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7650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E56640-67B6-4BA8-ABAC-FBAC1C7B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47950"/>
            <a:ext cx="514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6B35"/>
                </a:solidFill>
              </a:defRPr>
            </a:pPr>
            <a:r>
              <a:rPr sz="2850" b="1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9F04A1-7B41-4AF7-A89E-6CFAAB15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57550"/>
            <a:ext cx="304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Agir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0F0068-4A8F-4628-96A3-B25768A2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857625"/>
            <a:ext cx="304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Alerte, capture, base SQLite et dashboard.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926A28-CEB1-4BF1-AAE9-8CAA2BC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33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Objectif: detecter rapidement une situation suspecte sans confondre systematiquement sport, danse et violence.</a:t>
            </a:r>
          </a:p>
        </p:txBody>
      </p:sp>
    </p:spTree>
    <p:extLst>
      <p:ext uri="{BB962C8B-B14F-4D97-AF65-F5344CB8AC3E}">
        <p14:creationId xmlns:p14="http://schemas.microsoft.com/office/powerpoint/2010/main" val="1482757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0DEC22-4A09-4ADF-B445-2B0EEDAA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D15720-F238-4AC6-A47E-A513E08C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Architecture en 7 modules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6C4221-F45A-4A02-95F4-ACA45FA2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DD794E-E634-4D99-8287-36EBBD24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1085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1ECC00-C499-4E25-8A03-81D16EFC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428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43B0E-66A8-46EC-BA30-DC0C57A3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71675"/>
            <a:ext cx="47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6B35"/>
                </a:solidFill>
              </a:defRPr>
            </a:pPr>
            <a:r>
              <a:rPr sz="2550" b="1">
                <a:solidFill>
                  <a:srgbClr val="FF6B35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9A388A-562C-40D3-9631-CABE5DF6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1123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Acquisition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4177D7-88D8-47FF-9486-C2FBCC50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1123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OpenCV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00927-5300-4348-934E-89D2EBCB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1809750"/>
            <a:ext cx="1428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4C7B7F-6946-4AC3-B868-46A05A63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1971675"/>
            <a:ext cx="47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6B35"/>
                </a:solidFill>
              </a:defRPr>
            </a:pPr>
            <a:r>
              <a:rPr sz="2550" b="1">
                <a:solidFill>
                  <a:srgbClr val="FF6B3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10C08B-0277-4A1C-BE3E-CFAC2A8C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2571750"/>
            <a:ext cx="1123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Pretraitement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3BD589-3FCF-4810-81D4-C0F0EFDF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3429000"/>
            <a:ext cx="1123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224 x 224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1C9BAB-533E-4D15-8BEC-211D6A83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09750"/>
            <a:ext cx="1428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197CE9-4FA4-4696-A199-1E864700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971675"/>
            <a:ext cx="47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6B35"/>
                </a:solidFill>
              </a:defRPr>
            </a:pPr>
            <a:r>
              <a:rPr sz="2550" b="1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657AF2-B1A4-42E1-9A82-39884DAD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71750"/>
            <a:ext cx="1123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Inference 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24DEDE-1C66-4FBD-BB2D-8FB88962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429000"/>
            <a:ext cx="1123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EffNet + LSTM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77EA0-7405-4E00-A025-6DFF00FB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809750"/>
            <a:ext cx="1428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B"/>
          </a:solidFill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2F09A6-81ED-406E-AA02-D5D542B2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971675"/>
            <a:ext cx="47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6B35"/>
                </a:solidFill>
              </a:defRPr>
            </a:pPr>
            <a:r>
              <a:rPr sz="2550" b="1">
                <a:solidFill>
                  <a:srgbClr val="FF6B35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E39349-649A-4EC6-9E64-BFFEBBF1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571750"/>
            <a:ext cx="1123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6DBFB3-6BB8-40A8-B4C7-56066AB3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3429000"/>
            <a:ext cx="1123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seuil + 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A8E60C-F481-4DED-BE3E-2EFE12AB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809750"/>
            <a:ext cx="1428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69BBA2-3DB7-47A5-8054-AD7AAEFE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71675"/>
            <a:ext cx="47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6B35"/>
                </a:solidFill>
              </a:defRPr>
            </a:pPr>
            <a:r>
              <a:rPr sz="2550" b="1">
                <a:solidFill>
                  <a:srgbClr val="FF6B35"/>
                </a:solidFill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B2EA98-FC6E-4305-94C3-6B9EE658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571750"/>
            <a:ext cx="1123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Alertes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094F33-5080-4ABA-B3EA-FCF75D34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29000"/>
            <a:ext cx="1123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son, email, Telegram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EB1076-218D-45BB-8907-FB87AF3B5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809750"/>
            <a:ext cx="1428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E7F386-E97A-4FC2-9AE7-ECD5BEB9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971675"/>
            <a:ext cx="47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6B35"/>
                </a:solidFill>
              </a:defRPr>
            </a:pPr>
            <a:r>
              <a:rPr sz="2550" b="1">
                <a:solidFill>
                  <a:srgbClr val="FF6B35"/>
                </a:solidFill>
              </a:rPr>
              <a:t>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B08906-37AF-4990-882F-7755C1B3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571750"/>
            <a:ext cx="1123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Base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4ECB87-749F-4345-A11F-2EB423D2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3429000"/>
            <a:ext cx="1123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SQLite + capture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07E1DE-7B74-4D81-9C0E-A5D57E58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809750"/>
            <a:ext cx="1428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86E540-D670-48A2-AF6A-BF8C5FB08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971675"/>
            <a:ext cx="47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6B35"/>
                </a:solidFill>
              </a:defRPr>
            </a:pPr>
            <a:r>
              <a:rPr sz="2550" b="1">
                <a:solidFill>
                  <a:srgbClr val="FF6B35"/>
                </a:solidFill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94AA8B-7B66-4BD0-8FC7-2B251F4D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571750"/>
            <a:ext cx="1123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828"/>
                </a:solidFill>
              </a:defRPr>
            </a:pPr>
            <a:r>
              <a:rPr sz="1425" b="1">
                <a:solidFill>
                  <a:srgbClr val="101828"/>
                </a:solidFill>
              </a:rPr>
              <a:t>Dashboard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16CCE73-C1AF-4DE4-9D31-76A57763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429000"/>
            <a:ext cx="11239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Flask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D7961C-D5DC-4FB1-8624-C550B89C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Chaque module a un fichier dedie. Cette separation facilite les tests, la maintenance et la demonstration en direct.</a:t>
            </a:r>
          </a:p>
        </p:txBody>
      </p:sp>
    </p:spTree>
    <p:extLst>
      <p:ext uri="{BB962C8B-B14F-4D97-AF65-F5344CB8AC3E}">
        <p14:creationId xmlns:p14="http://schemas.microsoft.com/office/powerpoint/2010/main" val="1828194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FD3D1A-5B7C-4B06-B6B1-D0F9B621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1616A3-8FF0-4710-BFFE-3F26A9D0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Le coeur IA: de la frame au score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143F0F-02CB-47FA-89F2-72089C6C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05C84-E4A1-443E-8B84-85BB9612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048000"/>
            <a:ext cx="10382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3035CB-E326-4314-89D2-E3285339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43125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DABE5A-DF96-40AA-9B44-CD762088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828"/>
                </a:solidFill>
              </a:defRPr>
            </a:pPr>
            <a:r>
              <a:rPr sz="2250" b="1">
                <a:solidFill>
                  <a:srgbClr val="101828"/>
                </a:solidFill>
              </a:rPr>
              <a:t>20 frames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785962-593C-40C9-8675-F5F9588D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1657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Fenetre temporelle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234175-8D91-439D-A8DA-0A68D8BA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2143125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068AC-0BF0-4BE9-AF18-0C546E08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428875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828"/>
                </a:solidFill>
              </a:defRPr>
            </a:pPr>
            <a:r>
              <a:rPr sz="2250" b="1">
                <a:solidFill>
                  <a:srgbClr val="101828"/>
                </a:solidFill>
              </a:rPr>
              <a:t>224 x 224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3D755F-27C0-4E31-B625-9F307D1F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257550"/>
            <a:ext cx="1657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Redimensionnement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39206B-5959-437B-AE74-0D11020C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43125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A649A1-5DD2-4CD1-9E00-A020133A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428875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</a:defRPr>
            </a:pPr>
            <a:r>
              <a:rPr sz="1800" b="1">
                <a:solidFill>
                  <a:srgbClr val="101828"/>
                </a:solidFill>
              </a:rPr>
              <a:t>EfficientNetB0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BE4BB6-9287-4D55-942C-424AC12C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57550"/>
            <a:ext cx="1657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Caracteristiques visuelles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D16ACB-111D-43D9-8779-EFED5760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143125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AC1CEF-3718-4AC2-B083-5F6B6BC6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428875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828"/>
                </a:solidFill>
              </a:defRPr>
            </a:pPr>
            <a:r>
              <a:rPr sz="2250" b="1">
                <a:solidFill>
                  <a:srgbClr val="101828"/>
                </a:solidFill>
              </a:rPr>
              <a:t>LSTM 256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C7F1B1-A18F-4D30-A6FC-0A9ED47A2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57550"/>
            <a:ext cx="1657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Evolution dans le temps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F227C1-C309-4A76-B8EC-447344E1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143125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B"/>
          </a:solidFill>
          <a:ln xmlns:a="http://schemas.openxmlformats.org/drawingml/2006/main" w="0">
            <a:solidFill>
              <a:srgbClr val="FFF1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EBC602-5E3C-4E0F-8F35-125459FD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28875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6B35"/>
                </a:solidFill>
              </a:defRPr>
            </a:pPr>
            <a:r>
              <a:rPr sz="2250" b="1">
                <a:solidFill>
                  <a:srgbClr val="FF6B35"/>
                </a:solidFill>
              </a:rPr>
              <a:t>Sigmoid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45B1D9-905E-4ACE-9569-41F3493D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57550"/>
            <a:ext cx="1657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Score p entre 0 et 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628AA6-2EA4-4904-ADD8-6DADB040F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Modele deploye: EfficientNetB0 gelee + LSTM + couches Dense/Dropout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A833B2-B6F0-49A4-8BF1-E4C8FB80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054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7A65"/>
                </a:solidFill>
              </a:defRPr>
            </a:pPr>
            <a:r>
              <a:rPr sz="1500" b="0">
                <a:solidFill>
                  <a:srgbClr val="117A65"/>
                </a:solidFill>
              </a:rPr>
              <a:t>Sortie: probabilite de violence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722883-B18F-4A92-A42C-1D39D6AE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5300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101828"/>
                </a:solidFill>
              </a:defRPr>
            </a:pPr>
            <a:r>
              <a:rPr sz="1500" b="1">
                <a:solidFill>
                  <a:srgbClr val="101828"/>
                </a:solidFill>
              </a:rPr>
              <a:t>Fichier principal: core/inference.py</a:t>
            </a:r>
          </a:p>
        </p:txBody>
      </p:sp>
    </p:spTree>
    <p:extLst>
      <p:ext uri="{BB962C8B-B14F-4D97-AF65-F5344CB8AC3E}">
        <p14:creationId xmlns:p14="http://schemas.microsoft.com/office/powerpoint/2010/main" val="11043692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D75D88-A435-4D8D-AB9A-F486299E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F7674C-ECF0-476F-A857-FF848670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Organisation du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721E0D-4F7E-4DEF-A206-B7299B2F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CFD1E4-327D-4E57-9A76-B1330BC0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D32139-540C-4C8F-A998-2BB3841A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430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Fichier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3EBA3-E4B4-4F59-A558-5252C86F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4305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Responsabilite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BD5F15-0FC4-42F1-9033-654EFE3A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11391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3991C7-5FC1-4B9B-8172-62155C9D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6692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</a:defRPr>
            </a:pPr>
            <a:r>
              <a:rPr sz="1275" b="1">
                <a:solidFill>
                  <a:srgbClr val="101828"/>
                </a:solidFill>
              </a:rPr>
              <a:t>main.py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D682C3-1026-41DB-8745-5B4CB84F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66925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828"/>
                </a:solidFill>
              </a:defRPr>
            </a:pPr>
            <a:r>
              <a:rPr sz="1275" b="0">
                <a:solidFill>
                  <a:srgbClr val="101828"/>
                </a:solidFill>
              </a:rPr>
              <a:t>Orchestre la boucle temps reel et l'affichage camera.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13C123-5EF8-4F7B-9790-D9FA83F4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14600"/>
            <a:ext cx="11391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C4F83C-4AE2-4EF6-A72C-CE1CA82D4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</a:defRPr>
            </a:pPr>
            <a:r>
              <a:rPr sz="1275" b="1">
                <a:solidFill>
                  <a:srgbClr val="101828"/>
                </a:solidFill>
              </a:rPr>
              <a:t>core/acquisition.py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A7050-FA3A-4DDA-8E42-F365F7C92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657475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828"/>
                </a:solidFill>
              </a:defRPr>
            </a:pPr>
            <a:r>
              <a:rPr sz="1275" b="0">
                <a:solidFill>
                  <a:srgbClr val="101828"/>
                </a:solidFill>
              </a:rPr>
              <a:t>Ouvre webcam, video ou flux reseau.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D1C018-5F97-4D75-88F2-5EB6F6C5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05150"/>
            <a:ext cx="11391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9F7905-0036-4128-985C-EA0D3062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4802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</a:defRPr>
            </a:pPr>
            <a:r>
              <a:rPr sz="1275" b="1">
                <a:solidFill>
                  <a:srgbClr val="101828"/>
                </a:solidFill>
              </a:rPr>
              <a:t>core/preprocessing.py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B0420D-1B1E-4257-BE5E-DC26FCDD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48025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828"/>
                </a:solidFill>
              </a:defRPr>
            </a:pPr>
            <a:r>
              <a:rPr sz="1275" b="0">
                <a:solidFill>
                  <a:srgbClr val="101828"/>
                </a:solidFill>
              </a:rPr>
              <a:t>Construit les sequences de 20 frames.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E447F6-2F99-46FA-8151-130E7F7C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11391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DABFAF-FC0B-4B70-BABD-C178794B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3857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</a:defRPr>
            </a:pPr>
            <a:r>
              <a:rPr sz="1275" b="1">
                <a:solidFill>
                  <a:srgbClr val="101828"/>
                </a:solidFill>
              </a:rPr>
              <a:t>core/inference.py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CA47E4-5E37-4A3F-8966-8775D8D5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838575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828"/>
                </a:solidFill>
              </a:defRPr>
            </a:pPr>
            <a:r>
              <a:rPr sz="1275" b="0">
                <a:solidFill>
                  <a:srgbClr val="101828"/>
                </a:solidFill>
              </a:rPr>
              <a:t>Charge le modele et calcule le score.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536AEB-DB78-417B-8D97-1E1ACB1E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86250"/>
            <a:ext cx="11391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3D57FC-30F3-404A-8742-668745DE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2912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</a:defRPr>
            </a:pPr>
            <a:r>
              <a:rPr sz="1275" b="1">
                <a:solidFill>
                  <a:srgbClr val="101828"/>
                </a:solidFill>
              </a:rPr>
              <a:t>core/decision.py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B6207A-8409-4515-9390-391CAE05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429125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828"/>
                </a:solidFill>
              </a:defRPr>
            </a:pPr>
            <a:r>
              <a:rPr sz="1275" b="0">
                <a:solidFill>
                  <a:srgbClr val="101828"/>
                </a:solidFill>
              </a:rPr>
              <a:t>Applique la moyenne K et le seuil.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45ACD5-17CF-4360-99DA-0591D63B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76800"/>
            <a:ext cx="11391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F8E563-26EF-4F1C-9DA5-61B923B7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1967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</a:defRPr>
            </a:pPr>
            <a:r>
              <a:rPr sz="1275" b="1">
                <a:solidFill>
                  <a:srgbClr val="101828"/>
                </a:solidFill>
              </a:rPr>
              <a:t>alerts/alertmanager.py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EC7C4D-2A2C-4BFE-80DE-8FBC916D6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019675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828"/>
                </a:solidFill>
              </a:defRPr>
            </a:pPr>
            <a:r>
              <a:rPr sz="1275" b="0">
                <a:solidFill>
                  <a:srgbClr val="101828"/>
                </a:solidFill>
              </a:rPr>
              <a:t>Declenche son, Gmail et Telegram.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470CE1-2C8C-4427-BD0D-0F6A88F4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67350"/>
            <a:ext cx="11391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0B6921-F32A-484B-83B0-C0A95B06E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10225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</a:defRPr>
            </a:pPr>
            <a:r>
              <a:rPr sz="1275" b="1">
                <a:solidFill>
                  <a:srgbClr val="101828"/>
                </a:solidFill>
              </a:rPr>
              <a:t>database/db.py + dashboard/app.py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BC3EC1-E5D9-42D4-9173-31128787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610225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828"/>
                </a:solidFill>
              </a:defRPr>
            </a:pPr>
            <a:r>
              <a:rPr sz="1275" b="0">
                <a:solidFill>
                  <a:srgbClr val="101828"/>
                </a:solidFill>
              </a:rPr>
              <a:t>Archive puis affiche les incidents.</a:t>
            </a:r>
          </a:p>
        </p:txBody>
      </p:sp>
    </p:spTree>
    <p:extLst>
      <p:ext uri="{BB962C8B-B14F-4D97-AF65-F5344CB8AC3E}">
        <p14:creationId xmlns:p14="http://schemas.microsoft.com/office/powerpoint/2010/main" val="7983938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0E24CF-1CCE-4EC3-BE93-DDE4F977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358ABC-FAAA-4370-AB42-629E3E8F8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Code: acquisition et pretraitement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8DD6C7-2126-47E8-A645-BC7517C5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FD508-22B8-43D8-B870-7DBFBFD7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3340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C1BB75-475B-457D-8C0C-0899BCE1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33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939"/>
          </a:solidFill>
          <a:ln xmlns:a="http://schemas.openxmlformats.org/drawingml/2006/main" w="0">
            <a:solidFill>
              <a:srgbClr val="1D293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64CA80-6414-4A08-A814-964CB015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4991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core/acquisition.py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2D9662-9A02-47B6-AB67-48E15229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4991100" cy="407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def open(self) -&gt; None: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if isinstance(self.source, int):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self.capture = cv2.VideoCapture(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self.source, cv2.CAP_DSHOW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self.capture.set(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cv2.CAP_PROP_BUFFERSIZE,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self.buffer_size,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self.capture.set(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cv2.CAP_PROP_FRAME_WIDTH,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self.width,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AB379E-F2F0-4F48-A88A-93F8391F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28750"/>
            <a:ext cx="57340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A767D4-4323-458D-AD64-A7DCD7BD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28750"/>
            <a:ext cx="5734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939"/>
          </a:solidFill>
          <a:ln xmlns:a="http://schemas.openxmlformats.org/drawingml/2006/main" w="0">
            <a:solidFill>
              <a:srgbClr val="1D293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0FD2BB-307D-4183-9FDD-1A6D06A3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524000"/>
            <a:ext cx="539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core/preprocessing.py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9650D-4CDA-4C7A-B207-AC73082E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81200"/>
            <a:ext cx="5391150" cy="407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def preprocess_frame(frame, img_size=IMG_SIZE):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rgb = cv2.cvtColor(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frame, cv2.COLOR_BGR2RGB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resized = cv2.resize(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rgb, (img_size, img_size)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return preprocess_input(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resized.astype(np.float32)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def add_frame(self, frame):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self.frames.append(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preprocess_frame(frame)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if len(self.frames) &lt; self.n_frames: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return None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return np.expand_dims(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np.stack(list(self.frames)), axis=0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6015502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EAF6F6-F7D9-4C44-8730-6C9AF4B3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62E387-376F-4FB9-8168-16F14CE0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Code: construction et chargement du modele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AD7BD8-7AF1-4625-94AE-F46B54B3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8DCB77-4E28-4F2C-9002-1BAFFFF6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7A65"/>
                </a:solidFill>
              </a:defRPr>
            </a:pPr>
            <a:r>
              <a:rPr sz="1875" b="1">
                <a:solidFill>
                  <a:srgbClr val="117A65"/>
                </a:solidFill>
              </a:rPr>
              <a:t>Ce que montrent ces lignes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7496AE-ACA2-499C-AABC-858119AA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0B4506-C167-4CE2-A525-262CEB3E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71700"/>
            <a:ext cx="3067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EfficientNetB0 extrait les caracteristiques de chaque frame.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6520B3-82E3-48FB-8889-041C70AB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289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D40991-CEA5-4189-BEE5-124869B6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3067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TimeDistributed applique le meme reseau aux 20 images.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C4A66D-6EB5-4F4D-8C78-1AF1CBDE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2DC1F7-2620-4A70-B16A-841FA78F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3067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Le LSTM apprend l'evolution temporelle du mouvement.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152509-20A6-4E6B-BAE4-9A6515B5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0FCD6A-FC7E-4F9D-8AAF-D141D555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3067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La couche sigmoid produit un score entre 0 et 1.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5991AF-AEDA-42C7-AB7B-69C9DDE78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28750"/>
            <a:ext cx="76962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B7CD8F-CE3D-491A-B9AC-C9637115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28750"/>
            <a:ext cx="7696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939"/>
          </a:solidFill>
          <a:ln xmlns:a="http://schemas.openxmlformats.org/drawingml/2006/main" w="0">
            <a:solidFill>
              <a:srgbClr val="1D293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DC81F3-7908-41FF-B5AF-E3E36B02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735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core/inference.py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8DB08E-231C-497A-8C4D-1D08493C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81200"/>
            <a:ext cx="7353300" cy="407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def build_model() -&gt; Model: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base_model = EfficientNetB0(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weights="imagenet",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include_top=False,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pooling="avg",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input_shape=(IMG_SIZE, IMG_SIZE, 3),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base_model.trainable = False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sequence_input = layers.Input(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shape=(N_FRAMES, IMG_SIZE, IMG_SIZE, 3)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features = layers.TimeDistributed(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base_model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)(sequence_input)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x = layers.LSTM(LSTM_UNITS)(features)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x = layers.Dropout(0.5)(x)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x = layers.Dense(128, activation="relu")(x)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output = layers.Dense(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1, activation="sigmoid"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)(x)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return Model(sequence_input, output)</a:t>
            </a:r>
          </a:p>
        </p:txBody>
      </p:sp>
    </p:spTree>
    <p:extLst>
      <p:ext uri="{BB962C8B-B14F-4D97-AF65-F5344CB8AC3E}">
        <p14:creationId xmlns:p14="http://schemas.microsoft.com/office/powerpoint/2010/main" val="7944707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641EFB-F946-449F-B292-BD3B0B9D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B713AD-517D-494B-AF09-33826EAD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Code: decision temporelle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2FCB7E-0C90-4783-9389-B40EE8DC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09384-90B3-48C8-82E1-5F3D1EAB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64770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E4709A-9753-405A-8482-55FCB794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939"/>
          </a:solidFill>
          <a:ln xmlns:a="http://schemas.openxmlformats.org/drawingml/2006/main" w="0">
            <a:solidFill>
              <a:srgbClr val="1D293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0379BC-468F-4D4F-88E1-87D911CD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613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core/decision.py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8F8604-C725-430E-96D2-44F446B0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6134100" cy="407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class DecisionEngine: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def update(self, score):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self.scores.append(float(score))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mean_score = 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sum(self.scores) / len(self.scores)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if len(self.scores) &lt; self.k_window: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return False, mean_score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return 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mean_score &gt;= self.threshold,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mean_score,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def configure(self, threshold, k_window):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self.threshold = float(threshold)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if k_window != self.k_window: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self.k_window = int(k_window)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self.scores = collections.deque(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    maxlen=self.k_window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3912B3-4666-49B3-AC49-01BE19DD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1925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7A65"/>
                </a:solidFill>
              </a:defRPr>
            </a:pPr>
            <a:r>
              <a:rPr sz="1875" b="1">
                <a:solidFill>
                  <a:srgbClr val="117A65"/>
                </a:solidFill>
              </a:rPr>
              <a:t>Pourquoi cette logique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8DB871-DC2F-4B13-8276-E16F4395E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2E2D76-C191-4088-ABCF-5919357F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66950"/>
            <a:ext cx="3829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Un seul score eleve ne suffit pas.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D9862A-0319-4580-B1AC-E3F47278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242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6B9200-643D-467C-A4AD-91E80DDA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048000"/>
            <a:ext cx="3829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La moyenne de K=5 reduit les decisions instables.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36D38-6039-4A69-9BD1-762DB6D19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05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5754B9-5B8C-493E-B130-B2C9AC32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829050"/>
            <a:ext cx="3829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Le seuil est modifiable depuis le dashboard.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45C258-8A24-4CEC-8EE1-6F128743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863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818842-FB8D-4F04-A2D8-E5E8EF07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610100"/>
            <a:ext cx="3829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La decision finale reste explicable et verifiable.</a:t>
            </a:r>
          </a:p>
        </p:txBody>
      </p:sp>
    </p:spTree>
    <p:extLst>
      <p:ext uri="{BB962C8B-B14F-4D97-AF65-F5344CB8AC3E}">
        <p14:creationId xmlns:p14="http://schemas.microsoft.com/office/powerpoint/2010/main" val="18121187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4DC098-EB4E-49EE-A84B-213F1D3C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17E83B-9421-4CB4-A56C-3DE57D3F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Code: alertes et enregistrement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95F3A2-088A-4023-AE81-061F7C61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A8218F-7495-4B2E-B1EF-F21E1E23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3340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2B7A0D-37D5-4957-AEC5-60F1E13C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533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939"/>
          </a:solidFill>
          <a:ln xmlns:a="http://schemas.openxmlformats.org/drawingml/2006/main" w="0">
            <a:solidFill>
              <a:srgbClr val="1D293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D609C2-7105-414B-9E42-7C37D025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4991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alerts/alertmanager.py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EFC39F-18B2-4B31-88B0-5CF5BFEB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4991100" cy="407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def send_alerts(self, payload):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if not self.can_send():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return False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self.last_alert_time = time.time()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self.play_sound()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self.send_email(payload)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self.send_telegram(payload)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return True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def send_telegram(self, payload):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token = (TELEGRAM_TOKEN or "").strip()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chat_id = (TELEGRAM_CHAT_ID or "").strip()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if token == "" or chat_id == "":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return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if token == "METS_TON_TOKEN_ICI":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return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A38DC2-D507-4ACC-8554-9638DFB5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28750"/>
            <a:ext cx="57340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2EEB43-7E0D-4D4C-AB5F-E4268C82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28750"/>
            <a:ext cx="5734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939"/>
          </a:solidFill>
          <a:ln xmlns:a="http://schemas.openxmlformats.org/drawingml/2006/main" w="0">
            <a:solidFill>
              <a:srgbClr val="1D293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90B9CD-C975-4831-81AE-EDD9130A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524000"/>
            <a:ext cx="539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database/db.py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C26693-D8B3-45C3-B979-C8DA3A4B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81200"/>
            <a:ext cx="5391150" cy="407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def add_incident(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score, mean_score,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capture_path=None, source=None,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):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init_db()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with get_connection() as connection: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connection.execute(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"INSERT INTO incidents "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"(created_at, score, mean_score, "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"capture_path, source) "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"VALUES (?, ?, ?, ?, ?)",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    datetime.now().isoformat(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        timespec="seconds"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    ),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    float(score), float(mean_score),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    capture_path, source,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),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connection.commit()</a:t>
            </a:r>
          </a:p>
        </p:txBody>
      </p:sp>
    </p:spTree>
    <p:extLst>
      <p:ext uri="{BB962C8B-B14F-4D97-AF65-F5344CB8AC3E}">
        <p14:creationId xmlns:p14="http://schemas.microsoft.com/office/powerpoint/2010/main" val="6658515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2BB526-6F71-4B6E-A7AE-314E5838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ADF826-EE64-4DBC-B226-C588EFD3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Code: dashboard Flask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6D4045-98EC-4F10-8BAB-31AA6E8B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5A7544-F0F2-40BB-ACCC-3802509E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3476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7A65"/>
                </a:solidFill>
              </a:defRPr>
            </a:pPr>
            <a:r>
              <a:rPr sz="1875" b="1">
                <a:solidFill>
                  <a:srgbClr val="117A65"/>
                </a:solidFill>
              </a:rPr>
              <a:t>Fonctions exposees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AEAF64-C0A6-4462-AE16-A216528E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9C20F6-007B-431D-A662-3C7ABD17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71700"/>
            <a:ext cx="3209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La page principale affiche les dix derniers incidents.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B158C5-00A8-4102-8B63-B5214679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289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AC7DC-3779-4156-AA4B-36E3558F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3209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Le formulaire sauvegarde le seuil et la fenetre 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E8FF5F-BEE4-46DD-A04F-EBCB5457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5363BC-8462-4019-873C-3912F125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3209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La route captures sert les images depuis le bon dossier.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B3A9F-A603-4816-B951-C324BF91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F48A5D-1BD4-4F48-9C5C-98D1CA46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3209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L'export CSV rend les incidents exploitables.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77695A-8530-4529-A90E-5D811930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428750"/>
            <a:ext cx="75533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C437BC-4EE0-409F-BDD7-D2C37F0B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428750"/>
            <a:ext cx="75533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939"/>
          </a:solidFill>
          <a:ln xmlns:a="http://schemas.openxmlformats.org/drawingml/2006/main" w="0">
            <a:solidFill>
              <a:srgbClr val="1D293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91C2D9-6FBE-4503-8ECB-ED71FC6F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524000"/>
            <a:ext cx="72104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dashboard/app.py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691F45-AD9C-4AAD-8860-0C649BCB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981200"/>
            <a:ext cx="7210425" cy="407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@app.route("/")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def index():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incidents = list_incidents(limit=10)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settings = get_settings()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return render_template(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"index.html",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incidents=incidents,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threshold=settings["threshold"],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k_window=settings["k_window"],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@app.route("/captures/&lt;path:filename&gt;")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def capture(filename):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return send_from_directory(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CAPTURES_DIR, Path(filename).name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3331296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0B5603-962C-4E24-89B3-8310C57B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1320E-D89E-46BF-BD45-F67927AA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Code: orchestration temps reel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B8CDC6-B49A-4C95-BDD1-A715203F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983DEA-1794-4148-AD93-FAAA1AEC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68580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0C680-4FFB-42DF-BC35-4CDBC65F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685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939"/>
          </a:solidFill>
          <a:ln xmlns:a="http://schemas.openxmlformats.org/drawingml/2006/main" w="0">
            <a:solidFill>
              <a:srgbClr val="1D293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BE9A64-D6DD-447D-8255-DF8BD869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6515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main.py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F1B07C-401B-4016-8E09-5B16232F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6515100" cy="407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with VideoSource(source) as video: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while True: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frame = video.read()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if frame is None: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break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sequence = buffer.add_frame(frame)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if sequence is None: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continue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score = inference.predict(sequence)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is_violence, mean_score = decision.update(score)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if is_violence: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capture_path = save_capture(frame)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add_incident(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    score, mean_score, capture_path, source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alerts.send_alerts(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    AlertPayload(mean_score, capture_path)</a:t>
            </a:r>
          </a:p>
          <a:p xmlns:a="http://schemas.openxmlformats.org/drawingml/2006/main">
            <a:pPr algn="l">
              <a:defRPr sz="1200" b="0">
                <a:solidFill>
                  <a:srgbClr val="F2F4F7"/>
                </a:solidFill>
              </a:defRPr>
            </a:pPr>
            <a:r>
              <a:rPr sz="1200" b="0">
                <a:solidFill>
                  <a:srgbClr val="F2F4F7"/>
                </a:solidFill>
              </a:rPr>
              <a:t>            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3A7CB7-4A57-4FA1-B720-5C3D0CD8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571625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7A65"/>
                </a:solidFill>
              </a:defRPr>
            </a:pPr>
            <a:r>
              <a:rPr sz="1875" b="1">
                <a:solidFill>
                  <a:srgbClr val="117A65"/>
                </a:solidFill>
              </a:rPr>
              <a:t>La boucle relie les 7 modules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4E608A-E24F-4C13-90C7-705FE6FF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95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D3C81D-72D9-4BAE-8D4B-99F7BE06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19325"/>
            <a:ext cx="3448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Lit une frame.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6296AE-3576-48B6-9845-D37F9C25E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76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2C939A-0044-4C5D-B681-9B450C5C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000375"/>
            <a:ext cx="3448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Construit une sequence.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18D8AE-2E65-4F71-BA91-BE4653AC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57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196E2E-1E6D-49D4-8E4C-48EB6C31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81425"/>
            <a:ext cx="3448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Lance l'inference.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D4E059-FD92-44ED-8FCB-75648CD2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638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FFEB67-A998-4509-93E6-48DD7A41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62475"/>
            <a:ext cx="3448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Prend une decision.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74D776-6738-4D43-B55F-71E3C006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419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799473-10EC-4956-962A-D9D2DFBB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343525"/>
            <a:ext cx="3448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Capture, archive et alerte.</a:t>
            </a:r>
          </a:p>
        </p:txBody>
      </p:sp>
    </p:spTree>
    <p:extLst>
      <p:ext uri="{BB962C8B-B14F-4D97-AF65-F5344CB8AC3E}">
        <p14:creationId xmlns:p14="http://schemas.microsoft.com/office/powerpoint/2010/main" val="80523858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FDB9CB-23CB-42D3-88ED-7A1EA3DDA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333DAB-0436-4D18-B8C2-479E793B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Fonctionnement en direct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EC2096-3A90-432A-8BB7-54ABC591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FE587-053E-4D48-BF4B-01FA73F6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438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</a:defRPr>
            </a:pPr>
            <a:r>
              <a:rPr sz="1950" b="1">
                <a:solidFill>
                  <a:srgbClr val="101828"/>
                </a:solidFill>
              </a:rPr>
              <a:t>Deux interfaces travaillent ensemble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B87113-DCEC-4690-A588-328C395C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717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474A63-9334-482D-AEC5-DFBEA4C9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49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8"/>
                </a:solidFill>
              </a:defRPr>
            </a:pPr>
            <a:r>
              <a:rPr sz="1425" b="0">
                <a:solidFill>
                  <a:srgbClr val="101828"/>
                </a:solidFill>
              </a:rPr>
              <a:t>Fenetre camera: image, score, moyenne K, seuil et statut.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5D924-5F97-4F7E-9D4D-3EC974FD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DCD4E9-2DB5-4DC2-9929-113816CE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449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8"/>
                </a:solidFill>
              </a:defRPr>
            </a:pPr>
            <a:r>
              <a:rPr sz="1425" b="0">
                <a:solidFill>
                  <a:srgbClr val="101828"/>
                </a:solidFill>
              </a:rPr>
              <a:t>Dashboard web: reglages, historique, captures et export CSV.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86C5BD-F368-4A6D-9789-DEDF45F6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E0AC31-2135-4263-86DC-E9306C6B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49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8"/>
                </a:solidFill>
              </a:defRPr>
            </a:pPr>
            <a:r>
              <a:rPr sz="1425" b="0">
                <a:solidFill>
                  <a:srgbClr val="101828"/>
                </a:solidFill>
              </a:rPr>
              <a:t>Mode faible latence: webcam 640 x 480, 15 FPS, prediction espacee.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5AC29C-7046-457D-ACD4-63DAE6C4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43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296D59-0743-4E42-B8EE-15AC447D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449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828"/>
                </a:solidFill>
              </a:defRPr>
            </a:pPr>
            <a:r>
              <a:rPr sz="1425" b="0">
                <a:solidFill>
                  <a:srgbClr val="101828"/>
                </a:solidFill>
              </a:rPr>
              <a:t>Le seuil et K peuvent etre modifies sans arreter le systeme.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DDF43-9A47-4BC4-A08A-D76137B8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352550"/>
            <a:ext cx="62484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 w="0">
            <a:solidFill>
              <a:srgbClr val="F2F4F7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59d923e81b4c05"/>
          <a:stretch xmlns:a="http://schemas.openxmlformats.org/drawingml/2006/main"/>
        </p:blipFill>
        <p:spPr>
          <a:xfrm xmlns:a="http://schemas.openxmlformats.org/drawingml/2006/main">
            <a:off x="5753100" y="2094309"/>
            <a:ext cx="5829300" cy="327898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72539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5059A4-BDE6-426B-B339-93B4B18D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59049C-1C80-45B5-B5BD-CDC138D1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Decision, alertes et tracabilite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1CB66D-AB15-4C55-8CE1-DF6D5EEF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FE4594-F0D2-43E3-983A-A763E80E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1066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C912EA-CF8B-4731-8BE1-A7AF216D9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0"/>
            <a:ext cx="20002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F67339-C545-4C0B-A895-95E2E471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1657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Score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A6551-10AB-4935-BC58-05820C40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Le modele produit 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809A9F-7901-4270-A7DC-D2893570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1905000"/>
            <a:ext cx="20002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B7D339-AC30-461B-9691-270BB672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143125"/>
            <a:ext cx="1657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Moyenne K=5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EE9B84-243D-483B-8ED5-45926193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781300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Les scores sont lisses.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75D62D-CCEC-43D8-9C16-2372F8DE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905000"/>
            <a:ext cx="20002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B"/>
          </a:solidFill>
          <a:ln xmlns:a="http://schemas.openxmlformats.org/drawingml/2006/main" w="0">
            <a:solidFill>
              <a:srgbClr val="FFF1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B46F78-3C49-4BF7-90F4-38245680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143125"/>
            <a:ext cx="1657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Seuil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86EA0-7050-4DE3-832C-CAEA3036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81300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Violence si moyenne &gt;= theta.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92D587-5154-4650-B78D-B12D67F4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1905000"/>
            <a:ext cx="20002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B89C68-E685-4F33-B29C-8A45FB03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143125"/>
            <a:ext cx="1657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Capture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62E083-59BC-4E5E-B0D6-E9CBB312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781300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Une image est sauvegardee.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CEB-96D9-4C80-8DF8-59CB04E8C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905000"/>
            <a:ext cx="20002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2E7F1C-D15E-4516-BA1B-31C2021B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143125"/>
            <a:ext cx="1657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Incident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762D71-B52E-4518-83F0-03873B8C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81300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SQLite garde date et scores.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72C163-CB3F-4A14-8AA9-B196D7CC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862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</a:defRPr>
            </a:pPr>
            <a:r>
              <a:rPr sz="1950" b="1">
                <a:solidFill>
                  <a:srgbClr val="101828"/>
                </a:solidFill>
              </a:rPr>
              <a:t>Canaux d'alerte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FC8FAC-07E2-4B78-8FB6-F4859A08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Signal sonore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2F4CB3-6596-446A-B09E-4D9E56553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53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Email Gmail + capture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FE3230-91F6-4D0D-8DFB-68A501CC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530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</a:defRPr>
            </a:pPr>
            <a:r>
              <a:rPr sz="1575" b="1">
                <a:solidFill>
                  <a:srgbClr val="101828"/>
                </a:solidFill>
              </a:rPr>
              <a:t>Telegram si configure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938AB7-D78B-4B54-95CD-EE43DE67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95300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FF6B35"/>
                </a:solidFill>
              </a:defRPr>
            </a:pPr>
            <a:r>
              <a:rPr sz="1425" b="0">
                <a:solidFill>
                  <a:srgbClr val="FF6B35"/>
                </a:solidFill>
              </a:rPr>
              <a:t>Cooldown: 30 secondes</a:t>
            </a:r>
          </a:p>
        </p:txBody>
      </p:sp>
    </p:spTree>
    <p:extLst>
      <p:ext uri="{BB962C8B-B14F-4D97-AF65-F5344CB8AC3E}">
        <p14:creationId xmlns:p14="http://schemas.microsoft.com/office/powerpoint/2010/main" val="29251425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7F4D93-6C67-4CB5-B8EC-9DD1486D5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6BE645-DBED-4017-A932-E6C4A144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Resultats valides sur 599 videos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179540-8510-4B40-89E4-04A6029B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1638A0-3BAE-4E70-888B-5B44BB2E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Modele original deploye, seuil theta = 0,50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D247A7-B1EF-48F6-9167-4E18133F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76905E-689A-4CA5-8A4A-F80E575A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3E1AAC-7F10-46A0-BDC2-EB5D77E2B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01828"/>
                </a:solidFill>
              </a:defRPr>
            </a:pPr>
            <a:r>
              <a:rPr sz="3600" b="1">
                <a:solidFill>
                  <a:srgbClr val="101828"/>
                </a:solidFill>
              </a:rPr>
              <a:t>86,81 %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318173-B31D-4D50-A219-14C338902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Accuracy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98A04-DFE9-4470-94AD-A0AC5743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0975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A15676-5970-412F-8CC2-683C31DB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0975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175CD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226B07-8503-4A24-A1D7-9786F45E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047875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01828"/>
                </a:solidFill>
              </a:defRPr>
            </a:pPr>
            <a:r>
              <a:rPr sz="3600" b="1">
                <a:solidFill>
                  <a:srgbClr val="101828"/>
                </a:solidFill>
              </a:rPr>
              <a:t>82,74 %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4645F8-DE20-4B23-8ADB-864EC291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Precision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4388C8-0160-4710-AD5F-68CFB6C7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346B9A-57F6-4A0E-A5A5-E01EF147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 w="0">
            <a:solidFill>
              <a:srgbClr val="117A6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CFF0CD-170C-4D00-A2A3-4C46CDCA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7625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01828"/>
                </a:solidFill>
              </a:defRPr>
            </a:pPr>
            <a:r>
              <a:rPr sz="3600" b="1">
                <a:solidFill>
                  <a:srgbClr val="101828"/>
                </a:solidFill>
              </a:rPr>
              <a:t>92,98 %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EBA25B-E09A-4AF0-9C42-C44ED1594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291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Rappel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B8F6C0-F2D0-4828-BA3C-0B50A453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6005A6-44A0-4313-873B-404B051D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14A71-CF0A-4745-B1F1-723725D1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857625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01828"/>
                </a:solidFill>
              </a:defRPr>
            </a:pPr>
            <a:r>
              <a:rPr sz="3600" b="1">
                <a:solidFill>
                  <a:srgbClr val="101828"/>
                </a:solidFill>
              </a:rPr>
              <a:t>87,56 %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0D84F7-D0F5-4887-AEB6-1A3CB7FE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6291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F1-score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FFBEA8-1EA2-4F42-ABAA-3F950F0B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381125"/>
            <a:ext cx="60769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665748bf994985"/>
          <a:stretch xmlns:a="http://schemas.openxmlformats.org/drawingml/2006/main"/>
        </p:blipFill>
        <p:spPr>
          <a:xfrm xmlns:a="http://schemas.openxmlformats.org/drawingml/2006/main">
            <a:off x="5829300" y="2402166"/>
            <a:ext cx="5848350" cy="272041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43694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7E3FA7-5890-4206-9EFD-762D72F0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8033FF-1DD1-4407-8B7D-4F1B2C8B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Ce que les experiences ont montre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F8559-0F91-4DEA-9D78-73F45B8D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8449E4-88AA-4C65-A6B8-6D4A671B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78105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07875bc43e4dc1"/>
          <a:stretch xmlns:a="http://schemas.openxmlformats.org/drawingml/2006/main"/>
        </p:blipFill>
        <p:spPr>
          <a:xfrm xmlns:a="http://schemas.openxmlformats.org/drawingml/2006/main">
            <a:off x="590550" y="1428750"/>
            <a:ext cx="7429500" cy="4572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AC96D3-17A7-4741-AF2D-09017FD3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</a:defRPr>
            </a:pPr>
            <a:r>
              <a:rPr sz="1950" b="1">
                <a:solidFill>
                  <a:srgbClr val="101828"/>
                </a:solidFill>
              </a:rPr>
              <a:t>Lecture simple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32D51C-B2E4-46DE-8420-912174AE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669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B8319-A772-41DA-8F7F-CB6987E9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907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EfficientNet seul perd l'information temporelle.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7C98DE-3E58-4E4F-8995-C929FBD8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480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FA4BF2-EA57-408D-AD2C-9DC712F1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97180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Le LSTM augmente fortement le rappel.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E01E0D-88DD-4A5E-A95A-9303FD80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29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635622-9111-4E88-BAAB-C4D6FD9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7528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Le GRU experimental obtient le meilleur compromis global.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895E2-2CD9-4634-B1A3-5ABA72E1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101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BDE12B-46ED-41C7-8C21-216E2898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53390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Le modele live reste le modele original valide et configure.</a:t>
            </a:r>
          </a:p>
        </p:txBody>
      </p:sp>
    </p:spTree>
    <p:extLst>
      <p:ext uri="{BB962C8B-B14F-4D97-AF65-F5344CB8AC3E}">
        <p14:creationId xmlns:p14="http://schemas.microsoft.com/office/powerpoint/2010/main" val="7010884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83ECC7-CD06-45B1-9025-5F63CF38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956302-00B2-4060-A025-56CE3A43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Demonstration live devant l'encadreur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9E15B3-A5FF-48D3-82EF-3B867E0A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04E7D-C8F0-4D26-B5CE-02FC8C6F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7A65"/>
                </a:solidFill>
              </a:defRPr>
            </a:pPr>
            <a:r>
              <a:rPr sz="1500" b="1">
                <a:solidFill>
                  <a:srgbClr val="117A65"/>
                </a:solidFill>
              </a:rPr>
              <a:t>Terminal 1 -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02FDC2-4B63-471F-A4F5-193445C0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57375"/>
            <a:ext cx="11391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59364-15A4-4D25-9CBE-C24010E9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C:\SIRCH_ENV\Scripts\python.exe -m dashboard.app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4AC461-9CC1-40DF-AAC5-B11F9A60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003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7A65"/>
                </a:solidFill>
              </a:defRPr>
            </a:pPr>
            <a:r>
              <a:rPr sz="1500" b="1">
                <a:solidFill>
                  <a:srgbClr val="117A65"/>
                </a:solidFill>
              </a:rPr>
              <a:t>Terminal 2 - detection webcam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FAA4FD-B738-4528-9646-B1E0607A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0"/>
            <a:ext cx="11391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08DB3-BD9D-482E-8B56-B5C5C026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C:\SIRCH_ENV\Scripts\python.exe main.py --source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198FAA-4712-4406-8FD7-A70C394C9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</a:defRPr>
            </a:pPr>
            <a:r>
              <a:rPr sz="1950" b="1">
                <a:solidFill>
                  <a:srgbClr val="101828"/>
                </a:solidFill>
              </a:rPr>
              <a:t>Puis ouvrir http://127.0.0.1:5000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067390-D76F-43D2-95D5-3347C7CA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</a:defRPr>
            </a:pPr>
            <a:r>
              <a:rPr sz="1500" b="0">
                <a:solidFill>
                  <a:srgbClr val="667085"/>
                </a:solidFill>
              </a:rPr>
              <a:t>Test conseille: mouvements simules, sans contact physique dangereux. Montrer la fenetre camera, le score, l'alerte, la capture et l'incident dans le dashboard.</a:t>
            </a:r>
          </a:p>
        </p:txBody>
      </p:sp>
    </p:spTree>
    <p:extLst>
      <p:ext uri="{BB962C8B-B14F-4D97-AF65-F5344CB8AC3E}">
        <p14:creationId xmlns:p14="http://schemas.microsoft.com/office/powerpoint/2010/main" val="86612255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ACEECD-57AF-4AE4-8C07-5A161954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SIRCH | PRESENTATION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CB043A-91C3-4A46-87A1-B7E1DA8D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Projet reproductible et verifiable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308B26-861C-43E1-AADE-4EDCD86C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754136-2B60-4972-9A68-4D3FEC13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2571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7735D-18A0-43F2-95E7-EEC6F165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 w="0">
            <a:solidFill>
              <a:srgbClr val="117A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6891F1-5D7D-4A7A-8AC3-175A18C8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01828"/>
                </a:solidFill>
              </a:defRPr>
            </a:pPr>
            <a:r>
              <a:rPr sz="3600" b="1">
                <a:solidFill>
                  <a:srgbClr val="101828"/>
                </a:solidFill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BF5B57-7672-4A09-A5FD-FAB66C4E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modules integres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441825-3F0B-4B21-B97B-C524E8FF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714500"/>
            <a:ext cx="2571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D3BEF9-02D3-41C3-AC08-04D81635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7145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175CD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D16864-5378-4041-91E8-BBE0B7C6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1952625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01828"/>
                </a:solidFill>
              </a:defRPr>
            </a:pPr>
            <a:r>
              <a:rPr sz="3600" b="1">
                <a:solidFill>
                  <a:srgbClr val="101828"/>
                </a:solidFill>
              </a:rPr>
              <a:t>599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B4134F-E170-4CDB-B37E-D30DE50E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7241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videos de 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221AAC-1E62-4E90-9EE9-03E0B29C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14500"/>
            <a:ext cx="2571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9B8728-BCB4-4C49-AD0B-530CCDF0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145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2C522C-6B8A-482F-901C-9D66AB05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52625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01828"/>
                </a:solidFill>
              </a:defRPr>
            </a:pPr>
            <a:r>
              <a:rPr sz="3600" b="1">
                <a:solidFill>
                  <a:srgbClr val="101828"/>
                </a:solidFill>
              </a:rPr>
              <a:t>21,85 MB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96759E-4E5E-4B8D-89F1-85E19CF0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241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modele original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C86C6A-8470-4C3D-B0C3-5CB1B5AB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1714500"/>
            <a:ext cx="2571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CB5BF1-E9F4-4B7A-BEB7-1D78AEE9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17145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996721-39B3-4B10-9A91-50A862D6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952625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01828"/>
                </a:solidFill>
              </a:defRPr>
            </a:pPr>
            <a:r>
              <a:rPr sz="3600" b="1">
                <a:solidFill>
                  <a:srgbClr val="101828"/>
                </a:solidFill>
              </a:rPr>
              <a:t>30 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A1CC61-FEF6-4C98-B759-4A7785C8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7241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cooldown alertes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5B0B4C-6A6A-41D1-ACEB-F45D50725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57625"/>
            <a:ext cx="781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Le README explique l'installation, la configuration, les commandes de lancement, la structure du code, les tests et la demonstration live.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ED1953-ABAE-4294-AD18-C8720994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9112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7085"/>
                </a:solidFill>
              </a:defRPr>
            </a:pPr>
            <a:r>
              <a:rPr sz="1350" b="1">
                <a:solidFill>
                  <a:srgbClr val="667085"/>
                </a:solidFill>
              </a:rPr>
              <a:t>GitHub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F3EDF5-81F1-4648-914C-8AA32798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7A65"/>
                </a:solidFill>
              </a:defRPr>
            </a:pPr>
            <a:r>
              <a:rPr sz="2100" b="1">
                <a:solidFill>
                  <a:srgbClr val="117A65"/>
                </a:solidFill>
              </a:rPr>
              <a:t>github.com/Ertual/SIRCH-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441102-AAE3-4EE5-B80A-F25999E0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765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0">
            <a:solidFill>
              <a:srgbClr val="10182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DEA380-D97B-4FB5-996E-3872DD09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4767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SIRCH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9FF25A-30A2-4FCA-B6A7-3D69F31D6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2387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Code + preuve + live</a:t>
            </a:r>
          </a:p>
        </p:txBody>
      </p:sp>
    </p:spTree>
    <p:extLst>
      <p:ext uri="{BB962C8B-B14F-4D97-AF65-F5344CB8AC3E}">
        <p14:creationId xmlns:p14="http://schemas.microsoft.com/office/powerpoint/2010/main" val="6927531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2026-06-24T11:08:12.9980000Z</dcterms:created>
  <dcterms:modified xsi:type="dcterms:W3CDTF">2026-06-24T11:08:12.9980000Z</dcterms:modified>
</coreProperties>
</file>